
<file path=[Content_Types].xml><?xml version="1.0" encoding="utf-8"?>
<Types xmlns="http://schemas.openxmlformats.org/package/2006/content-types">
  <Default ContentType="image/jpeg" Extension="jpg"/>
  <Default ContentType="application/vnd.openxmlformats-officedocument.vmlDrawing" Extension="vml"/>
  <Default ContentType="application/vnd.openxmlformats-officedocument.oleObject" Extension="bin"/>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oleObject" PartName="/ppt/embeddings/oleObject13.bin"/>
  <Override ContentType="application/vnd.openxmlformats-officedocument.oleObject" PartName="/ppt/embeddings/oleObject9.bin"/>
  <Override ContentType="application/vnd.openxmlformats-officedocument.oleObject" PartName="/ppt/embeddings/oleObject6.bin"/>
  <Override ContentType="application/vnd.openxmlformats-officedocument.oleObject" PartName="/ppt/embeddings/oleObject15.bin"/>
  <Override ContentType="application/vnd.openxmlformats-officedocument.oleObject" PartName="/ppt/embeddings/oleObject4.bin"/>
  <Override ContentType="application/vnd.openxmlformats-officedocument.oleObject" PartName="/ppt/embeddings/oleObject1.bin"/>
  <Override ContentType="application/vnd.openxmlformats-officedocument.oleObject" PartName="/ppt/embeddings/oleObject11.bin"/>
  <Override ContentType="application/vnd.openxmlformats-officedocument.oleObject" PartName="/ppt/embeddings/oleObject8.bin"/>
  <Override ContentType="application/vnd.openxmlformats-officedocument.oleObject" PartName="/ppt/embeddings/oleObject14.bin"/>
  <Override ContentType="application/vnd.openxmlformats-officedocument.oleObject" PartName="/ppt/embeddings/oleObject12.bin"/>
  <Override ContentType="application/vnd.openxmlformats-officedocument.oleObject" PartName="/ppt/embeddings/oleObject3.bin"/>
  <Override ContentType="application/vnd.openxmlformats-officedocument.oleObject" PartName="/ppt/embeddings/oleObject5.bin"/>
  <Override ContentType="application/vnd.openxmlformats-officedocument.oleObject" PartName="/ppt/embeddings/oleObject17.bin"/>
  <Override ContentType="application/vnd.openxmlformats-officedocument.oleObject" PartName="/ppt/embeddings/oleObject7.bin"/>
  <Override ContentType="application/vnd.openxmlformats-officedocument.oleObject" PartName="/ppt/embeddings/oleObject16.bin"/>
  <Override ContentType="application/vnd.openxmlformats-officedocument.oleObject" PartName="/ppt/embeddings/oleObject2.bin"/>
  <Override ContentType="application/vnd.openxmlformats-officedocument.oleObject" PartName="/ppt/embeddings/oleObject10.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Lst>
  <p:sldSz cy="6858000" cx="9144000"/>
  <p:notesSz cx="6950075"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909">
          <p15:clr>
            <a:srgbClr val="000000"/>
          </p15:clr>
        </p15:guide>
        <p15:guide id="2" pos="2189">
          <p15:clr>
            <a:srgbClr val="000000"/>
          </p15:clr>
        </p15:guide>
      </p15:notesGuideLst>
    </p:ext>
    <p:ext uri="GoogleSlidesCustomDataVersion2">
      <go:slidesCustomData xmlns:go="http://customooxmlschemas.google.com/" r:id="rId98" roundtripDataSignature="AMtx7miK3mC//eh31G38nHLpdQfI87h0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1EE02FC-BA3E-45F9-B2DA-8AEF37A3CA9D}">
  <a:tblStyle styleId="{71EE02FC-BA3E-45F9-B2DA-8AEF37A3CA9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909" orient="horz"/>
        <p:guide pos="2189"/>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10" Type="http://schemas.openxmlformats.org/officeDocument/2006/relationships/slide" Target="slides/slide3.xml"/><Relationship Id="rId98" Type="http://customschemas.google.com/relationships/presentationmetadata" Target="metadata"/><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4.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7.png"/></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9.png"/></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0.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8.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1.png"/></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3.png"/></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6.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11487" cy="461962"/>
          </a:xfrm>
          <a:prstGeom prst="rect">
            <a:avLst/>
          </a:prstGeom>
          <a:noFill/>
          <a:ln>
            <a:noFill/>
          </a:ln>
        </p:spPr>
        <p:txBody>
          <a:bodyPr anchorCtr="0" anchor="t" bIns="46225" lIns="92475" spcFirstLastPara="1" rIns="92475" wrap="square" tIns="46225">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937000" y="0"/>
            <a:ext cx="3011487" cy="461962"/>
          </a:xfrm>
          <a:prstGeom prst="rect">
            <a:avLst/>
          </a:prstGeom>
          <a:noFill/>
          <a:ln>
            <a:noFill/>
          </a:ln>
        </p:spPr>
        <p:txBody>
          <a:bodyPr anchorCtr="0" anchor="t" bIns="46225" lIns="92475" spcFirstLastPara="1" rIns="92475" wrap="square" tIns="46225">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rm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772525"/>
            <a:ext cx="3011487" cy="461962"/>
          </a:xfrm>
          <a:prstGeom prst="rect">
            <a:avLst/>
          </a:prstGeom>
          <a:noFill/>
          <a:ln>
            <a:noFill/>
          </a:ln>
        </p:spPr>
        <p:txBody>
          <a:bodyPr anchorCtr="0" anchor="b" bIns="46225" lIns="92475" spcFirstLastPara="1" rIns="92475" wrap="square" tIns="46225">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6" name="Google Shape;56;p1: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rmAutofit/>
          </a:bodyPr>
          <a:lstStyle/>
          <a:p>
            <a:pPr indent="0" lvl="0" marL="0" rtl="0" algn="l">
              <a:spcBef>
                <a:spcPts val="0"/>
              </a:spcBef>
              <a:spcAft>
                <a:spcPts val="0"/>
              </a:spcAft>
              <a:buSzPts val="1800"/>
              <a:buNone/>
            </a:pPr>
            <a:r>
              <a:rPr lang="en-US"/>
              <a:t>Bộ nhớ là tài nguyên quan trọng thứ hai sau CPU trong hệ thống máy tính.Bộ nhớ bao gồm các byte được đánh địa chỉ.</a:t>
            </a:r>
            <a:endParaRPr/>
          </a:p>
          <a:p>
            <a:pPr indent="0" lvl="0" marL="0" rtl="0" algn="l">
              <a:spcBef>
                <a:spcPts val="0"/>
              </a:spcBef>
              <a:spcAft>
                <a:spcPts val="0"/>
              </a:spcAft>
              <a:buSzPts val="1800"/>
              <a:buNone/>
            </a:pPr>
            <a:r>
              <a:rPr lang="en-US"/>
              <a:t>Đây là nơi chứa các tiến trình và dữ liệu của tiến trình.</a:t>
            </a:r>
            <a:endParaRPr/>
          </a:p>
          <a:p>
            <a:pPr indent="0" lvl="0" marL="0" rtl="0" algn="l">
              <a:spcBef>
                <a:spcPts val="0"/>
              </a:spcBef>
              <a:spcAft>
                <a:spcPts val="0"/>
              </a:spcAft>
              <a:buSzPts val="1800"/>
              <a:buNone/>
            </a:pPr>
            <a:r>
              <a:rPr lang="en-US"/>
              <a:t>Việc quản lý và sử dụng bộ nhớ hợp lý ảnh hưởng tới tốc độ và khả năng của toàn bộ hệ thống tính toán =&gt; Quản lý bộ nhớ là chức năng quan trọng của HDH.</a:t>
            </a:r>
            <a:endParaRPr/>
          </a:p>
          <a:p>
            <a:pPr indent="0" lvl="0" marL="0" rtl="0" algn="l">
              <a:spcBef>
                <a:spcPts val="0"/>
              </a:spcBef>
              <a:spcAft>
                <a:spcPts val="0"/>
              </a:spcAft>
              <a:buSzPts val="1800"/>
              <a:buNone/>
            </a:pPr>
            <a:r>
              <a:rPr lang="en-US"/>
              <a:t>Các công việc liên quan tới quản lý bộ nhớ như:</a:t>
            </a:r>
            <a:endParaRPr/>
          </a:p>
          <a:p>
            <a:pPr indent="-114300" lvl="0" marL="0" rtl="0" algn="l">
              <a:spcBef>
                <a:spcPts val="0"/>
              </a:spcBef>
              <a:spcAft>
                <a:spcPts val="0"/>
              </a:spcAft>
              <a:buSzPts val="1800"/>
              <a:buChar char="-"/>
            </a:pPr>
            <a:r>
              <a:rPr lang="en-US"/>
              <a:t>quản lý bộ nhớ trống</a:t>
            </a:r>
            <a:endParaRPr/>
          </a:p>
          <a:p>
            <a:pPr indent="-114300" lvl="0" marL="0" rtl="0" algn="l">
              <a:spcBef>
                <a:spcPts val="0"/>
              </a:spcBef>
              <a:spcAft>
                <a:spcPts val="0"/>
              </a:spcAft>
              <a:buSzPts val="1800"/>
              <a:buChar char="-"/>
            </a:pPr>
            <a:r>
              <a:rPr lang="en-US"/>
              <a:t>Giải phóng bộ nhớ đã cấp phát</a:t>
            </a:r>
            <a:endParaRPr/>
          </a:p>
          <a:p>
            <a:pPr indent="-114300" lvl="0" marL="0" rtl="0" algn="l">
              <a:spcBef>
                <a:spcPts val="0"/>
              </a:spcBef>
              <a:spcAft>
                <a:spcPts val="0"/>
              </a:spcAft>
              <a:buSzPts val="1800"/>
              <a:buChar char="-"/>
            </a:pPr>
            <a:r>
              <a:rPr lang="en-US"/>
              <a:t>Ngăn chặn việc truy cập trái phép tới các vùng bộ nhớ</a:t>
            </a:r>
            <a:endParaRPr/>
          </a:p>
          <a:p>
            <a:pPr indent="-114300" lvl="0" marL="0" rtl="0" algn="l">
              <a:spcBef>
                <a:spcPts val="0"/>
              </a:spcBef>
              <a:spcAft>
                <a:spcPts val="0"/>
              </a:spcAft>
              <a:buSzPts val="1800"/>
              <a:buChar char="-"/>
            </a:pPr>
            <a:r>
              <a:rPr lang="en-US"/>
              <a:t>Ánh xạ giữa địa chỉ logic và địa chỉ vật lý.</a:t>
            </a:r>
            <a:endParaRPr/>
          </a:p>
          <a:p>
            <a:pPr indent="0" lvl="0" marL="0" rtl="0" algn="l">
              <a:spcBef>
                <a:spcPts val="0"/>
              </a:spcBef>
              <a:spcAft>
                <a:spcPts val="0"/>
              </a:spcAft>
              <a:buSzPts val="1800"/>
              <a:buNone/>
            </a:pPr>
            <a:r>
              <a:rPr lang="en-US"/>
              <a:t>Trong trường hợp yêu cầu nhiều bộ nhớ về các tiến trình lớn hơn dung lượng bộ nhớ vật lý =&gt; HDH cho phép trao đổi thông tin giữa đĩa và bộ nhớ hoặc tổ chức bộ nhớ ảo để thỏa mãn nhu cầu các tiến trình.</a:t>
            </a:r>
            <a:endParaRPr/>
          </a:p>
          <a:p>
            <a:pPr indent="0" lvl="0" marL="0" rtl="0" algn="l">
              <a:spcBef>
                <a:spcPts val="0"/>
              </a:spcBef>
              <a:spcAft>
                <a:spcPts val="0"/>
              </a:spcAft>
              <a:buNone/>
            </a:pPr>
            <a:r>
              <a:t/>
            </a:r>
            <a:endParaRPr/>
          </a:p>
        </p:txBody>
      </p:sp>
      <p:sp>
        <p:nvSpPr>
          <p:cNvPr id="57" name="Google Shape;57;p1: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2: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2" name="Google Shape;72;p2: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73" name="Google Shape;73;p2: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3: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9" name="Google Shape;79;p3: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80" name="Google Shape;80;p3: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4: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7" name="Google Shape;87;p4: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88" name="Google Shape;88;p4: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5: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9" name="Google Shape;99;p5: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 Ngôn ngữ máy là một tập các chỉ thị được CPU trực tiếp thực thi</a:t>
            </a:r>
            <a:endParaRPr/>
          </a:p>
        </p:txBody>
      </p:sp>
      <p:sp>
        <p:nvSpPr>
          <p:cNvPr id="100" name="Google Shape;100;p5: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36" name="Google Shape;136;p6: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Địa chỉ tương đối của môđun, sau đó mới ánh xạ cái địa chỉ tương đối của môđun vào chương trình toàn cục =&gt;ghộp vào=&gt;tải vào hđh để thực hiện;</a:t>
            </a:r>
            <a:endParaRPr/>
          </a:p>
        </p:txBody>
      </p:sp>
      <p:sp>
        <p:nvSpPr>
          <p:cNvPr id="137" name="Google Shape;137;p6: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73" name="Google Shape;173;p7: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SzPts val="1800"/>
              <a:buNone/>
            </a:pPr>
            <a:r>
              <a:rPr lang="en-US"/>
              <a:t>Do vị trí tiến trình trong bộ nhớ có thể thay đổi, cần phân biệt giữa hai loại địa chỉ: địa chỉ logic và địa chỉ vật lý. </a:t>
            </a:r>
            <a:endParaRPr/>
          </a:p>
          <a:p>
            <a:pPr indent="0" lvl="0" marL="0" rtl="0" algn="l">
              <a:spcBef>
                <a:spcPts val="0"/>
              </a:spcBef>
              <a:spcAft>
                <a:spcPts val="0"/>
              </a:spcAft>
              <a:buSzPts val="1800"/>
              <a:buNone/>
            </a:pPr>
            <a:r>
              <a:rPr lang="en-US"/>
              <a:t>Các em cần nhớ: địa chỉ logic (địa chỉ tương đối) là cái mà chương trình ứng dụng làm việc cùng, và địa chỉ vật lý là vị trí chính xác trong bộ nhớ máy tính (địa chỉ tuyệt đối) </a:t>
            </a:r>
            <a:endParaRPr/>
          </a:p>
        </p:txBody>
      </p:sp>
      <p:sp>
        <p:nvSpPr>
          <p:cNvPr id="174" name="Google Shape;174;p7: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8: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83" name="Google Shape;183;p8: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114300" lvl="0" marL="0" rtl="0" algn="l">
              <a:spcBef>
                <a:spcPts val="0"/>
              </a:spcBef>
              <a:spcAft>
                <a:spcPts val="0"/>
              </a:spcAft>
              <a:buSzPts val="1800"/>
              <a:buChar char="-"/>
            </a:pPr>
            <a:r>
              <a:rPr lang="en-US"/>
              <a:t>Đ</a:t>
            </a:r>
            <a:r>
              <a:rPr lang="en-US">
                <a:latin typeface="Arial"/>
                <a:ea typeface="Arial"/>
                <a:cs typeface="Arial"/>
                <a:sym typeface="Arial"/>
              </a:rPr>
              <a:t>ể truy cập bộ nhớ, </a:t>
            </a:r>
            <a:r>
              <a:rPr lang="en-US"/>
              <a:t>đ</a:t>
            </a:r>
            <a:r>
              <a:rPr lang="en-US">
                <a:latin typeface="Arial"/>
                <a:ea typeface="Arial"/>
                <a:cs typeface="Arial"/>
                <a:sym typeface="Arial"/>
              </a:rPr>
              <a:t>ịa chỉ lô gic cần </a:t>
            </a:r>
            <a:r>
              <a:rPr lang="en-US"/>
              <a:t>đ</a:t>
            </a:r>
            <a:r>
              <a:rPr lang="en-US">
                <a:latin typeface="Arial"/>
                <a:ea typeface="Arial"/>
                <a:cs typeface="Arial"/>
                <a:sym typeface="Arial"/>
              </a:rPr>
              <a:t>ược biến ñổi thành </a:t>
            </a:r>
            <a:r>
              <a:rPr lang="en-US"/>
              <a:t>đ</a:t>
            </a:r>
            <a:r>
              <a:rPr lang="en-US">
                <a:latin typeface="Arial"/>
                <a:ea typeface="Arial"/>
                <a:cs typeface="Arial"/>
                <a:sym typeface="Arial"/>
              </a:rPr>
              <a:t>ịa chỉ vật lý. </a:t>
            </a:r>
            <a:br>
              <a:rPr lang="en-US">
                <a:latin typeface="Arial"/>
                <a:ea typeface="Arial"/>
                <a:cs typeface="Arial"/>
                <a:sym typeface="Arial"/>
              </a:rPr>
            </a:br>
            <a:endParaRPr/>
          </a:p>
        </p:txBody>
      </p:sp>
      <p:sp>
        <p:nvSpPr>
          <p:cNvPr id="184" name="Google Shape;184;p8: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93" name="Google Shape;193;p9: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 Mình viết ra rất nhiều hàm, nhưng ko phải hàm nào cũng được tải vào bộ nhớ. Chỉ khi nào mình gọi thì mới tải vào bộ nhớ thôi.</a:t>
            </a:r>
            <a:endParaRPr/>
          </a:p>
          <a:p>
            <a:pPr indent="0" lvl="0" marL="0" rtl="0" algn="l">
              <a:spcBef>
                <a:spcPts val="0"/>
              </a:spcBef>
              <a:spcAft>
                <a:spcPts val="0"/>
              </a:spcAft>
              <a:buSzPts val="1800"/>
              <a:buNone/>
            </a:pPr>
            <a:r>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194" name="Google Shape;194;p9: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0: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03" name="Google Shape;203;p10: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 Mình viết ra rất nhiều hàm, nhưng ko phải hàm nào cũng được tải vào bộ nhớ. Chỉ khi nào mình gọi thì mới tải vào bộ nhớ thôi.</a:t>
            </a:r>
            <a:endParaRPr/>
          </a:p>
          <a:p>
            <a:pPr indent="0" lvl="0" marL="0" rtl="0" algn="l">
              <a:spcBef>
                <a:spcPts val="0"/>
              </a:spcBef>
              <a:spcAft>
                <a:spcPts val="0"/>
              </a:spcAft>
              <a:buSzPts val="1800"/>
              <a:buNone/>
            </a:pPr>
            <a:r>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204" name="Google Shape;204;p10: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1: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13" name="Google Shape;213;p11: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Liên kết tĩnh: Là các hàm và thư viện được liên kết luôn trong chương trình.</a:t>
            </a:r>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214" name="Google Shape;214;p11: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2: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25" name="Google Shape;225;p12: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226" name="Google Shape;226;p12: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8: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63" name="Google Shape;263;p18: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 Mặc dù kỹ thuật phân chương thuần túy được coi là lỗi thời. Tuy nhiên, việc xem xét    kỹ thuật này là cơ sở để tìm hiểu nhiều vấn đề khác trong quản lý không gian nhớ.</a:t>
            </a:r>
            <a:endParaRPr/>
          </a:p>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 </a:t>
            </a:r>
            <a:endParaRPr/>
          </a:p>
        </p:txBody>
      </p:sp>
      <p:sp>
        <p:nvSpPr>
          <p:cNvPr id="264" name="Google Shape;264;p18: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9: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74" name="Google Shape;274;p19: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275" name="Google Shape;275;p19: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0: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84" name="Google Shape;284;p20: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285" name="Google Shape;285;p20: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1: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296" name="Google Shape;296;p21: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297" name="Google Shape;297;p21: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2: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08" name="Google Shape;308;p22: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114300" lvl="0" marL="0" rtl="0" algn="l">
              <a:spcBef>
                <a:spcPts val="0"/>
              </a:spcBef>
              <a:spcAft>
                <a:spcPts val="0"/>
              </a:spcAft>
              <a:buSzPts val="1800"/>
              <a:buChar char="-"/>
            </a:pPr>
            <a:r>
              <a:rPr lang="en-US"/>
              <a:t>Phân chương bộ nhớ đc sử dụng ban đầu ở IBM OS/360 hay còn gọi là MFT nhưng giờ ko còn đc dùng</a:t>
            </a:r>
            <a:endParaRPr/>
          </a:p>
        </p:txBody>
      </p:sp>
      <p:sp>
        <p:nvSpPr>
          <p:cNvPr id="309" name="Google Shape;309;p22: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3: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18" name="Google Shape;318;p23: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319" name="Google Shape;319;p23: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24: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29" name="Google Shape;329;p24: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330" name="Google Shape;330;p24: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5: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39" name="Google Shape;339;p25: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340" name="Google Shape;340;p25: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786d807e4b_0_0:notes"/>
          <p:cNvSpPr/>
          <p:nvPr>
            <p:ph idx="2" type="sldImg"/>
          </p:nvPr>
        </p:nvSpPr>
        <p:spPr>
          <a:xfrm>
            <a:off x="1165225" y="692150"/>
            <a:ext cx="4619700" cy="3463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49" name="Google Shape;349;g2786d807e4b_0_0:notes"/>
          <p:cNvSpPr txBox="1"/>
          <p:nvPr>
            <p:ph idx="1" type="body"/>
          </p:nvPr>
        </p:nvSpPr>
        <p:spPr>
          <a:xfrm>
            <a:off x="695325" y="4387850"/>
            <a:ext cx="5559300" cy="4156200"/>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350" name="Google Shape;350;g2786d807e4b_0_0:notes"/>
          <p:cNvSpPr txBox="1"/>
          <p:nvPr/>
        </p:nvSpPr>
        <p:spPr>
          <a:xfrm>
            <a:off x="3937000" y="8772525"/>
            <a:ext cx="3011400" cy="462000"/>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6: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59" name="Google Shape;359;p26: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360" name="Google Shape;360;p26: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27: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69" name="Google Shape;369;p27: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SzPts val="1800"/>
              <a:buNone/>
            </a:pPr>
            <a:r>
              <a:rPr lang="en-US"/>
              <a:t>1MB=1024KB</a:t>
            </a:r>
            <a:endParaRPr/>
          </a:p>
        </p:txBody>
      </p:sp>
      <p:sp>
        <p:nvSpPr>
          <p:cNvPr id="370" name="Google Shape;370;p27: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8: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380" name="Google Shape;380;p28: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rmAutofit/>
          </a:bodyPr>
          <a:lstStyle/>
          <a:p>
            <a:pPr indent="-114300" lvl="0" marL="0" rtl="0" algn="l">
              <a:spcBef>
                <a:spcPts val="0"/>
              </a:spcBef>
              <a:spcAft>
                <a:spcPts val="0"/>
              </a:spcAft>
              <a:buSzPts val="1800"/>
              <a:buFont typeface="Arial"/>
              <a:buChar char="-"/>
            </a:pPr>
            <a:r>
              <a:rPr lang="en-US">
                <a:latin typeface="Arial"/>
                <a:ea typeface="Arial"/>
                <a:cs typeface="Arial"/>
                <a:sym typeface="Arial"/>
              </a:rPr>
              <a:t>Với nhiều tiến</a:t>
            </a:r>
            <a:r>
              <a:rPr lang="en-US"/>
              <a:t> </a:t>
            </a:r>
            <a:r>
              <a:rPr lang="en-US">
                <a:latin typeface="Arial"/>
                <a:ea typeface="Arial"/>
                <a:cs typeface="Arial"/>
                <a:sym typeface="Arial"/>
              </a:rPr>
              <a:t>trình chứa trong bộ nhớ, các tiến trình có thể vô tình (do lỗi) hoặc cố ý truy cập tới vùng bộ</a:t>
            </a:r>
            <a:br>
              <a:rPr lang="en-US">
                <a:latin typeface="Arial"/>
                <a:ea typeface="Arial"/>
                <a:cs typeface="Arial"/>
                <a:sym typeface="Arial"/>
              </a:rPr>
            </a:br>
            <a:r>
              <a:rPr lang="en-US">
                <a:latin typeface="Arial"/>
                <a:ea typeface="Arial"/>
                <a:cs typeface="Arial"/>
                <a:sym typeface="Arial"/>
              </a:rPr>
              <a:t>nhớ thuộc tiến trình khác. </a:t>
            </a:r>
            <a:endParaRPr/>
          </a:p>
          <a:p>
            <a:pPr indent="-114300" lvl="0" marL="0" rtl="0" algn="l">
              <a:spcBef>
                <a:spcPts val="0"/>
              </a:spcBef>
              <a:spcAft>
                <a:spcPts val="0"/>
              </a:spcAft>
              <a:buSzPts val="1800"/>
              <a:buChar char="-"/>
            </a:pPr>
            <a:r>
              <a:rPr lang="en-US"/>
              <a:t> </a:t>
            </a:r>
            <a:r>
              <a:rPr lang="en-US">
                <a:latin typeface="Arial"/>
                <a:ea typeface="Arial"/>
                <a:cs typeface="Arial"/>
                <a:sym typeface="Arial"/>
              </a:rPr>
              <a:t>Việc truy cập trái phép có thể phá vỡ an toàn bảo mật thông tin.</a:t>
            </a:r>
            <a:br>
              <a:rPr lang="en-US">
                <a:latin typeface="Arial"/>
                <a:ea typeface="Arial"/>
                <a:cs typeface="Arial"/>
                <a:sym typeface="Arial"/>
              </a:rPr>
            </a:br>
            <a:r>
              <a:rPr lang="en-US"/>
              <a:t>- </a:t>
            </a:r>
            <a:r>
              <a:rPr lang="en-US">
                <a:latin typeface="Arial"/>
                <a:ea typeface="Arial"/>
                <a:cs typeface="Arial"/>
                <a:sym typeface="Arial"/>
              </a:rPr>
              <a:t>Nếu tiến trình bị truy cập trái phép là tiến trình của hệ </a:t>
            </a:r>
            <a:r>
              <a:rPr lang="en-US"/>
              <a:t>đ</a:t>
            </a:r>
            <a:r>
              <a:rPr lang="en-US">
                <a:latin typeface="Arial"/>
                <a:ea typeface="Arial"/>
                <a:cs typeface="Arial"/>
                <a:sym typeface="Arial"/>
              </a:rPr>
              <a:t>iều hành thì việc truy cập có thể gây</a:t>
            </a:r>
            <a:br>
              <a:rPr lang="en-US">
                <a:latin typeface="Arial"/>
                <a:ea typeface="Arial"/>
                <a:cs typeface="Arial"/>
                <a:sym typeface="Arial"/>
              </a:rPr>
            </a:br>
            <a:r>
              <a:rPr lang="en-US">
                <a:latin typeface="Arial"/>
                <a:ea typeface="Arial"/>
                <a:cs typeface="Arial"/>
                <a:sym typeface="Arial"/>
              </a:rPr>
              <a:t>ra lỗi làm hỏng toàn bộ hệ thống.</a:t>
            </a:r>
            <a:r>
              <a:rPr lang="en-US"/>
              <a:t> </a:t>
            </a:r>
            <a:br>
              <a:rPr lang="en-US">
                <a:latin typeface="Arial"/>
                <a:ea typeface="Arial"/>
                <a:cs typeface="Arial"/>
                <a:sym typeface="Arial"/>
              </a:rPr>
            </a:br>
            <a:r>
              <a:rPr lang="en-US"/>
              <a:t>- </a:t>
            </a:r>
            <a:r>
              <a:rPr lang="en-US">
                <a:latin typeface="Arial"/>
                <a:ea typeface="Arial"/>
                <a:cs typeface="Arial"/>
                <a:sym typeface="Arial"/>
              </a:rPr>
              <a:t>Hai vấn ñề nói trên có thể giải quyết bằng cách sử dụng một cơ chế phần cứng như</a:t>
            </a:r>
            <a:r>
              <a:rPr lang="en-US"/>
              <a:t> </a:t>
            </a:r>
            <a:r>
              <a:rPr lang="en-US">
                <a:latin typeface="Arial"/>
                <a:ea typeface="Arial"/>
                <a:cs typeface="Arial"/>
                <a:sym typeface="Arial"/>
              </a:rPr>
              <a:t>minh họa trên hình 3.6. </a:t>
            </a:r>
            <a:br>
              <a:rPr lang="en-US">
                <a:latin typeface="Arial"/>
                <a:ea typeface="Arial"/>
                <a:cs typeface="Arial"/>
                <a:sym typeface="Arial"/>
              </a:rPr>
            </a:br>
            <a:endParaRPr/>
          </a:p>
          <a:p>
            <a:pPr indent="-114300" lvl="0" marL="0" rtl="0" algn="l">
              <a:spcBef>
                <a:spcPts val="0"/>
              </a:spcBef>
              <a:spcAft>
                <a:spcPts val="0"/>
              </a:spcAft>
              <a:buSzPts val="1800"/>
              <a:buChar char="-"/>
            </a:pPr>
            <a:r>
              <a:rPr lang="en-US"/>
              <a:t>Khi tiến trình được tải vào bộ nhớ =&gt; CPU dành ra 2 thanh ghi : Thanh ghi giới hạn </a:t>
            </a:r>
            <a:endParaRPr/>
          </a:p>
        </p:txBody>
      </p:sp>
      <p:sp>
        <p:nvSpPr>
          <p:cNvPr id="381" name="Google Shape;381;p28: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9: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10" name="Google Shape;410;p29: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114300" lvl="0" marL="0" rtl="0" algn="l">
              <a:spcBef>
                <a:spcPts val="0"/>
              </a:spcBef>
              <a:spcAft>
                <a:spcPts val="0"/>
              </a:spcAft>
              <a:buSzPts val="1800"/>
              <a:buFont typeface="Arial"/>
              <a:buChar char="-"/>
            </a:pPr>
            <a:r>
              <a:rPr lang="en-US">
                <a:latin typeface="Arial"/>
                <a:ea typeface="Arial"/>
                <a:cs typeface="Arial"/>
                <a:sym typeface="Arial"/>
              </a:rPr>
              <a:t>Khi hệ ñiều hành tải tiến trình vào và thực hiện, hai thanh ghi </a:t>
            </a:r>
            <a:r>
              <a:rPr lang="en-US"/>
              <a:t>đ</a:t>
            </a:r>
            <a:r>
              <a:rPr lang="en-US">
                <a:latin typeface="Arial"/>
                <a:ea typeface="Arial"/>
                <a:cs typeface="Arial"/>
                <a:sym typeface="Arial"/>
              </a:rPr>
              <a:t>ặc biệt của processor sẽ</a:t>
            </a:r>
            <a:br>
              <a:rPr lang="en-US">
                <a:latin typeface="Arial"/>
                <a:ea typeface="Arial"/>
                <a:cs typeface="Arial"/>
                <a:sym typeface="Arial"/>
              </a:rPr>
            </a:br>
            <a:r>
              <a:rPr lang="en-US"/>
              <a:t>đ</a:t>
            </a:r>
            <a:r>
              <a:rPr lang="en-US">
                <a:latin typeface="Arial"/>
                <a:ea typeface="Arial"/>
                <a:cs typeface="Arial"/>
                <a:sym typeface="Arial"/>
              </a:rPr>
              <a:t>ược sử dụng. Thanh ghi thứ nhất gọi là thanh ghi cơ sở chứa </a:t>
            </a:r>
            <a:r>
              <a:rPr lang="en-US"/>
              <a:t>đ</a:t>
            </a:r>
            <a:r>
              <a:rPr lang="en-US">
                <a:latin typeface="Arial"/>
                <a:ea typeface="Arial"/>
                <a:cs typeface="Arial"/>
                <a:sym typeface="Arial"/>
              </a:rPr>
              <a:t>ịa chỉ bắt </a:t>
            </a:r>
            <a:r>
              <a:rPr lang="en-US"/>
              <a:t>đ</a:t>
            </a:r>
            <a:r>
              <a:rPr lang="en-US">
                <a:latin typeface="Arial"/>
                <a:ea typeface="Arial"/>
                <a:cs typeface="Arial"/>
                <a:sym typeface="Arial"/>
              </a:rPr>
              <a:t>ầu của tiến trình</a:t>
            </a:r>
            <a:br>
              <a:rPr lang="en-US">
                <a:latin typeface="Arial"/>
                <a:ea typeface="Arial"/>
                <a:cs typeface="Arial"/>
                <a:sym typeface="Arial"/>
              </a:rPr>
            </a:br>
            <a:r>
              <a:rPr lang="en-US">
                <a:latin typeface="Arial"/>
                <a:ea typeface="Arial"/>
                <a:cs typeface="Arial"/>
                <a:sym typeface="Arial"/>
              </a:rPr>
              <a:t>trong bộ nhớ. Thanh ghi thứ hai gọi là thanh ghi giới hạn và chứa giới hạn </a:t>
            </a:r>
            <a:r>
              <a:rPr lang="en-US"/>
              <a:t>đ</a:t>
            </a:r>
            <a:r>
              <a:rPr lang="en-US">
                <a:latin typeface="Arial"/>
                <a:ea typeface="Arial"/>
                <a:cs typeface="Arial"/>
                <a:sym typeface="Arial"/>
              </a:rPr>
              <a:t>ịa chỉ lô gic của</a:t>
            </a:r>
            <a:br>
              <a:rPr lang="en-US">
                <a:latin typeface="Arial"/>
                <a:ea typeface="Arial"/>
                <a:cs typeface="Arial"/>
                <a:sym typeface="Arial"/>
              </a:rPr>
            </a:br>
            <a:r>
              <a:rPr lang="en-US">
                <a:latin typeface="Arial"/>
                <a:ea typeface="Arial"/>
                <a:cs typeface="Arial"/>
                <a:sym typeface="Arial"/>
              </a:rPr>
              <a:t>tiến trình tức </a:t>
            </a:r>
            <a:r>
              <a:rPr lang="en-US"/>
              <a:t>đ</a:t>
            </a:r>
            <a:r>
              <a:rPr lang="en-US">
                <a:latin typeface="Arial"/>
                <a:ea typeface="Arial"/>
                <a:cs typeface="Arial"/>
                <a:sym typeface="Arial"/>
              </a:rPr>
              <a:t>ộ dài chương chứa tiến trình. </a:t>
            </a:r>
            <a:r>
              <a:rPr lang="en-US"/>
              <a:t>Đ</a:t>
            </a:r>
            <a:r>
              <a:rPr lang="en-US">
                <a:latin typeface="Arial"/>
                <a:ea typeface="Arial"/>
                <a:cs typeface="Arial"/>
                <a:sym typeface="Arial"/>
              </a:rPr>
              <a:t>ịa chỉ lôgic </a:t>
            </a:r>
            <a:r>
              <a:rPr lang="en-US"/>
              <a:t>đ</a:t>
            </a:r>
            <a:r>
              <a:rPr lang="en-US">
                <a:latin typeface="Arial"/>
                <a:ea typeface="Arial"/>
                <a:cs typeface="Arial"/>
                <a:sym typeface="Arial"/>
              </a:rPr>
              <a:t>ược so sánh với nội dung thanh ghi</a:t>
            </a:r>
            <a:br>
              <a:rPr lang="en-US">
                <a:latin typeface="Arial"/>
                <a:ea typeface="Arial"/>
                <a:cs typeface="Arial"/>
                <a:sym typeface="Arial"/>
              </a:rPr>
            </a:br>
            <a:r>
              <a:rPr lang="en-US">
                <a:latin typeface="Arial"/>
                <a:ea typeface="Arial"/>
                <a:cs typeface="Arial"/>
                <a:sym typeface="Arial"/>
              </a:rPr>
              <a:t>giới hạn. Chỉ những </a:t>
            </a:r>
            <a:r>
              <a:rPr lang="en-US"/>
              <a:t>đ</a:t>
            </a:r>
            <a:r>
              <a:rPr lang="en-US">
                <a:latin typeface="Arial"/>
                <a:ea typeface="Arial"/>
                <a:cs typeface="Arial"/>
                <a:sym typeface="Arial"/>
              </a:rPr>
              <a:t>ịa chỉ lôgic nhỏ hơn giá trị thanh ghi này mới </a:t>
            </a:r>
            <a:r>
              <a:rPr lang="en-US"/>
              <a:t>đ</a:t>
            </a:r>
            <a:r>
              <a:rPr lang="en-US">
                <a:latin typeface="Arial"/>
                <a:ea typeface="Arial"/>
                <a:cs typeface="Arial"/>
                <a:sym typeface="Arial"/>
              </a:rPr>
              <a:t>ược coi là hợp lệ và </a:t>
            </a:r>
            <a:r>
              <a:rPr lang="en-US"/>
              <a:t>đ</a:t>
            </a:r>
            <a:r>
              <a:rPr lang="en-US">
                <a:latin typeface="Arial"/>
                <a:ea typeface="Arial"/>
                <a:cs typeface="Arial"/>
                <a:sym typeface="Arial"/>
              </a:rPr>
              <a:t>ược</a:t>
            </a:r>
            <a:br>
              <a:rPr lang="en-US">
                <a:latin typeface="Arial"/>
                <a:ea typeface="Arial"/>
                <a:cs typeface="Arial"/>
                <a:sym typeface="Arial"/>
              </a:rPr>
            </a:br>
            <a:r>
              <a:rPr lang="en-US">
                <a:latin typeface="Arial"/>
                <a:ea typeface="Arial"/>
                <a:cs typeface="Arial"/>
                <a:sym typeface="Arial"/>
              </a:rPr>
              <a:t>ánh xạ thành </a:t>
            </a:r>
            <a:r>
              <a:rPr lang="en-US"/>
              <a:t>đ</a:t>
            </a:r>
            <a:r>
              <a:rPr lang="en-US">
                <a:latin typeface="Arial"/>
                <a:ea typeface="Arial"/>
                <a:cs typeface="Arial"/>
                <a:sym typeface="Arial"/>
              </a:rPr>
              <a:t>ịa chỉ vật lý. </a:t>
            </a:r>
            <a:r>
              <a:rPr lang="en-US"/>
              <a:t>Đ</a:t>
            </a:r>
            <a:r>
              <a:rPr lang="en-US">
                <a:latin typeface="Arial"/>
                <a:ea typeface="Arial"/>
                <a:cs typeface="Arial"/>
                <a:sym typeface="Arial"/>
              </a:rPr>
              <a:t>ịa chỉ vật lý </a:t>
            </a:r>
            <a:r>
              <a:rPr lang="en-US"/>
              <a:t>đ</a:t>
            </a:r>
            <a:r>
              <a:rPr lang="en-US">
                <a:latin typeface="Arial"/>
                <a:ea typeface="Arial"/>
                <a:cs typeface="Arial"/>
                <a:sym typeface="Arial"/>
              </a:rPr>
              <a:t>ược tạo ra bằng cách </a:t>
            </a:r>
            <a:r>
              <a:rPr b="1" lang="en-US">
                <a:latin typeface="Arial"/>
                <a:ea typeface="Arial"/>
                <a:cs typeface="Arial"/>
                <a:sym typeface="Arial"/>
              </a:rPr>
              <a:t>cộng nội dung thanh ghi cơ</a:t>
            </a:r>
            <a:br>
              <a:rPr b="1" lang="en-US">
                <a:latin typeface="Arial"/>
                <a:ea typeface="Arial"/>
                <a:cs typeface="Arial"/>
                <a:sym typeface="Arial"/>
              </a:rPr>
            </a:br>
            <a:r>
              <a:rPr b="1" lang="en-US">
                <a:latin typeface="Arial"/>
                <a:ea typeface="Arial"/>
                <a:cs typeface="Arial"/>
                <a:sym typeface="Arial"/>
              </a:rPr>
              <a:t>sở</a:t>
            </a:r>
            <a:r>
              <a:rPr lang="en-US">
                <a:latin typeface="Arial"/>
                <a:ea typeface="Arial"/>
                <a:cs typeface="Arial"/>
                <a:sym typeface="Arial"/>
              </a:rPr>
              <a:t> với </a:t>
            </a:r>
            <a:r>
              <a:rPr b="1" lang="en-US"/>
              <a:t>đ</a:t>
            </a:r>
            <a:r>
              <a:rPr b="1" lang="en-US">
                <a:latin typeface="Arial"/>
                <a:ea typeface="Arial"/>
                <a:cs typeface="Arial"/>
                <a:sym typeface="Arial"/>
              </a:rPr>
              <a:t>ịa chỉ lôgic</a:t>
            </a:r>
            <a:r>
              <a:rPr b="1" lang="en-US"/>
              <a:t> =&gt; thành địa chỉ vật lý </a:t>
            </a:r>
            <a:r>
              <a:rPr lang="en-US">
                <a:latin typeface="Arial"/>
                <a:ea typeface="Arial"/>
                <a:cs typeface="Arial"/>
                <a:sym typeface="Arial"/>
              </a:rPr>
              <a:t> </a:t>
            </a:r>
            <a:br>
              <a:rPr lang="en-US">
                <a:latin typeface="Arial"/>
                <a:ea typeface="Arial"/>
                <a:cs typeface="Arial"/>
                <a:sym typeface="Arial"/>
              </a:rPr>
            </a:br>
            <a:endParaRPr/>
          </a:p>
        </p:txBody>
      </p:sp>
      <p:sp>
        <p:nvSpPr>
          <p:cNvPr id="411" name="Google Shape;411;p29: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30: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40" name="Google Shape;440;p30: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441" name="Google Shape;441;p30: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31: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50" name="Google Shape;450;p31: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451" name="Google Shape;451;p31: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32: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60" name="Google Shape;460;p32: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461" name="Google Shape;461;p32: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3: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70" name="Google Shape;470;p33: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471" name="Google Shape;471;p33: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34: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81" name="Google Shape;481;p34: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 trang nằm trong khung trang</a:t>
            </a:r>
            <a:endParaRPr/>
          </a:p>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Các trang A0, A1,A2,A3  nằm trong khng trang.</a:t>
            </a:r>
            <a:endParaRPr/>
          </a:p>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Các trang là các địa chỉ logic.</a:t>
            </a:r>
            <a:endParaRPr/>
          </a:p>
        </p:txBody>
      </p:sp>
      <p:sp>
        <p:nvSpPr>
          <p:cNvPr id="482" name="Google Shape;482;p34: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36: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493" name="Google Shape;493;p36: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494" name="Google Shape;494;p36: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p35: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03" name="Google Shape;503;p35: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Trang: logic</a:t>
            </a:r>
            <a:endParaRPr/>
          </a:p>
          <a:p>
            <a:pPr indent="-114300" lvl="0" marL="0" rtl="0" algn="l">
              <a:spcBef>
                <a:spcPts val="0"/>
              </a:spcBef>
              <a:spcAft>
                <a:spcPts val="0"/>
              </a:spcAft>
              <a:buSzPts val="1800"/>
              <a:buFont typeface="Times New Roman"/>
              <a:buChar char="-"/>
            </a:pPr>
            <a:r>
              <a:rPr lang="en-US">
                <a:latin typeface="Times New Roman"/>
                <a:ea typeface="Times New Roman"/>
                <a:cs typeface="Times New Roman"/>
                <a:sym typeface="Times New Roman"/>
              </a:rPr>
              <a:t>Khung trang: vật lý</a:t>
            </a:r>
            <a:endParaRPr/>
          </a:p>
        </p:txBody>
      </p:sp>
      <p:sp>
        <p:nvSpPr>
          <p:cNvPr id="504" name="Google Shape;504;p35: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p37: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14" name="Google Shape;514;p37: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515" name="Google Shape;515;p37: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38: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25" name="Google Shape;525;p38: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526" name="Google Shape;526;p38: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39: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35" name="Google Shape;535;p39: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536" name="Google Shape;536;p39: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40: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46" name="Google Shape;546;p40: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547" name="Google Shape;547;p40: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41: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58" name="Google Shape;558;p41: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559" name="Google Shape;559;p41: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42: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69" name="Google Shape;569;p42: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570" name="Google Shape;570;p42: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21bc13fa9a2_0_2:notes"/>
          <p:cNvSpPr/>
          <p:nvPr>
            <p:ph idx="2" type="sldImg"/>
          </p:nvPr>
        </p:nvSpPr>
        <p:spPr>
          <a:xfrm>
            <a:off x="1165225" y="692150"/>
            <a:ext cx="4619700" cy="3463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80" name="Google Shape;580;g21bc13fa9a2_0_2:notes"/>
          <p:cNvSpPr txBox="1"/>
          <p:nvPr>
            <p:ph idx="1" type="body"/>
          </p:nvPr>
        </p:nvSpPr>
        <p:spPr>
          <a:xfrm>
            <a:off x="695325" y="4387850"/>
            <a:ext cx="5559300" cy="4156200"/>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581" name="Google Shape;581;g21bc13fa9a2_0_2:notes"/>
          <p:cNvSpPr txBox="1"/>
          <p:nvPr/>
        </p:nvSpPr>
        <p:spPr>
          <a:xfrm>
            <a:off x="3937000" y="8772525"/>
            <a:ext cx="3011400" cy="462000"/>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43: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591" name="Google Shape;591;p43: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592" name="Google Shape;592;p43: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44: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02" name="Google Shape;602;p44: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603" name="Google Shape;603;p44: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45: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15" name="Google Shape;615;p45: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616" name="Google Shape;616;p45: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p46: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25" name="Google Shape;625;p46: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626" name="Google Shape;626;p46: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47: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35" name="Google Shape;635;p47: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636" name="Google Shape;636;p47: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48: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45" name="Google Shape;645;p48: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646" name="Google Shape;646;p48: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49: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55" name="Google Shape;655;p49: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S: số thứ tự đoạn</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O: độ dịch trong đoạn</a:t>
            </a:r>
            <a:endParaRPr/>
          </a:p>
          <a:p>
            <a:pPr indent="0" lvl="0" marL="0" rtl="0" algn="l">
              <a:spcBef>
                <a:spcPts val="0"/>
              </a:spcBef>
              <a:spcAft>
                <a:spcPts val="0"/>
              </a:spcAft>
              <a:buSzPts val="1800"/>
              <a:buFont typeface="Times New Roman"/>
              <a:buNone/>
            </a:pPr>
            <a:r>
              <a:rPr lang="en-US">
                <a:latin typeface="Times New Roman"/>
                <a:ea typeface="Times New Roman"/>
                <a:cs typeface="Times New Roman"/>
                <a:sym typeface="Times New Roman"/>
              </a:rPr>
              <a:t>Nó dùng cơ chế Bảng đoạn để kiểm tra. Nếu nhỏ hơn giới hạn đoạn THÌ nó được cộng với địa chỉ cơ sở hay Địa chỉ vật lý bắt đầu đoạn =&gt; ra địa chỉ vật lý.</a:t>
            </a:r>
            <a:endParaRPr/>
          </a:p>
          <a:p>
            <a:pPr indent="0" lvl="0" marL="0" rtl="0" algn="l">
              <a:spcBef>
                <a:spcPts val="0"/>
              </a:spcBef>
              <a:spcAft>
                <a:spcPts val="0"/>
              </a:spcAft>
              <a:buSzPts val="1800"/>
              <a:buNone/>
            </a:pPr>
            <a:r>
              <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656" name="Google Shape;656;p49: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p50: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67" name="Google Shape;667;p50: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668" name="Google Shape;668;p50: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51: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79" name="Google Shape;679;p51: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rmAutofit/>
          </a:bodyPr>
          <a:lstStyle/>
          <a:p>
            <a:pPr indent="0" lvl="0" marL="0" rtl="0" algn="l">
              <a:spcBef>
                <a:spcPts val="0"/>
              </a:spcBef>
              <a:spcAft>
                <a:spcPts val="0"/>
              </a:spcAft>
              <a:buSzPts val="1800"/>
              <a:buNone/>
            </a:pPr>
            <a:r>
              <a:rPr lang="en-US"/>
              <a:t>1 tiến trình có thể lưu trong 10 trang nhưng thực tế, chạy 1 tiến trình đó chỉ cần tới 3 khung thôi =&gt; chỉ cần nạp 3 trang vào bộ nhớ thôiiii. 7 trang còn lại khi nào cần lại nạp tiếp.</a:t>
            </a:r>
            <a:endParaRPr/>
          </a:p>
          <a:p>
            <a:pPr indent="0" lvl="0" marL="0" rtl="0" algn="l">
              <a:spcBef>
                <a:spcPts val="0"/>
              </a:spcBef>
              <a:spcAft>
                <a:spcPts val="0"/>
              </a:spcAft>
              <a:buSzPts val="1800"/>
              <a:buNone/>
            </a:pPr>
            <a:r>
              <a:t/>
            </a:r>
            <a:endParaRPr/>
          </a:p>
          <a:p>
            <a:pPr indent="0" lvl="0" marL="0" rtl="0" algn="l">
              <a:spcBef>
                <a:spcPts val="0"/>
              </a:spcBef>
              <a:spcAft>
                <a:spcPts val="0"/>
              </a:spcAft>
              <a:buNone/>
            </a:pPr>
            <a:r>
              <a:t/>
            </a:r>
            <a:endParaRPr/>
          </a:p>
        </p:txBody>
      </p:sp>
      <p:sp>
        <p:nvSpPr>
          <p:cNvPr id="680" name="Google Shape;680;p51: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52: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89" name="Google Shape;689;p52: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rmAutofit/>
          </a:bodyPr>
          <a:lstStyle/>
          <a:p>
            <a:pPr indent="0" lvl="0" marL="0" rtl="0" algn="l">
              <a:spcBef>
                <a:spcPts val="0"/>
              </a:spcBef>
              <a:spcAft>
                <a:spcPts val="0"/>
              </a:spcAft>
              <a:buSzPts val="1800"/>
              <a:buFont typeface="Arial"/>
              <a:buNone/>
            </a:pPr>
            <a:r>
              <a:rPr lang="en-US">
                <a:latin typeface="Arial"/>
                <a:ea typeface="Arial"/>
                <a:cs typeface="Arial"/>
                <a:sym typeface="Arial"/>
              </a:rPr>
              <a:t>Nếu ô nhớ có 10 khung thôi =&gt; Chúng ta có 2 tiến trình: tiến trình 1 dùng 5 khung; tiến trình 2 dùng 6 khung =&gt; Tổng 10 khung. MEM chỉ có 10 khung =&gt; bộ nhớ quá tải.</a:t>
            </a:r>
            <a:endParaRPr/>
          </a:p>
          <a:p>
            <a:pPr indent="0" lvl="0" marL="0" rtl="0" algn="l">
              <a:spcBef>
                <a:spcPts val="0"/>
              </a:spcBef>
              <a:spcAft>
                <a:spcPts val="0"/>
              </a:spcAft>
              <a:buSzPts val="1800"/>
              <a:buFont typeface="Arial"/>
              <a:buNone/>
            </a:pPr>
            <a:r>
              <a:rPr lang="en-US">
                <a:latin typeface="Arial"/>
                <a:ea typeface="Arial"/>
                <a:cs typeface="Arial"/>
                <a:sym typeface="Arial"/>
              </a:rPr>
              <a:t>Tiến trình 1 tôi gọi 3 khung</a:t>
            </a:r>
            <a:endParaRPr/>
          </a:p>
          <a:p>
            <a:pPr indent="0" lvl="0" marL="0" rtl="0" algn="l">
              <a:spcBef>
                <a:spcPts val="0"/>
              </a:spcBef>
              <a:spcAft>
                <a:spcPts val="0"/>
              </a:spcAft>
              <a:buSzPts val="1800"/>
              <a:buFont typeface="Arial"/>
              <a:buNone/>
            </a:pPr>
            <a:r>
              <a:rPr lang="en-US">
                <a:latin typeface="Arial"/>
                <a:ea typeface="Arial"/>
                <a:cs typeface="Arial"/>
                <a:sym typeface="Arial"/>
              </a:rPr>
              <a:t>Tiến trình 2 tôi gọi 5 khung</a:t>
            </a:r>
            <a:endParaRPr/>
          </a:p>
          <a:p>
            <a:pPr indent="-114300" lvl="0" marL="0" rtl="0" algn="l">
              <a:spcBef>
                <a:spcPts val="0"/>
              </a:spcBef>
              <a:spcAft>
                <a:spcPts val="0"/>
              </a:spcAft>
              <a:buSzPts val="1800"/>
              <a:buFont typeface="Noto Sans Symbols"/>
              <a:buChar char="⇒"/>
            </a:pPr>
            <a:r>
              <a:rPr lang="en-US">
                <a:latin typeface="Arial"/>
                <a:ea typeface="Arial"/>
                <a:cs typeface="Arial"/>
                <a:sym typeface="Arial"/>
              </a:rPr>
              <a:t>vẫn thừa 2 khung. Như vậy số tiến trình tải vào bộ nhớ nhiều. Còn như bình thường chỉ 1 tiến trình đc tải vào bộ nhớ thôi.  Khả năng thực hiện được nhiều hơn như bộ nhớ vật lý.</a:t>
            </a:r>
            <a:endParaRPr/>
          </a:p>
          <a:p>
            <a:pPr indent="0" lvl="0" marL="0" rtl="0" algn="l">
              <a:spcBef>
                <a:spcPts val="0"/>
              </a:spcBef>
              <a:spcAft>
                <a:spcPts val="0"/>
              </a:spcAft>
              <a:buSzPts val="1800"/>
              <a:buFont typeface="Noto Sans Symbols"/>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p:txBody>
      </p:sp>
      <p:sp>
        <p:nvSpPr>
          <p:cNvPr id="690" name="Google Shape;690;p52: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53: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699" name="Google Shape;699;p53: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SzPts val="1800"/>
              <a:buFont typeface="Arial"/>
              <a:buNone/>
            </a:pPr>
            <a:r>
              <a:rPr lang="en-US">
                <a:latin typeface="Arial"/>
                <a:ea typeface="Arial"/>
                <a:cs typeface="Arial"/>
                <a:sym typeface="Arial"/>
              </a:rPr>
              <a:t>Có 8 tiến trình được thể hiện như trên Bộ nhớ logic.</a:t>
            </a:r>
            <a:endParaRPr/>
          </a:p>
          <a:p>
            <a:pPr indent="0" lvl="0" marL="0" rtl="0" algn="l">
              <a:spcBef>
                <a:spcPts val="0"/>
              </a:spcBef>
              <a:spcAft>
                <a:spcPts val="0"/>
              </a:spcAft>
              <a:buSzPts val="1800"/>
              <a:buFont typeface="Arial"/>
              <a:buNone/>
            </a:pPr>
            <a:r>
              <a:rPr lang="en-US">
                <a:latin typeface="Arial"/>
                <a:ea typeface="Arial"/>
                <a:cs typeface="Arial"/>
                <a:sym typeface="Arial"/>
              </a:rPr>
              <a:t>Có một bảng trang tương ứng để lưu các tiến trình =&gt; Không trang nào cũng được nạp vào nên trên bảng trang có thêm bit P trong khoản mục để phân biệt xem đã nạp vào MEM hay chưa</a:t>
            </a:r>
            <a:endParaRPr/>
          </a:p>
          <a:p>
            <a:pPr indent="0" lvl="0" marL="0" rtl="0" algn="l">
              <a:spcBef>
                <a:spcPts val="0"/>
              </a:spcBef>
              <a:spcAft>
                <a:spcPts val="0"/>
              </a:spcAft>
              <a:buSzPts val="1800"/>
              <a:buNone/>
            </a:pPr>
            <a:r>
              <a:t/>
            </a:r>
            <a:endParaRPr>
              <a:latin typeface="Arial"/>
              <a:ea typeface="Arial"/>
              <a:cs typeface="Arial"/>
              <a:sym typeface="Arial"/>
            </a:endParaRPr>
          </a:p>
          <a:p>
            <a:pPr indent="0" lvl="0" marL="0" rtl="0" algn="l">
              <a:spcBef>
                <a:spcPts val="0"/>
              </a:spcBef>
              <a:spcAft>
                <a:spcPts val="0"/>
              </a:spcAft>
              <a:buSzPts val="1800"/>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p:txBody>
      </p:sp>
      <p:sp>
        <p:nvSpPr>
          <p:cNvPr id="700" name="Google Shape;700;p53: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54: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12" name="Google Shape;712;p54: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SzPts val="1800"/>
              <a:buFont typeface="Arial"/>
              <a:buNone/>
            </a:pPr>
            <a:r>
              <a:rPr lang="en-US">
                <a:latin typeface="Arial"/>
                <a:ea typeface="Arial"/>
                <a:cs typeface="Arial"/>
                <a:sym typeface="Arial"/>
              </a:rPr>
              <a:t>Có 8 tiến trình được thể hiện như trên Bộ nhớ logic.</a:t>
            </a:r>
            <a:endParaRPr/>
          </a:p>
          <a:p>
            <a:pPr indent="0" lvl="0" marL="0" rtl="0" algn="l">
              <a:spcBef>
                <a:spcPts val="0"/>
              </a:spcBef>
              <a:spcAft>
                <a:spcPts val="0"/>
              </a:spcAft>
              <a:buSzPts val="1800"/>
              <a:buFont typeface="Arial"/>
              <a:buNone/>
            </a:pPr>
            <a:r>
              <a:rPr lang="en-US">
                <a:latin typeface="Arial"/>
                <a:ea typeface="Arial"/>
                <a:cs typeface="Arial"/>
                <a:sym typeface="Arial"/>
              </a:rPr>
              <a:t>Có một bảng trang tương ứng để lưu các tiến trình =&gt; Không trang nào cũng được nạp vào nên trên bảng trang có thêm bit P trong khoản mục để phân biệt xem đã nạp vào MEM hay chưa</a:t>
            </a:r>
            <a:endParaRPr/>
          </a:p>
          <a:p>
            <a:pPr indent="0" lvl="0" marL="0" rtl="0" algn="l">
              <a:spcBef>
                <a:spcPts val="0"/>
              </a:spcBef>
              <a:spcAft>
                <a:spcPts val="0"/>
              </a:spcAft>
              <a:buSzPts val="1800"/>
              <a:buNone/>
            </a:pPr>
            <a:r>
              <a:t/>
            </a:r>
            <a:endParaRPr>
              <a:latin typeface="Arial"/>
              <a:ea typeface="Arial"/>
              <a:cs typeface="Arial"/>
              <a:sym typeface="Arial"/>
            </a:endParaRPr>
          </a:p>
          <a:p>
            <a:pPr indent="0" lvl="0" marL="0" rtl="0" algn="l">
              <a:spcBef>
                <a:spcPts val="0"/>
              </a:spcBef>
              <a:spcAft>
                <a:spcPts val="0"/>
              </a:spcAft>
              <a:buSzPts val="1800"/>
              <a:buNone/>
            </a:pPr>
            <a:r>
              <a:t/>
            </a:r>
            <a:endParaRPr>
              <a:latin typeface="Arial"/>
              <a:ea typeface="Arial"/>
              <a:cs typeface="Arial"/>
              <a:sym typeface="Arial"/>
            </a:endParaRPr>
          </a:p>
          <a:p>
            <a:pPr indent="0" lvl="0" marL="0" rtl="0" algn="l">
              <a:spcBef>
                <a:spcPts val="0"/>
              </a:spcBef>
              <a:spcAft>
                <a:spcPts val="0"/>
              </a:spcAft>
              <a:buNone/>
            </a:pPr>
            <a:r>
              <a:t/>
            </a:r>
            <a:endParaRPr>
              <a:latin typeface="Arial"/>
              <a:ea typeface="Arial"/>
              <a:cs typeface="Arial"/>
              <a:sym typeface="Arial"/>
            </a:endParaRPr>
          </a:p>
        </p:txBody>
      </p:sp>
      <p:sp>
        <p:nvSpPr>
          <p:cNvPr id="713" name="Google Shape;713;p54: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55: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25" name="Google Shape;725;p55: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726" name="Google Shape;726;p55: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p56: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39" name="Google Shape;739;p56: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740" name="Google Shape;740;p56: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p57: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50" name="Google Shape;750;p57: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751" name="Google Shape;751;p57: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p58: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60" name="Google Shape;760;p58: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761" name="Google Shape;761;p58: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p59: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70" name="Google Shape;770;p59: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771" name="Google Shape;771;p59: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60: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80" name="Google Shape;780;p60: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781" name="Google Shape;781;p60: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61: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790" name="Google Shape;790;p61: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791" name="Google Shape;791;p61: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p62: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00" name="Google Shape;800;p62: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801" name="Google Shape;801;p62: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0" name="Shape 810"/>
        <p:cNvGrpSpPr/>
        <p:nvPr/>
      </p:nvGrpSpPr>
      <p:grpSpPr>
        <a:xfrm>
          <a:off x="0" y="0"/>
          <a:ext cx="0" cy="0"/>
          <a:chOff x="0" y="0"/>
          <a:chExt cx="0" cy="0"/>
        </a:xfrm>
      </p:grpSpPr>
      <p:sp>
        <p:nvSpPr>
          <p:cNvPr id="811" name="Google Shape;811;p63: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12" name="Google Shape;812;p63: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813" name="Google Shape;813;p63: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64: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24" name="Google Shape;824;p64: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rmAutofit/>
          </a:bodyPr>
          <a:lstStyle/>
          <a:p>
            <a:pPr indent="0" lvl="0" marL="0" rtl="0" algn="l">
              <a:spcBef>
                <a:spcPts val="0"/>
              </a:spcBef>
              <a:spcAft>
                <a:spcPts val="0"/>
              </a:spcAft>
              <a:buNone/>
            </a:pPr>
            <a:r>
              <a:t/>
            </a:r>
            <a:endParaRPr/>
          </a:p>
        </p:txBody>
      </p:sp>
      <p:sp>
        <p:nvSpPr>
          <p:cNvPr id="825" name="Google Shape;825;p64: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p65: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37" name="Google Shape;837;p65: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838" name="Google Shape;838;p65: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p66: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51" name="Google Shape;851;p66: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852" name="Google Shape;852;p66: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67: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64" name="Google Shape;864;p67: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865" name="Google Shape;865;p67: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p68: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77" name="Google Shape;877;p68: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878" name="Google Shape;878;p68: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p69: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890" name="Google Shape;890;p69: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891" name="Google Shape;891;p69: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1" name="Shape 901"/>
        <p:cNvGrpSpPr/>
        <p:nvPr/>
      </p:nvGrpSpPr>
      <p:grpSpPr>
        <a:xfrm>
          <a:off x="0" y="0"/>
          <a:ext cx="0" cy="0"/>
          <a:chOff x="0" y="0"/>
          <a:chExt cx="0" cy="0"/>
        </a:xfrm>
      </p:grpSpPr>
      <p:sp>
        <p:nvSpPr>
          <p:cNvPr id="902" name="Google Shape;902;p70: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03" name="Google Shape;903;p70: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904" name="Google Shape;904;p70: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p71: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23" name="Google Shape;923;p71: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924" name="Google Shape;924;p71: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72: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36" name="Google Shape;936;p72: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937" name="Google Shape;937;p72: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p73: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49" name="Google Shape;949;p73: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950" name="Google Shape;950;p73: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p74: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62" name="Google Shape;962;p74: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963" name="Google Shape;963;p74: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75: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75" name="Google Shape;975;p75: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976" name="Google Shape;976;p75: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6" name="Shape 986"/>
        <p:cNvGrpSpPr/>
        <p:nvPr/>
      </p:nvGrpSpPr>
      <p:grpSpPr>
        <a:xfrm>
          <a:off x="0" y="0"/>
          <a:ext cx="0" cy="0"/>
          <a:chOff x="0" y="0"/>
          <a:chExt cx="0" cy="0"/>
        </a:xfrm>
      </p:grpSpPr>
      <p:sp>
        <p:nvSpPr>
          <p:cNvPr id="987" name="Google Shape;987;p76: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988" name="Google Shape;988;p76: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989" name="Google Shape;989;p76: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77: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01" name="Google Shape;1001;p77: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1002" name="Google Shape;1002;p77: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2" name="Shape 1012"/>
        <p:cNvGrpSpPr/>
        <p:nvPr/>
      </p:nvGrpSpPr>
      <p:grpSpPr>
        <a:xfrm>
          <a:off x="0" y="0"/>
          <a:ext cx="0" cy="0"/>
          <a:chOff x="0" y="0"/>
          <a:chExt cx="0" cy="0"/>
        </a:xfrm>
      </p:grpSpPr>
      <p:sp>
        <p:nvSpPr>
          <p:cNvPr id="1013" name="Google Shape;1013;p78: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14" name="Google Shape;1014;p78: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1015" name="Google Shape;1015;p78: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p79: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27" name="Google Shape;1027;p79: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1028" name="Google Shape;1028;p79: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p80: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40" name="Google Shape;1040;p80: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1041" name="Google Shape;1041;p80: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1" name="Shape 1051"/>
        <p:cNvGrpSpPr/>
        <p:nvPr/>
      </p:nvGrpSpPr>
      <p:grpSpPr>
        <a:xfrm>
          <a:off x="0" y="0"/>
          <a:ext cx="0" cy="0"/>
          <a:chOff x="0" y="0"/>
          <a:chExt cx="0" cy="0"/>
        </a:xfrm>
      </p:grpSpPr>
      <p:sp>
        <p:nvSpPr>
          <p:cNvPr id="1052" name="Google Shape;1052;p81: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53" name="Google Shape;1053;p81: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1054" name="Google Shape;1054;p81: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p82: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66" name="Google Shape;1066;p82: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1067" name="Google Shape;1067;p82: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p83: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091" name="Google Shape;1091;p83: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1092" name="Google Shape;1092;p83: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p84: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04" name="Google Shape;1104;p84: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1105" name="Google Shape;1105;p84: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6" name="Shape 1116"/>
        <p:cNvGrpSpPr/>
        <p:nvPr/>
      </p:nvGrpSpPr>
      <p:grpSpPr>
        <a:xfrm>
          <a:off x="0" y="0"/>
          <a:ext cx="0" cy="0"/>
          <a:chOff x="0" y="0"/>
          <a:chExt cx="0" cy="0"/>
        </a:xfrm>
      </p:grpSpPr>
      <p:sp>
        <p:nvSpPr>
          <p:cNvPr id="1117" name="Google Shape;1117;p85: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18" name="Google Shape;1118;p85: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SzPts val="1800"/>
              <a:buFont typeface="Arial"/>
              <a:buNone/>
            </a:pPr>
            <a:r>
              <a:rPr lang="en-US">
                <a:latin typeface="Arial"/>
                <a:ea typeface="Arial"/>
                <a:cs typeface="Arial"/>
                <a:sym typeface="Arial"/>
              </a:rPr>
              <a:t>Từ phần selector mà trỏ được tới bảng mô tả đoạn.</a:t>
            </a:r>
            <a:endParaRPr/>
          </a:p>
        </p:txBody>
      </p:sp>
      <p:sp>
        <p:nvSpPr>
          <p:cNvPr id="1119" name="Google Shape;1119;p85: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p86: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35" name="Google Shape;1135;p86: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SzPts val="1800"/>
              <a:buFont typeface="Arial"/>
              <a:buNone/>
            </a:pPr>
            <a:r>
              <a:rPr lang="en-US">
                <a:latin typeface="Arial"/>
                <a:ea typeface="Arial"/>
                <a:cs typeface="Arial"/>
                <a:sym typeface="Arial"/>
              </a:rPr>
              <a:t>Tiến hành phân trang</a:t>
            </a:r>
            <a:endParaRPr/>
          </a:p>
        </p:txBody>
      </p:sp>
      <p:sp>
        <p:nvSpPr>
          <p:cNvPr id="1136" name="Google Shape;1136;p86: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p87: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49" name="Google Shape;1149;p87: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1150" name="Google Shape;1150;p87: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p88: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65" name="Google Shape;1165;p88: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1166" name="Google Shape;1166;p88: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p89: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82" name="Google Shape;1182;p89: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1183" name="Google Shape;1183;p89: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p90: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196" name="Google Shape;1196;p90: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1197" name="Google Shape;1197;p90: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8" name="Shape 1208"/>
        <p:cNvGrpSpPr/>
        <p:nvPr/>
      </p:nvGrpSpPr>
      <p:grpSpPr>
        <a:xfrm>
          <a:off x="0" y="0"/>
          <a:ext cx="0" cy="0"/>
          <a:chOff x="0" y="0"/>
          <a:chExt cx="0" cy="0"/>
        </a:xfrm>
      </p:grpSpPr>
      <p:sp>
        <p:nvSpPr>
          <p:cNvPr id="1209" name="Google Shape;1209;p91: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10" name="Google Shape;1210;p91: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1211" name="Google Shape;1211;p91: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p92: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524288"/>
            <a:headEnd len="sm" w="sm" type="none"/>
            <a:tailEnd len="sm" w="sm" type="none"/>
          </a:ln>
        </p:spPr>
      </p:sp>
      <p:sp>
        <p:nvSpPr>
          <p:cNvPr id="1225" name="Google Shape;1225;p92:notes"/>
          <p:cNvSpPr txBox="1"/>
          <p:nvPr>
            <p:ph idx="1" type="body"/>
          </p:nvPr>
        </p:nvSpPr>
        <p:spPr>
          <a:xfrm>
            <a:off x="695325" y="4387850"/>
            <a:ext cx="5559425" cy="4156075"/>
          </a:xfrm>
          <a:prstGeom prst="rect">
            <a:avLst/>
          </a:prstGeom>
          <a:noFill/>
          <a:ln>
            <a:noFill/>
          </a:ln>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1226" name="Google Shape;1226;p92:notes"/>
          <p:cNvSpPr txBox="1"/>
          <p:nvPr/>
        </p:nvSpPr>
        <p:spPr>
          <a:xfrm>
            <a:off x="3937000" y="8772525"/>
            <a:ext cx="3011487"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a:solidFill>
                  <a:srgbClr val="000000"/>
                </a:solidFill>
                <a:latin typeface="Calibri"/>
                <a:ea typeface="Calibri"/>
                <a:cs typeface="Calibri"/>
                <a:sym typeface="Calibri"/>
              </a:rPr>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p93:notes"/>
          <p:cNvSpPr txBox="1"/>
          <p:nvPr>
            <p:ph idx="1" type="body"/>
          </p:nvPr>
        </p:nvSpPr>
        <p:spPr>
          <a:xfrm>
            <a:off x="695325" y="4387850"/>
            <a:ext cx="5559425" cy="4156075"/>
          </a:xfrm>
          <a:prstGeom prst="rect">
            <a:avLst/>
          </a:prstGeom>
        </p:spPr>
        <p:txBody>
          <a:bodyPr anchorCtr="0" anchor="t" bIns="46225" lIns="92475" spcFirstLastPara="1" rIns="92475" wrap="square" tIns="46225">
            <a:noAutofit/>
          </a:bodyPr>
          <a:lstStyle/>
          <a:p>
            <a:pPr indent="0" lvl="0" marL="0" rtl="0" algn="l">
              <a:spcBef>
                <a:spcPts val="0"/>
              </a:spcBef>
              <a:spcAft>
                <a:spcPts val="0"/>
              </a:spcAft>
              <a:buNone/>
            </a:pPr>
            <a:r>
              <a:t/>
            </a:r>
            <a:endParaRPr/>
          </a:p>
        </p:txBody>
      </p:sp>
      <p:sp>
        <p:nvSpPr>
          <p:cNvPr id="1239" name="Google Shape;1239;p93:notes"/>
          <p:cNvSpPr/>
          <p:nvPr>
            <p:ph idx="2" type="sldImg"/>
          </p:nvPr>
        </p:nvSpPr>
        <p:spPr>
          <a:xfrm>
            <a:off x="1165225" y="692150"/>
            <a:ext cx="4619625" cy="34639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9" name="Shape 19"/>
        <p:cNvGrpSpPr/>
        <p:nvPr/>
      </p:nvGrpSpPr>
      <p:grpSpPr>
        <a:xfrm>
          <a:off x="0" y="0"/>
          <a:ext cx="0" cy="0"/>
          <a:chOff x="0" y="0"/>
          <a:chExt cx="0" cy="0"/>
        </a:xfrm>
      </p:grpSpPr>
      <p:sp>
        <p:nvSpPr>
          <p:cNvPr id="20" name="Google Shape;20;p97"/>
          <p:cNvSpPr txBox="1"/>
          <p:nvPr>
            <p:ph idx="1" type="body"/>
          </p:nvPr>
        </p:nvSpPr>
        <p:spPr>
          <a:xfrm>
            <a:off x="457200" y="1295400"/>
            <a:ext cx="8229600" cy="4525963"/>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Noto Sans Symbols"/>
              <a:buChar char="❖"/>
              <a:defRPr b="0" i="0" sz="2400" u="none" cap="none" strike="noStrike">
                <a:solidFill>
                  <a:schemeClr val="dk2"/>
                </a:solidFill>
                <a:latin typeface="Arial"/>
                <a:ea typeface="Arial"/>
                <a:cs typeface="Arial"/>
                <a:sym typeface="Arial"/>
              </a:defRPr>
            </a:lvl1pPr>
            <a:lvl2pPr indent="-368300" lvl="1" marL="914400" marR="0" rtl="0" algn="l">
              <a:spcBef>
                <a:spcPts val="440"/>
              </a:spcBef>
              <a:spcAft>
                <a:spcPts val="0"/>
              </a:spcAft>
              <a:buClr>
                <a:schemeClr val="accent1"/>
              </a:buClr>
              <a:buSzPts val="2200"/>
              <a:buFont typeface="Noto Sans Symbols"/>
              <a:buChar char="▪"/>
              <a:defRPr b="0" i="0" sz="2200" u="none" cap="none" strike="noStrike">
                <a:solidFill>
                  <a:schemeClr val="dk2"/>
                </a:solidFill>
                <a:latin typeface="Arial"/>
                <a:ea typeface="Arial"/>
                <a:cs typeface="Arial"/>
                <a:sym typeface="Arial"/>
              </a:defRPr>
            </a:lvl2pPr>
            <a:lvl3pPr indent="-342900" lvl="2" marL="1371600" marR="0" rtl="0" algn="l">
              <a:spcBef>
                <a:spcPts val="360"/>
              </a:spcBef>
              <a:spcAft>
                <a:spcPts val="0"/>
              </a:spcAft>
              <a:buClr>
                <a:schemeClr val="accent2"/>
              </a:buClr>
              <a:buSzPts val="1800"/>
              <a:buFont typeface="Arial"/>
              <a:buChar char="•"/>
              <a:defRPr b="0" i="0" sz="1800" u="none" cap="none" strike="noStrike">
                <a:solidFill>
                  <a:schemeClr val="dk2"/>
                </a:solidFill>
                <a:latin typeface="Arial"/>
                <a:ea typeface="Arial"/>
                <a:cs typeface="Arial"/>
                <a:sym typeface="Arial"/>
              </a:defRPr>
            </a:lvl3pPr>
            <a:lvl4pPr indent="-330200" lvl="3" marL="1828800" marR="0" rtl="0" algn="l">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1" name="Google Shape;21;p97"/>
          <p:cNvSpPr txBox="1"/>
          <p:nvPr>
            <p:ph type="title"/>
          </p:nvPr>
        </p:nvSpPr>
        <p:spPr>
          <a:xfrm>
            <a:off x="457200" y="990600"/>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 name="Shape 22"/>
        <p:cNvGrpSpPr/>
        <p:nvPr/>
      </p:nvGrpSpPr>
      <p:grpSpPr>
        <a:xfrm>
          <a:off x="0" y="0"/>
          <a:ext cx="0" cy="0"/>
          <a:chOff x="0" y="0"/>
          <a:chExt cx="0" cy="0"/>
        </a:xfrm>
      </p:grpSpPr>
      <p:sp>
        <p:nvSpPr>
          <p:cNvPr id="23" name="Google Shape;23;p98"/>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24" name="Google Shape;24;p9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Noto Sans Symbols"/>
              <a:buChar char="❖"/>
              <a:defRPr sz="2400">
                <a:solidFill>
                  <a:schemeClr val="dk2"/>
                </a:solidFill>
                <a:latin typeface="Arial"/>
                <a:ea typeface="Arial"/>
                <a:cs typeface="Arial"/>
                <a:sym typeface="Arial"/>
              </a:defRPr>
            </a:lvl1pPr>
            <a:lvl2pPr indent="-368300" lvl="1" marL="914400" marR="0" rtl="0" algn="l">
              <a:spcBef>
                <a:spcPts val="440"/>
              </a:spcBef>
              <a:spcAft>
                <a:spcPts val="0"/>
              </a:spcAft>
              <a:buClr>
                <a:schemeClr val="accent1"/>
              </a:buClr>
              <a:buSzPts val="2200"/>
              <a:buFont typeface="Noto Sans Symbols"/>
              <a:buChar char="▪"/>
              <a:defRPr b="0" i="0" sz="2200" u="none" cap="none" strike="noStrike">
                <a:solidFill>
                  <a:schemeClr val="dk2"/>
                </a:solidFill>
                <a:latin typeface="Arial"/>
                <a:ea typeface="Arial"/>
                <a:cs typeface="Arial"/>
                <a:sym typeface="Arial"/>
              </a:defRPr>
            </a:lvl2pPr>
            <a:lvl3pPr indent="-342900" lvl="2" marL="1371600" marR="0" rtl="0" algn="l">
              <a:spcBef>
                <a:spcPts val="360"/>
              </a:spcBef>
              <a:spcAft>
                <a:spcPts val="0"/>
              </a:spcAft>
              <a:buClr>
                <a:schemeClr val="accent2"/>
              </a:buClr>
              <a:buSzPts val="1800"/>
              <a:buFont typeface="Arial"/>
              <a:buChar char="•"/>
              <a:defRPr b="0" i="0" sz="1800" u="none" cap="none" strike="noStrike">
                <a:solidFill>
                  <a:schemeClr val="dk2"/>
                </a:solidFill>
                <a:latin typeface="Arial"/>
                <a:ea typeface="Arial"/>
                <a:cs typeface="Arial"/>
                <a:sym typeface="Arial"/>
              </a:defRPr>
            </a:lvl3pPr>
            <a:lvl4pPr indent="-330200" lvl="3" marL="1828800" marR="0" rtl="0" algn="l">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5" name="Shape 25"/>
        <p:cNvGrpSpPr/>
        <p:nvPr/>
      </p:nvGrpSpPr>
      <p:grpSpPr>
        <a:xfrm>
          <a:off x="0" y="0"/>
          <a:ext cx="0" cy="0"/>
          <a:chOff x="0" y="0"/>
          <a:chExt cx="0" cy="0"/>
        </a:xfrm>
      </p:grpSpPr>
      <p:sp>
        <p:nvSpPr>
          <p:cNvPr id="26" name="Google Shape;26;p9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27" name="Google Shape;27;p9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Noto Sans Symbols"/>
              <a:buChar char="❖"/>
              <a:defRPr sz="2400">
                <a:solidFill>
                  <a:schemeClr val="dk2"/>
                </a:solidFill>
                <a:latin typeface="Arial"/>
                <a:ea typeface="Arial"/>
                <a:cs typeface="Arial"/>
                <a:sym typeface="Arial"/>
              </a:defRPr>
            </a:lvl1pPr>
            <a:lvl2pPr indent="-368300" lvl="1" marL="914400" marR="0" rtl="0" algn="l">
              <a:spcBef>
                <a:spcPts val="440"/>
              </a:spcBef>
              <a:spcAft>
                <a:spcPts val="0"/>
              </a:spcAft>
              <a:buClr>
                <a:schemeClr val="accent1"/>
              </a:buClr>
              <a:buSzPts val="2200"/>
              <a:buFont typeface="Noto Sans Symbols"/>
              <a:buChar char="▪"/>
              <a:defRPr b="0" i="0" sz="2200" u="none" cap="none" strike="noStrike">
                <a:solidFill>
                  <a:schemeClr val="dk2"/>
                </a:solidFill>
                <a:latin typeface="Arial"/>
                <a:ea typeface="Arial"/>
                <a:cs typeface="Arial"/>
                <a:sym typeface="Arial"/>
              </a:defRPr>
            </a:lvl2pPr>
            <a:lvl3pPr indent="-342900" lvl="2" marL="1371600" marR="0" rtl="0" algn="l">
              <a:spcBef>
                <a:spcPts val="360"/>
              </a:spcBef>
              <a:spcAft>
                <a:spcPts val="0"/>
              </a:spcAft>
              <a:buClr>
                <a:schemeClr val="accent2"/>
              </a:buClr>
              <a:buSzPts val="1800"/>
              <a:buFont typeface="Arial"/>
              <a:buChar char="•"/>
              <a:defRPr b="0" i="0" sz="1800" u="none" cap="none" strike="noStrike">
                <a:solidFill>
                  <a:schemeClr val="dk2"/>
                </a:solidFill>
                <a:latin typeface="Arial"/>
                <a:ea typeface="Arial"/>
                <a:cs typeface="Arial"/>
                <a:sym typeface="Arial"/>
              </a:defRPr>
            </a:lvl3pPr>
            <a:lvl4pPr indent="-330200" lvl="3" marL="1828800" marR="0" rtl="0" algn="l">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8" name="Shape 28"/>
        <p:cNvGrpSpPr/>
        <p:nvPr/>
      </p:nvGrpSpPr>
      <p:grpSpPr>
        <a:xfrm>
          <a:off x="0" y="0"/>
          <a:ext cx="0" cy="0"/>
          <a:chOff x="0" y="0"/>
          <a:chExt cx="0" cy="0"/>
        </a:xfrm>
      </p:grpSpPr>
      <p:sp>
        <p:nvSpPr>
          <p:cNvPr id="29" name="Google Shape;29;p10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30" name="Google Shape;30;p100"/>
          <p:cNvSpPr/>
          <p:nvPr>
            <p:ph idx="2" type="pic"/>
          </p:nvPr>
        </p:nvSpPr>
        <p:spPr>
          <a:xfrm>
            <a:off x="1792288" y="612775"/>
            <a:ext cx="5486400" cy="4114800"/>
          </a:xfrm>
          <a:prstGeom prst="rect">
            <a:avLst/>
          </a:prstGeom>
          <a:noFill/>
          <a:ln>
            <a:noFill/>
          </a:ln>
        </p:spPr>
      </p:sp>
      <p:sp>
        <p:nvSpPr>
          <p:cNvPr id="31" name="Google Shape;31;p10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2"/>
              </a:buClr>
              <a:buSzPts val="1400"/>
              <a:buFont typeface="Noto Sans Symbols"/>
              <a:buNone/>
              <a:defRPr sz="1400">
                <a:solidFill>
                  <a:schemeClr val="dk2"/>
                </a:solidFill>
                <a:latin typeface="Arial"/>
                <a:ea typeface="Arial"/>
                <a:cs typeface="Arial"/>
                <a:sym typeface="Arial"/>
              </a:defRPr>
            </a:lvl1pPr>
            <a:lvl2pPr indent="-228600" lvl="1" marL="914400" marR="0" rtl="0" algn="l">
              <a:spcBef>
                <a:spcPts val="240"/>
              </a:spcBef>
              <a:spcAft>
                <a:spcPts val="0"/>
              </a:spcAft>
              <a:buClr>
                <a:schemeClr val="accent1"/>
              </a:buClr>
              <a:buSzPts val="1200"/>
              <a:buFont typeface="Noto Sans Symbols"/>
              <a:buNone/>
              <a:defRPr b="0" i="0" sz="1200" u="none" cap="none" strike="noStrike">
                <a:solidFill>
                  <a:schemeClr val="dk2"/>
                </a:solidFill>
                <a:latin typeface="Arial"/>
                <a:ea typeface="Arial"/>
                <a:cs typeface="Arial"/>
                <a:sym typeface="Arial"/>
              </a:defRPr>
            </a:lvl2pPr>
            <a:lvl3pPr indent="-228600" lvl="2" marL="1371600" marR="0" rtl="0" algn="l">
              <a:spcBef>
                <a:spcPts val="200"/>
              </a:spcBef>
              <a:spcAft>
                <a:spcPts val="0"/>
              </a:spcAft>
              <a:buClr>
                <a:schemeClr val="accent2"/>
              </a:buClr>
              <a:buSzPts val="1000"/>
              <a:buFont typeface="Arial"/>
              <a:buNone/>
              <a:defRPr b="0" i="0" sz="1000" u="none" cap="none" strike="noStrike">
                <a:solidFill>
                  <a:schemeClr val="dk2"/>
                </a:solidFill>
                <a:latin typeface="Arial"/>
                <a:ea typeface="Arial"/>
                <a:cs typeface="Arial"/>
                <a:sym typeface="Arial"/>
              </a:defRPr>
            </a:lvl3pPr>
            <a:lvl4pPr indent="-228600" lvl="3" marL="1828800" marR="0" rtl="0" algn="l">
              <a:spcBef>
                <a:spcPts val="180"/>
              </a:spcBef>
              <a:spcAft>
                <a:spcPts val="0"/>
              </a:spcAft>
              <a:buClr>
                <a:schemeClr val="dk2"/>
              </a:buClr>
              <a:buSzPts val="900"/>
              <a:buFont typeface="Arial"/>
              <a:buNone/>
              <a:defRPr b="0" i="0" sz="900" u="none" cap="none" strike="noStrike">
                <a:solidFill>
                  <a:schemeClr val="dk2"/>
                </a:solidFill>
                <a:latin typeface="Arial"/>
                <a:ea typeface="Arial"/>
                <a:cs typeface="Arial"/>
                <a:sym typeface="Arial"/>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2" name="Shape 32"/>
        <p:cNvGrpSpPr/>
        <p:nvPr/>
      </p:nvGrpSpPr>
      <p:grpSpPr>
        <a:xfrm>
          <a:off x="0" y="0"/>
          <a:ext cx="0" cy="0"/>
          <a:chOff x="0" y="0"/>
          <a:chExt cx="0" cy="0"/>
        </a:xfrm>
      </p:grpSpPr>
      <p:sp>
        <p:nvSpPr>
          <p:cNvPr id="33" name="Google Shape;33;p10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34" name="Google Shape;34;p10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2"/>
              </a:buClr>
              <a:buSzPts val="3200"/>
              <a:buFont typeface="Noto Sans Symbols"/>
              <a:buChar char="❖"/>
              <a:defRPr sz="3200">
                <a:solidFill>
                  <a:schemeClr val="dk2"/>
                </a:solidFill>
                <a:latin typeface="Arial"/>
                <a:ea typeface="Arial"/>
                <a:cs typeface="Arial"/>
                <a:sym typeface="Arial"/>
              </a:defRPr>
            </a:lvl1pPr>
            <a:lvl2pPr indent="-406400" lvl="1" marL="914400" marR="0" rtl="0" algn="l">
              <a:spcBef>
                <a:spcPts val="560"/>
              </a:spcBef>
              <a:spcAft>
                <a:spcPts val="0"/>
              </a:spcAft>
              <a:buClr>
                <a:schemeClr val="accent1"/>
              </a:buClr>
              <a:buSzPts val="2800"/>
              <a:buFont typeface="Noto Sans Symbols"/>
              <a:buChar char="▪"/>
              <a:defRPr b="0" i="0" sz="2800" u="none" cap="none" strike="noStrike">
                <a:solidFill>
                  <a:schemeClr val="dk2"/>
                </a:solidFill>
                <a:latin typeface="Arial"/>
                <a:ea typeface="Arial"/>
                <a:cs typeface="Arial"/>
                <a:sym typeface="Arial"/>
              </a:defRPr>
            </a:lvl2pPr>
            <a:lvl3pPr indent="-381000" lvl="2" marL="1371600" marR="0" rtl="0" algn="l">
              <a:spcBef>
                <a:spcPts val="480"/>
              </a:spcBef>
              <a:spcAft>
                <a:spcPts val="0"/>
              </a:spcAft>
              <a:buClr>
                <a:schemeClr val="accent2"/>
              </a:buClr>
              <a:buSzPts val="2400"/>
              <a:buFont typeface="Arial"/>
              <a:buChar char="•"/>
              <a:defRPr b="0" i="0" sz="2400" u="none" cap="none" strike="noStrike">
                <a:solidFill>
                  <a:schemeClr val="dk2"/>
                </a:solidFill>
                <a:latin typeface="Arial"/>
                <a:ea typeface="Arial"/>
                <a:cs typeface="Arial"/>
                <a:sym typeface="Arial"/>
              </a:defRPr>
            </a:lvl3pPr>
            <a:lvl4pPr indent="-355600" lvl="3" marL="1828800" marR="0" rtl="0" algn="l">
              <a:spcBef>
                <a:spcPts val="400"/>
              </a:spcBef>
              <a:spcAft>
                <a:spcPts val="0"/>
              </a:spcAft>
              <a:buClr>
                <a:schemeClr val="dk2"/>
              </a:buClr>
              <a:buSzPts val="2000"/>
              <a:buFont typeface="Arial"/>
              <a:buChar char="–"/>
              <a:defRPr b="0" i="0" sz="2000" u="none" cap="none" strike="noStrike">
                <a:solidFill>
                  <a:schemeClr val="dk2"/>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5" name="Google Shape;35;p10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2"/>
              </a:buClr>
              <a:buSzPts val="1400"/>
              <a:buFont typeface="Noto Sans Symbols"/>
              <a:buNone/>
              <a:defRPr sz="1400">
                <a:solidFill>
                  <a:schemeClr val="dk2"/>
                </a:solidFill>
                <a:latin typeface="Arial"/>
                <a:ea typeface="Arial"/>
                <a:cs typeface="Arial"/>
                <a:sym typeface="Arial"/>
              </a:defRPr>
            </a:lvl1pPr>
            <a:lvl2pPr indent="-228600" lvl="1" marL="914400" marR="0" rtl="0" algn="l">
              <a:spcBef>
                <a:spcPts val="240"/>
              </a:spcBef>
              <a:spcAft>
                <a:spcPts val="0"/>
              </a:spcAft>
              <a:buClr>
                <a:schemeClr val="accent1"/>
              </a:buClr>
              <a:buSzPts val="1200"/>
              <a:buFont typeface="Noto Sans Symbols"/>
              <a:buNone/>
              <a:defRPr b="0" i="0" sz="1200" u="none" cap="none" strike="noStrike">
                <a:solidFill>
                  <a:schemeClr val="dk2"/>
                </a:solidFill>
                <a:latin typeface="Arial"/>
                <a:ea typeface="Arial"/>
                <a:cs typeface="Arial"/>
                <a:sym typeface="Arial"/>
              </a:defRPr>
            </a:lvl2pPr>
            <a:lvl3pPr indent="-228600" lvl="2" marL="1371600" marR="0" rtl="0" algn="l">
              <a:spcBef>
                <a:spcPts val="200"/>
              </a:spcBef>
              <a:spcAft>
                <a:spcPts val="0"/>
              </a:spcAft>
              <a:buClr>
                <a:schemeClr val="accent2"/>
              </a:buClr>
              <a:buSzPts val="1000"/>
              <a:buFont typeface="Arial"/>
              <a:buNone/>
              <a:defRPr b="0" i="0" sz="1000" u="none" cap="none" strike="noStrike">
                <a:solidFill>
                  <a:schemeClr val="dk2"/>
                </a:solidFill>
                <a:latin typeface="Arial"/>
                <a:ea typeface="Arial"/>
                <a:cs typeface="Arial"/>
                <a:sym typeface="Arial"/>
              </a:defRPr>
            </a:lvl3pPr>
            <a:lvl4pPr indent="-228600" lvl="3" marL="1828800" marR="0" rtl="0" algn="l">
              <a:spcBef>
                <a:spcPts val="180"/>
              </a:spcBef>
              <a:spcAft>
                <a:spcPts val="0"/>
              </a:spcAft>
              <a:buClr>
                <a:schemeClr val="dk2"/>
              </a:buClr>
              <a:buSzPts val="900"/>
              <a:buFont typeface="Arial"/>
              <a:buNone/>
              <a:defRPr b="0" i="0" sz="900" u="none" cap="none" strike="noStrike">
                <a:solidFill>
                  <a:schemeClr val="dk2"/>
                </a:solidFill>
                <a:latin typeface="Arial"/>
                <a:ea typeface="Arial"/>
                <a:cs typeface="Arial"/>
                <a:sym typeface="Arial"/>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36" name="Shape 36"/>
        <p:cNvGrpSpPr/>
        <p:nvPr/>
      </p:nvGrpSpPr>
      <p:grpSpPr>
        <a:xfrm>
          <a:off x="0" y="0"/>
          <a:ext cx="0" cy="0"/>
          <a:chOff x="0" y="0"/>
          <a:chExt cx="0" cy="0"/>
        </a:xfrm>
      </p:grpSpPr>
      <p:sp>
        <p:nvSpPr>
          <p:cNvPr id="37" name="Google Shape;37;p102"/>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8" name="Shape 38"/>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10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10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43" name="Google Shape;43;p10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2"/>
              </a:buClr>
              <a:buSzPts val="2400"/>
              <a:buFont typeface="Noto Sans Symbols"/>
              <a:buNone/>
              <a:defRPr b="1" sz="2400">
                <a:solidFill>
                  <a:schemeClr val="dk2"/>
                </a:solidFill>
                <a:latin typeface="Arial"/>
                <a:ea typeface="Arial"/>
                <a:cs typeface="Arial"/>
                <a:sym typeface="Arial"/>
              </a:defRPr>
            </a:lvl1pPr>
            <a:lvl2pPr indent="-228600" lvl="1" marL="914400" marR="0" rtl="0" algn="l">
              <a:spcBef>
                <a:spcPts val="400"/>
              </a:spcBef>
              <a:spcAft>
                <a:spcPts val="0"/>
              </a:spcAft>
              <a:buClr>
                <a:schemeClr val="accent1"/>
              </a:buClr>
              <a:buSzPts val="2000"/>
              <a:buFont typeface="Noto Sans Symbols"/>
              <a:buNone/>
              <a:defRPr b="1" i="0" sz="2000" u="none" cap="none" strike="noStrike">
                <a:solidFill>
                  <a:schemeClr val="dk2"/>
                </a:solidFill>
                <a:latin typeface="Arial"/>
                <a:ea typeface="Arial"/>
                <a:cs typeface="Arial"/>
                <a:sym typeface="Arial"/>
              </a:defRPr>
            </a:lvl2pPr>
            <a:lvl3pPr indent="-228600" lvl="2" marL="1371600" marR="0" rtl="0" algn="l">
              <a:spcBef>
                <a:spcPts val="360"/>
              </a:spcBef>
              <a:spcAft>
                <a:spcPts val="0"/>
              </a:spcAft>
              <a:buClr>
                <a:schemeClr val="accent2"/>
              </a:buClr>
              <a:buSzPts val="1800"/>
              <a:buFont typeface="Arial"/>
              <a:buNone/>
              <a:defRPr b="1" i="0" sz="1800" u="none" cap="none" strike="noStrike">
                <a:solidFill>
                  <a:schemeClr val="dk2"/>
                </a:solidFill>
                <a:latin typeface="Arial"/>
                <a:ea typeface="Arial"/>
                <a:cs typeface="Arial"/>
                <a:sym typeface="Arial"/>
              </a:defRPr>
            </a:lvl3pPr>
            <a:lvl4pPr indent="-228600" lvl="3" marL="1828800" marR="0" rtl="0" algn="l">
              <a:spcBef>
                <a:spcPts val="320"/>
              </a:spcBef>
              <a:spcAft>
                <a:spcPts val="0"/>
              </a:spcAft>
              <a:buClr>
                <a:schemeClr val="dk2"/>
              </a:buClr>
              <a:buSzPts val="1600"/>
              <a:buFont typeface="Arial"/>
              <a:buNone/>
              <a:defRPr b="1" i="0" sz="1600" u="none" cap="none" strike="noStrike">
                <a:solidFill>
                  <a:schemeClr val="dk2"/>
                </a:solidFill>
                <a:latin typeface="Arial"/>
                <a:ea typeface="Arial"/>
                <a:cs typeface="Arial"/>
                <a:sym typeface="Arial"/>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44" name="Google Shape;44;p10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Noto Sans Symbols"/>
              <a:buChar char="❖"/>
              <a:defRPr sz="2400">
                <a:solidFill>
                  <a:schemeClr val="dk2"/>
                </a:solidFill>
                <a:latin typeface="Arial"/>
                <a:ea typeface="Arial"/>
                <a:cs typeface="Arial"/>
                <a:sym typeface="Arial"/>
              </a:defRPr>
            </a:lvl1pPr>
            <a:lvl2pPr indent="-355600" lvl="1" marL="914400" marR="0" rtl="0" algn="l">
              <a:spcBef>
                <a:spcPts val="400"/>
              </a:spcBef>
              <a:spcAft>
                <a:spcPts val="0"/>
              </a:spcAft>
              <a:buClr>
                <a:schemeClr val="accent1"/>
              </a:buClr>
              <a:buSzPts val="2000"/>
              <a:buFont typeface="Noto Sans Symbols"/>
              <a:buChar char="▪"/>
              <a:defRPr b="0" i="0" sz="2000" u="none" cap="none" strike="noStrike">
                <a:solidFill>
                  <a:schemeClr val="dk2"/>
                </a:solidFill>
                <a:latin typeface="Arial"/>
                <a:ea typeface="Arial"/>
                <a:cs typeface="Arial"/>
                <a:sym typeface="Arial"/>
              </a:defRPr>
            </a:lvl2pPr>
            <a:lvl3pPr indent="-342900" lvl="2" marL="1371600" marR="0" rtl="0" algn="l">
              <a:spcBef>
                <a:spcPts val="360"/>
              </a:spcBef>
              <a:spcAft>
                <a:spcPts val="0"/>
              </a:spcAft>
              <a:buClr>
                <a:schemeClr val="accent2"/>
              </a:buClr>
              <a:buSzPts val="1800"/>
              <a:buFont typeface="Arial"/>
              <a:buChar char="•"/>
              <a:defRPr b="0" i="0" sz="1800" u="none" cap="none" strike="noStrike">
                <a:solidFill>
                  <a:schemeClr val="dk2"/>
                </a:solidFill>
                <a:latin typeface="Arial"/>
                <a:ea typeface="Arial"/>
                <a:cs typeface="Arial"/>
                <a:sym typeface="Arial"/>
              </a:defRPr>
            </a:lvl3pPr>
            <a:lvl4pPr indent="-330200" lvl="3" marL="1828800" marR="0" rtl="0" algn="l">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45" name="Google Shape;45;p10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2"/>
              </a:buClr>
              <a:buSzPts val="2400"/>
              <a:buFont typeface="Noto Sans Symbols"/>
              <a:buNone/>
              <a:defRPr b="1" sz="2400">
                <a:solidFill>
                  <a:schemeClr val="dk2"/>
                </a:solidFill>
                <a:latin typeface="Arial"/>
                <a:ea typeface="Arial"/>
                <a:cs typeface="Arial"/>
                <a:sym typeface="Arial"/>
              </a:defRPr>
            </a:lvl1pPr>
            <a:lvl2pPr indent="-228600" lvl="1" marL="914400" marR="0" rtl="0" algn="l">
              <a:spcBef>
                <a:spcPts val="400"/>
              </a:spcBef>
              <a:spcAft>
                <a:spcPts val="0"/>
              </a:spcAft>
              <a:buClr>
                <a:schemeClr val="accent1"/>
              </a:buClr>
              <a:buSzPts val="2000"/>
              <a:buFont typeface="Noto Sans Symbols"/>
              <a:buNone/>
              <a:defRPr b="1" i="0" sz="2000" u="none" cap="none" strike="noStrike">
                <a:solidFill>
                  <a:schemeClr val="dk2"/>
                </a:solidFill>
                <a:latin typeface="Arial"/>
                <a:ea typeface="Arial"/>
                <a:cs typeface="Arial"/>
                <a:sym typeface="Arial"/>
              </a:defRPr>
            </a:lvl2pPr>
            <a:lvl3pPr indent="-228600" lvl="2" marL="1371600" marR="0" rtl="0" algn="l">
              <a:spcBef>
                <a:spcPts val="360"/>
              </a:spcBef>
              <a:spcAft>
                <a:spcPts val="0"/>
              </a:spcAft>
              <a:buClr>
                <a:schemeClr val="accent2"/>
              </a:buClr>
              <a:buSzPts val="1800"/>
              <a:buFont typeface="Arial"/>
              <a:buNone/>
              <a:defRPr b="1" i="0" sz="1800" u="none" cap="none" strike="noStrike">
                <a:solidFill>
                  <a:schemeClr val="dk2"/>
                </a:solidFill>
                <a:latin typeface="Arial"/>
                <a:ea typeface="Arial"/>
                <a:cs typeface="Arial"/>
                <a:sym typeface="Arial"/>
              </a:defRPr>
            </a:lvl3pPr>
            <a:lvl4pPr indent="-228600" lvl="3" marL="1828800" marR="0" rtl="0" algn="l">
              <a:spcBef>
                <a:spcPts val="320"/>
              </a:spcBef>
              <a:spcAft>
                <a:spcPts val="0"/>
              </a:spcAft>
              <a:buClr>
                <a:schemeClr val="dk2"/>
              </a:buClr>
              <a:buSzPts val="1600"/>
              <a:buFont typeface="Arial"/>
              <a:buNone/>
              <a:defRPr b="1" i="0" sz="1600" u="none" cap="none" strike="noStrike">
                <a:solidFill>
                  <a:schemeClr val="dk2"/>
                </a:solidFill>
                <a:latin typeface="Arial"/>
                <a:ea typeface="Arial"/>
                <a:cs typeface="Arial"/>
                <a:sym typeface="Arial"/>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46" name="Google Shape;46;p10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2"/>
              </a:buClr>
              <a:buSzPts val="2400"/>
              <a:buFont typeface="Noto Sans Symbols"/>
              <a:buChar char="❖"/>
              <a:defRPr sz="2400">
                <a:solidFill>
                  <a:schemeClr val="dk2"/>
                </a:solidFill>
                <a:latin typeface="Arial"/>
                <a:ea typeface="Arial"/>
                <a:cs typeface="Arial"/>
                <a:sym typeface="Arial"/>
              </a:defRPr>
            </a:lvl1pPr>
            <a:lvl2pPr indent="-355600" lvl="1" marL="914400" marR="0" rtl="0" algn="l">
              <a:spcBef>
                <a:spcPts val="400"/>
              </a:spcBef>
              <a:spcAft>
                <a:spcPts val="0"/>
              </a:spcAft>
              <a:buClr>
                <a:schemeClr val="accent1"/>
              </a:buClr>
              <a:buSzPts val="2000"/>
              <a:buFont typeface="Noto Sans Symbols"/>
              <a:buChar char="▪"/>
              <a:defRPr b="0" i="0" sz="2000" u="none" cap="none" strike="noStrike">
                <a:solidFill>
                  <a:schemeClr val="dk2"/>
                </a:solidFill>
                <a:latin typeface="Arial"/>
                <a:ea typeface="Arial"/>
                <a:cs typeface="Arial"/>
                <a:sym typeface="Arial"/>
              </a:defRPr>
            </a:lvl2pPr>
            <a:lvl3pPr indent="-342900" lvl="2" marL="1371600" marR="0" rtl="0" algn="l">
              <a:spcBef>
                <a:spcPts val="360"/>
              </a:spcBef>
              <a:spcAft>
                <a:spcPts val="0"/>
              </a:spcAft>
              <a:buClr>
                <a:schemeClr val="accent2"/>
              </a:buClr>
              <a:buSzPts val="1800"/>
              <a:buFont typeface="Arial"/>
              <a:buChar char="•"/>
              <a:defRPr b="0" i="0" sz="1800" u="none" cap="none" strike="noStrike">
                <a:solidFill>
                  <a:schemeClr val="dk2"/>
                </a:solidFill>
                <a:latin typeface="Arial"/>
                <a:ea typeface="Arial"/>
                <a:cs typeface="Arial"/>
                <a:sym typeface="Arial"/>
              </a:defRPr>
            </a:lvl3pPr>
            <a:lvl4pPr indent="-330200" lvl="3" marL="1828800" marR="0" rtl="0" algn="l">
              <a:spcBef>
                <a:spcPts val="320"/>
              </a:spcBef>
              <a:spcAft>
                <a:spcPts val="0"/>
              </a:spcAft>
              <a:buClr>
                <a:schemeClr val="dk2"/>
              </a:buClr>
              <a:buSzPts val="1600"/>
              <a:buFont typeface="Arial"/>
              <a:buChar char="–"/>
              <a:defRPr b="0" i="0" sz="1600" u="none" cap="none" strike="noStrike">
                <a:solidFill>
                  <a:schemeClr val="dk2"/>
                </a:solidFill>
                <a:latin typeface="Arial"/>
                <a:ea typeface="Arial"/>
                <a:cs typeface="Arial"/>
                <a:sym typeface="Arial"/>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106"/>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49" name="Google Shape;49;p10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2"/>
              </a:buClr>
              <a:buSzPts val="2800"/>
              <a:buFont typeface="Noto Sans Symbols"/>
              <a:buChar char="❖"/>
              <a:defRPr sz="2800">
                <a:solidFill>
                  <a:schemeClr val="dk2"/>
                </a:solidFill>
                <a:latin typeface="Arial"/>
                <a:ea typeface="Arial"/>
                <a:cs typeface="Arial"/>
                <a:sym typeface="Arial"/>
              </a:defRPr>
            </a:lvl1pPr>
            <a:lvl2pPr indent="-381000" lvl="1" marL="914400" marR="0" rtl="0" algn="l">
              <a:spcBef>
                <a:spcPts val="480"/>
              </a:spcBef>
              <a:spcAft>
                <a:spcPts val="0"/>
              </a:spcAft>
              <a:buClr>
                <a:schemeClr val="accent1"/>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spcBef>
                <a:spcPts val="400"/>
              </a:spcBef>
              <a:spcAft>
                <a:spcPts val="0"/>
              </a:spcAft>
              <a:buClr>
                <a:schemeClr val="accent2"/>
              </a:buClr>
              <a:buSzPts val="2000"/>
              <a:buFont typeface="Arial"/>
              <a:buChar char="•"/>
              <a:defRPr b="0" i="0" sz="2000" u="none" cap="none" strike="noStrike">
                <a:solidFill>
                  <a:schemeClr val="dk2"/>
                </a:solidFill>
                <a:latin typeface="Arial"/>
                <a:ea typeface="Arial"/>
                <a:cs typeface="Arial"/>
                <a:sym typeface="Arial"/>
              </a:defRPr>
            </a:lvl3pPr>
            <a:lvl4pPr indent="-342900" lvl="3" marL="1828800" marR="0" rtl="0" algn="l">
              <a:spcBef>
                <a:spcPts val="36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0" name="Google Shape;50;p10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2"/>
              </a:buClr>
              <a:buSzPts val="2800"/>
              <a:buFont typeface="Noto Sans Symbols"/>
              <a:buChar char="❖"/>
              <a:defRPr sz="2800">
                <a:solidFill>
                  <a:schemeClr val="dk2"/>
                </a:solidFill>
                <a:latin typeface="Arial"/>
                <a:ea typeface="Arial"/>
                <a:cs typeface="Arial"/>
                <a:sym typeface="Arial"/>
              </a:defRPr>
            </a:lvl1pPr>
            <a:lvl2pPr indent="-381000" lvl="1" marL="914400" marR="0" rtl="0" algn="l">
              <a:spcBef>
                <a:spcPts val="480"/>
              </a:spcBef>
              <a:spcAft>
                <a:spcPts val="0"/>
              </a:spcAft>
              <a:buClr>
                <a:schemeClr val="accent1"/>
              </a:buClr>
              <a:buSzPts val="2400"/>
              <a:buFont typeface="Noto Sans Symbols"/>
              <a:buChar char="▪"/>
              <a:defRPr b="0" i="0" sz="2400" u="none" cap="none" strike="noStrike">
                <a:solidFill>
                  <a:schemeClr val="dk2"/>
                </a:solidFill>
                <a:latin typeface="Arial"/>
                <a:ea typeface="Arial"/>
                <a:cs typeface="Arial"/>
                <a:sym typeface="Arial"/>
              </a:defRPr>
            </a:lvl2pPr>
            <a:lvl3pPr indent="-355600" lvl="2" marL="1371600" marR="0" rtl="0" algn="l">
              <a:spcBef>
                <a:spcPts val="400"/>
              </a:spcBef>
              <a:spcAft>
                <a:spcPts val="0"/>
              </a:spcAft>
              <a:buClr>
                <a:schemeClr val="accent2"/>
              </a:buClr>
              <a:buSzPts val="2000"/>
              <a:buFont typeface="Arial"/>
              <a:buChar char="•"/>
              <a:defRPr b="0" i="0" sz="2000" u="none" cap="none" strike="noStrike">
                <a:solidFill>
                  <a:schemeClr val="dk2"/>
                </a:solidFill>
                <a:latin typeface="Arial"/>
                <a:ea typeface="Arial"/>
                <a:cs typeface="Arial"/>
                <a:sym typeface="Arial"/>
              </a:defRPr>
            </a:lvl3pPr>
            <a:lvl4pPr indent="-342900" lvl="3" marL="1828800" marR="0" rtl="0" algn="l">
              <a:spcBef>
                <a:spcPts val="36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1" name="Shape 51"/>
        <p:cNvGrpSpPr/>
        <p:nvPr/>
      </p:nvGrpSpPr>
      <p:grpSpPr>
        <a:xfrm>
          <a:off x="0" y="0"/>
          <a:ext cx="0" cy="0"/>
          <a:chOff x="0" y="0"/>
          <a:chExt cx="0" cy="0"/>
        </a:xfrm>
      </p:grpSpPr>
      <p:sp>
        <p:nvSpPr>
          <p:cNvPr id="52" name="Google Shape;52;p10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4000" u="none" cap="none" strike="noStrike">
                <a:solidFill>
                  <a:srgbClr val="000066"/>
                </a:solidFill>
                <a:latin typeface="Arial"/>
                <a:ea typeface="Arial"/>
                <a:cs typeface="Arial"/>
                <a:sym typeface="Arial"/>
              </a:defRPr>
            </a:lvl1pPr>
            <a:lvl2pPr lvl="1"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2pPr>
            <a:lvl3pPr lvl="2"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3pPr>
            <a:lvl4pPr lvl="3"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4pPr>
            <a:lvl5pPr lvl="4"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5pPr>
            <a:lvl6pPr lvl="5"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6pPr>
            <a:lvl7pPr lvl="6"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7pPr>
            <a:lvl8pPr lvl="7"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8pPr>
            <a:lvl9pPr lvl="8" marR="0" rtl="0" algn="ctr">
              <a:spcBef>
                <a:spcPts val="0"/>
              </a:spcBef>
              <a:spcAft>
                <a:spcPts val="0"/>
              </a:spcAft>
              <a:buSzPts val="1400"/>
              <a:buNone/>
              <a:defRPr b="1" i="0" sz="2400" u="none" cap="none" strike="noStrike">
                <a:solidFill>
                  <a:srgbClr val="000066"/>
                </a:solidFill>
                <a:latin typeface="Arial"/>
                <a:ea typeface="Arial"/>
                <a:cs typeface="Arial"/>
                <a:sym typeface="Arial"/>
              </a:defRPr>
            </a:lvl9pPr>
          </a:lstStyle>
          <a:p/>
        </p:txBody>
      </p:sp>
      <p:sp>
        <p:nvSpPr>
          <p:cNvPr id="53" name="Google Shape;53;p10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chemeClr val="dk2"/>
              </a:buClr>
              <a:buSzPts val="2000"/>
              <a:buFont typeface="Noto Sans Symbols"/>
              <a:buNone/>
              <a:defRPr sz="2000">
                <a:solidFill>
                  <a:schemeClr val="dk2"/>
                </a:solidFill>
                <a:latin typeface="Arial"/>
                <a:ea typeface="Arial"/>
                <a:cs typeface="Arial"/>
                <a:sym typeface="Arial"/>
              </a:defRPr>
            </a:lvl1pPr>
            <a:lvl2pPr indent="-228600" lvl="1" marL="914400" marR="0" rtl="0" algn="l">
              <a:spcBef>
                <a:spcPts val="360"/>
              </a:spcBef>
              <a:spcAft>
                <a:spcPts val="0"/>
              </a:spcAft>
              <a:buClr>
                <a:schemeClr val="accent1"/>
              </a:buClr>
              <a:buSzPts val="1800"/>
              <a:buFont typeface="Noto Sans Symbols"/>
              <a:buNone/>
              <a:defRPr b="0" i="0" sz="1800" u="none" cap="none" strike="noStrike">
                <a:solidFill>
                  <a:schemeClr val="dk2"/>
                </a:solidFill>
                <a:latin typeface="Arial"/>
                <a:ea typeface="Arial"/>
                <a:cs typeface="Arial"/>
                <a:sym typeface="Arial"/>
              </a:defRPr>
            </a:lvl2pPr>
            <a:lvl3pPr indent="-228600" lvl="2" marL="1371600" marR="0" rtl="0" algn="l">
              <a:spcBef>
                <a:spcPts val="320"/>
              </a:spcBef>
              <a:spcAft>
                <a:spcPts val="0"/>
              </a:spcAft>
              <a:buClr>
                <a:schemeClr val="accent2"/>
              </a:buClr>
              <a:buSzPts val="1600"/>
              <a:buFont typeface="Arial"/>
              <a:buNone/>
              <a:defRPr b="0" i="0" sz="1600" u="none" cap="none" strike="noStrike">
                <a:solidFill>
                  <a:schemeClr val="dk2"/>
                </a:solidFill>
                <a:latin typeface="Arial"/>
                <a:ea typeface="Arial"/>
                <a:cs typeface="Arial"/>
                <a:sym typeface="Arial"/>
              </a:defRPr>
            </a:lvl3pPr>
            <a:lvl4pPr indent="-228600" lvl="3" marL="1828800" marR="0" rtl="0" algn="l">
              <a:spcBef>
                <a:spcPts val="28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4pPr>
            <a:lvl5pPr indent="-228600" lvl="4" marL="22860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228600" lvl="5" marL="27432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228600" lvl="6" marL="32004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228600" lvl="7" marL="36576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228600" lvl="8" marL="41148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3.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 name="Shape 11"/>
        <p:cNvGrpSpPr/>
        <p:nvPr/>
      </p:nvGrpSpPr>
      <p:grpSpPr>
        <a:xfrm>
          <a:off x="0" y="0"/>
          <a:ext cx="0" cy="0"/>
          <a:chOff x="0" y="0"/>
          <a:chExt cx="0" cy="0"/>
        </a:xfrm>
      </p:grpSpPr>
      <p:sp>
        <p:nvSpPr>
          <p:cNvPr id="12" name="Google Shape;12;p96"/>
          <p:cNvSpPr txBox="1"/>
          <p:nvPr/>
        </p:nvSpPr>
        <p:spPr>
          <a:xfrm>
            <a:off x="0" y="6224587"/>
            <a:ext cx="9144000" cy="6477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3" name="Google Shape;13;p96"/>
          <p:cNvSpPr/>
          <p:nvPr/>
        </p:nvSpPr>
        <p:spPr>
          <a:xfrm>
            <a:off x="0" y="0"/>
            <a:ext cx="9144000" cy="6858000"/>
          </a:xfrm>
          <a:prstGeom prst="ellipse">
            <a:avLst/>
          </a:prstGeom>
          <a:solidFill>
            <a:schemeClr val="lt1">
              <a:alpha val="43529"/>
            </a:scheme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 name="Google Shape;14;p96"/>
          <p:cNvSpPr txBox="1"/>
          <p:nvPr/>
        </p:nvSpPr>
        <p:spPr>
          <a:xfrm>
            <a:off x="609600" y="0"/>
            <a:ext cx="8534400" cy="71913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5" name="Google Shape;15;p96"/>
          <p:cNvSpPr txBox="1"/>
          <p:nvPr/>
        </p:nvSpPr>
        <p:spPr>
          <a:xfrm>
            <a:off x="0" y="0"/>
            <a:ext cx="633412" cy="7207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16" name="Google Shape;16;p96"/>
          <p:cNvCxnSpPr/>
          <p:nvPr/>
        </p:nvCxnSpPr>
        <p:spPr>
          <a:xfrm>
            <a:off x="0" y="747712"/>
            <a:ext cx="9144000" cy="0"/>
          </a:xfrm>
          <a:prstGeom prst="straightConnector1">
            <a:avLst/>
          </a:prstGeom>
          <a:noFill/>
          <a:ln cap="flat" cmpd="sng" w="28575">
            <a:solidFill>
              <a:schemeClr val="dk1"/>
            </a:solidFill>
            <a:prstDash val="solid"/>
            <a:miter lim="800000"/>
            <a:headEnd len="med" w="med" type="none"/>
            <a:tailEnd len="med" w="med" type="none"/>
          </a:ln>
        </p:spPr>
      </p:cxnSp>
      <p:sp>
        <p:nvSpPr>
          <p:cNvPr id="17" name="Google Shape;17;p96"/>
          <p:cNvSpPr txBox="1"/>
          <p:nvPr/>
        </p:nvSpPr>
        <p:spPr>
          <a:xfrm>
            <a:off x="0" y="6248400"/>
            <a:ext cx="8229600" cy="9842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www.ptit.edu.vn     		 </a:t>
            </a:r>
            <a:r>
              <a:rPr b="0" i="0" lang="en-US" sz="1200" u="none">
                <a:solidFill>
                  <a:schemeClr val="dk1"/>
                </a:solidFill>
                <a:latin typeface="Arial"/>
                <a:ea typeface="Arial"/>
                <a:cs typeface="Arial"/>
                <a:sym typeface="Arial"/>
              </a:rPr>
              <a:t>GIẢNG VIÊN: THS NGUYỄN THỊ NGỌC VINH</a:t>
            </a:r>
            <a:endParaRPr/>
          </a:p>
          <a:p>
            <a:pPr indent="0" lvl="0" marL="0" marR="0" rtl="0" algn="l">
              <a:lnSpc>
                <a:spcPct val="100000"/>
              </a:lnSpc>
              <a:spcBef>
                <a:spcPts val="600"/>
              </a:spcBef>
              <a:spcAft>
                <a:spcPts val="0"/>
              </a:spcAft>
              <a:buClr>
                <a:schemeClr val="dk1"/>
              </a:buClr>
              <a:buSzPts val="1200"/>
              <a:buFont typeface="Arial"/>
              <a:buNone/>
            </a:pPr>
            <a:r>
              <a:rPr b="0" i="0" lang="en-US" sz="1200" u="none">
                <a:solidFill>
                  <a:schemeClr val="dk1"/>
                </a:solidFill>
                <a:latin typeface="Arial"/>
                <a:ea typeface="Arial"/>
                <a:cs typeface="Arial"/>
                <a:sym typeface="Arial"/>
              </a:rPr>
              <a:t>			BỘ MÔN: KHOA HỌC MÁY TÍNH – KHOA CNTT1</a:t>
            </a:r>
            <a:endParaRPr/>
          </a:p>
          <a:p>
            <a:pPr indent="0" lvl="0" marL="0" marR="0" rtl="0" algn="l">
              <a:lnSpc>
                <a:spcPct val="100000"/>
              </a:lnSpc>
              <a:spcBef>
                <a:spcPts val="0"/>
              </a:spcBef>
              <a:spcAft>
                <a:spcPts val="0"/>
              </a:spcAft>
              <a:buNone/>
            </a:pPr>
            <a:r>
              <a:t/>
            </a:r>
            <a:endParaRPr b="0" i="0" sz="1200" u="none">
              <a:solidFill>
                <a:schemeClr val="dk1"/>
              </a:solidFill>
              <a:latin typeface="Arial"/>
              <a:ea typeface="Arial"/>
              <a:cs typeface="Arial"/>
              <a:sym typeface="Arial"/>
            </a:endParaRPr>
          </a:p>
        </p:txBody>
      </p:sp>
      <p:sp>
        <p:nvSpPr>
          <p:cNvPr id="18" name="Google Shape;18;p96"/>
          <p:cNvSpPr txBox="1"/>
          <p:nvPr/>
        </p:nvSpPr>
        <p:spPr>
          <a:xfrm>
            <a:off x="8153400" y="6391275"/>
            <a:ext cx="990600" cy="584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Arial"/>
                <a:ea typeface="Arial"/>
                <a:cs typeface="Arial"/>
                <a:sym typeface="Arial"/>
              </a:rPr>
              <a:t>Trang </a:t>
            </a:r>
            <a:fld id="{00000000-1234-1234-1234-123412341234}" type="slidenum">
              <a:rPr b="0" i="0" lang="en-US" sz="1600" u="none">
                <a:solidFill>
                  <a:schemeClr val="dk1"/>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7.png"/><Relationship Id="rId4" Type="http://schemas.openxmlformats.org/officeDocument/2006/relationships/image" Target="../media/image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vmlDrawing" Target="../drawings/vmlDrawing1.vml"/><Relationship Id="rId4" Type="http://schemas.openxmlformats.org/officeDocument/2006/relationships/oleObject" Target="../embeddings/oleObject1.bin"/><Relationship Id="rId5" Type="http://schemas.openxmlformats.org/officeDocument/2006/relationships/oleObject" Target="../embeddings/oleObject1.bin"/><Relationship Id="rId6"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vmlDrawing" Target="../drawings/vmlDrawing2.vml"/><Relationship Id="rId4" Type="http://schemas.openxmlformats.org/officeDocument/2006/relationships/oleObject" Target="../embeddings/oleObject2.bin"/><Relationship Id="rId5" Type="http://schemas.openxmlformats.org/officeDocument/2006/relationships/oleObject" Target="../embeddings/oleObject2.bin"/><Relationship Id="rId6" Type="http://schemas.openxmlformats.org/officeDocument/2006/relationships/image" Target="../media/image1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vmlDrawing" Target="../drawings/vmlDrawing3.vml"/><Relationship Id="rId4" Type="http://schemas.openxmlformats.org/officeDocument/2006/relationships/oleObject" Target="../embeddings/oleObject3.bin"/><Relationship Id="rId5" Type="http://schemas.openxmlformats.org/officeDocument/2006/relationships/oleObject" Target="../embeddings/oleObject3.bin"/><Relationship Id="rId6" Type="http://schemas.openxmlformats.org/officeDocument/2006/relationships/image" Target="../media/image15.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vmlDrawing" Target="../drawings/vmlDrawing4.vml"/><Relationship Id="rId4" Type="http://schemas.openxmlformats.org/officeDocument/2006/relationships/oleObject" Target="../embeddings/oleObject4.bin"/><Relationship Id="rId5" Type="http://schemas.openxmlformats.org/officeDocument/2006/relationships/oleObject" Target="../embeddings/oleObject4.bin"/><Relationship Id="rId6" Type="http://schemas.openxmlformats.org/officeDocument/2006/relationships/image" Target="../media/image1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vmlDrawing" Target="../drawings/vmlDrawing5.vml"/><Relationship Id="rId4" Type="http://schemas.openxmlformats.org/officeDocument/2006/relationships/oleObject" Target="../embeddings/oleObject5.bin"/><Relationship Id="rId5" Type="http://schemas.openxmlformats.org/officeDocument/2006/relationships/oleObject" Target="../embeddings/oleObject5.bin"/><Relationship Id="rId6" Type="http://schemas.openxmlformats.org/officeDocument/2006/relationships/image" Target="../media/image1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vmlDrawing" Target="../drawings/vmlDrawing6.vml"/><Relationship Id="rId4" Type="http://schemas.openxmlformats.org/officeDocument/2006/relationships/oleObject" Target="../embeddings/oleObject6.bin"/><Relationship Id="rId5" Type="http://schemas.openxmlformats.org/officeDocument/2006/relationships/oleObject" Target="../embeddings/oleObject6.bin"/><Relationship Id="rId6" Type="http://schemas.openxmlformats.org/officeDocument/2006/relationships/image" Target="../media/image1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vmlDrawing" Target="../drawings/vmlDrawing7.vml"/><Relationship Id="rId4" Type="http://schemas.openxmlformats.org/officeDocument/2006/relationships/oleObject" Target="../embeddings/oleObject7.bin"/><Relationship Id="rId5" Type="http://schemas.openxmlformats.org/officeDocument/2006/relationships/oleObject" Target="../embeddings/oleObject7.bin"/><Relationship Id="rId6" Type="http://schemas.openxmlformats.org/officeDocument/2006/relationships/image" Target="../media/image1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vmlDrawing" Target="../drawings/vmlDrawing8.vml"/><Relationship Id="rId4" Type="http://schemas.openxmlformats.org/officeDocument/2006/relationships/oleObject" Target="../embeddings/oleObject8.bin"/><Relationship Id="rId5" Type="http://schemas.openxmlformats.org/officeDocument/2006/relationships/oleObject" Target="../embeddings/oleObject8.bin"/><Relationship Id="rId6" Type="http://schemas.openxmlformats.org/officeDocument/2006/relationships/image" Target="../media/image1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vmlDrawing" Target="../drawings/vmlDrawing9.vml"/><Relationship Id="rId4" Type="http://schemas.openxmlformats.org/officeDocument/2006/relationships/oleObject" Target="../embeddings/oleObject9.bin"/><Relationship Id="rId5" Type="http://schemas.openxmlformats.org/officeDocument/2006/relationships/oleObject" Target="../embeddings/oleObject9.bin"/><Relationship Id="rId6" Type="http://schemas.openxmlformats.org/officeDocument/2006/relationships/image" Target="../media/image1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vmlDrawing" Target="../drawings/vmlDrawing10.vml"/><Relationship Id="rId4" Type="http://schemas.openxmlformats.org/officeDocument/2006/relationships/oleObject" Target="../embeddings/oleObject10.bin"/><Relationship Id="rId5" Type="http://schemas.openxmlformats.org/officeDocument/2006/relationships/oleObject" Target="../embeddings/oleObject10.bin"/><Relationship Id="rId6" Type="http://schemas.openxmlformats.org/officeDocument/2006/relationships/image" Target="../media/image20.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vmlDrawing" Target="../drawings/vmlDrawing11.vml"/><Relationship Id="rId4" Type="http://schemas.openxmlformats.org/officeDocument/2006/relationships/oleObject" Target="../embeddings/oleObject11.bin"/><Relationship Id="rId5" Type="http://schemas.openxmlformats.org/officeDocument/2006/relationships/oleObject" Target="../embeddings/oleObject11.bin"/><Relationship Id="rId6" Type="http://schemas.openxmlformats.org/officeDocument/2006/relationships/image" Target="../media/image18.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vmlDrawing" Target="../drawings/vmlDrawing12.vml"/><Relationship Id="rId4" Type="http://schemas.openxmlformats.org/officeDocument/2006/relationships/oleObject" Target="../embeddings/oleObject12.bin"/><Relationship Id="rId9" Type="http://schemas.openxmlformats.org/officeDocument/2006/relationships/image" Target="../media/image21.png"/><Relationship Id="rId5" Type="http://schemas.openxmlformats.org/officeDocument/2006/relationships/oleObject" Target="../embeddings/oleObject12.bin"/><Relationship Id="rId6" Type="http://schemas.openxmlformats.org/officeDocument/2006/relationships/image" Target="../media/image22.png"/><Relationship Id="rId7" Type="http://schemas.openxmlformats.org/officeDocument/2006/relationships/oleObject" Target="../embeddings/oleObject13.bin"/><Relationship Id="rId8" Type="http://schemas.openxmlformats.org/officeDocument/2006/relationships/oleObject" Target="../embeddings/oleObject13.bin"/></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vmlDrawing" Target="../drawings/vmlDrawing13.vml"/><Relationship Id="rId4" Type="http://schemas.openxmlformats.org/officeDocument/2006/relationships/oleObject" Target="../embeddings/oleObject14.bin"/><Relationship Id="rId9" Type="http://schemas.openxmlformats.org/officeDocument/2006/relationships/image" Target="../media/image25.png"/><Relationship Id="rId5" Type="http://schemas.openxmlformats.org/officeDocument/2006/relationships/oleObject" Target="../embeddings/oleObject14.bin"/><Relationship Id="rId6" Type="http://schemas.openxmlformats.org/officeDocument/2006/relationships/image" Target="../media/image24.png"/><Relationship Id="rId7" Type="http://schemas.openxmlformats.org/officeDocument/2006/relationships/oleObject" Target="../embeddings/oleObject15.bin"/><Relationship Id="rId8" Type="http://schemas.openxmlformats.org/officeDocument/2006/relationships/oleObject" Target="../embeddings/oleObject15.bin"/></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 Id="rId3" Type="http://schemas.openxmlformats.org/officeDocument/2006/relationships/vmlDrawing" Target="../drawings/vmlDrawing14.vml"/><Relationship Id="rId4" Type="http://schemas.openxmlformats.org/officeDocument/2006/relationships/oleObject" Target="../embeddings/oleObject16.bin"/><Relationship Id="rId5" Type="http://schemas.openxmlformats.org/officeDocument/2006/relationships/oleObject" Target="../embeddings/oleObject16.bin"/><Relationship Id="rId6" Type="http://schemas.openxmlformats.org/officeDocument/2006/relationships/image" Target="../media/image23.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vmlDrawing" Target="../drawings/vmlDrawing15.vml"/><Relationship Id="rId4" Type="http://schemas.openxmlformats.org/officeDocument/2006/relationships/oleObject" Target="../embeddings/oleObject17.bin"/><Relationship Id="rId5" Type="http://schemas.openxmlformats.org/officeDocument/2006/relationships/oleObject" Target="../embeddings/oleObject17.bin"/><Relationship Id="rId6" Type="http://schemas.openxmlformats.org/officeDocument/2006/relationships/image" Target="../media/image26.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txBox="1"/>
          <p:nvPr/>
        </p:nvSpPr>
        <p:spPr>
          <a:xfrm>
            <a:off x="0" y="1066800"/>
            <a:ext cx="9144000" cy="71913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 name="Google Shape;60;p1"/>
          <p:cNvSpPr txBox="1"/>
          <p:nvPr/>
        </p:nvSpPr>
        <p:spPr>
          <a:xfrm>
            <a:off x="0" y="3962400"/>
            <a:ext cx="9144000" cy="719137"/>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 name="Google Shape;61;p1"/>
          <p:cNvSpPr/>
          <p:nvPr/>
        </p:nvSpPr>
        <p:spPr>
          <a:xfrm>
            <a:off x="4211637" y="2636837"/>
            <a:ext cx="1223962" cy="1223962"/>
          </a:xfrm>
          <a:prstGeom prst="ellipse">
            <a:avLst/>
          </a:prstGeom>
          <a:solidFill>
            <a:srgbClr val="1BABE5">
              <a:alpha val="9803"/>
            </a:srgbClr>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62" name="Google Shape;62;p1"/>
          <p:cNvPicPr preferRelativeResize="0"/>
          <p:nvPr/>
        </p:nvPicPr>
        <p:blipFill rotWithShape="1">
          <a:blip r:embed="rId3">
            <a:alphaModFix/>
          </a:blip>
          <a:srcRect b="0" l="0" r="0" t="0"/>
          <a:stretch/>
        </p:blipFill>
        <p:spPr>
          <a:xfrm>
            <a:off x="152400" y="0"/>
            <a:ext cx="914400" cy="1003300"/>
          </a:xfrm>
          <a:prstGeom prst="rect">
            <a:avLst/>
          </a:prstGeom>
          <a:noFill/>
          <a:ln>
            <a:noFill/>
          </a:ln>
        </p:spPr>
      </p:pic>
      <p:grpSp>
        <p:nvGrpSpPr>
          <p:cNvPr id="63" name="Google Shape;63;p1"/>
          <p:cNvGrpSpPr/>
          <p:nvPr/>
        </p:nvGrpSpPr>
        <p:grpSpPr>
          <a:xfrm>
            <a:off x="52387" y="1004887"/>
            <a:ext cx="3529012" cy="3671887"/>
            <a:chOff x="612" y="1026"/>
            <a:chExt cx="2223" cy="2313"/>
          </a:xfrm>
        </p:grpSpPr>
        <p:sp>
          <p:nvSpPr>
            <p:cNvPr id="64" name="Google Shape;64;p1"/>
            <p:cNvSpPr/>
            <p:nvPr/>
          </p:nvSpPr>
          <p:spPr>
            <a:xfrm>
              <a:off x="612" y="1026"/>
              <a:ext cx="2223" cy="2313"/>
            </a:xfrm>
            <a:prstGeom prst="ellipse">
              <a:avLst/>
            </a:prstGeom>
            <a:solidFill>
              <a:schemeClr val="accent2"/>
            </a:solidFill>
            <a:ln cap="flat" cmpd="sng" w="38100">
              <a:solidFill>
                <a:schemeClr val="lt1"/>
              </a:solidFill>
              <a:prstDash val="solid"/>
              <a:miter lim="800000"/>
              <a:headEnd len="sm" w="sm" type="none"/>
              <a:tailEnd len="sm" w="sm" type="none"/>
            </a:ln>
            <a:effectLst>
              <a:outerShdw blurRad="63500" dir="2700000" dist="89802">
                <a:srgbClr val="000000">
                  <a:alpha val="18823"/>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descr="HV_toancanh" id="65" name="Google Shape;65;p1"/>
            <p:cNvPicPr preferRelativeResize="0"/>
            <p:nvPr/>
          </p:nvPicPr>
          <p:blipFill rotWithShape="1">
            <a:blip r:embed="rId4">
              <a:alphaModFix/>
            </a:blip>
            <a:srcRect b="0" l="0" r="0" t="0"/>
            <a:stretch/>
          </p:blipFill>
          <p:spPr>
            <a:xfrm>
              <a:off x="816" y="1530"/>
              <a:ext cx="1776" cy="1350"/>
            </a:xfrm>
            <a:prstGeom prst="rect">
              <a:avLst/>
            </a:prstGeom>
            <a:noFill/>
            <a:ln>
              <a:noFill/>
            </a:ln>
          </p:spPr>
        </p:pic>
      </p:grpSp>
      <p:sp>
        <p:nvSpPr>
          <p:cNvPr id="66" name="Google Shape;66;p1"/>
          <p:cNvSpPr txBox="1"/>
          <p:nvPr/>
        </p:nvSpPr>
        <p:spPr>
          <a:xfrm>
            <a:off x="2362200" y="422275"/>
            <a:ext cx="63246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2"/>
              </a:buClr>
              <a:buSzPts val="2000"/>
              <a:buFont typeface="Arial"/>
              <a:buNone/>
            </a:pPr>
            <a:r>
              <a:rPr b="0" i="0" lang="en-US" sz="2000" u="none">
                <a:solidFill>
                  <a:schemeClr val="dk2"/>
                </a:solidFill>
                <a:latin typeface="Arial"/>
                <a:ea typeface="Arial"/>
                <a:cs typeface="Arial"/>
                <a:sym typeface="Arial"/>
              </a:rPr>
              <a:t> HỌC VIỆN CÔNG NGHỆ BƯU CHÍNH VIỄN THÔNG </a:t>
            </a:r>
            <a:endParaRPr/>
          </a:p>
        </p:txBody>
      </p:sp>
      <p:sp>
        <p:nvSpPr>
          <p:cNvPr id="67" name="Google Shape;67;p1"/>
          <p:cNvSpPr txBox="1"/>
          <p:nvPr/>
        </p:nvSpPr>
        <p:spPr>
          <a:xfrm>
            <a:off x="3276600" y="1905000"/>
            <a:ext cx="5867400"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2"/>
              </a:buClr>
              <a:buSzPts val="2000"/>
              <a:buFont typeface="Arial"/>
              <a:buNone/>
            </a:pPr>
            <a:r>
              <a:rPr b="0" i="0" lang="en-US" sz="2000" u="none">
                <a:solidFill>
                  <a:schemeClr val="dk2"/>
                </a:solidFill>
                <a:latin typeface="Arial"/>
                <a:ea typeface="Arial"/>
                <a:cs typeface="Arial"/>
                <a:sym typeface="Arial"/>
              </a:rPr>
              <a:t>BÀI GIẢNG MÔN</a:t>
            </a:r>
            <a:endParaRPr/>
          </a:p>
        </p:txBody>
      </p:sp>
      <p:sp>
        <p:nvSpPr>
          <p:cNvPr id="68" name="Google Shape;68;p1"/>
          <p:cNvSpPr txBox="1"/>
          <p:nvPr/>
        </p:nvSpPr>
        <p:spPr>
          <a:xfrm>
            <a:off x="3276600" y="2714625"/>
            <a:ext cx="6096000" cy="534987"/>
          </a:xfrm>
          <a:prstGeom prst="rect">
            <a:avLst/>
          </a:prstGeom>
          <a:noFill/>
          <a:ln>
            <a:noFill/>
          </a:ln>
        </p:spPr>
        <p:txBody>
          <a:bodyPr anchorCtr="0" anchor="t" bIns="45700" lIns="91425" spcFirstLastPara="1" rIns="91425" wrap="square" tIns="45700">
            <a:spAutoFit/>
          </a:bodyPr>
          <a:lstStyle/>
          <a:p>
            <a:pPr indent="0" lvl="0" marL="0" marR="0" rtl="0" algn="ctr">
              <a:lnSpc>
                <a:spcPct val="90000"/>
              </a:lnSpc>
              <a:spcBef>
                <a:spcPts val="0"/>
              </a:spcBef>
              <a:spcAft>
                <a:spcPts val="0"/>
              </a:spcAft>
              <a:buClr>
                <a:schemeClr val="dk2"/>
              </a:buClr>
              <a:buSzPts val="3200"/>
              <a:buFont typeface="Arial"/>
              <a:buNone/>
            </a:pPr>
            <a:r>
              <a:rPr b="0" i="0" lang="en-US" sz="3200" u="none">
                <a:solidFill>
                  <a:schemeClr val="dk2"/>
                </a:solidFill>
                <a:latin typeface="Arial"/>
                <a:ea typeface="Arial"/>
                <a:cs typeface="Arial"/>
                <a:sym typeface="Arial"/>
              </a:rPr>
              <a:t>HỆ ĐIỀU HÀNH</a:t>
            </a:r>
            <a:endParaRPr/>
          </a:p>
        </p:txBody>
      </p:sp>
      <p:sp>
        <p:nvSpPr>
          <p:cNvPr id="69" name="Google Shape;69;p1"/>
          <p:cNvSpPr txBox="1"/>
          <p:nvPr/>
        </p:nvSpPr>
        <p:spPr>
          <a:xfrm>
            <a:off x="1066800" y="4800600"/>
            <a:ext cx="7315200" cy="369887"/>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chemeClr val="dk2"/>
              </a:buClr>
              <a:buSzPts val="2000"/>
              <a:buFont typeface="Arial"/>
              <a:buNone/>
            </a:pPr>
            <a:r>
              <a:rPr b="0" i="0" lang="en-US" sz="2000" u="none">
                <a:solidFill>
                  <a:schemeClr val="dk2"/>
                </a:solidFill>
                <a:latin typeface="Arial"/>
                <a:ea typeface="Arial"/>
                <a:cs typeface="Arial"/>
                <a:sym typeface="Arial"/>
              </a:rPr>
              <a:t>Bộ môn: 		Khoa học máy tính- Khoa CNTT1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2"/>
          <p:cNvSpPr txBox="1"/>
          <p:nvPr>
            <p:ph idx="1" type="body"/>
          </p:nvPr>
        </p:nvSpPr>
        <p:spPr>
          <a:xfrm>
            <a:off x="457200" y="1722437"/>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342900" lvl="0" marL="342900" marR="0" rtl="0" algn="ctr">
              <a:lnSpc>
                <a:spcPct val="100000"/>
              </a:lnSpc>
              <a:spcBef>
                <a:spcPts val="880"/>
              </a:spcBef>
              <a:spcAft>
                <a:spcPts val="0"/>
              </a:spcAft>
              <a:buClr>
                <a:schemeClr val="dk2"/>
              </a:buClr>
              <a:buSzPts val="4400"/>
              <a:buFont typeface="Noto Sans Symbols"/>
              <a:buNone/>
            </a:pPr>
            <a:r>
              <a:rPr b="0" i="0" lang="en-US" sz="4400" u="none" cap="none" strike="noStrike">
                <a:solidFill>
                  <a:schemeClr val="dk2"/>
                </a:solidFill>
                <a:latin typeface="Times New Roman"/>
                <a:ea typeface="Times New Roman"/>
                <a:cs typeface="Times New Roman"/>
                <a:sym typeface="Times New Roman"/>
              </a:rPr>
              <a:t>CHƯƠNG 3: QUẢN LÝ BỘ NHỚ</a:t>
            </a:r>
            <a:endParaRPr/>
          </a:p>
        </p:txBody>
      </p:sp>
      <p:sp>
        <p:nvSpPr>
          <p:cNvPr id="76" name="Google Shape;76;p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3"/>
          <p:cNvSpPr txBox="1"/>
          <p:nvPr>
            <p:ph idx="1" type="body"/>
          </p:nvPr>
        </p:nvSpPr>
        <p:spPr>
          <a:xfrm>
            <a:off x="266700" y="990600"/>
            <a:ext cx="8191500" cy="480060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chemeClr val="dk2"/>
              </a:buClr>
              <a:buSzPts val="2800"/>
              <a:buFont typeface="Noto Sans Symbols"/>
              <a:buAutoNum type="arabicPeriod"/>
            </a:pPr>
            <a:r>
              <a:rPr b="0" i="0" lang="en-US" sz="2800" u="none" cap="none" strike="noStrike">
                <a:solidFill>
                  <a:schemeClr val="dk2"/>
                </a:solidFill>
                <a:latin typeface="Times New Roman"/>
                <a:ea typeface="Times New Roman"/>
                <a:cs typeface="Times New Roman"/>
                <a:sym typeface="Times New Roman"/>
              </a:rPr>
              <a:t>Địa chỉ và các vấn đề liên quan</a:t>
            </a:r>
            <a:endParaRPr/>
          </a:p>
          <a:p>
            <a:pPr indent="-514350" lvl="0" marL="514350" marR="0" rtl="0" algn="l">
              <a:lnSpc>
                <a:spcPct val="100000"/>
              </a:lnSpc>
              <a:spcBef>
                <a:spcPts val="560"/>
              </a:spcBef>
              <a:spcAft>
                <a:spcPts val="0"/>
              </a:spcAft>
              <a:buClr>
                <a:schemeClr val="dk2"/>
              </a:buClr>
              <a:buSzPts val="2800"/>
              <a:buFont typeface="Noto Sans Symbols"/>
              <a:buAutoNum type="arabicPeriod"/>
            </a:pPr>
            <a:r>
              <a:rPr b="0" i="0" lang="en-US" sz="2800" u="none" cap="none" strike="noStrike">
                <a:solidFill>
                  <a:schemeClr val="dk2"/>
                </a:solidFill>
                <a:latin typeface="Times New Roman"/>
                <a:ea typeface="Times New Roman"/>
                <a:cs typeface="Times New Roman"/>
                <a:sym typeface="Times New Roman"/>
              </a:rPr>
              <a:t>Một số cách tổ chức chương trình</a:t>
            </a:r>
            <a:endParaRPr/>
          </a:p>
          <a:p>
            <a:pPr indent="-514350" lvl="0" marL="514350" marR="0" rtl="0" algn="l">
              <a:lnSpc>
                <a:spcPct val="100000"/>
              </a:lnSpc>
              <a:spcBef>
                <a:spcPts val="560"/>
              </a:spcBef>
              <a:spcAft>
                <a:spcPts val="0"/>
              </a:spcAft>
              <a:buClr>
                <a:schemeClr val="dk2"/>
              </a:buClr>
              <a:buSzPts val="2800"/>
              <a:buFont typeface="Noto Sans Symbols"/>
              <a:buAutoNum type="arabicPeriod"/>
            </a:pPr>
            <a:r>
              <a:rPr b="0" i="0" lang="en-US" sz="2800" u="none" cap="none" strike="noStrike">
                <a:solidFill>
                  <a:schemeClr val="dk2"/>
                </a:solidFill>
                <a:latin typeface="Times New Roman"/>
                <a:ea typeface="Times New Roman"/>
                <a:cs typeface="Times New Roman"/>
                <a:sym typeface="Times New Roman"/>
              </a:rPr>
              <a:t>Các yêu cầu quản lý bộ nhớ</a:t>
            </a:r>
            <a:endParaRPr/>
          </a:p>
          <a:p>
            <a:pPr indent="-514350" lvl="0" marL="514350" marR="0" rtl="0" algn="l">
              <a:lnSpc>
                <a:spcPct val="100000"/>
              </a:lnSpc>
              <a:spcBef>
                <a:spcPts val="560"/>
              </a:spcBef>
              <a:spcAft>
                <a:spcPts val="0"/>
              </a:spcAft>
              <a:buClr>
                <a:schemeClr val="dk2"/>
              </a:buClr>
              <a:buSzPts val="2800"/>
              <a:buFont typeface="Noto Sans Symbols"/>
              <a:buAutoNum type="arabicPeriod"/>
            </a:pPr>
            <a:r>
              <a:rPr b="0" i="0" lang="en-US" sz="2800" u="none" cap="none" strike="noStrike">
                <a:solidFill>
                  <a:schemeClr val="dk2"/>
                </a:solidFill>
                <a:latin typeface="Times New Roman"/>
                <a:ea typeface="Times New Roman"/>
                <a:cs typeface="Times New Roman"/>
                <a:sym typeface="Times New Roman"/>
              </a:rPr>
              <a:t>Phân chương bộ nhớ</a:t>
            </a:r>
            <a:endParaRPr/>
          </a:p>
          <a:p>
            <a:pPr indent="-514350" lvl="0" marL="514350" marR="0" rtl="0" algn="l">
              <a:lnSpc>
                <a:spcPct val="100000"/>
              </a:lnSpc>
              <a:spcBef>
                <a:spcPts val="560"/>
              </a:spcBef>
              <a:spcAft>
                <a:spcPts val="0"/>
              </a:spcAft>
              <a:buClr>
                <a:schemeClr val="dk2"/>
              </a:buClr>
              <a:buSzPts val="2800"/>
              <a:buFont typeface="Noto Sans Symbols"/>
              <a:buAutoNum type="arabicPeriod"/>
            </a:pPr>
            <a:r>
              <a:rPr b="0" i="0" lang="en-US" sz="2800" u="none" cap="none" strike="noStrike">
                <a:solidFill>
                  <a:schemeClr val="dk2"/>
                </a:solidFill>
                <a:latin typeface="Times New Roman"/>
                <a:ea typeface="Times New Roman"/>
                <a:cs typeface="Times New Roman"/>
                <a:sym typeface="Times New Roman"/>
              </a:rPr>
              <a:t>Phân trang bộ nhớ</a:t>
            </a:r>
            <a:endParaRPr/>
          </a:p>
          <a:p>
            <a:pPr indent="-514350" lvl="0" marL="514350" marR="0" rtl="0" algn="l">
              <a:lnSpc>
                <a:spcPct val="100000"/>
              </a:lnSpc>
              <a:spcBef>
                <a:spcPts val="560"/>
              </a:spcBef>
              <a:spcAft>
                <a:spcPts val="0"/>
              </a:spcAft>
              <a:buClr>
                <a:schemeClr val="dk2"/>
              </a:buClr>
              <a:buSzPts val="2800"/>
              <a:buFont typeface="Noto Sans Symbols"/>
              <a:buAutoNum type="arabicPeriod"/>
            </a:pPr>
            <a:r>
              <a:rPr b="0" i="0" lang="en-US" sz="2800" u="none" cap="none" strike="noStrike">
                <a:solidFill>
                  <a:schemeClr val="dk2"/>
                </a:solidFill>
                <a:latin typeface="Times New Roman"/>
                <a:ea typeface="Times New Roman"/>
                <a:cs typeface="Times New Roman"/>
                <a:sym typeface="Times New Roman"/>
              </a:rPr>
              <a:t>Phân đoạn bộ nhớ</a:t>
            </a:r>
            <a:endParaRPr/>
          </a:p>
          <a:p>
            <a:pPr indent="-514350" lvl="0" marL="514350" marR="0" rtl="0" algn="l">
              <a:lnSpc>
                <a:spcPct val="100000"/>
              </a:lnSpc>
              <a:spcBef>
                <a:spcPts val="560"/>
              </a:spcBef>
              <a:spcAft>
                <a:spcPts val="0"/>
              </a:spcAft>
              <a:buClr>
                <a:schemeClr val="dk2"/>
              </a:buClr>
              <a:buSzPts val="2800"/>
              <a:buFont typeface="Noto Sans Symbols"/>
              <a:buAutoNum type="arabicPeriod"/>
            </a:pPr>
            <a:r>
              <a:rPr b="0" i="0" lang="en-US" sz="2800" u="none" cap="none" strike="noStrike">
                <a:solidFill>
                  <a:schemeClr val="dk2"/>
                </a:solidFill>
                <a:latin typeface="Times New Roman"/>
                <a:ea typeface="Times New Roman"/>
                <a:cs typeface="Times New Roman"/>
                <a:sym typeface="Times New Roman"/>
              </a:rPr>
              <a:t>Bộ nhớ ảo</a:t>
            </a:r>
            <a:endParaRPr/>
          </a:p>
          <a:p>
            <a:pPr indent="-165100" lvl="0" marL="342900" marR="0" rtl="0" algn="l">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p:txBody>
      </p:sp>
      <p:sp>
        <p:nvSpPr>
          <p:cNvPr id="83" name="Google Shape;83;p3"/>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NỘI DUNG</a:t>
            </a:r>
            <a:endParaRPr/>
          </a:p>
        </p:txBody>
      </p:sp>
      <p:sp>
        <p:nvSpPr>
          <p:cNvPr id="84" name="Google Shape;84;p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0" st="0"/>
                                            </p:txEl>
                                          </p:spTgt>
                                        </p:tgtEl>
                                        <p:attrNameLst>
                                          <p:attrName>style.visibility</p:attrName>
                                        </p:attrNameLst>
                                      </p:cBhvr>
                                      <p:to>
                                        <p:strVal val="visible"/>
                                      </p:to>
                                    </p:set>
                                    <p:animEffect filter="fade" transition="in">
                                      <p:cBhvr>
                                        <p:cTn dur="500"/>
                                        <p:tgtEl>
                                          <p:spTgt spid="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1" st="1"/>
                                            </p:txEl>
                                          </p:spTgt>
                                        </p:tgtEl>
                                        <p:attrNameLst>
                                          <p:attrName>style.visibility</p:attrName>
                                        </p:attrNameLst>
                                      </p:cBhvr>
                                      <p:to>
                                        <p:strVal val="visible"/>
                                      </p:to>
                                    </p:set>
                                    <p:animEffect filter="fade" transition="in">
                                      <p:cBhvr>
                                        <p:cTn dur="500"/>
                                        <p:tgtEl>
                                          <p:spTgt spid="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2" st="2"/>
                                            </p:txEl>
                                          </p:spTgt>
                                        </p:tgtEl>
                                        <p:attrNameLst>
                                          <p:attrName>style.visibility</p:attrName>
                                        </p:attrNameLst>
                                      </p:cBhvr>
                                      <p:to>
                                        <p:strVal val="visible"/>
                                      </p:to>
                                    </p:set>
                                    <p:animEffect filter="fade" transition="in">
                                      <p:cBhvr>
                                        <p:cTn dur="500"/>
                                        <p:tgtEl>
                                          <p:spTgt spid="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3" st="3"/>
                                            </p:txEl>
                                          </p:spTgt>
                                        </p:tgtEl>
                                        <p:attrNameLst>
                                          <p:attrName>style.visibility</p:attrName>
                                        </p:attrNameLst>
                                      </p:cBhvr>
                                      <p:to>
                                        <p:strVal val="visible"/>
                                      </p:to>
                                    </p:set>
                                    <p:animEffect filter="fade" transition="in">
                                      <p:cBhvr>
                                        <p:cTn dur="500"/>
                                        <p:tgtEl>
                                          <p:spTgt spid="8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4" st="4"/>
                                            </p:txEl>
                                          </p:spTgt>
                                        </p:tgtEl>
                                        <p:attrNameLst>
                                          <p:attrName>style.visibility</p:attrName>
                                        </p:attrNameLst>
                                      </p:cBhvr>
                                      <p:to>
                                        <p:strVal val="visible"/>
                                      </p:to>
                                    </p:set>
                                    <p:animEffect filter="fade" transition="in">
                                      <p:cBhvr>
                                        <p:cTn dur="500"/>
                                        <p:tgtEl>
                                          <p:spTgt spid="8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5" st="5"/>
                                            </p:txEl>
                                          </p:spTgt>
                                        </p:tgtEl>
                                        <p:attrNameLst>
                                          <p:attrName>style.visibility</p:attrName>
                                        </p:attrNameLst>
                                      </p:cBhvr>
                                      <p:to>
                                        <p:strVal val="visible"/>
                                      </p:to>
                                    </p:set>
                                    <p:animEffect filter="fade" transition="in">
                                      <p:cBhvr>
                                        <p:cTn dur="500"/>
                                        <p:tgtEl>
                                          <p:spTgt spid="8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6" st="6"/>
                                            </p:txEl>
                                          </p:spTgt>
                                        </p:tgtEl>
                                        <p:attrNameLst>
                                          <p:attrName>style.visibility</p:attrName>
                                        </p:attrNameLst>
                                      </p:cBhvr>
                                      <p:to>
                                        <p:strVal val="visible"/>
                                      </p:to>
                                    </p:set>
                                    <p:animEffect filter="fade" transition="in">
                                      <p:cBhvr>
                                        <p:cTn dur="500"/>
                                        <p:tgtEl>
                                          <p:spTgt spid="8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
                                            <p:txEl>
                                              <p:pRg end="7" st="7"/>
                                            </p:txEl>
                                          </p:spTgt>
                                        </p:tgtEl>
                                        <p:attrNameLst>
                                          <p:attrName>style.visibility</p:attrName>
                                        </p:attrNameLst>
                                      </p:cBhvr>
                                      <p:to>
                                        <p:strVal val="visible"/>
                                      </p:to>
                                    </p:set>
                                    <p:animEffect filter="fade" transition="in">
                                      <p:cBhvr>
                                        <p:cTn dur="500"/>
                                        <p:tgtEl>
                                          <p:spTgt spid="82">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4"/>
          <p:cNvSpPr txBox="1"/>
          <p:nvPr>
            <p:ph idx="1" type="body"/>
          </p:nvPr>
        </p:nvSpPr>
        <p:spPr>
          <a:xfrm>
            <a:off x="0" y="914400"/>
            <a:ext cx="8915400" cy="5791200"/>
          </a:xfrm>
          <a:prstGeom prst="rect">
            <a:avLst/>
          </a:prstGeom>
          <a:noFill/>
          <a:ln>
            <a:noFill/>
          </a:ln>
        </p:spPr>
        <p:txBody>
          <a:bodyPr anchorCtr="0" anchor="t" bIns="45700" lIns="91425" spcFirstLastPara="1" rIns="91425" wrap="square" tIns="45700">
            <a:noAutofit/>
          </a:bodyPr>
          <a:lstStyle/>
          <a:p>
            <a:pPr indent="-285750" lvl="1" marL="742950" marR="0" rtl="0" algn="just">
              <a:lnSpc>
                <a:spcPct val="100000"/>
              </a:lnSpc>
              <a:spcBef>
                <a:spcPts val="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Bộ nhớ máy tính là một chuỗi các ô nhớ được gán địa chỉ bắt đầu từ 0. (Đơn vị đánh địa chỉ thường là byte)</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Trong quá trình thực hiện tiến trình, CPU đọc các lệnh từ bộ nhớ và thực hiện các lệnh này.</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Các lệnh có thể có yêu cầu đọc, xử lý và ghi dữ liệu ngược vào bộ nhớ</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Để có thể thực hiện các lệnh và xử lý dữ liệu =&gt; cả dữ liệu và lệnh đều phải được gán địa chỉ</a:t>
            </a:r>
            <a:endParaRPr/>
          </a:p>
          <a:p>
            <a:pPr indent="-285750" lvl="1" marL="742950" marR="0" rtl="0" algn="just">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CPU sẽ sử dụng địa chỉ để xác định lệnh và dữ liệu cụ thể</a:t>
            </a:r>
            <a:endParaRPr/>
          </a:p>
          <a:p>
            <a:pPr indent="-165100" lvl="0" marL="342900" marR="0" rtl="0" algn="l">
              <a:spcBef>
                <a:spcPts val="560"/>
              </a:spcBef>
              <a:spcAft>
                <a:spcPts val="0"/>
              </a:spcAft>
              <a:buClr>
                <a:schemeClr val="dk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p:txBody>
      </p:sp>
      <p:sp>
        <p:nvSpPr>
          <p:cNvPr id="91" name="Google Shape;91;p4"/>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ĐỊA CHỈ VÀ CÁC VẤN ĐỀ LIÊN QUAN</a:t>
            </a:r>
            <a:endParaRPr/>
          </a:p>
        </p:txBody>
      </p:sp>
      <p:sp>
        <p:nvSpPr>
          <p:cNvPr id="92" name="Google Shape;92;p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3" name="Google Shape;93;p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4" name="Google Shape;94;p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5" name="Google Shape;95;p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6" name="Google Shape;96;p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5"/>
          <p:cNvSpPr txBox="1"/>
          <p:nvPr>
            <p:ph idx="1" type="body"/>
          </p:nvPr>
        </p:nvSpPr>
        <p:spPr>
          <a:xfrm>
            <a:off x="0" y="685800"/>
            <a:ext cx="5486400" cy="5791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1" i="0" lang="en-US" sz="2800" u="none">
                <a:solidFill>
                  <a:schemeClr val="dk2"/>
                </a:solidFill>
                <a:latin typeface="Times New Roman"/>
                <a:ea typeface="Times New Roman"/>
                <a:cs typeface="Times New Roman"/>
                <a:sym typeface="Times New Roman"/>
              </a:rPr>
              <a:t>Vấn đề gán địa chỉ:</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Chương trình máy tính thường không được viết trực tiếp bởi ngôn ngữ máy, trừ thế hệ máy tính đầu tiên, mà viết trên ngôn ngữ bậc cao hoặc hợp ngữ.</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Các chương trình phải trải qua một quá trình dịch và liên kết trước khi trở thành chương trình có thể tải vào và thực hiện.</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3" name="Google Shape;103;p5"/>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ĐỊA CHỈ VÀ CÁC VẤN ĐỀ LIÊN QUAN</a:t>
            </a:r>
            <a:endParaRPr/>
          </a:p>
        </p:txBody>
      </p:sp>
      <p:sp>
        <p:nvSpPr>
          <p:cNvPr id="104" name="Google Shape;104;p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5" name="Google Shape;105;p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6" name="Google Shape;106;p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7" name="Google Shape;107;p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08" name="Google Shape;108;p5"/>
          <p:cNvGrpSpPr/>
          <p:nvPr/>
        </p:nvGrpSpPr>
        <p:grpSpPr>
          <a:xfrm>
            <a:off x="5029200" y="914400"/>
            <a:ext cx="4881562" cy="5143500"/>
            <a:chOff x="1985" y="9163"/>
            <a:chExt cx="8100" cy="8460"/>
          </a:xfrm>
        </p:grpSpPr>
        <p:sp>
          <p:nvSpPr>
            <p:cNvPr id="109" name="Google Shape;109;p5"/>
            <p:cNvSpPr/>
            <p:nvPr/>
          </p:nvSpPr>
          <p:spPr>
            <a:xfrm>
              <a:off x="1985" y="9163"/>
              <a:ext cx="8100" cy="84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0" name="Google Shape;110;p5"/>
            <p:cNvSpPr/>
            <p:nvPr/>
          </p:nvSpPr>
          <p:spPr>
            <a:xfrm>
              <a:off x="6125" y="9343"/>
              <a:ext cx="1800" cy="900"/>
            </a:xfrm>
            <a:prstGeom prst="roundRect">
              <a:avLst>
                <a:gd fmla="val 10800" name="adj"/>
              </a:avLst>
            </a:prstGeom>
            <a:solidFill>
              <a:srgbClr val="FFFFFF"/>
            </a:solidFill>
            <a:ln cap="flat" cmpd="sng" w="9525">
              <a:solidFill>
                <a:srgbClr val="000000"/>
              </a:solidFill>
              <a:prstDash val="solid"/>
              <a:miter lim="800000"/>
              <a:headEnd len="sm" w="sm" type="none"/>
              <a:tailEnd len="sm" w="sm" type="none"/>
            </a:ln>
          </p:spPr>
          <p:txBody>
            <a:bodyPr anchorCtr="0" anchor="t" bIns="0" lIns="54000" spcFirstLastPara="1" rIns="5400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Mã nguồn</a:t>
              </a:r>
              <a:endParaRPr b="0" i="0" sz="11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(prog.c)</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a:solidFill>
                  <a:schemeClr val="dk1"/>
                </a:solidFill>
                <a:latin typeface="Arial"/>
                <a:ea typeface="Arial"/>
                <a:cs typeface="Arial"/>
                <a:sym typeface="Arial"/>
              </a:endParaRPr>
            </a:p>
          </p:txBody>
        </p:sp>
        <p:sp>
          <p:nvSpPr>
            <p:cNvPr id="111" name="Google Shape;111;p5"/>
            <p:cNvSpPr txBox="1"/>
            <p:nvPr/>
          </p:nvSpPr>
          <p:spPr>
            <a:xfrm>
              <a:off x="6149" y="10783"/>
              <a:ext cx="1800" cy="54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10800" lIns="91425" spcFirstLastPara="1" rIns="91425" wrap="square" tIns="108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Chương trình dịch</a:t>
              </a:r>
              <a:endParaRPr/>
            </a:p>
          </p:txBody>
        </p:sp>
        <p:sp>
          <p:nvSpPr>
            <p:cNvPr id="112" name="Google Shape;112;p5"/>
            <p:cNvSpPr/>
            <p:nvPr/>
          </p:nvSpPr>
          <p:spPr>
            <a:xfrm>
              <a:off x="6161" y="11683"/>
              <a:ext cx="1800" cy="720"/>
            </a:xfrm>
            <a:prstGeom prst="roundRect">
              <a:avLst>
                <a:gd fmla="val 10800" name="adj"/>
              </a:avLst>
            </a:prstGeom>
            <a:solidFill>
              <a:srgbClr val="FFFFFF"/>
            </a:solidFill>
            <a:ln cap="flat" cmpd="sng" w="9525">
              <a:solidFill>
                <a:srgbClr val="000000"/>
              </a:solidFill>
              <a:prstDash val="solid"/>
              <a:miter lim="800000"/>
              <a:headEnd len="sm" w="sm" type="none"/>
              <a:tailEnd len="sm" w="sm" type="none"/>
            </a:ln>
          </p:spPr>
          <p:txBody>
            <a:bodyPr anchorCtr="0" anchor="t" bIns="0" lIns="54000" spcFirstLastPara="1" rIns="5400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Mô đun object</a:t>
              </a:r>
              <a:endParaRPr b="0" i="0" sz="11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(prog.o)</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a:solidFill>
                  <a:schemeClr val="dk1"/>
                </a:solidFill>
                <a:latin typeface="Arial"/>
                <a:ea typeface="Arial"/>
                <a:cs typeface="Arial"/>
                <a:sym typeface="Arial"/>
              </a:endParaRPr>
            </a:p>
          </p:txBody>
        </p:sp>
        <p:sp>
          <p:nvSpPr>
            <p:cNvPr id="113" name="Google Shape;113;p5"/>
            <p:cNvSpPr txBox="1"/>
            <p:nvPr/>
          </p:nvSpPr>
          <p:spPr>
            <a:xfrm>
              <a:off x="6173" y="13483"/>
              <a:ext cx="1800" cy="72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Chương trình liên kết</a:t>
              </a:r>
              <a:endParaRPr/>
            </a:p>
          </p:txBody>
        </p:sp>
        <p:sp>
          <p:nvSpPr>
            <p:cNvPr id="114" name="Google Shape;114;p5"/>
            <p:cNvSpPr/>
            <p:nvPr/>
          </p:nvSpPr>
          <p:spPr>
            <a:xfrm>
              <a:off x="3065" y="9343"/>
              <a:ext cx="1800" cy="1080"/>
            </a:xfrm>
            <a:prstGeom prst="roundRect">
              <a:avLst>
                <a:gd fmla="val 10800" name="adj"/>
              </a:avLst>
            </a:prstGeom>
            <a:solidFill>
              <a:srgbClr val="FFFFFF"/>
            </a:solidFill>
            <a:ln cap="flat" cmpd="sng" w="9525">
              <a:solidFill>
                <a:srgbClr val="000000"/>
              </a:solidFill>
              <a:prstDash val="solid"/>
              <a:miter lim="800000"/>
              <a:headEnd len="sm" w="sm" type="none"/>
              <a:tailEnd len="sm" w="sm" type="none"/>
            </a:ln>
          </p:spPr>
          <p:txBody>
            <a:bodyPr anchorCtr="0" anchor="t" bIns="0" lIns="54000" spcFirstLastPara="1" rIns="5400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Mã nguồn mô đun khác</a:t>
              </a:r>
              <a:endParaRPr b="0" i="0" sz="11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(printf.c)</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a:solidFill>
                  <a:schemeClr val="dk1"/>
                </a:solidFill>
                <a:latin typeface="Arial"/>
                <a:ea typeface="Arial"/>
                <a:cs typeface="Arial"/>
                <a:sym typeface="Arial"/>
              </a:endParaRPr>
            </a:p>
          </p:txBody>
        </p:sp>
        <p:sp>
          <p:nvSpPr>
            <p:cNvPr id="115" name="Google Shape;115;p5"/>
            <p:cNvSpPr txBox="1"/>
            <p:nvPr/>
          </p:nvSpPr>
          <p:spPr>
            <a:xfrm>
              <a:off x="3089" y="10783"/>
              <a:ext cx="1800" cy="54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10800" lIns="91425" spcFirstLastPara="1" rIns="91425" wrap="square" tIns="108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Chương trình dịch</a:t>
              </a:r>
              <a:endParaRPr/>
            </a:p>
          </p:txBody>
        </p:sp>
        <p:sp>
          <p:nvSpPr>
            <p:cNvPr id="116" name="Google Shape;116;p5"/>
            <p:cNvSpPr/>
            <p:nvPr/>
          </p:nvSpPr>
          <p:spPr>
            <a:xfrm>
              <a:off x="3089" y="11683"/>
              <a:ext cx="1800" cy="720"/>
            </a:xfrm>
            <a:prstGeom prst="roundRect">
              <a:avLst>
                <a:gd fmla="val 10800" name="adj"/>
              </a:avLst>
            </a:prstGeom>
            <a:solidFill>
              <a:srgbClr val="FFFFFF"/>
            </a:solidFill>
            <a:ln cap="flat" cmpd="sng" w="9525">
              <a:solidFill>
                <a:srgbClr val="000000"/>
              </a:solidFill>
              <a:prstDash val="solid"/>
              <a:miter lim="800000"/>
              <a:headEnd len="sm" w="sm" type="none"/>
              <a:tailEnd len="sm" w="sm" type="none"/>
            </a:ln>
          </p:spPr>
          <p:txBody>
            <a:bodyPr anchorCtr="0" anchor="t" bIns="0" lIns="54000" spcFirstLastPara="1" rIns="5400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Mô đun object</a:t>
              </a:r>
              <a:endParaRPr b="0" i="0" sz="11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(printf.o)</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a:solidFill>
                  <a:schemeClr val="dk1"/>
                </a:solidFill>
                <a:latin typeface="Arial"/>
                <a:ea typeface="Arial"/>
                <a:cs typeface="Arial"/>
                <a:sym typeface="Arial"/>
              </a:endParaRPr>
            </a:p>
          </p:txBody>
        </p:sp>
        <p:sp>
          <p:nvSpPr>
            <p:cNvPr id="117" name="Google Shape;117;p5"/>
            <p:cNvSpPr txBox="1"/>
            <p:nvPr/>
          </p:nvSpPr>
          <p:spPr>
            <a:xfrm>
              <a:off x="3089" y="12763"/>
              <a:ext cx="1800" cy="36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10800" lIns="91425" spcFirstLastPara="1" rIns="91425" wrap="square" tIns="108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Thư viện hóa</a:t>
              </a:r>
              <a:endParaRPr/>
            </a:p>
          </p:txBody>
        </p:sp>
        <p:sp>
          <p:nvSpPr>
            <p:cNvPr id="118" name="Google Shape;118;p5"/>
            <p:cNvSpPr/>
            <p:nvPr/>
          </p:nvSpPr>
          <p:spPr>
            <a:xfrm>
              <a:off x="3101" y="13483"/>
              <a:ext cx="1800" cy="720"/>
            </a:xfrm>
            <a:prstGeom prst="roundRect">
              <a:avLst>
                <a:gd fmla="val 10800" name="adj"/>
              </a:avLst>
            </a:prstGeom>
            <a:solidFill>
              <a:srgbClr val="FFFFFF"/>
            </a:solidFill>
            <a:ln cap="flat" cmpd="sng" w="9525">
              <a:solidFill>
                <a:srgbClr val="000000"/>
              </a:solidFill>
              <a:prstDash val="solid"/>
              <a:miter lim="800000"/>
              <a:headEnd len="sm" w="sm" type="none"/>
              <a:tailEnd len="sm" w="sm" type="none"/>
            </a:ln>
          </p:spPr>
          <p:txBody>
            <a:bodyPr anchorCtr="0" anchor="t" bIns="0" lIns="54000" spcFirstLastPara="1" rIns="5400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Thư viện</a:t>
              </a:r>
              <a:endParaRPr b="0" i="0" sz="11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(*.lib)</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a:solidFill>
                  <a:schemeClr val="dk1"/>
                </a:solidFill>
                <a:latin typeface="Arial"/>
                <a:ea typeface="Arial"/>
                <a:cs typeface="Arial"/>
                <a:sym typeface="Arial"/>
              </a:endParaRPr>
            </a:p>
          </p:txBody>
        </p:sp>
        <p:sp>
          <p:nvSpPr>
            <p:cNvPr id="119" name="Google Shape;119;p5"/>
            <p:cNvSpPr/>
            <p:nvPr/>
          </p:nvSpPr>
          <p:spPr>
            <a:xfrm>
              <a:off x="6185" y="14563"/>
              <a:ext cx="1800" cy="1080"/>
            </a:xfrm>
            <a:prstGeom prst="roundRect">
              <a:avLst>
                <a:gd fmla="val 10800" name="adj"/>
              </a:avLst>
            </a:prstGeom>
            <a:solidFill>
              <a:srgbClr val="FFFFFF"/>
            </a:solidFill>
            <a:ln cap="flat" cmpd="sng" w="9525">
              <a:solidFill>
                <a:srgbClr val="000000"/>
              </a:solidFill>
              <a:prstDash val="solid"/>
              <a:miter lim="800000"/>
              <a:headEnd len="sm" w="sm" type="none"/>
              <a:tailEnd len="sm" w="sm" type="none"/>
            </a:ln>
          </p:spPr>
          <p:txBody>
            <a:bodyPr anchorCtr="0" anchor="t" bIns="0" lIns="54000" spcFirstLastPara="1" rIns="5400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Mô đun tải được</a:t>
              </a:r>
              <a:endParaRPr b="0" i="0" sz="11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(prog.exe)</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a:solidFill>
                  <a:schemeClr val="dk1"/>
                </a:solidFill>
                <a:latin typeface="Arial"/>
                <a:ea typeface="Arial"/>
                <a:cs typeface="Arial"/>
                <a:sym typeface="Arial"/>
              </a:endParaRPr>
            </a:p>
          </p:txBody>
        </p:sp>
        <p:sp>
          <p:nvSpPr>
            <p:cNvPr id="120" name="Google Shape;120;p5"/>
            <p:cNvSpPr txBox="1"/>
            <p:nvPr/>
          </p:nvSpPr>
          <p:spPr>
            <a:xfrm>
              <a:off x="6185" y="16003"/>
              <a:ext cx="1800" cy="54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10800" lIns="91425" spcFirstLastPara="1" rIns="91425" wrap="square" tIns="108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Chương trình tải (hệ điều hành)</a:t>
              </a:r>
              <a:endParaRPr/>
            </a:p>
          </p:txBody>
        </p:sp>
        <p:sp>
          <p:nvSpPr>
            <p:cNvPr id="121" name="Google Shape;121;p5"/>
            <p:cNvSpPr txBox="1"/>
            <p:nvPr/>
          </p:nvSpPr>
          <p:spPr>
            <a:xfrm>
              <a:off x="6185" y="16903"/>
              <a:ext cx="1800" cy="54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10800" lIns="91425" spcFirstLastPara="1" rIns="91425" wrap="square" tIns="108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Tiến trình trong bộ nhớ</a:t>
              </a:r>
              <a:endParaRPr/>
            </a:p>
          </p:txBody>
        </p:sp>
        <p:cxnSp>
          <p:nvCxnSpPr>
            <p:cNvPr id="122" name="Google Shape;122;p5"/>
            <p:cNvCxnSpPr/>
            <p:nvPr/>
          </p:nvCxnSpPr>
          <p:spPr>
            <a:xfrm>
              <a:off x="3965" y="10423"/>
              <a:ext cx="0" cy="360"/>
            </a:xfrm>
            <a:prstGeom prst="straightConnector1">
              <a:avLst/>
            </a:prstGeom>
            <a:noFill/>
            <a:ln cap="flat" cmpd="sng" w="9525">
              <a:solidFill>
                <a:srgbClr val="000000"/>
              </a:solidFill>
              <a:prstDash val="solid"/>
              <a:miter lim="800000"/>
              <a:headEnd len="med" w="med" type="none"/>
              <a:tailEnd len="med" w="med" type="triangle"/>
            </a:ln>
          </p:spPr>
        </p:cxnSp>
        <p:cxnSp>
          <p:nvCxnSpPr>
            <p:cNvPr id="123" name="Google Shape;123;p5"/>
            <p:cNvCxnSpPr/>
            <p:nvPr/>
          </p:nvCxnSpPr>
          <p:spPr>
            <a:xfrm>
              <a:off x="3989" y="11323"/>
              <a:ext cx="1" cy="360"/>
            </a:xfrm>
            <a:prstGeom prst="straightConnector1">
              <a:avLst/>
            </a:prstGeom>
            <a:noFill/>
            <a:ln cap="flat" cmpd="sng" w="9525">
              <a:solidFill>
                <a:srgbClr val="000000"/>
              </a:solidFill>
              <a:prstDash val="solid"/>
              <a:miter lim="800000"/>
              <a:headEnd len="med" w="med" type="none"/>
              <a:tailEnd len="med" w="med" type="triangle"/>
            </a:ln>
          </p:spPr>
        </p:cxnSp>
        <p:cxnSp>
          <p:nvCxnSpPr>
            <p:cNvPr id="124" name="Google Shape;124;p5"/>
            <p:cNvCxnSpPr/>
            <p:nvPr/>
          </p:nvCxnSpPr>
          <p:spPr>
            <a:xfrm>
              <a:off x="3989" y="12403"/>
              <a:ext cx="1" cy="360"/>
            </a:xfrm>
            <a:prstGeom prst="straightConnector1">
              <a:avLst/>
            </a:prstGeom>
            <a:noFill/>
            <a:ln cap="flat" cmpd="sng" w="9525">
              <a:solidFill>
                <a:srgbClr val="000000"/>
              </a:solidFill>
              <a:prstDash val="solid"/>
              <a:miter lim="800000"/>
              <a:headEnd len="med" w="med" type="none"/>
              <a:tailEnd len="med" w="med" type="triangle"/>
            </a:ln>
          </p:spPr>
        </p:cxnSp>
        <p:cxnSp>
          <p:nvCxnSpPr>
            <p:cNvPr id="125" name="Google Shape;125;p5"/>
            <p:cNvCxnSpPr/>
            <p:nvPr/>
          </p:nvCxnSpPr>
          <p:spPr>
            <a:xfrm>
              <a:off x="3989" y="13123"/>
              <a:ext cx="12" cy="360"/>
            </a:xfrm>
            <a:prstGeom prst="straightConnector1">
              <a:avLst/>
            </a:prstGeom>
            <a:noFill/>
            <a:ln cap="flat" cmpd="sng" w="9525">
              <a:solidFill>
                <a:srgbClr val="000000"/>
              </a:solidFill>
              <a:prstDash val="solid"/>
              <a:miter lim="800000"/>
              <a:headEnd len="med" w="med" type="none"/>
              <a:tailEnd len="med" w="med" type="triangle"/>
            </a:ln>
          </p:spPr>
        </p:cxnSp>
        <p:cxnSp>
          <p:nvCxnSpPr>
            <p:cNvPr id="126" name="Google Shape;126;p5"/>
            <p:cNvCxnSpPr/>
            <p:nvPr/>
          </p:nvCxnSpPr>
          <p:spPr>
            <a:xfrm>
              <a:off x="7025" y="10243"/>
              <a:ext cx="0" cy="540"/>
            </a:xfrm>
            <a:prstGeom prst="straightConnector1">
              <a:avLst/>
            </a:prstGeom>
            <a:noFill/>
            <a:ln cap="flat" cmpd="sng" w="9525">
              <a:solidFill>
                <a:srgbClr val="000000"/>
              </a:solidFill>
              <a:prstDash val="solid"/>
              <a:miter lim="800000"/>
              <a:headEnd len="med" w="med" type="none"/>
              <a:tailEnd len="med" w="med" type="triangle"/>
            </a:ln>
          </p:spPr>
        </p:cxnSp>
        <p:cxnSp>
          <p:nvCxnSpPr>
            <p:cNvPr id="127" name="Google Shape;127;p5"/>
            <p:cNvCxnSpPr/>
            <p:nvPr/>
          </p:nvCxnSpPr>
          <p:spPr>
            <a:xfrm>
              <a:off x="7049" y="11323"/>
              <a:ext cx="12" cy="360"/>
            </a:xfrm>
            <a:prstGeom prst="straightConnector1">
              <a:avLst/>
            </a:prstGeom>
            <a:noFill/>
            <a:ln cap="flat" cmpd="sng" w="9525">
              <a:solidFill>
                <a:srgbClr val="000000"/>
              </a:solidFill>
              <a:prstDash val="solid"/>
              <a:miter lim="800000"/>
              <a:headEnd len="med" w="med" type="none"/>
              <a:tailEnd len="med" w="med" type="triangle"/>
            </a:ln>
          </p:spPr>
        </p:cxnSp>
        <p:cxnSp>
          <p:nvCxnSpPr>
            <p:cNvPr id="128" name="Google Shape;128;p5"/>
            <p:cNvCxnSpPr/>
            <p:nvPr/>
          </p:nvCxnSpPr>
          <p:spPr>
            <a:xfrm>
              <a:off x="7061" y="12403"/>
              <a:ext cx="12" cy="1080"/>
            </a:xfrm>
            <a:prstGeom prst="straightConnector1">
              <a:avLst/>
            </a:prstGeom>
            <a:noFill/>
            <a:ln cap="flat" cmpd="sng" w="9525">
              <a:solidFill>
                <a:srgbClr val="000000"/>
              </a:solidFill>
              <a:prstDash val="solid"/>
              <a:miter lim="800000"/>
              <a:headEnd len="med" w="med" type="none"/>
              <a:tailEnd len="med" w="med" type="triangle"/>
            </a:ln>
          </p:spPr>
        </p:cxnSp>
        <p:cxnSp>
          <p:nvCxnSpPr>
            <p:cNvPr id="129" name="Google Shape;129;p5"/>
            <p:cNvCxnSpPr/>
            <p:nvPr/>
          </p:nvCxnSpPr>
          <p:spPr>
            <a:xfrm>
              <a:off x="7073" y="14203"/>
              <a:ext cx="12" cy="360"/>
            </a:xfrm>
            <a:prstGeom prst="straightConnector1">
              <a:avLst/>
            </a:prstGeom>
            <a:noFill/>
            <a:ln cap="flat" cmpd="sng" w="9525">
              <a:solidFill>
                <a:srgbClr val="000000"/>
              </a:solidFill>
              <a:prstDash val="solid"/>
              <a:miter lim="800000"/>
              <a:headEnd len="med" w="med" type="none"/>
              <a:tailEnd len="med" w="med" type="triangle"/>
            </a:ln>
          </p:spPr>
        </p:cxnSp>
        <p:cxnSp>
          <p:nvCxnSpPr>
            <p:cNvPr id="130" name="Google Shape;130;p5"/>
            <p:cNvCxnSpPr/>
            <p:nvPr/>
          </p:nvCxnSpPr>
          <p:spPr>
            <a:xfrm>
              <a:off x="7085" y="15643"/>
              <a:ext cx="1" cy="360"/>
            </a:xfrm>
            <a:prstGeom prst="straightConnector1">
              <a:avLst/>
            </a:prstGeom>
            <a:noFill/>
            <a:ln cap="flat" cmpd="sng" w="9525">
              <a:solidFill>
                <a:srgbClr val="000000"/>
              </a:solidFill>
              <a:prstDash val="solid"/>
              <a:miter lim="800000"/>
              <a:headEnd len="med" w="med" type="none"/>
              <a:tailEnd len="med" w="med" type="triangle"/>
            </a:ln>
          </p:spPr>
        </p:cxnSp>
        <p:cxnSp>
          <p:nvCxnSpPr>
            <p:cNvPr id="131" name="Google Shape;131;p5"/>
            <p:cNvCxnSpPr/>
            <p:nvPr/>
          </p:nvCxnSpPr>
          <p:spPr>
            <a:xfrm>
              <a:off x="7085" y="16543"/>
              <a:ext cx="1" cy="360"/>
            </a:xfrm>
            <a:prstGeom prst="straightConnector1">
              <a:avLst/>
            </a:prstGeom>
            <a:noFill/>
            <a:ln cap="flat" cmpd="sng" w="9525">
              <a:solidFill>
                <a:srgbClr val="000000"/>
              </a:solidFill>
              <a:prstDash val="solid"/>
              <a:miter lim="800000"/>
              <a:headEnd len="med" w="med" type="none"/>
              <a:tailEnd len="med" w="med" type="triangle"/>
            </a:ln>
          </p:spPr>
        </p:cxnSp>
        <p:cxnSp>
          <p:nvCxnSpPr>
            <p:cNvPr id="132" name="Google Shape;132;p5"/>
            <p:cNvCxnSpPr/>
            <p:nvPr/>
          </p:nvCxnSpPr>
          <p:spPr>
            <a:xfrm>
              <a:off x="4901" y="13843"/>
              <a:ext cx="1272" cy="1"/>
            </a:xfrm>
            <a:prstGeom prst="straightConnector1">
              <a:avLst/>
            </a:prstGeom>
            <a:noFill/>
            <a:ln cap="flat" cmpd="sng" w="9525">
              <a:solidFill>
                <a:srgbClr val="000000"/>
              </a:solidFill>
              <a:prstDash val="solid"/>
              <a:miter lim="800000"/>
              <a:headEnd len="med" w="med" type="none"/>
              <a:tailEnd len="med" w="med" type="triangle"/>
            </a:ln>
          </p:spPr>
        </p:cxnSp>
      </p:grpSp>
      <p:sp>
        <p:nvSpPr>
          <p:cNvPr id="133" name="Google Shape;133;p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0" st="0"/>
                                            </p:txEl>
                                          </p:spTgt>
                                        </p:tgtEl>
                                        <p:attrNameLst>
                                          <p:attrName>style.visibility</p:attrName>
                                        </p:attrNameLst>
                                      </p:cBhvr>
                                      <p:to>
                                        <p:strVal val="visible"/>
                                      </p:to>
                                    </p:set>
                                    <p:animEffect filter="fade" transition="in">
                                      <p:cBhvr>
                                        <p:cTn dur="500"/>
                                        <p:tgtEl>
                                          <p:spTgt spid="1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1" st="1"/>
                                            </p:txEl>
                                          </p:spTgt>
                                        </p:tgtEl>
                                        <p:attrNameLst>
                                          <p:attrName>style.visibility</p:attrName>
                                        </p:attrNameLst>
                                      </p:cBhvr>
                                      <p:to>
                                        <p:strVal val="visible"/>
                                      </p:to>
                                    </p:set>
                                    <p:animEffect filter="fade" transition="in">
                                      <p:cBhvr>
                                        <p:cTn dur="500"/>
                                        <p:tgtEl>
                                          <p:spTgt spid="1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2" st="2"/>
                                            </p:txEl>
                                          </p:spTgt>
                                        </p:tgtEl>
                                        <p:attrNameLst>
                                          <p:attrName>style.visibility</p:attrName>
                                        </p:attrNameLst>
                                      </p:cBhvr>
                                      <p:to>
                                        <p:strVal val="visible"/>
                                      </p:to>
                                    </p:set>
                                    <p:animEffect filter="fade" transition="in">
                                      <p:cBhvr>
                                        <p:cTn dur="500"/>
                                        <p:tgtEl>
                                          <p:spTgt spid="1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3" st="3"/>
                                            </p:txEl>
                                          </p:spTgt>
                                        </p:tgtEl>
                                        <p:attrNameLst>
                                          <p:attrName>style.visibility</p:attrName>
                                        </p:attrNameLst>
                                      </p:cBhvr>
                                      <p:to>
                                        <p:strVal val="visible"/>
                                      </p:to>
                                    </p:set>
                                    <p:animEffect filter="fade" transition="in">
                                      <p:cBhvr>
                                        <p:cTn dur="500"/>
                                        <p:tgtEl>
                                          <p:spTgt spid="1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4" st="4"/>
                                            </p:txEl>
                                          </p:spTgt>
                                        </p:tgtEl>
                                        <p:attrNameLst>
                                          <p:attrName>style.visibility</p:attrName>
                                        </p:attrNameLst>
                                      </p:cBhvr>
                                      <p:to>
                                        <p:strVal val="visible"/>
                                      </p:to>
                                    </p:set>
                                    <p:animEffect filter="fade" transition="in">
                                      <p:cBhvr>
                                        <p:cTn dur="500"/>
                                        <p:tgtEl>
                                          <p:spTgt spid="10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5" st="5"/>
                                            </p:txEl>
                                          </p:spTgt>
                                        </p:tgtEl>
                                        <p:attrNameLst>
                                          <p:attrName>style.visibility</p:attrName>
                                        </p:attrNameLst>
                                      </p:cBhvr>
                                      <p:to>
                                        <p:strVal val="visible"/>
                                      </p:to>
                                    </p:set>
                                    <p:animEffect filter="fade" transition="in">
                                      <p:cBhvr>
                                        <p:cTn dur="500"/>
                                        <p:tgtEl>
                                          <p:spTgt spid="10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
                                            <p:txEl>
                                              <p:pRg end="6" st="6"/>
                                            </p:txEl>
                                          </p:spTgt>
                                        </p:tgtEl>
                                        <p:attrNameLst>
                                          <p:attrName>style.visibility</p:attrName>
                                        </p:attrNameLst>
                                      </p:cBhvr>
                                      <p:to>
                                        <p:strVal val="visible"/>
                                      </p:to>
                                    </p:set>
                                    <p:animEffect filter="fade" transition="in">
                                      <p:cBhvr>
                                        <p:cTn dur="500"/>
                                        <p:tgtEl>
                                          <p:spTgt spid="102">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6"/>
          <p:cNvSpPr txBox="1"/>
          <p:nvPr>
            <p:ph idx="1" type="body"/>
          </p:nvPr>
        </p:nvSpPr>
        <p:spPr>
          <a:xfrm>
            <a:off x="0" y="685800"/>
            <a:ext cx="5715000" cy="579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Vấn đề gán địa chỉ:</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Khi viết chương trình, sử dụng địa chỉ dưới dạng tên (biến, hàm)</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Khi dịch, chương trình dịch ánh xạ các tên đó theo địa chỉ tương đối tính từ đầu file obj (biến, hàm)</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Chương trình liên kết ánh xạ tiếp địa chỉ đó thành địa chỉ tương đối tính từ đầu chương trình</a:t>
            </a:r>
            <a:endParaRPr b="0" i="0" sz="2000" u="none" cap="none" strike="noStrike">
              <a:solidFill>
                <a:schemeClr val="dk2"/>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HDH đọc chương trình vào bộ nhớ để thực hiện; vị trí trong bộ nhớ không biết trước</a:t>
            </a:r>
            <a:endParaRPr/>
          </a:p>
          <a:p>
            <a:pPr indent="-342900" lvl="0" marL="342900" marR="0" rtl="0" algn="l">
              <a:lnSpc>
                <a:spcPct val="100000"/>
              </a:lnSpc>
              <a:spcBef>
                <a:spcPts val="48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=&gt; HDH cần có khả năng gán địa chỉ và ánh xạ địa chỉ này</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40" name="Google Shape;140;p6"/>
          <p:cNvSpPr txBox="1"/>
          <p:nvPr>
            <p:ph type="title"/>
          </p:nvPr>
        </p:nvSpPr>
        <p:spPr>
          <a:xfrm>
            <a:off x="457200" y="76200"/>
            <a:ext cx="8686800" cy="6858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ĐỊA CHỈ VÀ CÁC VẤN ĐỀ LIÊN QUAN</a:t>
            </a:r>
            <a:endParaRPr/>
          </a:p>
        </p:txBody>
      </p:sp>
      <p:sp>
        <p:nvSpPr>
          <p:cNvPr id="141" name="Google Shape;141;p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2" name="Google Shape;142;p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3" name="Google Shape;143;p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4" name="Google Shape;144;p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45" name="Google Shape;145;p6"/>
          <p:cNvGrpSpPr/>
          <p:nvPr/>
        </p:nvGrpSpPr>
        <p:grpSpPr>
          <a:xfrm>
            <a:off x="5029200" y="914400"/>
            <a:ext cx="4881562" cy="5143500"/>
            <a:chOff x="1985" y="9163"/>
            <a:chExt cx="8100" cy="8460"/>
          </a:xfrm>
        </p:grpSpPr>
        <p:sp>
          <p:nvSpPr>
            <p:cNvPr id="146" name="Google Shape;146;p6"/>
            <p:cNvSpPr/>
            <p:nvPr/>
          </p:nvSpPr>
          <p:spPr>
            <a:xfrm>
              <a:off x="1985" y="9163"/>
              <a:ext cx="8100" cy="84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47" name="Google Shape;147;p6"/>
            <p:cNvSpPr/>
            <p:nvPr/>
          </p:nvSpPr>
          <p:spPr>
            <a:xfrm>
              <a:off x="6125" y="9343"/>
              <a:ext cx="1800" cy="900"/>
            </a:xfrm>
            <a:prstGeom prst="roundRect">
              <a:avLst>
                <a:gd fmla="val 10800" name="adj"/>
              </a:avLst>
            </a:prstGeom>
            <a:solidFill>
              <a:srgbClr val="FFFFFF"/>
            </a:solidFill>
            <a:ln cap="flat" cmpd="sng" w="9525">
              <a:solidFill>
                <a:srgbClr val="000000"/>
              </a:solidFill>
              <a:prstDash val="solid"/>
              <a:miter lim="800000"/>
              <a:headEnd len="sm" w="sm" type="none"/>
              <a:tailEnd len="sm" w="sm" type="none"/>
            </a:ln>
          </p:spPr>
          <p:txBody>
            <a:bodyPr anchorCtr="0" anchor="t" bIns="0" lIns="54000" spcFirstLastPara="1" rIns="5400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Mã nguồn</a:t>
              </a:r>
              <a:endParaRPr b="0" i="0" sz="11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(prog.c)</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a:solidFill>
                  <a:schemeClr val="dk1"/>
                </a:solidFill>
                <a:latin typeface="Arial"/>
                <a:ea typeface="Arial"/>
                <a:cs typeface="Arial"/>
                <a:sym typeface="Arial"/>
              </a:endParaRPr>
            </a:p>
          </p:txBody>
        </p:sp>
        <p:sp>
          <p:nvSpPr>
            <p:cNvPr id="148" name="Google Shape;148;p6"/>
            <p:cNvSpPr txBox="1"/>
            <p:nvPr/>
          </p:nvSpPr>
          <p:spPr>
            <a:xfrm>
              <a:off x="6149" y="10783"/>
              <a:ext cx="1800" cy="54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10800" lIns="91425" spcFirstLastPara="1" rIns="91425" wrap="square" tIns="108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Chương trình dịch</a:t>
              </a:r>
              <a:endParaRPr/>
            </a:p>
          </p:txBody>
        </p:sp>
        <p:sp>
          <p:nvSpPr>
            <p:cNvPr id="149" name="Google Shape;149;p6"/>
            <p:cNvSpPr/>
            <p:nvPr/>
          </p:nvSpPr>
          <p:spPr>
            <a:xfrm>
              <a:off x="6161" y="11683"/>
              <a:ext cx="1800" cy="720"/>
            </a:xfrm>
            <a:prstGeom prst="roundRect">
              <a:avLst>
                <a:gd fmla="val 10800" name="adj"/>
              </a:avLst>
            </a:prstGeom>
            <a:solidFill>
              <a:srgbClr val="FFFFFF"/>
            </a:solidFill>
            <a:ln cap="flat" cmpd="sng" w="9525">
              <a:solidFill>
                <a:srgbClr val="000000"/>
              </a:solidFill>
              <a:prstDash val="solid"/>
              <a:miter lim="800000"/>
              <a:headEnd len="sm" w="sm" type="none"/>
              <a:tailEnd len="sm" w="sm" type="none"/>
            </a:ln>
          </p:spPr>
          <p:txBody>
            <a:bodyPr anchorCtr="0" anchor="t" bIns="0" lIns="54000" spcFirstLastPara="1" rIns="5400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Mô đun object</a:t>
              </a:r>
              <a:endParaRPr b="0" i="0" sz="11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(prog.o)</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a:solidFill>
                  <a:schemeClr val="dk1"/>
                </a:solidFill>
                <a:latin typeface="Arial"/>
                <a:ea typeface="Arial"/>
                <a:cs typeface="Arial"/>
                <a:sym typeface="Arial"/>
              </a:endParaRPr>
            </a:p>
          </p:txBody>
        </p:sp>
        <p:sp>
          <p:nvSpPr>
            <p:cNvPr id="150" name="Google Shape;150;p6"/>
            <p:cNvSpPr txBox="1"/>
            <p:nvPr/>
          </p:nvSpPr>
          <p:spPr>
            <a:xfrm>
              <a:off x="6173" y="13483"/>
              <a:ext cx="1800" cy="72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Chương trình liên kết</a:t>
              </a:r>
              <a:endParaRPr/>
            </a:p>
          </p:txBody>
        </p:sp>
        <p:sp>
          <p:nvSpPr>
            <p:cNvPr id="151" name="Google Shape;151;p6"/>
            <p:cNvSpPr/>
            <p:nvPr/>
          </p:nvSpPr>
          <p:spPr>
            <a:xfrm>
              <a:off x="3065" y="9343"/>
              <a:ext cx="1800" cy="1080"/>
            </a:xfrm>
            <a:prstGeom prst="roundRect">
              <a:avLst>
                <a:gd fmla="val 10800" name="adj"/>
              </a:avLst>
            </a:prstGeom>
            <a:solidFill>
              <a:srgbClr val="FFFFFF"/>
            </a:solidFill>
            <a:ln cap="flat" cmpd="sng" w="9525">
              <a:solidFill>
                <a:srgbClr val="000000"/>
              </a:solidFill>
              <a:prstDash val="solid"/>
              <a:miter lim="800000"/>
              <a:headEnd len="sm" w="sm" type="none"/>
              <a:tailEnd len="sm" w="sm" type="none"/>
            </a:ln>
          </p:spPr>
          <p:txBody>
            <a:bodyPr anchorCtr="0" anchor="t" bIns="0" lIns="54000" spcFirstLastPara="1" rIns="5400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Mã nguồn mô đun khác</a:t>
              </a:r>
              <a:endParaRPr b="0" i="0" sz="11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(printf.c)</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a:solidFill>
                  <a:schemeClr val="dk1"/>
                </a:solidFill>
                <a:latin typeface="Arial"/>
                <a:ea typeface="Arial"/>
                <a:cs typeface="Arial"/>
                <a:sym typeface="Arial"/>
              </a:endParaRPr>
            </a:p>
          </p:txBody>
        </p:sp>
        <p:sp>
          <p:nvSpPr>
            <p:cNvPr id="152" name="Google Shape;152;p6"/>
            <p:cNvSpPr txBox="1"/>
            <p:nvPr/>
          </p:nvSpPr>
          <p:spPr>
            <a:xfrm>
              <a:off x="3089" y="10783"/>
              <a:ext cx="1800" cy="54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10800" lIns="91425" spcFirstLastPara="1" rIns="91425" wrap="square" tIns="108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Chương trình dịch</a:t>
              </a:r>
              <a:endParaRPr/>
            </a:p>
          </p:txBody>
        </p:sp>
        <p:sp>
          <p:nvSpPr>
            <p:cNvPr id="153" name="Google Shape;153;p6"/>
            <p:cNvSpPr/>
            <p:nvPr/>
          </p:nvSpPr>
          <p:spPr>
            <a:xfrm>
              <a:off x="3089" y="11683"/>
              <a:ext cx="1800" cy="720"/>
            </a:xfrm>
            <a:prstGeom prst="roundRect">
              <a:avLst>
                <a:gd fmla="val 10800" name="adj"/>
              </a:avLst>
            </a:prstGeom>
            <a:solidFill>
              <a:srgbClr val="FFFFFF"/>
            </a:solidFill>
            <a:ln cap="flat" cmpd="sng" w="9525">
              <a:solidFill>
                <a:srgbClr val="000000"/>
              </a:solidFill>
              <a:prstDash val="solid"/>
              <a:miter lim="800000"/>
              <a:headEnd len="sm" w="sm" type="none"/>
              <a:tailEnd len="sm" w="sm" type="none"/>
            </a:ln>
          </p:spPr>
          <p:txBody>
            <a:bodyPr anchorCtr="0" anchor="t" bIns="0" lIns="54000" spcFirstLastPara="1" rIns="5400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Mô đun object</a:t>
              </a:r>
              <a:endParaRPr b="0" i="0" sz="11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(printf.o)</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a:solidFill>
                  <a:schemeClr val="dk1"/>
                </a:solidFill>
                <a:latin typeface="Arial"/>
                <a:ea typeface="Arial"/>
                <a:cs typeface="Arial"/>
                <a:sym typeface="Arial"/>
              </a:endParaRPr>
            </a:p>
          </p:txBody>
        </p:sp>
        <p:sp>
          <p:nvSpPr>
            <p:cNvPr id="154" name="Google Shape;154;p6"/>
            <p:cNvSpPr txBox="1"/>
            <p:nvPr/>
          </p:nvSpPr>
          <p:spPr>
            <a:xfrm>
              <a:off x="3089" y="12763"/>
              <a:ext cx="1800" cy="36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10800" lIns="91425" spcFirstLastPara="1" rIns="91425" wrap="square" tIns="108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Thư viện hóa</a:t>
              </a:r>
              <a:endParaRPr/>
            </a:p>
          </p:txBody>
        </p:sp>
        <p:sp>
          <p:nvSpPr>
            <p:cNvPr id="155" name="Google Shape;155;p6"/>
            <p:cNvSpPr/>
            <p:nvPr/>
          </p:nvSpPr>
          <p:spPr>
            <a:xfrm>
              <a:off x="3101" y="13483"/>
              <a:ext cx="1800" cy="720"/>
            </a:xfrm>
            <a:prstGeom prst="roundRect">
              <a:avLst>
                <a:gd fmla="val 10800" name="adj"/>
              </a:avLst>
            </a:prstGeom>
            <a:solidFill>
              <a:srgbClr val="FFFFFF"/>
            </a:solidFill>
            <a:ln cap="flat" cmpd="sng" w="9525">
              <a:solidFill>
                <a:srgbClr val="000000"/>
              </a:solidFill>
              <a:prstDash val="solid"/>
              <a:miter lim="800000"/>
              <a:headEnd len="sm" w="sm" type="none"/>
              <a:tailEnd len="sm" w="sm" type="none"/>
            </a:ln>
          </p:spPr>
          <p:txBody>
            <a:bodyPr anchorCtr="0" anchor="t" bIns="0" lIns="54000" spcFirstLastPara="1" rIns="5400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Thư viện</a:t>
              </a:r>
              <a:endParaRPr b="0" i="0" sz="11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(*.lib)</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a:solidFill>
                  <a:schemeClr val="dk1"/>
                </a:solidFill>
                <a:latin typeface="Arial"/>
                <a:ea typeface="Arial"/>
                <a:cs typeface="Arial"/>
                <a:sym typeface="Arial"/>
              </a:endParaRPr>
            </a:p>
          </p:txBody>
        </p:sp>
        <p:sp>
          <p:nvSpPr>
            <p:cNvPr id="156" name="Google Shape;156;p6"/>
            <p:cNvSpPr/>
            <p:nvPr/>
          </p:nvSpPr>
          <p:spPr>
            <a:xfrm>
              <a:off x="6185" y="14563"/>
              <a:ext cx="1800" cy="1080"/>
            </a:xfrm>
            <a:prstGeom prst="roundRect">
              <a:avLst>
                <a:gd fmla="val 10800" name="adj"/>
              </a:avLst>
            </a:prstGeom>
            <a:solidFill>
              <a:srgbClr val="FFFFFF"/>
            </a:solidFill>
            <a:ln cap="flat" cmpd="sng" w="9525">
              <a:solidFill>
                <a:srgbClr val="000000"/>
              </a:solidFill>
              <a:prstDash val="solid"/>
              <a:miter lim="800000"/>
              <a:headEnd len="sm" w="sm" type="none"/>
              <a:tailEnd len="sm" w="sm" type="none"/>
            </a:ln>
          </p:spPr>
          <p:txBody>
            <a:bodyPr anchorCtr="0" anchor="t" bIns="0" lIns="54000" spcFirstLastPara="1" rIns="5400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Mô đun tải được</a:t>
              </a:r>
              <a:endParaRPr b="0" i="0" sz="11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(prog.exe)</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a:solidFill>
                  <a:schemeClr val="dk1"/>
                </a:solidFill>
                <a:latin typeface="Arial"/>
                <a:ea typeface="Arial"/>
                <a:cs typeface="Arial"/>
                <a:sym typeface="Arial"/>
              </a:endParaRPr>
            </a:p>
          </p:txBody>
        </p:sp>
        <p:sp>
          <p:nvSpPr>
            <p:cNvPr id="157" name="Google Shape;157;p6"/>
            <p:cNvSpPr txBox="1"/>
            <p:nvPr/>
          </p:nvSpPr>
          <p:spPr>
            <a:xfrm>
              <a:off x="6185" y="16003"/>
              <a:ext cx="1800" cy="54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10800" lIns="91425" spcFirstLastPara="1" rIns="91425" wrap="square" tIns="108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Chương trình tải (hệ điều hành)</a:t>
              </a:r>
              <a:endParaRPr/>
            </a:p>
          </p:txBody>
        </p:sp>
        <p:sp>
          <p:nvSpPr>
            <p:cNvPr id="158" name="Google Shape;158;p6"/>
            <p:cNvSpPr txBox="1"/>
            <p:nvPr/>
          </p:nvSpPr>
          <p:spPr>
            <a:xfrm>
              <a:off x="6185" y="16903"/>
              <a:ext cx="1800" cy="54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10800" lIns="91425" spcFirstLastPara="1" rIns="91425" wrap="square" tIns="108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Tiến trình trong bộ nhớ</a:t>
              </a:r>
              <a:endParaRPr/>
            </a:p>
          </p:txBody>
        </p:sp>
        <p:cxnSp>
          <p:nvCxnSpPr>
            <p:cNvPr id="159" name="Google Shape;159;p6"/>
            <p:cNvCxnSpPr/>
            <p:nvPr/>
          </p:nvCxnSpPr>
          <p:spPr>
            <a:xfrm>
              <a:off x="3965" y="10423"/>
              <a:ext cx="0" cy="360"/>
            </a:xfrm>
            <a:prstGeom prst="straightConnector1">
              <a:avLst/>
            </a:prstGeom>
            <a:noFill/>
            <a:ln cap="flat" cmpd="sng" w="9525">
              <a:solidFill>
                <a:srgbClr val="000000"/>
              </a:solidFill>
              <a:prstDash val="solid"/>
              <a:miter lim="800000"/>
              <a:headEnd len="med" w="med" type="none"/>
              <a:tailEnd len="med" w="med" type="triangle"/>
            </a:ln>
          </p:spPr>
        </p:cxnSp>
        <p:cxnSp>
          <p:nvCxnSpPr>
            <p:cNvPr id="160" name="Google Shape;160;p6"/>
            <p:cNvCxnSpPr/>
            <p:nvPr/>
          </p:nvCxnSpPr>
          <p:spPr>
            <a:xfrm>
              <a:off x="3989" y="11323"/>
              <a:ext cx="1" cy="360"/>
            </a:xfrm>
            <a:prstGeom prst="straightConnector1">
              <a:avLst/>
            </a:prstGeom>
            <a:noFill/>
            <a:ln cap="flat" cmpd="sng" w="9525">
              <a:solidFill>
                <a:srgbClr val="000000"/>
              </a:solidFill>
              <a:prstDash val="solid"/>
              <a:miter lim="800000"/>
              <a:headEnd len="med" w="med" type="none"/>
              <a:tailEnd len="med" w="med" type="triangle"/>
            </a:ln>
          </p:spPr>
        </p:cxnSp>
        <p:cxnSp>
          <p:nvCxnSpPr>
            <p:cNvPr id="161" name="Google Shape;161;p6"/>
            <p:cNvCxnSpPr/>
            <p:nvPr/>
          </p:nvCxnSpPr>
          <p:spPr>
            <a:xfrm>
              <a:off x="3989" y="12403"/>
              <a:ext cx="1" cy="360"/>
            </a:xfrm>
            <a:prstGeom prst="straightConnector1">
              <a:avLst/>
            </a:prstGeom>
            <a:noFill/>
            <a:ln cap="flat" cmpd="sng" w="9525">
              <a:solidFill>
                <a:srgbClr val="000000"/>
              </a:solidFill>
              <a:prstDash val="solid"/>
              <a:miter lim="800000"/>
              <a:headEnd len="med" w="med" type="none"/>
              <a:tailEnd len="med" w="med" type="triangle"/>
            </a:ln>
          </p:spPr>
        </p:cxnSp>
        <p:cxnSp>
          <p:nvCxnSpPr>
            <p:cNvPr id="162" name="Google Shape;162;p6"/>
            <p:cNvCxnSpPr/>
            <p:nvPr/>
          </p:nvCxnSpPr>
          <p:spPr>
            <a:xfrm>
              <a:off x="3989" y="13123"/>
              <a:ext cx="12" cy="360"/>
            </a:xfrm>
            <a:prstGeom prst="straightConnector1">
              <a:avLst/>
            </a:prstGeom>
            <a:noFill/>
            <a:ln cap="flat" cmpd="sng" w="9525">
              <a:solidFill>
                <a:srgbClr val="000000"/>
              </a:solidFill>
              <a:prstDash val="solid"/>
              <a:miter lim="800000"/>
              <a:headEnd len="med" w="med" type="none"/>
              <a:tailEnd len="med" w="med" type="triangle"/>
            </a:ln>
          </p:spPr>
        </p:cxnSp>
        <p:cxnSp>
          <p:nvCxnSpPr>
            <p:cNvPr id="163" name="Google Shape;163;p6"/>
            <p:cNvCxnSpPr/>
            <p:nvPr/>
          </p:nvCxnSpPr>
          <p:spPr>
            <a:xfrm>
              <a:off x="7025" y="10243"/>
              <a:ext cx="0" cy="540"/>
            </a:xfrm>
            <a:prstGeom prst="straightConnector1">
              <a:avLst/>
            </a:prstGeom>
            <a:noFill/>
            <a:ln cap="flat" cmpd="sng" w="9525">
              <a:solidFill>
                <a:srgbClr val="000000"/>
              </a:solidFill>
              <a:prstDash val="solid"/>
              <a:miter lim="800000"/>
              <a:headEnd len="med" w="med" type="none"/>
              <a:tailEnd len="med" w="med" type="triangle"/>
            </a:ln>
          </p:spPr>
        </p:cxnSp>
        <p:cxnSp>
          <p:nvCxnSpPr>
            <p:cNvPr id="164" name="Google Shape;164;p6"/>
            <p:cNvCxnSpPr/>
            <p:nvPr/>
          </p:nvCxnSpPr>
          <p:spPr>
            <a:xfrm>
              <a:off x="7049" y="11323"/>
              <a:ext cx="12" cy="360"/>
            </a:xfrm>
            <a:prstGeom prst="straightConnector1">
              <a:avLst/>
            </a:prstGeom>
            <a:noFill/>
            <a:ln cap="flat" cmpd="sng" w="9525">
              <a:solidFill>
                <a:srgbClr val="000000"/>
              </a:solidFill>
              <a:prstDash val="solid"/>
              <a:miter lim="800000"/>
              <a:headEnd len="med" w="med" type="none"/>
              <a:tailEnd len="med" w="med" type="triangle"/>
            </a:ln>
          </p:spPr>
        </p:cxnSp>
        <p:cxnSp>
          <p:nvCxnSpPr>
            <p:cNvPr id="165" name="Google Shape;165;p6"/>
            <p:cNvCxnSpPr/>
            <p:nvPr/>
          </p:nvCxnSpPr>
          <p:spPr>
            <a:xfrm>
              <a:off x="7061" y="12403"/>
              <a:ext cx="12" cy="1080"/>
            </a:xfrm>
            <a:prstGeom prst="straightConnector1">
              <a:avLst/>
            </a:prstGeom>
            <a:noFill/>
            <a:ln cap="flat" cmpd="sng" w="9525">
              <a:solidFill>
                <a:srgbClr val="000000"/>
              </a:solidFill>
              <a:prstDash val="solid"/>
              <a:miter lim="800000"/>
              <a:headEnd len="med" w="med" type="none"/>
              <a:tailEnd len="med" w="med" type="triangle"/>
            </a:ln>
          </p:spPr>
        </p:cxnSp>
        <p:cxnSp>
          <p:nvCxnSpPr>
            <p:cNvPr id="166" name="Google Shape;166;p6"/>
            <p:cNvCxnSpPr/>
            <p:nvPr/>
          </p:nvCxnSpPr>
          <p:spPr>
            <a:xfrm>
              <a:off x="7073" y="14203"/>
              <a:ext cx="12" cy="360"/>
            </a:xfrm>
            <a:prstGeom prst="straightConnector1">
              <a:avLst/>
            </a:prstGeom>
            <a:noFill/>
            <a:ln cap="flat" cmpd="sng" w="9525">
              <a:solidFill>
                <a:srgbClr val="000000"/>
              </a:solidFill>
              <a:prstDash val="solid"/>
              <a:miter lim="800000"/>
              <a:headEnd len="med" w="med" type="none"/>
              <a:tailEnd len="med" w="med" type="triangle"/>
            </a:ln>
          </p:spPr>
        </p:cxnSp>
        <p:cxnSp>
          <p:nvCxnSpPr>
            <p:cNvPr id="167" name="Google Shape;167;p6"/>
            <p:cNvCxnSpPr/>
            <p:nvPr/>
          </p:nvCxnSpPr>
          <p:spPr>
            <a:xfrm>
              <a:off x="7085" y="15643"/>
              <a:ext cx="1" cy="360"/>
            </a:xfrm>
            <a:prstGeom prst="straightConnector1">
              <a:avLst/>
            </a:prstGeom>
            <a:noFill/>
            <a:ln cap="flat" cmpd="sng" w="9525">
              <a:solidFill>
                <a:srgbClr val="000000"/>
              </a:solidFill>
              <a:prstDash val="solid"/>
              <a:miter lim="800000"/>
              <a:headEnd len="med" w="med" type="none"/>
              <a:tailEnd len="med" w="med" type="triangle"/>
            </a:ln>
          </p:spPr>
        </p:cxnSp>
        <p:cxnSp>
          <p:nvCxnSpPr>
            <p:cNvPr id="168" name="Google Shape;168;p6"/>
            <p:cNvCxnSpPr/>
            <p:nvPr/>
          </p:nvCxnSpPr>
          <p:spPr>
            <a:xfrm>
              <a:off x="7085" y="16543"/>
              <a:ext cx="1" cy="360"/>
            </a:xfrm>
            <a:prstGeom prst="straightConnector1">
              <a:avLst/>
            </a:prstGeom>
            <a:noFill/>
            <a:ln cap="flat" cmpd="sng" w="9525">
              <a:solidFill>
                <a:srgbClr val="000000"/>
              </a:solidFill>
              <a:prstDash val="solid"/>
              <a:miter lim="800000"/>
              <a:headEnd len="med" w="med" type="none"/>
              <a:tailEnd len="med" w="med" type="triangle"/>
            </a:ln>
          </p:spPr>
        </p:cxnSp>
        <p:cxnSp>
          <p:nvCxnSpPr>
            <p:cNvPr id="169" name="Google Shape;169;p6"/>
            <p:cNvCxnSpPr/>
            <p:nvPr/>
          </p:nvCxnSpPr>
          <p:spPr>
            <a:xfrm>
              <a:off x="4901" y="13843"/>
              <a:ext cx="1272" cy="1"/>
            </a:xfrm>
            <a:prstGeom prst="straightConnector1">
              <a:avLst/>
            </a:prstGeom>
            <a:noFill/>
            <a:ln cap="flat" cmpd="sng" w="9525">
              <a:solidFill>
                <a:srgbClr val="000000"/>
              </a:solidFill>
              <a:prstDash val="solid"/>
              <a:miter lim="800000"/>
              <a:headEnd len="med" w="med" type="none"/>
              <a:tailEnd len="med" w="med" type="triangle"/>
            </a:ln>
          </p:spPr>
        </p:cxnSp>
      </p:grpSp>
      <p:sp>
        <p:nvSpPr>
          <p:cNvPr id="170" name="Google Shape;170;p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0" st="0"/>
                                            </p:txEl>
                                          </p:spTgt>
                                        </p:tgtEl>
                                        <p:attrNameLst>
                                          <p:attrName>style.visibility</p:attrName>
                                        </p:attrNameLst>
                                      </p:cBhvr>
                                      <p:to>
                                        <p:strVal val="visible"/>
                                      </p:to>
                                    </p:set>
                                    <p:animEffect filter="fade" transition="in">
                                      <p:cBhvr>
                                        <p:cTn dur="500"/>
                                        <p:tgtEl>
                                          <p:spTgt spid="1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1" st="1"/>
                                            </p:txEl>
                                          </p:spTgt>
                                        </p:tgtEl>
                                        <p:attrNameLst>
                                          <p:attrName>style.visibility</p:attrName>
                                        </p:attrNameLst>
                                      </p:cBhvr>
                                      <p:to>
                                        <p:strVal val="visible"/>
                                      </p:to>
                                    </p:set>
                                    <p:animEffect filter="fade" transition="in">
                                      <p:cBhvr>
                                        <p:cTn dur="500"/>
                                        <p:tgtEl>
                                          <p:spTgt spid="1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2" st="2"/>
                                            </p:txEl>
                                          </p:spTgt>
                                        </p:tgtEl>
                                        <p:attrNameLst>
                                          <p:attrName>style.visibility</p:attrName>
                                        </p:attrNameLst>
                                      </p:cBhvr>
                                      <p:to>
                                        <p:strVal val="visible"/>
                                      </p:to>
                                    </p:set>
                                    <p:animEffect filter="fade" transition="in">
                                      <p:cBhvr>
                                        <p:cTn dur="500"/>
                                        <p:tgtEl>
                                          <p:spTgt spid="13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3" st="3"/>
                                            </p:txEl>
                                          </p:spTgt>
                                        </p:tgtEl>
                                        <p:attrNameLst>
                                          <p:attrName>style.visibility</p:attrName>
                                        </p:attrNameLst>
                                      </p:cBhvr>
                                      <p:to>
                                        <p:strVal val="visible"/>
                                      </p:to>
                                    </p:set>
                                    <p:animEffect filter="fade" transition="in">
                                      <p:cBhvr>
                                        <p:cTn dur="500"/>
                                        <p:tgtEl>
                                          <p:spTgt spid="13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4" st="4"/>
                                            </p:txEl>
                                          </p:spTgt>
                                        </p:tgtEl>
                                        <p:attrNameLst>
                                          <p:attrName>style.visibility</p:attrName>
                                        </p:attrNameLst>
                                      </p:cBhvr>
                                      <p:to>
                                        <p:strVal val="visible"/>
                                      </p:to>
                                    </p:set>
                                    <p:animEffect filter="fade" transition="in">
                                      <p:cBhvr>
                                        <p:cTn dur="500"/>
                                        <p:tgtEl>
                                          <p:spTgt spid="13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5" st="5"/>
                                            </p:txEl>
                                          </p:spTgt>
                                        </p:tgtEl>
                                        <p:attrNameLst>
                                          <p:attrName>style.visibility</p:attrName>
                                        </p:attrNameLst>
                                      </p:cBhvr>
                                      <p:to>
                                        <p:strVal val="visible"/>
                                      </p:to>
                                    </p:set>
                                    <p:animEffect filter="fade" transition="in">
                                      <p:cBhvr>
                                        <p:cTn dur="500"/>
                                        <p:tgtEl>
                                          <p:spTgt spid="13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6" st="6"/>
                                            </p:txEl>
                                          </p:spTgt>
                                        </p:tgtEl>
                                        <p:attrNameLst>
                                          <p:attrName>style.visibility</p:attrName>
                                        </p:attrNameLst>
                                      </p:cBhvr>
                                      <p:to>
                                        <p:strVal val="visible"/>
                                      </p:to>
                                    </p:set>
                                    <p:animEffect filter="fade" transition="in">
                                      <p:cBhvr>
                                        <p:cTn dur="500"/>
                                        <p:tgtEl>
                                          <p:spTgt spid="13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7" st="7"/>
                                            </p:txEl>
                                          </p:spTgt>
                                        </p:tgtEl>
                                        <p:attrNameLst>
                                          <p:attrName>style.visibility</p:attrName>
                                        </p:attrNameLst>
                                      </p:cBhvr>
                                      <p:to>
                                        <p:strVal val="visible"/>
                                      </p:to>
                                    </p:set>
                                    <p:animEffect filter="fade" transition="in">
                                      <p:cBhvr>
                                        <p:cTn dur="500"/>
                                        <p:tgtEl>
                                          <p:spTgt spid="13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8" st="8"/>
                                            </p:txEl>
                                          </p:spTgt>
                                        </p:tgtEl>
                                        <p:attrNameLst>
                                          <p:attrName>style.visibility</p:attrName>
                                        </p:attrNameLst>
                                      </p:cBhvr>
                                      <p:to>
                                        <p:strVal val="visible"/>
                                      </p:to>
                                    </p:set>
                                    <p:animEffect filter="fade" transition="in">
                                      <p:cBhvr>
                                        <p:cTn dur="500"/>
                                        <p:tgtEl>
                                          <p:spTgt spid="13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9" st="9"/>
                                            </p:txEl>
                                          </p:spTgt>
                                        </p:tgtEl>
                                        <p:attrNameLst>
                                          <p:attrName>style.visibility</p:attrName>
                                        </p:attrNameLst>
                                      </p:cBhvr>
                                      <p:to>
                                        <p:strVal val="visible"/>
                                      </p:to>
                                    </p:set>
                                    <p:animEffect filter="fade" transition="in">
                                      <p:cBhvr>
                                        <p:cTn dur="500"/>
                                        <p:tgtEl>
                                          <p:spTgt spid="13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10" st="10"/>
                                            </p:txEl>
                                          </p:spTgt>
                                        </p:tgtEl>
                                        <p:attrNameLst>
                                          <p:attrName>style.visibility</p:attrName>
                                        </p:attrNameLst>
                                      </p:cBhvr>
                                      <p:to>
                                        <p:strVal val="visible"/>
                                      </p:to>
                                    </p:set>
                                    <p:animEffect filter="fade" transition="in">
                                      <p:cBhvr>
                                        <p:cTn dur="500"/>
                                        <p:tgtEl>
                                          <p:spTgt spid="13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xEl>
                                              <p:pRg end="11" st="11"/>
                                            </p:txEl>
                                          </p:spTgt>
                                        </p:tgtEl>
                                        <p:attrNameLst>
                                          <p:attrName>style.visibility</p:attrName>
                                        </p:attrNameLst>
                                      </p:cBhvr>
                                      <p:to>
                                        <p:strVal val="visible"/>
                                      </p:to>
                                    </p:set>
                                    <p:animEffect filter="fade" transition="in">
                                      <p:cBhvr>
                                        <p:cTn dur="500"/>
                                        <p:tgtEl>
                                          <p:spTgt spid="139">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7"/>
          <p:cNvSpPr txBox="1"/>
          <p:nvPr>
            <p:ph idx="1" type="body"/>
          </p:nvPr>
        </p:nvSpPr>
        <p:spPr>
          <a:xfrm>
            <a:off x="0" y="838200"/>
            <a:ext cx="8915400" cy="57912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Địa chỉ logic:</a:t>
            </a:r>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Phân biệt với địa chỉ vật lý, CTUD chỉ quan tâm tới địa chỉ logic còn địa chỉ vật lý là do HDH.</a:t>
            </a:r>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Gán cho các lệnh và dữ liệu không phụ thuộc vào vị trí cụ thể tiến trình trong bộ nhớ</a:t>
            </a:r>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Khi thực hiện chương trình, CPU “nhìn thấy” và sử dụng địa chỉ lôgic này để trỏ đến các phần khác nhau của lệnh, dữ liệu </a:t>
            </a:r>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Để truy cập bộ nhớ, địa chỉ lô gic cần được biến đổi thành địa chỉ vật lý. </a:t>
            </a:r>
            <a:r>
              <a:rPr b="0" i="0" lang="en-US" sz="2200" u="none" cap="none" strike="noStrike">
                <a:solidFill>
                  <a:schemeClr val="dk2"/>
                </a:solidFill>
                <a:latin typeface="Arial"/>
                <a:ea typeface="Arial"/>
                <a:cs typeface="Arial"/>
                <a:sym typeface="Arial"/>
              </a:rPr>
              <a:t> </a:t>
            </a:r>
            <a:br>
              <a:rPr b="0" i="0" lang="en-US" sz="2200" u="none" cap="none" strike="noStrike">
                <a:solidFill>
                  <a:schemeClr val="dk2"/>
                </a:solidFill>
                <a:latin typeface="Arial"/>
                <a:ea typeface="Arial"/>
                <a:cs typeface="Arial"/>
                <a:sym typeface="Arial"/>
              </a:rPr>
            </a:br>
            <a:endParaRPr b="0" i="0" sz="22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77" name="Google Shape;177;p7"/>
          <p:cNvSpPr txBox="1"/>
          <p:nvPr>
            <p:ph type="title"/>
          </p:nvPr>
        </p:nvSpPr>
        <p:spPr>
          <a:xfrm>
            <a:off x="457200" y="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ĐỊA CHỈ VÀ CÁC VẤN ĐỀ LIÊN QUAN</a:t>
            </a:r>
            <a:endParaRPr/>
          </a:p>
        </p:txBody>
      </p:sp>
      <p:sp>
        <p:nvSpPr>
          <p:cNvPr id="178" name="Google Shape;178;p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79" name="Google Shape;179;p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0" name="Google Shape;180;p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8"/>
          <p:cNvSpPr txBox="1"/>
          <p:nvPr>
            <p:ph idx="1" type="body"/>
          </p:nvPr>
        </p:nvSpPr>
        <p:spPr>
          <a:xfrm>
            <a:off x="0" y="1066800"/>
            <a:ext cx="8915400" cy="57912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Địa chỉ vật lý:</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Là địa chỉ chính xác trong bộ nhớ máy tính</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Các mạch nhớ sử dụng để truy nhập tới chương trình và dữ liệu</a:t>
            </a:r>
            <a:endParaRPr/>
          </a:p>
          <a:p>
            <a:pPr indent="-342900" lvl="0" marL="342900" marR="0" rtl="0" algn="l">
              <a:lnSpc>
                <a:spcPct val="100000"/>
              </a:lnSpc>
              <a:spcBef>
                <a:spcPts val="64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Địa chỉ logic được chuyển thành địa chỉ vật lý nhờ khối </a:t>
            </a:r>
            <a:r>
              <a:rPr lang="en-US" sz="3200">
                <a:latin typeface="Times New Roman"/>
                <a:ea typeface="Times New Roman"/>
                <a:cs typeface="Times New Roman"/>
                <a:sym typeface="Times New Roman"/>
              </a:rPr>
              <a:t>quản lý bộ nhớ</a:t>
            </a:r>
            <a:r>
              <a:rPr b="0" i="0" lang="en-US" sz="3200" u="none">
                <a:solidFill>
                  <a:schemeClr val="dk2"/>
                </a:solidFill>
                <a:latin typeface="Times New Roman"/>
                <a:ea typeface="Times New Roman"/>
                <a:cs typeface="Times New Roman"/>
                <a:sym typeface="Times New Roman"/>
              </a:rPr>
              <a:t>.</a:t>
            </a:r>
            <a:r>
              <a:rPr lang="en-US" sz="3200">
                <a:latin typeface="Times New Roman"/>
                <a:ea typeface="Times New Roman"/>
                <a:cs typeface="Times New Roman"/>
                <a:sym typeface="Times New Roman"/>
              </a:rPr>
              <a:t> </a:t>
            </a:r>
            <a:r>
              <a:rPr b="0" i="0" lang="en-US" sz="3200" u="none">
                <a:solidFill>
                  <a:schemeClr val="dk2"/>
                </a:solidFill>
                <a:latin typeface="Times New Roman"/>
                <a:ea typeface="Times New Roman"/>
                <a:cs typeface="Times New Roman"/>
                <a:sym typeface="Times New Roman"/>
              </a:rPr>
              <a:t>(MMU=Memory</a:t>
            </a:r>
            <a:r>
              <a:rPr lang="en-US" sz="3200">
                <a:latin typeface="Times New Roman"/>
                <a:ea typeface="Times New Roman"/>
                <a:cs typeface="Times New Roman"/>
                <a:sym typeface="Times New Roman"/>
              </a:rPr>
              <a:t> Management </a:t>
            </a:r>
            <a:r>
              <a:rPr b="0" i="0" lang="en-US" sz="3200" u="none">
                <a:solidFill>
                  <a:schemeClr val="dk2"/>
                </a:solidFill>
                <a:latin typeface="Times New Roman"/>
                <a:ea typeface="Times New Roman"/>
                <a:cs typeface="Times New Roman"/>
                <a:sym typeface="Times New Roman"/>
              </a:rPr>
              <a:t>Unit)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87" name="Google Shape;187;p8"/>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 ĐỊA CHỈ VÀ CÁC VẤN ĐỀ LIÊN QUAN</a:t>
            </a:r>
            <a:endParaRPr/>
          </a:p>
        </p:txBody>
      </p:sp>
      <p:sp>
        <p:nvSpPr>
          <p:cNvPr id="188" name="Google Shape;188;p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89" name="Google Shape;189;p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0" name="Google Shape;190;p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9"/>
          <p:cNvSpPr txBox="1"/>
          <p:nvPr>
            <p:ph idx="1" type="body"/>
          </p:nvPr>
        </p:nvSpPr>
        <p:spPr>
          <a:xfrm>
            <a:off x="0" y="1066800"/>
            <a:ext cx="8915400" cy="5791200"/>
          </a:xfrm>
          <a:prstGeom prst="rect">
            <a:avLst/>
          </a:prstGeom>
          <a:noFill/>
          <a:ln>
            <a:noFill/>
          </a:ln>
        </p:spPr>
        <p:txBody>
          <a:bodyPr anchorCtr="0" anchor="t" bIns="45700" lIns="91425" spcFirstLastPara="1" rIns="91425" wrap="square" tIns="45700">
            <a:noAutofit/>
          </a:bodyPr>
          <a:lstStyle/>
          <a:p>
            <a:pPr indent="-285750" lvl="1" marL="742950" marR="0" rtl="0" algn="just">
              <a:lnSpc>
                <a:spcPct val="100000"/>
              </a:lnSpc>
              <a:spcBef>
                <a:spcPts val="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Vấn đề quan trọng trong tổ chức chương trình và quản lý bộ nhớ =&gt; giảm không gian chương trình chiếm trên đĩa, trên bộ nhớ =&gt; sử dụng hiệu quả</a:t>
            </a:r>
            <a:endParaRPr b="0" i="0" sz="20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97" name="Google Shape;197;p9"/>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MỘT SỐ CÁCH TỔ CHỨC CHƯƠNG TRÌNH</a:t>
            </a:r>
            <a:br>
              <a:rPr b="1" i="0" lang="en-US" sz="2800" u="none">
                <a:solidFill>
                  <a:srgbClr val="000066"/>
                </a:solidFill>
                <a:latin typeface="Times New Roman"/>
                <a:ea typeface="Times New Roman"/>
                <a:cs typeface="Times New Roman"/>
                <a:sym typeface="Times New Roman"/>
              </a:rPr>
            </a:br>
            <a:endParaRPr/>
          </a:p>
        </p:txBody>
      </p:sp>
      <p:sp>
        <p:nvSpPr>
          <p:cNvPr id="198" name="Google Shape;198;p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99" name="Google Shape;199;p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0" name="Google Shape;200;p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xEl>
                                              <p:pRg end="0" st="0"/>
                                            </p:txEl>
                                          </p:spTgt>
                                        </p:tgtEl>
                                        <p:attrNameLst>
                                          <p:attrName>style.visibility</p:attrName>
                                        </p:attrNameLst>
                                      </p:cBhvr>
                                      <p:to>
                                        <p:strVal val="visible"/>
                                      </p:to>
                                    </p:set>
                                    <p:animEffect filter="fade" transition="in">
                                      <p:cBhvr>
                                        <p:cTn dur="500"/>
                                        <p:tgtEl>
                                          <p:spTgt spid="19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xEl>
                                              <p:pRg end="1" st="1"/>
                                            </p:txEl>
                                          </p:spTgt>
                                        </p:tgtEl>
                                        <p:attrNameLst>
                                          <p:attrName>style.visibility</p:attrName>
                                        </p:attrNameLst>
                                      </p:cBhvr>
                                      <p:to>
                                        <p:strVal val="visible"/>
                                      </p:to>
                                    </p:set>
                                    <p:animEffect filter="fade" transition="in">
                                      <p:cBhvr>
                                        <p:cTn dur="500"/>
                                        <p:tgtEl>
                                          <p:spTgt spid="19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xEl>
                                              <p:pRg end="2" st="2"/>
                                            </p:txEl>
                                          </p:spTgt>
                                        </p:tgtEl>
                                        <p:attrNameLst>
                                          <p:attrName>style.visibility</p:attrName>
                                        </p:attrNameLst>
                                      </p:cBhvr>
                                      <p:to>
                                        <p:strVal val="visible"/>
                                      </p:to>
                                    </p:set>
                                    <p:animEffect filter="fade" transition="in">
                                      <p:cBhvr>
                                        <p:cTn dur="500"/>
                                        <p:tgtEl>
                                          <p:spTgt spid="19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xEl>
                                              <p:pRg end="3" st="3"/>
                                            </p:txEl>
                                          </p:spTgt>
                                        </p:tgtEl>
                                        <p:attrNameLst>
                                          <p:attrName>style.visibility</p:attrName>
                                        </p:attrNameLst>
                                      </p:cBhvr>
                                      <p:to>
                                        <p:strVal val="visible"/>
                                      </p:to>
                                    </p:set>
                                    <p:animEffect filter="fade" transition="in">
                                      <p:cBhvr>
                                        <p:cTn dur="500"/>
                                        <p:tgtEl>
                                          <p:spTgt spid="19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xEl>
                                              <p:pRg end="4" st="4"/>
                                            </p:txEl>
                                          </p:spTgt>
                                        </p:tgtEl>
                                        <p:attrNameLst>
                                          <p:attrName>style.visibility</p:attrName>
                                        </p:attrNameLst>
                                      </p:cBhvr>
                                      <p:to>
                                        <p:strVal val="visible"/>
                                      </p:to>
                                    </p:set>
                                    <p:animEffect filter="fade" transition="in">
                                      <p:cBhvr>
                                        <p:cTn dur="500"/>
                                        <p:tgtEl>
                                          <p:spTgt spid="19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xEl>
                                              <p:pRg end="5" st="5"/>
                                            </p:txEl>
                                          </p:spTgt>
                                        </p:tgtEl>
                                        <p:attrNameLst>
                                          <p:attrName>style.visibility</p:attrName>
                                        </p:attrNameLst>
                                      </p:cBhvr>
                                      <p:to>
                                        <p:strVal val="visible"/>
                                      </p:to>
                                    </p:set>
                                    <p:animEffect filter="fade" transition="in">
                                      <p:cBhvr>
                                        <p:cTn dur="500"/>
                                        <p:tgtEl>
                                          <p:spTgt spid="196">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0"/>
          <p:cNvSpPr txBox="1"/>
          <p:nvPr>
            <p:ph idx="1" type="body"/>
          </p:nvPr>
        </p:nvSpPr>
        <p:spPr>
          <a:xfrm>
            <a:off x="0" y="838200"/>
            <a:ext cx="8915400" cy="5791200"/>
          </a:xfrm>
          <a:prstGeom prst="rect">
            <a:avLst/>
          </a:prstGeom>
          <a:noFill/>
          <a:ln>
            <a:noFill/>
          </a:ln>
        </p:spPr>
        <p:txBody>
          <a:bodyPr anchorCtr="0" anchor="t" bIns="45700" lIns="91425" spcFirstLastPara="1" rIns="91425" wrap="square" tIns="45700">
            <a:noAutofit/>
          </a:bodyPr>
          <a:lstStyle/>
          <a:p>
            <a:pPr indent="-285750" lvl="1" marL="742950" marR="0" rtl="0" algn="just">
              <a:lnSpc>
                <a:spcPct val="100000"/>
              </a:lnSpc>
              <a:spcBef>
                <a:spcPts val="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Bình thường, toàn bộ chương trình sẽ được tải vào bộ nhớ để thực hiện. Đối với chtr lớn, trong một phiên làm việc, một số phần của chương trình có thể không dùng tới. (VD hàm sửa lỗi). Các hàm nãy sẽ chiếm vô ích trong bộ nhớ, đồng thời tăng thời gian tải chtr lúc đầu. Giải pháp?</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Hàm chưa bị gọi thì chưa tải vào bộ nhớ</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Chương trình chính được load vào bộ nhớ và chạy</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Khi có lời gọi hàm</a:t>
            </a:r>
            <a:r>
              <a:rPr b="0" i="0" lang="en-US" sz="2000" u="none" cap="none" strike="noStrike">
                <a:solidFill>
                  <a:schemeClr val="dk2"/>
                </a:solidFill>
                <a:latin typeface="Times New Roman"/>
                <a:ea typeface="Times New Roman"/>
                <a:cs typeface="Times New Roman"/>
                <a:sym typeface="Times New Roman"/>
              </a:rPr>
              <a:t>:</a:t>
            </a:r>
            <a:endParaRPr/>
          </a:p>
          <a:p>
            <a:pPr indent="-228600" lvl="2" marL="1143000" marR="0" rtl="0" algn="just">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Chương trình sẽ kiểm tra hàm đó được tải vào chưa. </a:t>
            </a:r>
            <a:endParaRPr/>
          </a:p>
          <a:p>
            <a:pPr indent="-228600" lvl="2" marL="1143000" marR="0" rtl="0" algn="just">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Nếu chưa, chương trình sẽ tiến hành tải sau đó ánh xạ địa chỉ hàm vào không gian chung của chương trình và thay đổi bảng địa chỉ để ghi lại các ánh xạ đó</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Lập trình viên đảm nhiệm,  HDH cung cấp các hàm thư viện cho môđun.</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215900" lvl="0" marL="342900" marR="0" rtl="0" algn="l">
              <a:lnSpc>
                <a:spcPct val="100000"/>
              </a:lnSpc>
              <a:spcBef>
                <a:spcPts val="400"/>
              </a:spcBef>
              <a:spcAft>
                <a:spcPts val="0"/>
              </a:spcAft>
              <a:buClr>
                <a:schemeClr val="dk2"/>
              </a:buClr>
              <a:buSzPts val="2000"/>
              <a:buFont typeface="Noto Sans Symbols"/>
              <a:buNone/>
            </a:pPr>
            <a:r>
              <a:t/>
            </a:r>
            <a:endParaRPr b="0" i="0" sz="20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07" name="Google Shape;207;p10"/>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MỘT SỐ CÁCH TỔ CHỨC CHƯƠNG TRÌNH</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Tải trong quá trình thực hiện</a:t>
            </a:r>
            <a:endParaRPr/>
          </a:p>
        </p:txBody>
      </p:sp>
      <p:sp>
        <p:nvSpPr>
          <p:cNvPr id="208" name="Google Shape;208;p1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09" name="Google Shape;209;p1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0" name="Google Shape;210;p1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animEffect filter="fade" transition="in">
                                      <p:cBhvr>
                                        <p:cTn dur="500"/>
                                        <p:tgtEl>
                                          <p:spTgt spid="2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1" st="1"/>
                                            </p:txEl>
                                          </p:spTgt>
                                        </p:tgtEl>
                                        <p:attrNameLst>
                                          <p:attrName>style.visibility</p:attrName>
                                        </p:attrNameLst>
                                      </p:cBhvr>
                                      <p:to>
                                        <p:strVal val="visible"/>
                                      </p:to>
                                    </p:set>
                                    <p:animEffect filter="fade" transition="in">
                                      <p:cBhvr>
                                        <p:cTn dur="500"/>
                                        <p:tgtEl>
                                          <p:spTgt spid="2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2" st="2"/>
                                            </p:txEl>
                                          </p:spTgt>
                                        </p:tgtEl>
                                        <p:attrNameLst>
                                          <p:attrName>style.visibility</p:attrName>
                                        </p:attrNameLst>
                                      </p:cBhvr>
                                      <p:to>
                                        <p:strVal val="visible"/>
                                      </p:to>
                                    </p:set>
                                    <p:animEffect filter="fade" transition="in">
                                      <p:cBhvr>
                                        <p:cTn dur="500"/>
                                        <p:tgtEl>
                                          <p:spTgt spid="2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3" st="3"/>
                                            </p:txEl>
                                          </p:spTgt>
                                        </p:tgtEl>
                                        <p:attrNameLst>
                                          <p:attrName>style.visibility</p:attrName>
                                        </p:attrNameLst>
                                      </p:cBhvr>
                                      <p:to>
                                        <p:strVal val="visible"/>
                                      </p:to>
                                    </p:set>
                                    <p:animEffect filter="fade" transition="in">
                                      <p:cBhvr>
                                        <p:cTn dur="500"/>
                                        <p:tgtEl>
                                          <p:spTgt spid="2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4" st="4"/>
                                            </p:txEl>
                                          </p:spTgt>
                                        </p:tgtEl>
                                        <p:attrNameLst>
                                          <p:attrName>style.visibility</p:attrName>
                                        </p:attrNameLst>
                                      </p:cBhvr>
                                      <p:to>
                                        <p:strVal val="visible"/>
                                      </p:to>
                                    </p:set>
                                    <p:animEffect filter="fade" transition="in">
                                      <p:cBhvr>
                                        <p:cTn dur="500"/>
                                        <p:tgtEl>
                                          <p:spTgt spid="2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5" st="5"/>
                                            </p:txEl>
                                          </p:spTgt>
                                        </p:tgtEl>
                                        <p:attrNameLst>
                                          <p:attrName>style.visibility</p:attrName>
                                        </p:attrNameLst>
                                      </p:cBhvr>
                                      <p:to>
                                        <p:strVal val="visible"/>
                                      </p:to>
                                    </p:set>
                                    <p:animEffect filter="fade" transition="in">
                                      <p:cBhvr>
                                        <p:cTn dur="500"/>
                                        <p:tgtEl>
                                          <p:spTgt spid="20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6" st="6"/>
                                            </p:txEl>
                                          </p:spTgt>
                                        </p:tgtEl>
                                        <p:attrNameLst>
                                          <p:attrName>style.visibility</p:attrName>
                                        </p:attrNameLst>
                                      </p:cBhvr>
                                      <p:to>
                                        <p:strVal val="visible"/>
                                      </p:to>
                                    </p:set>
                                    <p:animEffect filter="fade" transition="in">
                                      <p:cBhvr>
                                        <p:cTn dur="500"/>
                                        <p:tgtEl>
                                          <p:spTgt spid="20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7" st="7"/>
                                            </p:txEl>
                                          </p:spTgt>
                                        </p:tgtEl>
                                        <p:attrNameLst>
                                          <p:attrName>style.visibility</p:attrName>
                                        </p:attrNameLst>
                                      </p:cBhvr>
                                      <p:to>
                                        <p:strVal val="visible"/>
                                      </p:to>
                                    </p:set>
                                    <p:animEffect filter="fade" transition="in">
                                      <p:cBhvr>
                                        <p:cTn dur="500"/>
                                        <p:tgtEl>
                                          <p:spTgt spid="20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8" st="8"/>
                                            </p:txEl>
                                          </p:spTgt>
                                        </p:tgtEl>
                                        <p:attrNameLst>
                                          <p:attrName>style.visibility</p:attrName>
                                        </p:attrNameLst>
                                      </p:cBhvr>
                                      <p:to>
                                        <p:strVal val="visible"/>
                                      </p:to>
                                    </p:set>
                                    <p:animEffect filter="fade" transition="in">
                                      <p:cBhvr>
                                        <p:cTn dur="500"/>
                                        <p:tgtEl>
                                          <p:spTgt spid="20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9" st="9"/>
                                            </p:txEl>
                                          </p:spTgt>
                                        </p:tgtEl>
                                        <p:attrNameLst>
                                          <p:attrName>style.visibility</p:attrName>
                                        </p:attrNameLst>
                                      </p:cBhvr>
                                      <p:to>
                                        <p:strVal val="visible"/>
                                      </p:to>
                                    </p:set>
                                    <p:animEffect filter="fade" transition="in">
                                      <p:cBhvr>
                                        <p:cTn dur="500"/>
                                        <p:tgtEl>
                                          <p:spTgt spid="20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10" st="10"/>
                                            </p:txEl>
                                          </p:spTgt>
                                        </p:tgtEl>
                                        <p:attrNameLst>
                                          <p:attrName>style.visibility</p:attrName>
                                        </p:attrNameLst>
                                      </p:cBhvr>
                                      <p:to>
                                        <p:strVal val="visible"/>
                                      </p:to>
                                    </p:set>
                                    <p:animEffect filter="fade" transition="in">
                                      <p:cBhvr>
                                        <p:cTn dur="500"/>
                                        <p:tgtEl>
                                          <p:spTgt spid="20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11" st="11"/>
                                            </p:txEl>
                                          </p:spTgt>
                                        </p:tgtEl>
                                        <p:attrNameLst>
                                          <p:attrName>style.visibility</p:attrName>
                                        </p:attrNameLst>
                                      </p:cBhvr>
                                      <p:to>
                                        <p:strVal val="visible"/>
                                      </p:to>
                                    </p:set>
                                    <p:animEffect filter="fade" transition="in">
                                      <p:cBhvr>
                                        <p:cTn dur="500"/>
                                        <p:tgtEl>
                                          <p:spTgt spid="20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12" st="12"/>
                                            </p:txEl>
                                          </p:spTgt>
                                        </p:tgtEl>
                                        <p:attrNameLst>
                                          <p:attrName>style.visibility</p:attrName>
                                        </p:attrNameLst>
                                      </p:cBhvr>
                                      <p:to>
                                        <p:strVal val="visible"/>
                                      </p:to>
                                    </p:set>
                                    <p:animEffect filter="fade" transition="in">
                                      <p:cBhvr>
                                        <p:cTn dur="500"/>
                                        <p:tgtEl>
                                          <p:spTgt spid="20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13" st="13"/>
                                            </p:txEl>
                                          </p:spTgt>
                                        </p:tgtEl>
                                        <p:attrNameLst>
                                          <p:attrName>style.visibility</p:attrName>
                                        </p:attrNameLst>
                                      </p:cBhvr>
                                      <p:to>
                                        <p:strVal val="visible"/>
                                      </p:to>
                                    </p:set>
                                    <p:animEffect filter="fade" transition="in">
                                      <p:cBhvr>
                                        <p:cTn dur="500"/>
                                        <p:tgtEl>
                                          <p:spTgt spid="206">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1"/>
          <p:cNvSpPr txBox="1"/>
          <p:nvPr>
            <p:ph idx="1" type="body"/>
          </p:nvPr>
        </p:nvSpPr>
        <p:spPr>
          <a:xfrm>
            <a:off x="0" y="762000"/>
            <a:ext cx="8915400" cy="5791200"/>
          </a:xfrm>
          <a:prstGeom prst="rect">
            <a:avLst/>
          </a:prstGeom>
          <a:noFill/>
          <a:ln>
            <a:noFill/>
          </a:ln>
        </p:spPr>
        <p:txBody>
          <a:bodyPr anchorCtr="0" anchor="t" bIns="45700" lIns="91425" spcFirstLastPara="1" rIns="91425" wrap="square" tIns="45700">
            <a:noAutofit/>
          </a:bodyPr>
          <a:lstStyle/>
          <a:p>
            <a:pPr indent="-285750" lvl="1" marL="742950" marR="0" rtl="0" algn="just">
              <a:lnSpc>
                <a:spcPct val="150000"/>
              </a:lnSpc>
              <a:spcBef>
                <a:spcPts val="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Trong quá trình liên kết truyền thống: (Liên kết tĩnh) các hàm và thư viện được liên kết luôn vào mã chương trình </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Kích thước chương trình khi đó sẽ bằng kích thước chương trình vừa được dịch + kích thước các hàm thư viện</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=&gt; các hàm sẽ có mặt lặp đi lặp lại trong các chương trình =&gt; lãng phí không gian cả trên đĩa và bộ nhớ trong</a:t>
            </a:r>
            <a:endParaRPr/>
          </a:p>
          <a:p>
            <a:pPr indent="-285750" lvl="1" marL="742950" marR="0" rtl="0" algn="just">
              <a:lnSpc>
                <a:spcPct val="15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Giải quyết: sử dụng kỹ thuật liên kết động. Trong giai đoạn liên kết, không kết nối các hàm thư viện vào chương trình mà chỉ chèn các thông tin về hàm thư viện đó (stub).</a:t>
            </a:r>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101600" lvl="2" marL="1143000" marR="0" rtl="0" algn="l">
              <a:lnSpc>
                <a:spcPct val="100000"/>
              </a:lnSpc>
              <a:spcBef>
                <a:spcPts val="400"/>
              </a:spcBef>
              <a:spcAft>
                <a:spcPts val="0"/>
              </a:spcAft>
              <a:buClr>
                <a:schemeClr val="accent2"/>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17" name="Google Shape;217;p11"/>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MỘT SỐ CÁCH TỔ CHỨC CHƯƠNG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Liên kết động và thư viện dùng chung</a:t>
            </a:r>
            <a:endParaRPr/>
          </a:p>
        </p:txBody>
      </p:sp>
      <p:sp>
        <p:nvSpPr>
          <p:cNvPr id="218" name="Google Shape;218;p1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19" name="Google Shape;219;p1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0" name="Google Shape;220;p1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1" name="Google Shape;221;p1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22" name="Google Shape;222;p1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0" st="0"/>
                                            </p:txEl>
                                          </p:spTgt>
                                        </p:tgtEl>
                                        <p:attrNameLst>
                                          <p:attrName>style.visibility</p:attrName>
                                        </p:attrNameLst>
                                      </p:cBhvr>
                                      <p:to>
                                        <p:strVal val="visible"/>
                                      </p:to>
                                    </p:set>
                                    <p:animEffect filter="fade" transition="in">
                                      <p:cBhvr>
                                        <p:cTn dur="500"/>
                                        <p:tgtEl>
                                          <p:spTgt spid="21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1" st="1"/>
                                            </p:txEl>
                                          </p:spTgt>
                                        </p:tgtEl>
                                        <p:attrNameLst>
                                          <p:attrName>style.visibility</p:attrName>
                                        </p:attrNameLst>
                                      </p:cBhvr>
                                      <p:to>
                                        <p:strVal val="visible"/>
                                      </p:to>
                                    </p:set>
                                    <p:animEffect filter="fade" transition="in">
                                      <p:cBhvr>
                                        <p:cTn dur="500"/>
                                        <p:tgtEl>
                                          <p:spTgt spid="21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2" st="2"/>
                                            </p:txEl>
                                          </p:spTgt>
                                        </p:tgtEl>
                                        <p:attrNameLst>
                                          <p:attrName>style.visibility</p:attrName>
                                        </p:attrNameLst>
                                      </p:cBhvr>
                                      <p:to>
                                        <p:strVal val="visible"/>
                                      </p:to>
                                    </p:set>
                                    <p:animEffect filter="fade" transition="in">
                                      <p:cBhvr>
                                        <p:cTn dur="500"/>
                                        <p:tgtEl>
                                          <p:spTgt spid="21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3" st="3"/>
                                            </p:txEl>
                                          </p:spTgt>
                                        </p:tgtEl>
                                        <p:attrNameLst>
                                          <p:attrName>style.visibility</p:attrName>
                                        </p:attrNameLst>
                                      </p:cBhvr>
                                      <p:to>
                                        <p:strVal val="visible"/>
                                      </p:to>
                                    </p:set>
                                    <p:animEffect filter="fade" transition="in">
                                      <p:cBhvr>
                                        <p:cTn dur="500"/>
                                        <p:tgtEl>
                                          <p:spTgt spid="21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4" st="4"/>
                                            </p:txEl>
                                          </p:spTgt>
                                        </p:tgtEl>
                                        <p:attrNameLst>
                                          <p:attrName>style.visibility</p:attrName>
                                        </p:attrNameLst>
                                      </p:cBhvr>
                                      <p:to>
                                        <p:strVal val="visible"/>
                                      </p:to>
                                    </p:set>
                                    <p:animEffect filter="fade" transition="in">
                                      <p:cBhvr>
                                        <p:cTn dur="500"/>
                                        <p:tgtEl>
                                          <p:spTgt spid="21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5" st="5"/>
                                            </p:txEl>
                                          </p:spTgt>
                                        </p:tgtEl>
                                        <p:attrNameLst>
                                          <p:attrName>style.visibility</p:attrName>
                                        </p:attrNameLst>
                                      </p:cBhvr>
                                      <p:to>
                                        <p:strVal val="visible"/>
                                      </p:to>
                                    </p:set>
                                    <p:animEffect filter="fade" transition="in">
                                      <p:cBhvr>
                                        <p:cTn dur="500"/>
                                        <p:tgtEl>
                                          <p:spTgt spid="21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6" st="6"/>
                                            </p:txEl>
                                          </p:spTgt>
                                        </p:tgtEl>
                                        <p:attrNameLst>
                                          <p:attrName>style.visibility</p:attrName>
                                        </p:attrNameLst>
                                      </p:cBhvr>
                                      <p:to>
                                        <p:strVal val="visible"/>
                                      </p:to>
                                    </p:set>
                                    <p:animEffect filter="fade" transition="in">
                                      <p:cBhvr>
                                        <p:cTn dur="500"/>
                                        <p:tgtEl>
                                          <p:spTgt spid="21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7" st="7"/>
                                            </p:txEl>
                                          </p:spTgt>
                                        </p:tgtEl>
                                        <p:attrNameLst>
                                          <p:attrName>style.visibility</p:attrName>
                                        </p:attrNameLst>
                                      </p:cBhvr>
                                      <p:to>
                                        <p:strVal val="visible"/>
                                      </p:to>
                                    </p:set>
                                    <p:animEffect filter="fade" transition="in">
                                      <p:cBhvr>
                                        <p:cTn dur="500"/>
                                        <p:tgtEl>
                                          <p:spTgt spid="21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8" st="8"/>
                                            </p:txEl>
                                          </p:spTgt>
                                        </p:tgtEl>
                                        <p:attrNameLst>
                                          <p:attrName>style.visibility</p:attrName>
                                        </p:attrNameLst>
                                      </p:cBhvr>
                                      <p:to>
                                        <p:strVal val="visible"/>
                                      </p:to>
                                    </p:set>
                                    <p:animEffect filter="fade" transition="in">
                                      <p:cBhvr>
                                        <p:cTn dur="500"/>
                                        <p:tgtEl>
                                          <p:spTgt spid="21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9" st="9"/>
                                            </p:txEl>
                                          </p:spTgt>
                                        </p:tgtEl>
                                        <p:attrNameLst>
                                          <p:attrName>style.visibility</p:attrName>
                                        </p:attrNameLst>
                                      </p:cBhvr>
                                      <p:to>
                                        <p:strVal val="visible"/>
                                      </p:to>
                                    </p:set>
                                    <p:animEffect filter="fade" transition="in">
                                      <p:cBhvr>
                                        <p:cTn dur="500"/>
                                        <p:tgtEl>
                                          <p:spTgt spid="21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10" st="10"/>
                                            </p:txEl>
                                          </p:spTgt>
                                        </p:tgtEl>
                                        <p:attrNameLst>
                                          <p:attrName>style.visibility</p:attrName>
                                        </p:attrNameLst>
                                      </p:cBhvr>
                                      <p:to>
                                        <p:strVal val="visible"/>
                                      </p:to>
                                    </p:set>
                                    <p:animEffect filter="fade" transition="in">
                                      <p:cBhvr>
                                        <p:cTn dur="500"/>
                                        <p:tgtEl>
                                          <p:spTgt spid="21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xEl>
                                              <p:pRg end="11" st="11"/>
                                            </p:txEl>
                                          </p:spTgt>
                                        </p:tgtEl>
                                        <p:attrNameLst>
                                          <p:attrName>style.visibility</p:attrName>
                                        </p:attrNameLst>
                                      </p:cBhvr>
                                      <p:to>
                                        <p:strVal val="visible"/>
                                      </p:to>
                                    </p:set>
                                    <p:animEffect filter="fade" transition="in">
                                      <p:cBhvr>
                                        <p:cTn dur="500"/>
                                        <p:tgtEl>
                                          <p:spTgt spid="216">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2"/>
          <p:cNvSpPr txBox="1"/>
          <p:nvPr>
            <p:ph idx="1" type="body"/>
          </p:nvPr>
        </p:nvSpPr>
        <p:spPr>
          <a:xfrm>
            <a:off x="38100" y="762000"/>
            <a:ext cx="5845175" cy="5791200"/>
          </a:xfrm>
          <a:prstGeom prst="rect">
            <a:avLst/>
          </a:prstGeom>
          <a:noFill/>
          <a:ln>
            <a:noFill/>
          </a:ln>
        </p:spPr>
        <p:txBody>
          <a:bodyPr anchorCtr="0" anchor="t" bIns="45700" lIns="91425" spcFirstLastPara="1" rIns="91425" wrap="square" tIns="45700">
            <a:noAutofit/>
          </a:bodyPr>
          <a:lstStyle/>
          <a:p>
            <a:pPr indent="-152400" lvl="1" marL="53975" marR="0" rtl="0" algn="just">
              <a:lnSpc>
                <a:spcPct val="100000"/>
              </a:lnSpc>
              <a:spcBef>
                <a:spcPts val="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 Các modul thư viện được liên kết trong quá trình thực hiện:</a:t>
            </a:r>
            <a:endParaRPr/>
          </a:p>
          <a:p>
            <a:pPr indent="-163511" lvl="2" marL="395287" marR="0" rtl="0" algn="just">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Không giữ bản sao các modul thư viện mà tiến trình giữ đoạn mã nhỏ chứa thông tin về modul thư viện</a:t>
            </a:r>
            <a:endParaRPr/>
          </a:p>
          <a:p>
            <a:pPr indent="-163511" lvl="2" marL="395287" marR="0" rtl="0" algn="just">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Khi đoạn mã nhỏ được gọi, nó kiểm tra modul tương ứng đã có trong bộ nhớ chưa. Nếu chưa, thì tải phần còn lại và dùng.</a:t>
            </a:r>
            <a:endParaRPr/>
          </a:p>
          <a:p>
            <a:pPr indent="-163511" lvl="2" marL="395287" marR="0" rtl="0" algn="just">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Lần tiếp theo cần sử dụng, modul thư viện sẽ được chạy trực tiếp</a:t>
            </a:r>
            <a:endParaRPr/>
          </a:p>
          <a:p>
            <a:pPr indent="-163511" lvl="2" marL="395287" marR="0" rtl="0" algn="just">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Mỗi module thư viện chỉ có 1 bản sao duy nhất chứa trong MEM</a:t>
            </a:r>
            <a:endParaRPr/>
          </a:p>
          <a:p>
            <a:pPr indent="-152400" lvl="1" marL="53975"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Cần hỗ trợ từ HĐH</a:t>
            </a:r>
            <a:endParaRPr/>
          </a:p>
          <a:p>
            <a:pPr indent="-49211" lvl="2" marL="395287"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49211" lvl="2" marL="395287"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0" lvl="1" marL="53975"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0" lvl="1" marL="53975"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36511" lvl="2" marL="395287" marR="0" rtl="0" algn="l">
              <a:lnSpc>
                <a:spcPct val="100000"/>
              </a:lnSpc>
              <a:spcBef>
                <a:spcPts val="400"/>
              </a:spcBef>
              <a:spcAft>
                <a:spcPts val="0"/>
              </a:spcAft>
              <a:buClr>
                <a:schemeClr val="accent2"/>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0" lvl="1" marL="53975"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0" lvl="1" marL="53975"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1" marL="53975"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0" lvl="1" marL="53975"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29" name="Google Shape;229;p12"/>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II. MỘT SỐ CÁCH TỔ CHỨC CHƯƠNG TRÌNH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Liên kết động và thư viện dùng chung</a:t>
            </a:r>
            <a:endParaRPr/>
          </a:p>
        </p:txBody>
      </p:sp>
      <p:sp>
        <p:nvSpPr>
          <p:cNvPr id="230" name="Google Shape;230;p1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1" name="Google Shape;231;p1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2" name="Google Shape;232;p1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3" name="Google Shape;233;p1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234" name="Google Shape;234;p12"/>
          <p:cNvGrpSpPr/>
          <p:nvPr/>
        </p:nvGrpSpPr>
        <p:grpSpPr>
          <a:xfrm>
            <a:off x="5257800" y="1143000"/>
            <a:ext cx="4457700" cy="5143500"/>
            <a:chOff x="1985" y="9163"/>
            <a:chExt cx="7020" cy="8100"/>
          </a:xfrm>
        </p:grpSpPr>
        <p:sp>
          <p:nvSpPr>
            <p:cNvPr id="235" name="Google Shape;235;p12"/>
            <p:cNvSpPr/>
            <p:nvPr/>
          </p:nvSpPr>
          <p:spPr>
            <a:xfrm>
              <a:off x="1985" y="9163"/>
              <a:ext cx="7020" cy="8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36" name="Google Shape;236;p12"/>
            <p:cNvSpPr/>
            <p:nvPr/>
          </p:nvSpPr>
          <p:spPr>
            <a:xfrm>
              <a:off x="6149" y="9343"/>
              <a:ext cx="1800" cy="720"/>
            </a:xfrm>
            <a:prstGeom prst="roundRect">
              <a:avLst>
                <a:gd fmla="val 10800" name="adj"/>
              </a:avLst>
            </a:prstGeom>
            <a:solidFill>
              <a:srgbClr val="FFFFFF"/>
            </a:solidFill>
            <a:ln cap="flat" cmpd="sng" w="9525">
              <a:solidFill>
                <a:srgbClr val="000000"/>
              </a:solidFill>
              <a:prstDash val="solid"/>
              <a:miter lim="800000"/>
              <a:headEnd len="sm" w="sm" type="none"/>
              <a:tailEnd len="sm" w="sm" type="none"/>
            </a:ln>
          </p:spPr>
          <p:txBody>
            <a:bodyPr anchorCtr="0" anchor="t" bIns="0" lIns="54000" spcFirstLastPara="1" rIns="5400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Mã nguồn</a:t>
              </a:r>
              <a:endParaRPr b="0" i="0" sz="11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(prog.c)</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a:solidFill>
                  <a:schemeClr val="dk1"/>
                </a:solidFill>
                <a:latin typeface="Arial"/>
                <a:ea typeface="Arial"/>
                <a:cs typeface="Arial"/>
                <a:sym typeface="Arial"/>
              </a:endParaRPr>
            </a:p>
          </p:txBody>
        </p:sp>
        <p:sp>
          <p:nvSpPr>
            <p:cNvPr id="237" name="Google Shape;237;p12"/>
            <p:cNvSpPr txBox="1"/>
            <p:nvPr/>
          </p:nvSpPr>
          <p:spPr>
            <a:xfrm>
              <a:off x="6149" y="10423"/>
              <a:ext cx="1800" cy="54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10800" lIns="91425" spcFirstLastPara="1" rIns="91425" wrap="square" tIns="108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Chương trình dịch</a:t>
              </a:r>
              <a:endParaRPr/>
            </a:p>
          </p:txBody>
        </p:sp>
        <p:sp>
          <p:nvSpPr>
            <p:cNvPr id="238" name="Google Shape;238;p12"/>
            <p:cNvSpPr/>
            <p:nvPr/>
          </p:nvSpPr>
          <p:spPr>
            <a:xfrm>
              <a:off x="6161" y="11323"/>
              <a:ext cx="1800" cy="720"/>
            </a:xfrm>
            <a:prstGeom prst="roundRect">
              <a:avLst>
                <a:gd fmla="val 10800" name="adj"/>
              </a:avLst>
            </a:prstGeom>
            <a:solidFill>
              <a:srgbClr val="FFFFFF"/>
            </a:solidFill>
            <a:ln cap="flat" cmpd="sng" w="9525">
              <a:solidFill>
                <a:srgbClr val="000000"/>
              </a:solidFill>
              <a:prstDash val="solid"/>
              <a:miter lim="800000"/>
              <a:headEnd len="sm" w="sm" type="none"/>
              <a:tailEnd len="sm" w="sm" type="none"/>
            </a:ln>
          </p:spPr>
          <p:txBody>
            <a:bodyPr anchorCtr="0" anchor="t" bIns="0" lIns="54000" spcFirstLastPara="1" rIns="5400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Mô đun object</a:t>
              </a:r>
              <a:endParaRPr b="0" i="0" sz="11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(prog.o)</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a:solidFill>
                  <a:schemeClr val="dk1"/>
                </a:solidFill>
                <a:latin typeface="Arial"/>
                <a:ea typeface="Arial"/>
                <a:cs typeface="Arial"/>
                <a:sym typeface="Arial"/>
              </a:endParaRPr>
            </a:p>
          </p:txBody>
        </p:sp>
        <p:sp>
          <p:nvSpPr>
            <p:cNvPr id="239" name="Google Shape;239;p12"/>
            <p:cNvSpPr txBox="1"/>
            <p:nvPr/>
          </p:nvSpPr>
          <p:spPr>
            <a:xfrm>
              <a:off x="6173" y="12403"/>
              <a:ext cx="1800" cy="72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Chương trình liên kết</a:t>
              </a:r>
              <a:endParaRPr/>
            </a:p>
          </p:txBody>
        </p:sp>
        <p:sp>
          <p:nvSpPr>
            <p:cNvPr id="240" name="Google Shape;240;p12"/>
            <p:cNvSpPr/>
            <p:nvPr/>
          </p:nvSpPr>
          <p:spPr>
            <a:xfrm>
              <a:off x="3089" y="9343"/>
              <a:ext cx="1800" cy="720"/>
            </a:xfrm>
            <a:prstGeom prst="roundRect">
              <a:avLst>
                <a:gd fmla="val 10800" name="adj"/>
              </a:avLst>
            </a:prstGeom>
            <a:solidFill>
              <a:srgbClr val="FFFFFF"/>
            </a:solidFill>
            <a:ln cap="flat" cmpd="sng" w="9525">
              <a:solidFill>
                <a:srgbClr val="000000"/>
              </a:solidFill>
              <a:prstDash val="solid"/>
              <a:miter lim="800000"/>
              <a:headEnd len="sm" w="sm" type="none"/>
              <a:tailEnd len="sm" w="sm" type="none"/>
            </a:ln>
          </p:spPr>
          <p:txBody>
            <a:bodyPr anchorCtr="0" anchor="t" bIns="0" lIns="54000" spcFirstLastPara="1" rIns="5400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Mô đun khác</a:t>
              </a:r>
              <a:endParaRPr b="0" i="0" sz="11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(printf.c)</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a:solidFill>
                  <a:schemeClr val="dk1"/>
                </a:solidFill>
                <a:latin typeface="Arial"/>
                <a:ea typeface="Arial"/>
                <a:cs typeface="Arial"/>
                <a:sym typeface="Arial"/>
              </a:endParaRPr>
            </a:p>
          </p:txBody>
        </p:sp>
        <p:sp>
          <p:nvSpPr>
            <p:cNvPr id="241" name="Google Shape;241;p12"/>
            <p:cNvSpPr txBox="1"/>
            <p:nvPr/>
          </p:nvSpPr>
          <p:spPr>
            <a:xfrm>
              <a:off x="3089" y="10423"/>
              <a:ext cx="1800" cy="54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10800" lIns="91425" spcFirstLastPara="1" rIns="91425" wrap="square" tIns="108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Chương trình dịch</a:t>
              </a:r>
              <a:endParaRPr/>
            </a:p>
          </p:txBody>
        </p:sp>
        <p:sp>
          <p:nvSpPr>
            <p:cNvPr id="242" name="Google Shape;242;p12"/>
            <p:cNvSpPr/>
            <p:nvPr/>
          </p:nvSpPr>
          <p:spPr>
            <a:xfrm>
              <a:off x="3089" y="11323"/>
              <a:ext cx="1800" cy="720"/>
            </a:xfrm>
            <a:prstGeom prst="roundRect">
              <a:avLst>
                <a:gd fmla="val 10800" name="adj"/>
              </a:avLst>
            </a:prstGeom>
            <a:solidFill>
              <a:srgbClr val="FFFFFF"/>
            </a:solidFill>
            <a:ln cap="flat" cmpd="sng" w="9525">
              <a:solidFill>
                <a:srgbClr val="000000"/>
              </a:solidFill>
              <a:prstDash val="solid"/>
              <a:miter lim="800000"/>
              <a:headEnd len="sm" w="sm" type="none"/>
              <a:tailEnd len="sm" w="sm" type="none"/>
            </a:ln>
          </p:spPr>
          <p:txBody>
            <a:bodyPr anchorCtr="0" anchor="t" bIns="0" lIns="54000" spcFirstLastPara="1" rIns="5400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Mô đun object</a:t>
              </a:r>
              <a:endParaRPr b="0" i="0" sz="11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(printf.o)</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a:solidFill>
                  <a:schemeClr val="dk1"/>
                </a:solidFill>
                <a:latin typeface="Arial"/>
                <a:ea typeface="Arial"/>
                <a:cs typeface="Arial"/>
                <a:sym typeface="Arial"/>
              </a:endParaRPr>
            </a:p>
          </p:txBody>
        </p:sp>
        <p:sp>
          <p:nvSpPr>
            <p:cNvPr id="243" name="Google Shape;243;p12"/>
            <p:cNvSpPr txBox="1"/>
            <p:nvPr/>
          </p:nvSpPr>
          <p:spPr>
            <a:xfrm>
              <a:off x="3089" y="12763"/>
              <a:ext cx="1800" cy="36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10800" lIns="91425" spcFirstLastPara="1" rIns="91425" wrap="square" tIns="108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Thư viện hóa</a:t>
              </a:r>
              <a:endParaRPr/>
            </a:p>
          </p:txBody>
        </p:sp>
        <p:sp>
          <p:nvSpPr>
            <p:cNvPr id="244" name="Google Shape;244;p12"/>
            <p:cNvSpPr/>
            <p:nvPr/>
          </p:nvSpPr>
          <p:spPr>
            <a:xfrm>
              <a:off x="3101" y="13663"/>
              <a:ext cx="1800" cy="720"/>
            </a:xfrm>
            <a:prstGeom prst="roundRect">
              <a:avLst>
                <a:gd fmla="val 10800" name="adj"/>
              </a:avLst>
            </a:prstGeom>
            <a:solidFill>
              <a:srgbClr val="FFFFFF"/>
            </a:solidFill>
            <a:ln cap="flat" cmpd="sng" w="9525">
              <a:solidFill>
                <a:srgbClr val="000000"/>
              </a:solidFill>
              <a:prstDash val="solid"/>
              <a:miter lim="800000"/>
              <a:headEnd len="sm" w="sm" type="none"/>
              <a:tailEnd len="sm" w="sm" type="none"/>
            </a:ln>
          </p:spPr>
          <p:txBody>
            <a:bodyPr anchorCtr="0" anchor="t" bIns="0" lIns="54000" spcFirstLastPara="1" rIns="5400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Thư viện dùng chung (*.dll)</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a:solidFill>
                  <a:schemeClr val="dk1"/>
                </a:solidFill>
                <a:latin typeface="Arial"/>
                <a:ea typeface="Arial"/>
                <a:cs typeface="Arial"/>
                <a:sym typeface="Arial"/>
              </a:endParaRPr>
            </a:p>
          </p:txBody>
        </p:sp>
        <p:sp>
          <p:nvSpPr>
            <p:cNvPr id="245" name="Google Shape;245;p12"/>
            <p:cNvSpPr/>
            <p:nvPr/>
          </p:nvSpPr>
          <p:spPr>
            <a:xfrm>
              <a:off x="6185" y="13483"/>
              <a:ext cx="1800" cy="1080"/>
            </a:xfrm>
            <a:prstGeom prst="roundRect">
              <a:avLst>
                <a:gd fmla="val 10800" name="adj"/>
              </a:avLst>
            </a:prstGeom>
            <a:solidFill>
              <a:srgbClr val="FFFFFF"/>
            </a:solidFill>
            <a:ln cap="flat" cmpd="sng" w="9525">
              <a:solidFill>
                <a:srgbClr val="000000"/>
              </a:solidFill>
              <a:prstDash val="solid"/>
              <a:miter lim="800000"/>
              <a:headEnd len="sm" w="sm" type="none"/>
              <a:tailEnd len="sm" w="sm" type="none"/>
            </a:ln>
          </p:spPr>
          <p:txBody>
            <a:bodyPr anchorCtr="0" anchor="t" bIns="0" lIns="54000" spcFirstLastPara="1" rIns="5400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Mô đun tải được (prog.exe)</a:t>
              </a:r>
              <a:endParaRPr b="0" i="0" sz="1100" u="none">
                <a:solidFill>
                  <a:schemeClr val="dk1"/>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100" u="none">
                <a:solidFill>
                  <a:schemeClr val="dk1"/>
                </a:solidFill>
                <a:latin typeface="Arial"/>
                <a:ea typeface="Arial"/>
                <a:cs typeface="Arial"/>
                <a:sym typeface="Arial"/>
              </a:endParaRPr>
            </a:p>
          </p:txBody>
        </p:sp>
        <p:sp>
          <p:nvSpPr>
            <p:cNvPr id="246" name="Google Shape;246;p12"/>
            <p:cNvSpPr txBox="1"/>
            <p:nvPr/>
          </p:nvSpPr>
          <p:spPr>
            <a:xfrm>
              <a:off x="6185" y="14923"/>
              <a:ext cx="1800" cy="54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10800" lIns="91425" spcFirstLastPara="1" rIns="91425" wrap="square" tIns="108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Chương trình tải (hệ điều hành)</a:t>
              </a:r>
              <a:endParaRPr/>
            </a:p>
          </p:txBody>
        </p:sp>
        <p:sp>
          <p:nvSpPr>
            <p:cNvPr id="247" name="Google Shape;247;p12"/>
            <p:cNvSpPr txBox="1"/>
            <p:nvPr/>
          </p:nvSpPr>
          <p:spPr>
            <a:xfrm>
              <a:off x="3605" y="16363"/>
              <a:ext cx="3960" cy="54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10800" lIns="91425" spcFirstLastPara="1" rIns="91425" wrap="square" tIns="108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Tiến trình trong bộ nhớ</a:t>
              </a:r>
              <a:endParaRPr/>
            </a:p>
          </p:txBody>
        </p:sp>
        <p:cxnSp>
          <p:nvCxnSpPr>
            <p:cNvPr id="248" name="Google Shape;248;p12"/>
            <p:cNvCxnSpPr/>
            <p:nvPr/>
          </p:nvCxnSpPr>
          <p:spPr>
            <a:xfrm>
              <a:off x="3989" y="10963"/>
              <a:ext cx="1" cy="360"/>
            </a:xfrm>
            <a:prstGeom prst="straightConnector1">
              <a:avLst/>
            </a:prstGeom>
            <a:noFill/>
            <a:ln cap="flat" cmpd="sng" w="9525">
              <a:solidFill>
                <a:srgbClr val="000000"/>
              </a:solidFill>
              <a:prstDash val="solid"/>
              <a:miter lim="800000"/>
              <a:headEnd len="med" w="med" type="none"/>
              <a:tailEnd len="med" w="med" type="triangle"/>
            </a:ln>
          </p:spPr>
        </p:cxnSp>
        <p:cxnSp>
          <p:nvCxnSpPr>
            <p:cNvPr id="249" name="Google Shape;249;p12"/>
            <p:cNvCxnSpPr/>
            <p:nvPr/>
          </p:nvCxnSpPr>
          <p:spPr>
            <a:xfrm>
              <a:off x="3989" y="12043"/>
              <a:ext cx="1" cy="720"/>
            </a:xfrm>
            <a:prstGeom prst="straightConnector1">
              <a:avLst/>
            </a:prstGeom>
            <a:noFill/>
            <a:ln cap="flat" cmpd="sng" w="9525">
              <a:solidFill>
                <a:srgbClr val="000000"/>
              </a:solidFill>
              <a:prstDash val="solid"/>
              <a:miter lim="800000"/>
              <a:headEnd len="med" w="med" type="none"/>
              <a:tailEnd len="med" w="med" type="triangle"/>
            </a:ln>
          </p:spPr>
        </p:cxnSp>
        <p:cxnSp>
          <p:nvCxnSpPr>
            <p:cNvPr id="250" name="Google Shape;250;p12"/>
            <p:cNvCxnSpPr/>
            <p:nvPr/>
          </p:nvCxnSpPr>
          <p:spPr>
            <a:xfrm>
              <a:off x="3989" y="13123"/>
              <a:ext cx="12" cy="540"/>
            </a:xfrm>
            <a:prstGeom prst="straightConnector1">
              <a:avLst/>
            </a:prstGeom>
            <a:noFill/>
            <a:ln cap="flat" cmpd="sng" w="9525">
              <a:solidFill>
                <a:srgbClr val="000000"/>
              </a:solidFill>
              <a:prstDash val="solid"/>
              <a:miter lim="800000"/>
              <a:headEnd len="med" w="med" type="none"/>
              <a:tailEnd len="med" w="med" type="triangle"/>
            </a:ln>
          </p:spPr>
        </p:cxnSp>
        <p:cxnSp>
          <p:nvCxnSpPr>
            <p:cNvPr id="251" name="Google Shape;251;p12"/>
            <p:cNvCxnSpPr/>
            <p:nvPr/>
          </p:nvCxnSpPr>
          <p:spPr>
            <a:xfrm>
              <a:off x="7049" y="10063"/>
              <a:ext cx="1" cy="360"/>
            </a:xfrm>
            <a:prstGeom prst="straightConnector1">
              <a:avLst/>
            </a:prstGeom>
            <a:noFill/>
            <a:ln cap="flat" cmpd="sng" w="9525">
              <a:solidFill>
                <a:srgbClr val="000000"/>
              </a:solidFill>
              <a:prstDash val="solid"/>
              <a:miter lim="800000"/>
              <a:headEnd len="med" w="med" type="none"/>
              <a:tailEnd len="med" w="med" type="triangle"/>
            </a:ln>
          </p:spPr>
        </p:cxnSp>
        <p:cxnSp>
          <p:nvCxnSpPr>
            <p:cNvPr id="252" name="Google Shape;252;p12"/>
            <p:cNvCxnSpPr/>
            <p:nvPr/>
          </p:nvCxnSpPr>
          <p:spPr>
            <a:xfrm>
              <a:off x="7049" y="10963"/>
              <a:ext cx="12" cy="360"/>
            </a:xfrm>
            <a:prstGeom prst="straightConnector1">
              <a:avLst/>
            </a:prstGeom>
            <a:noFill/>
            <a:ln cap="flat" cmpd="sng" w="9525">
              <a:solidFill>
                <a:srgbClr val="000000"/>
              </a:solidFill>
              <a:prstDash val="solid"/>
              <a:miter lim="800000"/>
              <a:headEnd len="med" w="med" type="none"/>
              <a:tailEnd len="med" w="med" type="triangle"/>
            </a:ln>
          </p:spPr>
        </p:cxnSp>
        <p:cxnSp>
          <p:nvCxnSpPr>
            <p:cNvPr id="253" name="Google Shape;253;p12"/>
            <p:cNvCxnSpPr/>
            <p:nvPr/>
          </p:nvCxnSpPr>
          <p:spPr>
            <a:xfrm>
              <a:off x="7061" y="12043"/>
              <a:ext cx="12" cy="360"/>
            </a:xfrm>
            <a:prstGeom prst="straightConnector1">
              <a:avLst/>
            </a:prstGeom>
            <a:noFill/>
            <a:ln cap="flat" cmpd="sng" w="9525">
              <a:solidFill>
                <a:srgbClr val="000000"/>
              </a:solidFill>
              <a:prstDash val="solid"/>
              <a:miter lim="800000"/>
              <a:headEnd len="med" w="med" type="none"/>
              <a:tailEnd len="med" w="med" type="triangle"/>
            </a:ln>
          </p:spPr>
        </p:cxnSp>
        <p:cxnSp>
          <p:nvCxnSpPr>
            <p:cNvPr id="254" name="Google Shape;254;p12"/>
            <p:cNvCxnSpPr/>
            <p:nvPr/>
          </p:nvCxnSpPr>
          <p:spPr>
            <a:xfrm>
              <a:off x="7073" y="13123"/>
              <a:ext cx="12" cy="360"/>
            </a:xfrm>
            <a:prstGeom prst="straightConnector1">
              <a:avLst/>
            </a:prstGeom>
            <a:noFill/>
            <a:ln cap="flat" cmpd="sng" w="9525">
              <a:solidFill>
                <a:srgbClr val="000000"/>
              </a:solidFill>
              <a:prstDash val="solid"/>
              <a:miter lim="800000"/>
              <a:headEnd len="med" w="med" type="none"/>
              <a:tailEnd len="med" w="med" type="triangle"/>
            </a:ln>
          </p:spPr>
        </p:cxnSp>
        <p:cxnSp>
          <p:nvCxnSpPr>
            <p:cNvPr id="255" name="Google Shape;255;p12"/>
            <p:cNvCxnSpPr/>
            <p:nvPr/>
          </p:nvCxnSpPr>
          <p:spPr>
            <a:xfrm>
              <a:off x="7085" y="14563"/>
              <a:ext cx="1" cy="360"/>
            </a:xfrm>
            <a:prstGeom prst="straightConnector1">
              <a:avLst/>
            </a:prstGeom>
            <a:noFill/>
            <a:ln cap="flat" cmpd="sng" w="9525">
              <a:solidFill>
                <a:srgbClr val="000000"/>
              </a:solidFill>
              <a:prstDash val="solid"/>
              <a:miter lim="800000"/>
              <a:headEnd len="med" w="med" type="none"/>
              <a:tailEnd len="med" w="med" type="triangle"/>
            </a:ln>
          </p:spPr>
        </p:cxnSp>
        <p:cxnSp>
          <p:nvCxnSpPr>
            <p:cNvPr id="256" name="Google Shape;256;p12"/>
            <p:cNvCxnSpPr/>
            <p:nvPr/>
          </p:nvCxnSpPr>
          <p:spPr>
            <a:xfrm flipH="1">
              <a:off x="5585" y="15463"/>
              <a:ext cx="1500" cy="900"/>
            </a:xfrm>
            <a:prstGeom prst="straightConnector1">
              <a:avLst/>
            </a:prstGeom>
            <a:noFill/>
            <a:ln cap="flat" cmpd="sng" w="9525">
              <a:solidFill>
                <a:srgbClr val="000000"/>
              </a:solidFill>
              <a:prstDash val="solid"/>
              <a:miter lim="800000"/>
              <a:headEnd len="med" w="med" type="none"/>
              <a:tailEnd len="med" w="med" type="triangle"/>
            </a:ln>
          </p:spPr>
        </p:cxnSp>
        <p:cxnSp>
          <p:nvCxnSpPr>
            <p:cNvPr id="257" name="Google Shape;257;p12"/>
            <p:cNvCxnSpPr/>
            <p:nvPr/>
          </p:nvCxnSpPr>
          <p:spPr>
            <a:xfrm>
              <a:off x="3989" y="10063"/>
              <a:ext cx="1" cy="360"/>
            </a:xfrm>
            <a:prstGeom prst="straightConnector1">
              <a:avLst/>
            </a:prstGeom>
            <a:noFill/>
            <a:ln cap="flat" cmpd="sng" w="9525">
              <a:solidFill>
                <a:srgbClr val="000000"/>
              </a:solidFill>
              <a:prstDash val="solid"/>
              <a:miter lim="800000"/>
              <a:headEnd len="med" w="med" type="none"/>
              <a:tailEnd len="med" w="med" type="triangle"/>
            </a:ln>
          </p:spPr>
        </p:cxnSp>
        <p:sp>
          <p:nvSpPr>
            <p:cNvPr id="258" name="Google Shape;258;p12"/>
            <p:cNvSpPr txBox="1"/>
            <p:nvPr/>
          </p:nvSpPr>
          <p:spPr>
            <a:xfrm>
              <a:off x="3101" y="14923"/>
              <a:ext cx="1800" cy="72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10800" lIns="91425" spcFirstLastPara="1" rIns="91425" wrap="square" tIns="108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Chương trình tải động (hệ điều hành)</a:t>
              </a:r>
              <a:endParaRPr/>
            </a:p>
          </p:txBody>
        </p:sp>
        <p:cxnSp>
          <p:nvCxnSpPr>
            <p:cNvPr id="259" name="Google Shape;259;p12"/>
            <p:cNvCxnSpPr/>
            <p:nvPr/>
          </p:nvCxnSpPr>
          <p:spPr>
            <a:xfrm>
              <a:off x="4001" y="15643"/>
              <a:ext cx="1584" cy="720"/>
            </a:xfrm>
            <a:prstGeom prst="straightConnector1">
              <a:avLst/>
            </a:prstGeom>
            <a:noFill/>
            <a:ln cap="flat" cmpd="sng" w="9525">
              <a:solidFill>
                <a:srgbClr val="000000"/>
              </a:solidFill>
              <a:prstDash val="solid"/>
              <a:miter lim="800000"/>
              <a:headEnd len="med" w="med" type="none"/>
              <a:tailEnd len="med" w="med" type="triangle"/>
            </a:ln>
          </p:spPr>
        </p:cxnSp>
        <p:cxnSp>
          <p:nvCxnSpPr>
            <p:cNvPr id="260" name="Google Shape;260;p12"/>
            <p:cNvCxnSpPr/>
            <p:nvPr/>
          </p:nvCxnSpPr>
          <p:spPr>
            <a:xfrm>
              <a:off x="4001" y="14383"/>
              <a:ext cx="1" cy="540"/>
            </a:xfrm>
            <a:prstGeom prst="straightConnector1">
              <a:avLst/>
            </a:prstGeom>
            <a:noFill/>
            <a:ln cap="flat" cmpd="sng" w="9525">
              <a:solidFill>
                <a:srgbClr val="000000"/>
              </a:solidFill>
              <a:prstDash val="solid"/>
              <a:miter lim="800000"/>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0" st="0"/>
                                            </p:txEl>
                                          </p:spTgt>
                                        </p:tgtEl>
                                        <p:attrNameLst>
                                          <p:attrName>style.visibility</p:attrName>
                                        </p:attrNameLst>
                                      </p:cBhvr>
                                      <p:to>
                                        <p:strVal val="visible"/>
                                      </p:to>
                                    </p:set>
                                    <p:animEffect filter="fade" transition="in">
                                      <p:cBhvr>
                                        <p:cTn dur="500"/>
                                        <p:tgtEl>
                                          <p:spTgt spid="22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1" st="1"/>
                                            </p:txEl>
                                          </p:spTgt>
                                        </p:tgtEl>
                                        <p:attrNameLst>
                                          <p:attrName>style.visibility</p:attrName>
                                        </p:attrNameLst>
                                      </p:cBhvr>
                                      <p:to>
                                        <p:strVal val="visible"/>
                                      </p:to>
                                    </p:set>
                                    <p:animEffect filter="fade" transition="in">
                                      <p:cBhvr>
                                        <p:cTn dur="500"/>
                                        <p:tgtEl>
                                          <p:spTgt spid="22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2" st="2"/>
                                            </p:txEl>
                                          </p:spTgt>
                                        </p:tgtEl>
                                        <p:attrNameLst>
                                          <p:attrName>style.visibility</p:attrName>
                                        </p:attrNameLst>
                                      </p:cBhvr>
                                      <p:to>
                                        <p:strVal val="visible"/>
                                      </p:to>
                                    </p:set>
                                    <p:animEffect filter="fade" transition="in">
                                      <p:cBhvr>
                                        <p:cTn dur="500"/>
                                        <p:tgtEl>
                                          <p:spTgt spid="22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3" st="3"/>
                                            </p:txEl>
                                          </p:spTgt>
                                        </p:tgtEl>
                                        <p:attrNameLst>
                                          <p:attrName>style.visibility</p:attrName>
                                        </p:attrNameLst>
                                      </p:cBhvr>
                                      <p:to>
                                        <p:strVal val="visible"/>
                                      </p:to>
                                    </p:set>
                                    <p:animEffect filter="fade" transition="in">
                                      <p:cBhvr>
                                        <p:cTn dur="500"/>
                                        <p:tgtEl>
                                          <p:spTgt spid="22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4" st="4"/>
                                            </p:txEl>
                                          </p:spTgt>
                                        </p:tgtEl>
                                        <p:attrNameLst>
                                          <p:attrName>style.visibility</p:attrName>
                                        </p:attrNameLst>
                                      </p:cBhvr>
                                      <p:to>
                                        <p:strVal val="visible"/>
                                      </p:to>
                                    </p:set>
                                    <p:animEffect filter="fade" transition="in">
                                      <p:cBhvr>
                                        <p:cTn dur="500"/>
                                        <p:tgtEl>
                                          <p:spTgt spid="22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5" st="5"/>
                                            </p:txEl>
                                          </p:spTgt>
                                        </p:tgtEl>
                                        <p:attrNameLst>
                                          <p:attrName>style.visibility</p:attrName>
                                        </p:attrNameLst>
                                      </p:cBhvr>
                                      <p:to>
                                        <p:strVal val="visible"/>
                                      </p:to>
                                    </p:set>
                                    <p:animEffect filter="fade" transition="in">
                                      <p:cBhvr>
                                        <p:cTn dur="500"/>
                                        <p:tgtEl>
                                          <p:spTgt spid="22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6" st="6"/>
                                            </p:txEl>
                                          </p:spTgt>
                                        </p:tgtEl>
                                        <p:attrNameLst>
                                          <p:attrName>style.visibility</p:attrName>
                                        </p:attrNameLst>
                                      </p:cBhvr>
                                      <p:to>
                                        <p:strVal val="visible"/>
                                      </p:to>
                                    </p:set>
                                    <p:animEffect filter="fade" transition="in">
                                      <p:cBhvr>
                                        <p:cTn dur="500"/>
                                        <p:tgtEl>
                                          <p:spTgt spid="22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7" st="7"/>
                                            </p:txEl>
                                          </p:spTgt>
                                        </p:tgtEl>
                                        <p:attrNameLst>
                                          <p:attrName>style.visibility</p:attrName>
                                        </p:attrNameLst>
                                      </p:cBhvr>
                                      <p:to>
                                        <p:strVal val="visible"/>
                                      </p:to>
                                    </p:set>
                                    <p:animEffect filter="fade" transition="in">
                                      <p:cBhvr>
                                        <p:cTn dur="500"/>
                                        <p:tgtEl>
                                          <p:spTgt spid="22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8" st="8"/>
                                            </p:txEl>
                                          </p:spTgt>
                                        </p:tgtEl>
                                        <p:attrNameLst>
                                          <p:attrName>style.visibility</p:attrName>
                                        </p:attrNameLst>
                                      </p:cBhvr>
                                      <p:to>
                                        <p:strVal val="visible"/>
                                      </p:to>
                                    </p:set>
                                    <p:animEffect filter="fade" transition="in">
                                      <p:cBhvr>
                                        <p:cTn dur="500"/>
                                        <p:tgtEl>
                                          <p:spTgt spid="22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9" st="9"/>
                                            </p:txEl>
                                          </p:spTgt>
                                        </p:tgtEl>
                                        <p:attrNameLst>
                                          <p:attrName>style.visibility</p:attrName>
                                        </p:attrNameLst>
                                      </p:cBhvr>
                                      <p:to>
                                        <p:strVal val="visible"/>
                                      </p:to>
                                    </p:set>
                                    <p:animEffect filter="fade" transition="in">
                                      <p:cBhvr>
                                        <p:cTn dur="500"/>
                                        <p:tgtEl>
                                          <p:spTgt spid="22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10" st="10"/>
                                            </p:txEl>
                                          </p:spTgt>
                                        </p:tgtEl>
                                        <p:attrNameLst>
                                          <p:attrName>style.visibility</p:attrName>
                                        </p:attrNameLst>
                                      </p:cBhvr>
                                      <p:to>
                                        <p:strVal val="visible"/>
                                      </p:to>
                                    </p:set>
                                    <p:animEffect filter="fade" transition="in">
                                      <p:cBhvr>
                                        <p:cTn dur="500"/>
                                        <p:tgtEl>
                                          <p:spTgt spid="22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11" st="11"/>
                                            </p:txEl>
                                          </p:spTgt>
                                        </p:tgtEl>
                                        <p:attrNameLst>
                                          <p:attrName>style.visibility</p:attrName>
                                        </p:attrNameLst>
                                      </p:cBhvr>
                                      <p:to>
                                        <p:strVal val="visible"/>
                                      </p:to>
                                    </p:set>
                                    <p:animEffect filter="fade" transition="in">
                                      <p:cBhvr>
                                        <p:cTn dur="500"/>
                                        <p:tgtEl>
                                          <p:spTgt spid="22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12" st="12"/>
                                            </p:txEl>
                                          </p:spTgt>
                                        </p:tgtEl>
                                        <p:attrNameLst>
                                          <p:attrName>style.visibility</p:attrName>
                                        </p:attrNameLst>
                                      </p:cBhvr>
                                      <p:to>
                                        <p:strVal val="visible"/>
                                      </p:to>
                                    </p:set>
                                    <p:animEffect filter="fade" transition="in">
                                      <p:cBhvr>
                                        <p:cTn dur="500"/>
                                        <p:tgtEl>
                                          <p:spTgt spid="22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13" st="13"/>
                                            </p:txEl>
                                          </p:spTgt>
                                        </p:tgtEl>
                                        <p:attrNameLst>
                                          <p:attrName>style.visibility</p:attrName>
                                        </p:attrNameLst>
                                      </p:cBhvr>
                                      <p:to>
                                        <p:strVal val="visible"/>
                                      </p:to>
                                    </p:set>
                                    <p:animEffect filter="fade" transition="in">
                                      <p:cBhvr>
                                        <p:cTn dur="500"/>
                                        <p:tgtEl>
                                          <p:spTgt spid="228">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14" st="14"/>
                                            </p:txEl>
                                          </p:spTgt>
                                        </p:tgtEl>
                                        <p:attrNameLst>
                                          <p:attrName>style.visibility</p:attrName>
                                        </p:attrNameLst>
                                      </p:cBhvr>
                                      <p:to>
                                        <p:strVal val="visible"/>
                                      </p:to>
                                    </p:set>
                                    <p:animEffect filter="fade" transition="in">
                                      <p:cBhvr>
                                        <p:cTn dur="500"/>
                                        <p:tgtEl>
                                          <p:spTgt spid="228">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15" st="15"/>
                                            </p:txEl>
                                          </p:spTgt>
                                        </p:tgtEl>
                                        <p:attrNameLst>
                                          <p:attrName>style.visibility</p:attrName>
                                        </p:attrNameLst>
                                      </p:cBhvr>
                                      <p:to>
                                        <p:strVal val="visible"/>
                                      </p:to>
                                    </p:set>
                                    <p:animEffect filter="fade" transition="in">
                                      <p:cBhvr>
                                        <p:cTn dur="500"/>
                                        <p:tgtEl>
                                          <p:spTgt spid="228">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8">
                                            <p:txEl>
                                              <p:pRg end="16" st="16"/>
                                            </p:txEl>
                                          </p:spTgt>
                                        </p:tgtEl>
                                        <p:attrNameLst>
                                          <p:attrName>style.visibility</p:attrName>
                                        </p:attrNameLst>
                                      </p:cBhvr>
                                      <p:to>
                                        <p:strVal val="visible"/>
                                      </p:to>
                                    </p:set>
                                    <p:animEffect filter="fade" transition="in">
                                      <p:cBhvr>
                                        <p:cTn dur="500"/>
                                        <p:tgtEl>
                                          <p:spTgt spid="228">
                                            <p:txEl>
                                              <p:pRg end="16" st="1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8"/>
          <p:cNvSpPr txBox="1"/>
          <p:nvPr>
            <p:ph idx="1" type="body"/>
          </p:nvPr>
        </p:nvSpPr>
        <p:spPr>
          <a:xfrm>
            <a:off x="0" y="6858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Để thực hiện tiến trình, HDH cần cấp phát cho tiến trình không gian nhớ cần thiết. </a:t>
            </a:r>
            <a:endParaRPr/>
          </a:p>
          <a:p>
            <a:pPr indent="-342900" lvl="0" marL="342900" marR="0" rtl="0" algn="just">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Việc cấp phát và quản lý vùng nhớ là chức năng quan trọng của HDH.</a:t>
            </a:r>
            <a:endParaRPr/>
          </a:p>
          <a:p>
            <a:pPr indent="-342900" lvl="0" marL="342900" marR="0" rtl="0" algn="just">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Một kỹ thuật cấp phát đơn giản nhất =&gt; mỗi tiến trình được cấp một vùng bộ nhớ liên tục</a:t>
            </a:r>
            <a:endParaRPr/>
          </a:p>
          <a:p>
            <a:pPr indent="-342900" lvl="0" marL="342900" marR="0" rtl="0" algn="just">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HDH tiến hành chia bộ nhớ thành các phần liên tục là chương (partition), mỗi tiến trình sẽ được cung cấp một chương để chứa lệnh và dữ liệu của mình.</a:t>
            </a:r>
            <a:endParaRPr/>
          </a:p>
          <a:p>
            <a:pPr indent="-342900" lvl="0" marL="342900" marR="0" rtl="0" algn="l">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Quá trình phân chia bộ nhớ thành chương như vậy gọi là phân chương bộ nhớ. </a:t>
            </a:r>
            <a:endParaRPr/>
          </a:p>
          <a:p>
            <a:pPr indent="-342900" lvl="0" marL="342900" marR="0" rtl="0" algn="l">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Tùy thuộc việc lựa chọn vị trí và kích thước của chương, có thể phân biệt phân chương cố định và phân chương động</a:t>
            </a:r>
            <a:endParaRPr/>
          </a:p>
        </p:txBody>
      </p:sp>
      <p:sp>
        <p:nvSpPr>
          <p:cNvPr id="267" name="Google Shape;267;p18"/>
          <p:cNvSpPr txBox="1"/>
          <p:nvPr>
            <p:ph type="title"/>
          </p:nvPr>
        </p:nvSpPr>
        <p:spPr>
          <a:xfrm>
            <a:off x="457200" y="152400"/>
            <a:ext cx="8686800" cy="9144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KỸ THUẬT PHÂN CHƯƠNG BỘ NHỚ</a:t>
            </a:r>
            <a:endParaRPr/>
          </a:p>
        </p:txBody>
      </p:sp>
      <p:sp>
        <p:nvSpPr>
          <p:cNvPr id="268" name="Google Shape;268;p1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69" name="Google Shape;269;p1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0" name="Google Shape;270;p1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71" name="Google Shape;271;p18"/>
          <p:cNvSpPr txBox="1"/>
          <p:nvPr/>
        </p:nvSpPr>
        <p:spPr>
          <a:xfrm>
            <a:off x="28194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9"/>
          <p:cNvSpPr txBox="1"/>
          <p:nvPr>
            <p:ph idx="1" type="body"/>
          </p:nvPr>
        </p:nvSpPr>
        <p:spPr>
          <a:xfrm>
            <a:off x="0" y="9144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700"/>
              <a:buFont typeface="Noto Sans Symbols"/>
              <a:buChar char="▪"/>
            </a:pPr>
            <a:r>
              <a:rPr b="0" i="0" lang="en-US" sz="2700" u="none">
                <a:solidFill>
                  <a:schemeClr val="dk2"/>
                </a:solidFill>
                <a:latin typeface="Times New Roman"/>
                <a:ea typeface="Times New Roman"/>
                <a:cs typeface="Times New Roman"/>
                <a:sym typeface="Times New Roman"/>
              </a:rPr>
              <a:t>Chia MEM thành các </a:t>
            </a:r>
            <a:r>
              <a:rPr b="1" i="0" lang="en-US" sz="2700" u="none">
                <a:solidFill>
                  <a:schemeClr val="dk2"/>
                </a:solidFill>
                <a:latin typeface="Times New Roman"/>
                <a:ea typeface="Times New Roman"/>
                <a:cs typeface="Times New Roman"/>
                <a:sym typeface="Times New Roman"/>
              </a:rPr>
              <a:t>chương</a:t>
            </a:r>
            <a:r>
              <a:rPr b="0" i="0" lang="en-US" sz="2700" u="none">
                <a:solidFill>
                  <a:schemeClr val="dk2"/>
                </a:solidFill>
                <a:latin typeface="Times New Roman"/>
                <a:ea typeface="Times New Roman"/>
                <a:cs typeface="Times New Roman"/>
                <a:sym typeface="Times New Roman"/>
              </a:rPr>
              <a:t> với kích thước cố định ở những vị trí cố định</a:t>
            </a:r>
            <a:endParaRPr/>
          </a:p>
          <a:p>
            <a:pPr indent="-342900" lvl="0" marL="342900" marR="0" rtl="0" algn="just">
              <a:lnSpc>
                <a:spcPct val="100000"/>
              </a:lnSpc>
              <a:spcBef>
                <a:spcPts val="540"/>
              </a:spcBef>
              <a:spcAft>
                <a:spcPts val="0"/>
              </a:spcAft>
              <a:buClr>
                <a:schemeClr val="dk2"/>
              </a:buClr>
              <a:buSzPts val="2700"/>
              <a:buFont typeface="Noto Sans Symbols"/>
              <a:buChar char="▪"/>
            </a:pPr>
            <a:r>
              <a:rPr b="0" i="0" lang="en-US" sz="2700" u="none">
                <a:solidFill>
                  <a:schemeClr val="dk2"/>
                </a:solidFill>
                <a:latin typeface="Times New Roman"/>
                <a:ea typeface="Times New Roman"/>
                <a:cs typeface="Times New Roman"/>
                <a:sym typeface="Times New Roman"/>
              </a:rPr>
              <a:t>Mỗi chương chứa được đúng một tiến trình =&gt; số tiến trình tối đa có thể chứa đồng thời bị giới hạn bởi số lượng chương.</a:t>
            </a:r>
            <a:endParaRPr/>
          </a:p>
          <a:p>
            <a:pPr indent="-342900" lvl="0" marL="342900" marR="0" rtl="0" algn="just">
              <a:lnSpc>
                <a:spcPct val="100000"/>
              </a:lnSpc>
              <a:spcBef>
                <a:spcPts val="540"/>
              </a:spcBef>
              <a:spcAft>
                <a:spcPts val="0"/>
              </a:spcAft>
              <a:buClr>
                <a:schemeClr val="dk2"/>
              </a:buClr>
              <a:buSzPts val="2700"/>
              <a:buFont typeface="Noto Sans Symbols"/>
              <a:buChar char="▪"/>
            </a:pPr>
            <a:r>
              <a:rPr b="0" i="0" lang="en-US" sz="2700" u="none">
                <a:solidFill>
                  <a:schemeClr val="dk2"/>
                </a:solidFill>
                <a:latin typeface="Times New Roman"/>
                <a:ea typeface="Times New Roman"/>
                <a:cs typeface="Times New Roman"/>
                <a:sym typeface="Times New Roman"/>
              </a:rPr>
              <a:t>Khi được tải vào, tiến trình được cấp phát một chương. Sau khi tiến trình kết thúc, HDH giải phóng chương và chương có thể được cấp phát cho tiến trình mới.  </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Kích thước các chương bằng nhau: </a:t>
            </a:r>
            <a:endParaRPr/>
          </a:p>
          <a:p>
            <a:pPr indent="-228600" lvl="2" marL="1143000" marR="0" rtl="0" algn="just">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Đơn giản</a:t>
            </a:r>
            <a:endParaRPr/>
          </a:p>
          <a:p>
            <a:pPr indent="-228600" lvl="2" marL="1143000" marR="0" rtl="0" algn="just">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Kích thước chương trình &gt; kích thước chương =&gt; không thể cấp phát</a:t>
            </a:r>
            <a:endParaRPr/>
          </a:p>
          <a:p>
            <a:pPr indent="-228600" lvl="2" marL="1143000" marR="0" rtl="0" algn="just">
              <a:lnSpc>
                <a:spcPct val="100000"/>
              </a:lnSpc>
              <a:spcBef>
                <a:spcPts val="480"/>
              </a:spcBef>
              <a:spcAft>
                <a:spcPts val="0"/>
              </a:spcAft>
              <a:buClr>
                <a:schemeClr val="accent2"/>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Gây phân mảnh trong</a:t>
            </a:r>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78" name="Google Shape;278;p19"/>
          <p:cNvSpPr txBox="1"/>
          <p:nvPr>
            <p:ph type="title"/>
          </p:nvPr>
        </p:nvSpPr>
        <p:spPr>
          <a:xfrm>
            <a:off x="457200" y="-76200"/>
            <a:ext cx="8686800" cy="9144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KỸ THUẬT PHÂN CHƯƠNG BỘ NHỚ</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Phân chương cố định</a:t>
            </a:r>
            <a:br>
              <a:rPr b="1" i="0" lang="en-US" sz="2800" u="none">
                <a:solidFill>
                  <a:srgbClr val="000066"/>
                </a:solidFill>
                <a:latin typeface="Times New Roman"/>
                <a:ea typeface="Times New Roman"/>
                <a:cs typeface="Times New Roman"/>
                <a:sym typeface="Times New Roman"/>
              </a:rPr>
            </a:br>
            <a:endParaRPr/>
          </a:p>
        </p:txBody>
      </p:sp>
      <p:sp>
        <p:nvSpPr>
          <p:cNvPr id="279" name="Google Shape;279;p1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0" name="Google Shape;280;p1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81" name="Google Shape;281;p1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0" st="0"/>
                                            </p:txEl>
                                          </p:spTgt>
                                        </p:tgtEl>
                                        <p:attrNameLst>
                                          <p:attrName>style.visibility</p:attrName>
                                        </p:attrNameLst>
                                      </p:cBhvr>
                                      <p:to>
                                        <p:strVal val="visible"/>
                                      </p:to>
                                    </p:set>
                                    <p:animEffect filter="fade" transition="in">
                                      <p:cBhvr>
                                        <p:cTn dur="500"/>
                                        <p:tgtEl>
                                          <p:spTgt spid="2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1" st="1"/>
                                            </p:txEl>
                                          </p:spTgt>
                                        </p:tgtEl>
                                        <p:attrNameLst>
                                          <p:attrName>style.visibility</p:attrName>
                                        </p:attrNameLst>
                                      </p:cBhvr>
                                      <p:to>
                                        <p:strVal val="visible"/>
                                      </p:to>
                                    </p:set>
                                    <p:animEffect filter="fade" transition="in">
                                      <p:cBhvr>
                                        <p:cTn dur="500"/>
                                        <p:tgtEl>
                                          <p:spTgt spid="2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2" st="2"/>
                                            </p:txEl>
                                          </p:spTgt>
                                        </p:tgtEl>
                                        <p:attrNameLst>
                                          <p:attrName>style.visibility</p:attrName>
                                        </p:attrNameLst>
                                      </p:cBhvr>
                                      <p:to>
                                        <p:strVal val="visible"/>
                                      </p:to>
                                    </p:set>
                                    <p:animEffect filter="fade" transition="in">
                                      <p:cBhvr>
                                        <p:cTn dur="500"/>
                                        <p:tgtEl>
                                          <p:spTgt spid="27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3" st="3"/>
                                            </p:txEl>
                                          </p:spTgt>
                                        </p:tgtEl>
                                        <p:attrNameLst>
                                          <p:attrName>style.visibility</p:attrName>
                                        </p:attrNameLst>
                                      </p:cBhvr>
                                      <p:to>
                                        <p:strVal val="visible"/>
                                      </p:to>
                                    </p:set>
                                    <p:animEffect filter="fade" transition="in">
                                      <p:cBhvr>
                                        <p:cTn dur="500"/>
                                        <p:tgtEl>
                                          <p:spTgt spid="27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4" st="4"/>
                                            </p:txEl>
                                          </p:spTgt>
                                        </p:tgtEl>
                                        <p:attrNameLst>
                                          <p:attrName>style.visibility</p:attrName>
                                        </p:attrNameLst>
                                      </p:cBhvr>
                                      <p:to>
                                        <p:strVal val="visible"/>
                                      </p:to>
                                    </p:set>
                                    <p:animEffect filter="fade" transition="in">
                                      <p:cBhvr>
                                        <p:cTn dur="500"/>
                                        <p:tgtEl>
                                          <p:spTgt spid="27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5" st="5"/>
                                            </p:txEl>
                                          </p:spTgt>
                                        </p:tgtEl>
                                        <p:attrNameLst>
                                          <p:attrName>style.visibility</p:attrName>
                                        </p:attrNameLst>
                                      </p:cBhvr>
                                      <p:to>
                                        <p:strVal val="visible"/>
                                      </p:to>
                                    </p:set>
                                    <p:animEffect filter="fade" transition="in">
                                      <p:cBhvr>
                                        <p:cTn dur="500"/>
                                        <p:tgtEl>
                                          <p:spTgt spid="27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6" st="6"/>
                                            </p:txEl>
                                          </p:spTgt>
                                        </p:tgtEl>
                                        <p:attrNameLst>
                                          <p:attrName>style.visibility</p:attrName>
                                        </p:attrNameLst>
                                      </p:cBhvr>
                                      <p:to>
                                        <p:strVal val="visible"/>
                                      </p:to>
                                    </p:set>
                                    <p:animEffect filter="fade" transition="in">
                                      <p:cBhvr>
                                        <p:cTn dur="500"/>
                                        <p:tgtEl>
                                          <p:spTgt spid="27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7">
                                            <p:txEl>
                                              <p:pRg end="7" st="7"/>
                                            </p:txEl>
                                          </p:spTgt>
                                        </p:tgtEl>
                                        <p:attrNameLst>
                                          <p:attrName>style.visibility</p:attrName>
                                        </p:attrNameLst>
                                      </p:cBhvr>
                                      <p:to>
                                        <p:strVal val="visible"/>
                                      </p:to>
                                    </p:set>
                                    <p:animEffect filter="fade" transition="in">
                                      <p:cBhvr>
                                        <p:cTn dur="500"/>
                                        <p:tgtEl>
                                          <p:spTgt spid="277">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0"/>
          <p:cNvSpPr txBox="1"/>
          <p:nvPr>
            <p:ph idx="1" type="body"/>
          </p:nvPr>
        </p:nvSpPr>
        <p:spPr>
          <a:xfrm>
            <a:off x="76200" y="685800"/>
            <a:ext cx="9067800" cy="28956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Kích thước các chương khác nhau: Có hai cách lựa chọn chương nhớ để  cấp cho tiến trình đang chờ đợi</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1" i="0" lang="en-US" sz="2400" u="none" cap="none" strike="noStrike">
                <a:solidFill>
                  <a:schemeClr val="dk2"/>
                </a:solidFill>
                <a:latin typeface="Times New Roman"/>
                <a:ea typeface="Times New Roman"/>
                <a:cs typeface="Times New Roman"/>
                <a:sym typeface="Times New Roman"/>
              </a:rPr>
              <a:t>Chọn chương có kích thước nhỏ nhất </a:t>
            </a:r>
            <a:r>
              <a:rPr b="0" i="0" lang="en-US" sz="2400" u="none" cap="none" strike="noStrike">
                <a:solidFill>
                  <a:schemeClr val="dk2"/>
                </a:solidFill>
                <a:latin typeface="Times New Roman"/>
                <a:ea typeface="Times New Roman"/>
                <a:cs typeface="Times New Roman"/>
                <a:sym typeface="Times New Roman"/>
              </a:rPr>
              <a:t>hay lựa chọn phù hợp nhất, cần có hàng đợi lệnh cho mỗi chương</a:t>
            </a:r>
            <a:r>
              <a:rPr b="0" i="0" lang="en-US" sz="2000" u="none" cap="none" strike="noStrike">
                <a:solidFill>
                  <a:schemeClr val="dk2"/>
                </a:solidFill>
                <a:latin typeface="Times New Roman"/>
                <a:ea typeface="Times New Roman"/>
                <a:cs typeface="Times New Roman"/>
                <a:sym typeface="Times New Roman"/>
              </a:rPr>
              <a:t>.</a:t>
            </a:r>
            <a:endParaRPr/>
          </a:p>
          <a:p>
            <a:pPr indent="-285750" lvl="1" marL="742950" marR="0" rtl="0" algn="l">
              <a:lnSpc>
                <a:spcPct val="100000"/>
              </a:lnSpc>
              <a:spcBef>
                <a:spcPts val="480"/>
              </a:spcBef>
              <a:spcAft>
                <a:spcPts val="0"/>
              </a:spcAft>
              <a:buClr>
                <a:schemeClr val="accent1"/>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 </a:t>
            </a:r>
            <a:r>
              <a:rPr b="0" i="0" lang="en-US" sz="2400" u="none" cap="none" strike="noStrike">
                <a:solidFill>
                  <a:schemeClr val="dk2"/>
                </a:solidFill>
                <a:latin typeface="Times New Roman"/>
                <a:ea typeface="Times New Roman"/>
                <a:cs typeface="Times New Roman"/>
                <a:sym typeface="Times New Roman"/>
              </a:rPr>
              <a:t>Mỗi chương có một hàng đợi riêng, tiến trình</a:t>
            </a:r>
            <a:endParaRPr/>
          </a:p>
          <a:p>
            <a:pPr indent="-285750" lvl="1" marL="742950" marR="0" rtl="0" algn="l">
              <a:lnSpc>
                <a:spcPct val="100000"/>
              </a:lnSpc>
              <a:spcBef>
                <a:spcPts val="480"/>
              </a:spcBef>
              <a:spcAft>
                <a:spcPts val="0"/>
              </a:spcAft>
              <a:buClr>
                <a:schemeClr val="accent1"/>
              </a:buClr>
              <a:buSzPts val="2400"/>
              <a:buFont typeface="Noto Sans Symbols"/>
              <a:buNone/>
            </a:pPr>
            <a:r>
              <a:rPr b="0" i="0" lang="en-US" sz="2400" u="none" cap="none" strike="noStrike">
                <a:solidFill>
                  <a:schemeClr val="dk2"/>
                </a:solidFill>
                <a:latin typeface="Times New Roman"/>
                <a:ea typeface="Times New Roman"/>
                <a:cs typeface="Times New Roman"/>
                <a:sym typeface="Times New Roman"/>
              </a:rPr>
              <a:t>có kích thước phù hợp với chương nào sẽ nằm</a:t>
            </a:r>
            <a:endParaRPr/>
          </a:p>
          <a:p>
            <a:pPr indent="-285750" lvl="1" marL="742950" marR="0" rtl="0" algn="l">
              <a:lnSpc>
                <a:spcPct val="100000"/>
              </a:lnSpc>
              <a:spcBef>
                <a:spcPts val="480"/>
              </a:spcBef>
              <a:spcAft>
                <a:spcPts val="0"/>
              </a:spcAft>
              <a:buClr>
                <a:schemeClr val="accent1"/>
              </a:buClr>
              <a:buSzPts val="2400"/>
              <a:buFont typeface="Noto Sans Symbols"/>
              <a:buNone/>
            </a:pPr>
            <a:r>
              <a:rPr b="0" i="0" lang="en-US" sz="2400" u="none" cap="none" strike="noStrike">
                <a:solidFill>
                  <a:schemeClr val="dk2"/>
                </a:solidFill>
                <a:latin typeface="Times New Roman"/>
                <a:ea typeface="Times New Roman"/>
                <a:cs typeface="Times New Roman"/>
                <a:sym typeface="Times New Roman"/>
              </a:rPr>
              <a:t> trong hàng đợi của chương đó </a:t>
            </a:r>
            <a:endParaRPr/>
          </a:p>
          <a:p>
            <a:pPr indent="-2857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71450" lvl="1" marL="742950" marR="0" rtl="0" algn="l">
              <a:lnSpc>
                <a:spcPct val="100000"/>
              </a:lnSpc>
              <a:spcBef>
                <a:spcPts val="360"/>
              </a:spcBef>
              <a:spcAft>
                <a:spcPts val="0"/>
              </a:spcAft>
              <a:buClr>
                <a:schemeClr val="accent1"/>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215900" lvl="0" marL="342900" marR="0" rtl="0" algn="l">
              <a:lnSpc>
                <a:spcPct val="100000"/>
              </a:lnSpc>
              <a:spcBef>
                <a:spcPts val="400"/>
              </a:spcBef>
              <a:spcAft>
                <a:spcPts val="0"/>
              </a:spcAft>
              <a:buClr>
                <a:schemeClr val="dk2"/>
              </a:buClr>
              <a:buSzPts val="2000"/>
              <a:buFont typeface="Noto Sans Symbols"/>
              <a:buNone/>
            </a:pPr>
            <a:r>
              <a:t/>
            </a:r>
            <a:endParaRPr b="0" i="0" sz="2000" u="none">
              <a:solidFill>
                <a:schemeClr val="dk2"/>
              </a:solidFill>
              <a:latin typeface="Times New Roman"/>
              <a:ea typeface="Times New Roman"/>
              <a:cs typeface="Times New Roman"/>
              <a:sym typeface="Times New Roman"/>
            </a:endParaRPr>
          </a:p>
          <a:p>
            <a:pPr indent="-171450" lvl="1" marL="742950" marR="0" rtl="0" algn="l">
              <a:lnSpc>
                <a:spcPct val="100000"/>
              </a:lnSpc>
              <a:spcBef>
                <a:spcPts val="360"/>
              </a:spcBef>
              <a:spcAft>
                <a:spcPts val="0"/>
              </a:spcAft>
              <a:buClr>
                <a:schemeClr val="accent1"/>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215900" lvl="0" marL="342900" marR="0" rtl="0" algn="l">
              <a:spcBef>
                <a:spcPts val="400"/>
              </a:spcBef>
              <a:spcAft>
                <a:spcPts val="0"/>
              </a:spcAft>
              <a:buClr>
                <a:schemeClr val="dk2"/>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p:txBody>
      </p:sp>
      <p:sp>
        <p:nvSpPr>
          <p:cNvPr id="288" name="Google Shape;288;p20"/>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KỸ THUẬT PHÂN CHƯƠNG BỘ NHỚ</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Phân chương cố định</a:t>
            </a:r>
            <a:endParaRPr/>
          </a:p>
        </p:txBody>
      </p:sp>
      <p:sp>
        <p:nvSpPr>
          <p:cNvPr id="289" name="Google Shape;289;p2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290" name="Google Shape;290;p2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291" name="Google Shape;291;p20"/>
          <p:cNvPicPr preferRelativeResize="0"/>
          <p:nvPr/>
        </p:nvPicPr>
        <p:blipFill rotWithShape="1">
          <a:blip r:embed="rId3">
            <a:alphaModFix/>
          </a:blip>
          <a:srcRect b="0" l="0" r="0" t="0"/>
          <a:stretch/>
        </p:blipFill>
        <p:spPr>
          <a:xfrm>
            <a:off x="6477000" y="2362400"/>
            <a:ext cx="2590800" cy="3411537"/>
          </a:xfrm>
          <a:prstGeom prst="rect">
            <a:avLst/>
          </a:prstGeom>
          <a:noFill/>
          <a:ln>
            <a:noFill/>
          </a:ln>
        </p:spPr>
      </p:pic>
      <p:sp>
        <p:nvSpPr>
          <p:cNvPr id="292" name="Google Shape;292;p20"/>
          <p:cNvSpPr txBox="1"/>
          <p:nvPr/>
        </p:nvSpPr>
        <p:spPr>
          <a:xfrm>
            <a:off x="0" y="3581400"/>
            <a:ext cx="6477000" cy="1706562"/>
          </a:xfrm>
          <a:prstGeom prst="rect">
            <a:avLst/>
          </a:prstGeom>
          <a:noFill/>
          <a:ln>
            <a:noFill/>
          </a:ln>
        </p:spPr>
        <p:txBody>
          <a:bodyPr anchorCtr="0" anchor="t" bIns="45700" lIns="91425" spcFirstLastPara="1" rIns="91425" wrap="square" tIns="45700">
            <a:noAutofit/>
          </a:bodyPr>
          <a:lstStyle/>
          <a:p>
            <a:pPr indent="-228600" lvl="2" marL="1143000" marR="0" rtl="0" algn="just">
              <a:lnSpc>
                <a:spcPct val="100000"/>
              </a:lnSpc>
              <a:spcBef>
                <a:spcPts val="0"/>
              </a:spcBef>
              <a:spcAft>
                <a:spcPts val="0"/>
              </a:spcAft>
              <a:buClr>
                <a:schemeClr val="accent1"/>
              </a:buClr>
              <a:buSzPts val="1680"/>
              <a:buFont typeface="Noto Sans Symbols"/>
              <a:buChar char="▪"/>
            </a:pPr>
            <a:r>
              <a:rPr b="0" i="0" lang="en-US" sz="2400" u="none" cap="none" strike="noStrike">
                <a:solidFill>
                  <a:schemeClr val="dk2"/>
                </a:solidFill>
                <a:latin typeface="Times New Roman"/>
                <a:ea typeface="Times New Roman"/>
                <a:cs typeface="Times New Roman"/>
                <a:sym typeface="Times New Roman"/>
              </a:rPr>
              <a:t>Giảm phân mảnh trong, tối ưu cho từng chương =&gt; tiết kiệm bộ nhớ.</a:t>
            </a:r>
            <a:endParaRPr/>
          </a:p>
          <a:p>
            <a:pPr indent="-228600" lvl="2" marL="1143000" marR="0" rtl="0" algn="just">
              <a:lnSpc>
                <a:spcPct val="100000"/>
              </a:lnSpc>
              <a:spcBef>
                <a:spcPts val="480"/>
              </a:spcBef>
              <a:spcAft>
                <a:spcPts val="0"/>
              </a:spcAft>
              <a:buClr>
                <a:schemeClr val="accent1"/>
              </a:buClr>
              <a:buSzPts val="1680"/>
              <a:buFont typeface="Noto Sans Symbols"/>
              <a:buChar char="▪"/>
            </a:pPr>
            <a:r>
              <a:rPr b="0" i="0" lang="en-US" sz="2400" u="none" cap="none" strike="noStrike">
                <a:solidFill>
                  <a:schemeClr val="dk2"/>
                </a:solidFill>
                <a:latin typeface="Times New Roman"/>
                <a:ea typeface="Times New Roman"/>
                <a:cs typeface="Times New Roman"/>
                <a:sym typeface="Times New Roman"/>
              </a:rPr>
              <a:t>Do mỗi chương có một hàng đợi riêng nên có thời điểm hàng đợi của chương lớn hơn thì rỗng, trong khi hàng đợi của chương nhỏ hơn thì không chứa tiến trình nào =&gt; Hệ thống không tối ưu</a:t>
            </a:r>
            <a:endParaRPr/>
          </a:p>
          <a:p>
            <a:pPr indent="-200660" lvl="0" marL="342900" marR="0" rtl="0" algn="l">
              <a:lnSpc>
                <a:spcPct val="100000"/>
              </a:lnSpc>
              <a:spcBef>
                <a:spcPts val="640"/>
              </a:spcBef>
              <a:spcAft>
                <a:spcPts val="0"/>
              </a:spcAft>
              <a:buClr>
                <a:schemeClr val="accent1"/>
              </a:buClr>
              <a:buSzPts val="2240"/>
              <a:buFont typeface="Noto Sans Symbols"/>
              <a:buNone/>
            </a:pPr>
            <a:r>
              <a:t/>
            </a:r>
            <a:endParaRPr b="0" i="0" sz="3200" u="none">
              <a:solidFill>
                <a:schemeClr val="dk2"/>
              </a:solidFill>
              <a:latin typeface="Times New Roman"/>
              <a:ea typeface="Times New Roman"/>
              <a:cs typeface="Times New Roman"/>
              <a:sym typeface="Times New Roman"/>
            </a:endParaRPr>
          </a:p>
          <a:p>
            <a:pPr indent="-236220" lvl="0" marL="34290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170180" lvl="1" marL="742950" marR="0" rtl="0" algn="l">
              <a:lnSpc>
                <a:spcPct val="100000"/>
              </a:lnSpc>
              <a:spcBef>
                <a:spcPts val="520"/>
              </a:spcBef>
              <a:spcAft>
                <a:spcPts val="0"/>
              </a:spcAft>
              <a:buClr>
                <a:schemeClr val="accent1"/>
              </a:buClr>
              <a:buSzPts val="1820"/>
              <a:buFont typeface="Noto Sans Symbols"/>
              <a:buNone/>
            </a:pPr>
            <a:r>
              <a:t/>
            </a:r>
            <a:endParaRPr b="0" i="0" sz="2600" u="none" cap="none" strike="noStrike">
              <a:solidFill>
                <a:schemeClr val="dk2"/>
              </a:solidFill>
              <a:latin typeface="Times New Roman"/>
              <a:ea typeface="Times New Roman"/>
              <a:cs typeface="Times New Roman"/>
              <a:sym typeface="Times New Roman"/>
            </a:endParaRPr>
          </a:p>
          <a:p>
            <a:pPr indent="-196850" lvl="1" marL="742950" marR="0" rtl="0" algn="l">
              <a:lnSpc>
                <a:spcPct val="100000"/>
              </a:lnSpc>
              <a:spcBef>
                <a:spcPts val="400"/>
              </a:spcBef>
              <a:spcAft>
                <a:spcPts val="0"/>
              </a:spcAft>
              <a:buClr>
                <a:schemeClr val="accent1"/>
              </a:buClr>
              <a:buSzPts val="14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236220" lvl="0" marL="34290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196850" lvl="1" marL="742950" marR="0" rtl="0" algn="l">
              <a:lnSpc>
                <a:spcPct val="100000"/>
              </a:lnSpc>
              <a:spcBef>
                <a:spcPts val="400"/>
              </a:spcBef>
              <a:spcAft>
                <a:spcPts val="0"/>
              </a:spcAft>
              <a:buClr>
                <a:schemeClr val="accent1"/>
              </a:buClr>
              <a:buSzPts val="14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79069" lvl="1" marL="742950"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293" name="Google Shape;293;p2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500"/>
                                        <p:tgtEl>
                                          <p:spTgt spid="2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xEl>
                                              <p:pRg end="0" st="0"/>
                                            </p:txEl>
                                          </p:spTgt>
                                        </p:tgtEl>
                                        <p:attrNameLst>
                                          <p:attrName>style.visibility</p:attrName>
                                        </p:attrNameLst>
                                      </p:cBhvr>
                                      <p:to>
                                        <p:strVal val="visible"/>
                                      </p:to>
                                    </p:set>
                                    <p:animEffect filter="fade" transition="in">
                                      <p:cBhvr>
                                        <p:cTn dur="500"/>
                                        <p:tgtEl>
                                          <p:spTgt spid="2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xEl>
                                              <p:pRg end="1" st="1"/>
                                            </p:txEl>
                                          </p:spTgt>
                                        </p:tgtEl>
                                        <p:attrNameLst>
                                          <p:attrName>style.visibility</p:attrName>
                                        </p:attrNameLst>
                                      </p:cBhvr>
                                      <p:to>
                                        <p:strVal val="visible"/>
                                      </p:to>
                                    </p:set>
                                    <p:animEffect filter="fade" transition="in">
                                      <p:cBhvr>
                                        <p:cTn dur="500"/>
                                        <p:tgtEl>
                                          <p:spTgt spid="2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xEl>
                                              <p:pRg end="2" st="2"/>
                                            </p:txEl>
                                          </p:spTgt>
                                        </p:tgtEl>
                                        <p:attrNameLst>
                                          <p:attrName>style.visibility</p:attrName>
                                        </p:attrNameLst>
                                      </p:cBhvr>
                                      <p:to>
                                        <p:strVal val="visible"/>
                                      </p:to>
                                    </p:set>
                                    <p:animEffect filter="fade" transition="in">
                                      <p:cBhvr>
                                        <p:cTn dur="500"/>
                                        <p:tgtEl>
                                          <p:spTgt spid="29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xEl>
                                              <p:pRg end="3" st="3"/>
                                            </p:txEl>
                                          </p:spTgt>
                                        </p:tgtEl>
                                        <p:attrNameLst>
                                          <p:attrName>style.visibility</p:attrName>
                                        </p:attrNameLst>
                                      </p:cBhvr>
                                      <p:to>
                                        <p:strVal val="visible"/>
                                      </p:to>
                                    </p:set>
                                    <p:animEffect filter="fade" transition="in">
                                      <p:cBhvr>
                                        <p:cTn dur="500"/>
                                        <p:tgtEl>
                                          <p:spTgt spid="29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xEl>
                                              <p:pRg end="4" st="4"/>
                                            </p:txEl>
                                          </p:spTgt>
                                        </p:tgtEl>
                                        <p:attrNameLst>
                                          <p:attrName>style.visibility</p:attrName>
                                        </p:attrNameLst>
                                      </p:cBhvr>
                                      <p:to>
                                        <p:strVal val="visible"/>
                                      </p:to>
                                    </p:set>
                                    <p:animEffect filter="fade" transition="in">
                                      <p:cBhvr>
                                        <p:cTn dur="500"/>
                                        <p:tgtEl>
                                          <p:spTgt spid="29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xEl>
                                              <p:pRg end="5" st="5"/>
                                            </p:txEl>
                                          </p:spTgt>
                                        </p:tgtEl>
                                        <p:attrNameLst>
                                          <p:attrName>style.visibility</p:attrName>
                                        </p:attrNameLst>
                                      </p:cBhvr>
                                      <p:to>
                                        <p:strVal val="visible"/>
                                      </p:to>
                                    </p:set>
                                    <p:animEffect filter="fade" transition="in">
                                      <p:cBhvr>
                                        <p:cTn dur="500"/>
                                        <p:tgtEl>
                                          <p:spTgt spid="29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xEl>
                                              <p:pRg end="6" st="6"/>
                                            </p:txEl>
                                          </p:spTgt>
                                        </p:tgtEl>
                                        <p:attrNameLst>
                                          <p:attrName>style.visibility</p:attrName>
                                        </p:attrNameLst>
                                      </p:cBhvr>
                                      <p:to>
                                        <p:strVal val="visible"/>
                                      </p:to>
                                    </p:set>
                                    <p:animEffect filter="fade" transition="in">
                                      <p:cBhvr>
                                        <p:cTn dur="500"/>
                                        <p:tgtEl>
                                          <p:spTgt spid="29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xEl>
                                              <p:pRg end="7" st="7"/>
                                            </p:txEl>
                                          </p:spTgt>
                                        </p:tgtEl>
                                        <p:attrNameLst>
                                          <p:attrName>style.visibility</p:attrName>
                                        </p:attrNameLst>
                                      </p:cBhvr>
                                      <p:to>
                                        <p:strVal val="visible"/>
                                      </p:to>
                                    </p:set>
                                    <p:animEffect filter="fade" transition="in">
                                      <p:cBhvr>
                                        <p:cTn dur="500"/>
                                        <p:tgtEl>
                                          <p:spTgt spid="29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xEl>
                                              <p:pRg end="8" st="8"/>
                                            </p:txEl>
                                          </p:spTgt>
                                        </p:tgtEl>
                                        <p:attrNameLst>
                                          <p:attrName>style.visibility</p:attrName>
                                        </p:attrNameLst>
                                      </p:cBhvr>
                                      <p:to>
                                        <p:strVal val="visible"/>
                                      </p:to>
                                    </p:set>
                                    <p:animEffect filter="fade" transition="in">
                                      <p:cBhvr>
                                        <p:cTn dur="500"/>
                                        <p:tgtEl>
                                          <p:spTgt spid="29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xEl>
                                              <p:pRg end="9" st="9"/>
                                            </p:txEl>
                                          </p:spTgt>
                                        </p:tgtEl>
                                        <p:attrNameLst>
                                          <p:attrName>style.visibility</p:attrName>
                                        </p:attrNameLst>
                                      </p:cBhvr>
                                      <p:to>
                                        <p:strVal val="visible"/>
                                      </p:to>
                                    </p:set>
                                    <p:animEffect filter="fade" transition="in">
                                      <p:cBhvr>
                                        <p:cTn dur="500"/>
                                        <p:tgtEl>
                                          <p:spTgt spid="292">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1"/>
          <p:cNvSpPr txBox="1"/>
          <p:nvPr>
            <p:ph idx="1" type="body"/>
          </p:nvPr>
        </p:nvSpPr>
        <p:spPr>
          <a:xfrm>
            <a:off x="0" y="762000"/>
            <a:ext cx="9144000" cy="1219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3200"/>
              <a:buFont typeface="Noto Sans Symbols"/>
              <a:buChar char="▪"/>
            </a:pPr>
            <a:r>
              <a:rPr b="0" i="0" lang="en-US" sz="3200" u="none">
                <a:solidFill>
                  <a:schemeClr val="dk2"/>
                </a:solidFill>
                <a:latin typeface="Times New Roman"/>
                <a:ea typeface="Times New Roman"/>
                <a:cs typeface="Times New Roman"/>
                <a:sym typeface="Times New Roman"/>
              </a:rPr>
              <a:t>Kích thước các chương khác nhau:</a:t>
            </a:r>
            <a:endParaRPr/>
          </a:p>
          <a:p>
            <a:pPr indent="-285750" lvl="1" marL="742950" marR="0" rtl="0" algn="l">
              <a:lnSpc>
                <a:spcPct val="100000"/>
              </a:lnSpc>
              <a:spcBef>
                <a:spcPts val="560"/>
              </a:spcBef>
              <a:spcAft>
                <a:spcPts val="0"/>
              </a:spcAft>
              <a:buClr>
                <a:schemeClr val="accent1"/>
              </a:buClr>
              <a:buSzPts val="2800"/>
              <a:buFont typeface="Noto Sans Symbols"/>
              <a:buChar char="▪"/>
            </a:pPr>
            <a:r>
              <a:rPr b="0" i="0" lang="en-US" sz="2800" u="none" cap="none" strike="noStrike">
                <a:solidFill>
                  <a:schemeClr val="dk2"/>
                </a:solidFill>
                <a:latin typeface="Times New Roman"/>
                <a:ea typeface="Times New Roman"/>
                <a:cs typeface="Times New Roman"/>
                <a:sym typeface="Times New Roman"/>
              </a:rPr>
              <a:t>Dùng hàng đợi chung cho tất cả các chương:</a:t>
            </a:r>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20650" lvl="1" marL="742950" marR="0" rtl="0" algn="l">
              <a:lnSpc>
                <a:spcPct val="100000"/>
              </a:lnSpc>
              <a:spcBef>
                <a:spcPts val="520"/>
              </a:spcBef>
              <a:spcAft>
                <a:spcPts val="0"/>
              </a:spcAft>
              <a:buClr>
                <a:schemeClr val="accent1"/>
              </a:buClr>
              <a:buSzPts val="2600"/>
              <a:buFont typeface="Noto Sans Symbols"/>
              <a:buNone/>
            </a:pPr>
            <a:r>
              <a:t/>
            </a:r>
            <a:endParaRPr b="0" i="0" sz="26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00" name="Google Shape;300;p21"/>
          <p:cNvSpPr txBox="1"/>
          <p:nvPr>
            <p:ph type="title"/>
          </p:nvPr>
        </p:nvSpPr>
        <p:spPr>
          <a:xfrm>
            <a:off x="457200" y="-76200"/>
            <a:ext cx="8686800" cy="9144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KỸ THUẬT PHÂN CHƯƠNG BỘ NHỚ</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Phân chương cố định</a:t>
            </a:r>
            <a:endParaRPr/>
          </a:p>
        </p:txBody>
      </p:sp>
      <p:sp>
        <p:nvSpPr>
          <p:cNvPr id="301" name="Google Shape;301;p2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2" name="Google Shape;302;p2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03" name="Google Shape;303;p21"/>
          <p:cNvSpPr txBox="1"/>
          <p:nvPr/>
        </p:nvSpPr>
        <p:spPr>
          <a:xfrm>
            <a:off x="-152400" y="2133600"/>
            <a:ext cx="5029200" cy="3886200"/>
          </a:xfrm>
          <a:prstGeom prst="rect">
            <a:avLst/>
          </a:prstGeom>
          <a:noFill/>
          <a:ln>
            <a:noFill/>
          </a:ln>
        </p:spPr>
        <p:txBody>
          <a:bodyPr anchorCtr="0" anchor="t" bIns="45700" lIns="91425" spcFirstLastPara="1" rIns="91425" wrap="square" tIns="45700">
            <a:noAutofit/>
          </a:bodyPr>
          <a:lstStyle/>
          <a:p>
            <a:pPr indent="-228600" lvl="2" marL="1143000" marR="0" rtl="0" algn="just">
              <a:lnSpc>
                <a:spcPct val="100000"/>
              </a:lnSpc>
              <a:spcBef>
                <a:spcPts val="0"/>
              </a:spcBef>
              <a:spcAft>
                <a:spcPts val="0"/>
              </a:spcAft>
              <a:buClr>
                <a:schemeClr val="accent1"/>
              </a:buClr>
              <a:buSzPts val="1680"/>
              <a:buFont typeface="Noto Sans Symbols"/>
              <a:buChar char="▪"/>
            </a:pPr>
            <a:r>
              <a:rPr b="0" i="0" lang="en-US" sz="2400" u="none" cap="none" strike="noStrike">
                <a:solidFill>
                  <a:schemeClr val="dk2"/>
                </a:solidFill>
                <a:latin typeface="Times New Roman"/>
                <a:ea typeface="Times New Roman"/>
                <a:cs typeface="Times New Roman"/>
                <a:sym typeface="Times New Roman"/>
              </a:rPr>
              <a:t>Mỗi khi có một chương trống, tiến trình nằm gần đầu hàng đợi nhất và có kích thước phù hợp với chương nhất sẽ được tải và thực hiện</a:t>
            </a:r>
            <a:endParaRPr/>
          </a:p>
          <a:p>
            <a:pPr indent="-228600" lvl="2" marL="1143000" marR="0" rtl="0" algn="just">
              <a:lnSpc>
                <a:spcPct val="100000"/>
              </a:lnSpc>
              <a:spcBef>
                <a:spcPts val="480"/>
              </a:spcBef>
              <a:spcAft>
                <a:spcPts val="0"/>
              </a:spcAft>
              <a:buClr>
                <a:schemeClr val="accent1"/>
              </a:buClr>
              <a:buSzPts val="1680"/>
              <a:buFont typeface="Noto Sans Symbols"/>
              <a:buChar char="▪"/>
            </a:pPr>
            <a:r>
              <a:rPr b="0" i="0" lang="en-US" sz="2400" u="none" cap="none" strike="noStrike">
                <a:solidFill>
                  <a:schemeClr val="dk2"/>
                </a:solidFill>
                <a:latin typeface="Times New Roman"/>
                <a:ea typeface="Times New Roman"/>
                <a:cs typeface="Times New Roman"/>
                <a:sym typeface="Times New Roman"/>
              </a:rPr>
              <a:t>Khi 1 chương được giải phóng: chọn tiến trình gần đầu hàng đợi nhất và có kích thước phù hợp nhất</a:t>
            </a:r>
            <a:endParaRPr b="0" i="0" sz="2600" u="none" cap="none" strike="noStrike">
              <a:solidFill>
                <a:schemeClr val="dk2"/>
              </a:solidFill>
              <a:latin typeface="Times New Roman"/>
              <a:ea typeface="Times New Roman"/>
              <a:cs typeface="Times New Roman"/>
              <a:sym typeface="Times New Roman"/>
            </a:endParaRPr>
          </a:p>
          <a:p>
            <a:pPr indent="-196850" lvl="1" marL="742950" marR="0" rtl="0" algn="l">
              <a:lnSpc>
                <a:spcPct val="100000"/>
              </a:lnSpc>
              <a:spcBef>
                <a:spcPts val="400"/>
              </a:spcBef>
              <a:spcAft>
                <a:spcPts val="0"/>
              </a:spcAft>
              <a:buClr>
                <a:schemeClr val="accent1"/>
              </a:buClr>
              <a:buSzPts val="14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236220" lvl="0" marL="342900" marR="0" rtl="0" algn="l">
              <a:lnSpc>
                <a:spcPct val="100000"/>
              </a:lnSpc>
              <a:spcBef>
                <a:spcPts val="480"/>
              </a:spcBef>
              <a:spcAft>
                <a:spcPts val="0"/>
              </a:spcAft>
              <a:buClr>
                <a:schemeClr val="accent1"/>
              </a:buClr>
              <a:buSzPts val="1680"/>
              <a:buFont typeface="Noto Sans Symbols"/>
              <a:buNone/>
            </a:pPr>
            <a:r>
              <a:t/>
            </a:r>
            <a:endParaRPr b="0" i="0" sz="2400" u="none">
              <a:solidFill>
                <a:schemeClr val="dk2"/>
              </a:solidFill>
              <a:latin typeface="Times New Roman"/>
              <a:ea typeface="Times New Roman"/>
              <a:cs typeface="Times New Roman"/>
              <a:sym typeface="Times New Roman"/>
            </a:endParaRPr>
          </a:p>
          <a:p>
            <a:pPr indent="-196850" lvl="1" marL="742950" marR="0" rtl="0" algn="l">
              <a:lnSpc>
                <a:spcPct val="100000"/>
              </a:lnSpc>
              <a:spcBef>
                <a:spcPts val="400"/>
              </a:spcBef>
              <a:spcAft>
                <a:spcPts val="0"/>
              </a:spcAft>
              <a:buClr>
                <a:schemeClr val="accent1"/>
              </a:buClr>
              <a:buSzPts val="14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79069" lvl="1" marL="742950" marR="0" rtl="0" algn="l">
              <a:lnSpc>
                <a:spcPct val="100000"/>
              </a:lnSpc>
              <a:spcBef>
                <a:spcPts val="480"/>
              </a:spcBef>
              <a:spcAft>
                <a:spcPts val="0"/>
              </a:spcAft>
              <a:buClr>
                <a:schemeClr val="accent1"/>
              </a:buClr>
              <a:buSzPts val="168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400" u="none" cap="none" strike="noStrike">
              <a:solidFill>
                <a:schemeClr val="dk2"/>
              </a:solidFill>
              <a:latin typeface="Times New Roman"/>
              <a:ea typeface="Times New Roman"/>
              <a:cs typeface="Times New Roman"/>
              <a:sym typeface="Times New Roman"/>
            </a:endParaRPr>
          </a:p>
        </p:txBody>
      </p:sp>
      <p:pic>
        <p:nvPicPr>
          <p:cNvPr id="304" name="Google Shape;304;p21"/>
          <p:cNvPicPr preferRelativeResize="0"/>
          <p:nvPr/>
        </p:nvPicPr>
        <p:blipFill rotWithShape="1">
          <a:blip r:embed="rId3">
            <a:alphaModFix/>
          </a:blip>
          <a:srcRect b="0" l="0" r="0" t="0"/>
          <a:stretch/>
        </p:blipFill>
        <p:spPr>
          <a:xfrm>
            <a:off x="5257800" y="1828800"/>
            <a:ext cx="3733800" cy="3790950"/>
          </a:xfrm>
          <a:prstGeom prst="rect">
            <a:avLst/>
          </a:prstGeom>
          <a:noFill/>
          <a:ln>
            <a:noFill/>
          </a:ln>
        </p:spPr>
      </p:pic>
      <p:sp>
        <p:nvSpPr>
          <p:cNvPr id="305" name="Google Shape;305;p2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4"/>
                                        </p:tgtEl>
                                        <p:attrNameLst>
                                          <p:attrName>style.visibility</p:attrName>
                                        </p:attrNameLst>
                                      </p:cBhvr>
                                      <p:to>
                                        <p:strVal val="visible"/>
                                      </p:to>
                                    </p:set>
                                    <p:animEffect filter="fade" transition="in">
                                      <p:cBhvr>
                                        <p:cTn dur="500"/>
                                        <p:tgtEl>
                                          <p:spTgt spid="3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0" st="0"/>
                                            </p:txEl>
                                          </p:spTgt>
                                        </p:tgtEl>
                                        <p:attrNameLst>
                                          <p:attrName>style.visibility</p:attrName>
                                        </p:attrNameLst>
                                      </p:cBhvr>
                                      <p:to>
                                        <p:strVal val="visible"/>
                                      </p:to>
                                    </p:set>
                                    <p:animEffect filter="fade" transition="in">
                                      <p:cBhvr>
                                        <p:cTn dur="500"/>
                                        <p:tgtEl>
                                          <p:spTgt spid="30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1" st="1"/>
                                            </p:txEl>
                                          </p:spTgt>
                                        </p:tgtEl>
                                        <p:attrNameLst>
                                          <p:attrName>style.visibility</p:attrName>
                                        </p:attrNameLst>
                                      </p:cBhvr>
                                      <p:to>
                                        <p:strVal val="visible"/>
                                      </p:to>
                                    </p:set>
                                    <p:animEffect filter="fade" transition="in">
                                      <p:cBhvr>
                                        <p:cTn dur="500"/>
                                        <p:tgtEl>
                                          <p:spTgt spid="30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2" st="2"/>
                                            </p:txEl>
                                          </p:spTgt>
                                        </p:tgtEl>
                                        <p:attrNameLst>
                                          <p:attrName>style.visibility</p:attrName>
                                        </p:attrNameLst>
                                      </p:cBhvr>
                                      <p:to>
                                        <p:strVal val="visible"/>
                                      </p:to>
                                    </p:set>
                                    <p:animEffect filter="fade" transition="in">
                                      <p:cBhvr>
                                        <p:cTn dur="500"/>
                                        <p:tgtEl>
                                          <p:spTgt spid="30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3" st="3"/>
                                            </p:txEl>
                                          </p:spTgt>
                                        </p:tgtEl>
                                        <p:attrNameLst>
                                          <p:attrName>style.visibility</p:attrName>
                                        </p:attrNameLst>
                                      </p:cBhvr>
                                      <p:to>
                                        <p:strVal val="visible"/>
                                      </p:to>
                                    </p:set>
                                    <p:animEffect filter="fade" transition="in">
                                      <p:cBhvr>
                                        <p:cTn dur="500"/>
                                        <p:tgtEl>
                                          <p:spTgt spid="30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4" st="4"/>
                                            </p:txEl>
                                          </p:spTgt>
                                        </p:tgtEl>
                                        <p:attrNameLst>
                                          <p:attrName>style.visibility</p:attrName>
                                        </p:attrNameLst>
                                      </p:cBhvr>
                                      <p:to>
                                        <p:strVal val="visible"/>
                                      </p:to>
                                    </p:set>
                                    <p:animEffect filter="fade" transition="in">
                                      <p:cBhvr>
                                        <p:cTn dur="500"/>
                                        <p:tgtEl>
                                          <p:spTgt spid="30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5" st="5"/>
                                            </p:txEl>
                                          </p:spTgt>
                                        </p:tgtEl>
                                        <p:attrNameLst>
                                          <p:attrName>style.visibility</p:attrName>
                                        </p:attrNameLst>
                                      </p:cBhvr>
                                      <p:to>
                                        <p:strVal val="visible"/>
                                      </p:to>
                                    </p:set>
                                    <p:animEffect filter="fade" transition="in">
                                      <p:cBhvr>
                                        <p:cTn dur="500"/>
                                        <p:tgtEl>
                                          <p:spTgt spid="30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3">
                                            <p:txEl>
                                              <p:pRg end="6" st="6"/>
                                            </p:txEl>
                                          </p:spTgt>
                                        </p:tgtEl>
                                        <p:attrNameLst>
                                          <p:attrName>style.visibility</p:attrName>
                                        </p:attrNameLst>
                                      </p:cBhvr>
                                      <p:to>
                                        <p:strVal val="visible"/>
                                      </p:to>
                                    </p:set>
                                    <p:animEffect filter="fade" transition="in">
                                      <p:cBhvr>
                                        <p:cTn dur="500"/>
                                        <p:tgtEl>
                                          <p:spTgt spid="303">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2"/>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152400" lvl="0" marL="342900" marR="0" rtl="0" algn="l">
              <a:lnSpc>
                <a:spcPct val="100000"/>
              </a:lnSpc>
              <a:spcBef>
                <a:spcPts val="0"/>
              </a:spcBef>
              <a:spcAft>
                <a:spcPts val="0"/>
              </a:spcAft>
              <a:buClr>
                <a:schemeClr val="dk2"/>
              </a:buClr>
              <a:buSzPts val="3000"/>
              <a:buFont typeface="Noto Sans Symbols"/>
              <a:buNone/>
            </a:pPr>
            <a:r>
              <a:t/>
            </a:r>
            <a:endParaRPr b="0" i="0" sz="30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600"/>
              </a:spcBef>
              <a:spcAft>
                <a:spcPts val="0"/>
              </a:spcAft>
              <a:buClr>
                <a:schemeClr val="dk2"/>
              </a:buClr>
              <a:buSzPts val="3000"/>
              <a:buFont typeface="Noto Sans Symbols"/>
              <a:buChar char="▪"/>
            </a:pPr>
            <a:r>
              <a:rPr b="0" i="0" lang="en-US" sz="3000" u="none">
                <a:solidFill>
                  <a:schemeClr val="dk2"/>
                </a:solidFill>
                <a:latin typeface="Times New Roman"/>
                <a:ea typeface="Times New Roman"/>
                <a:cs typeface="Times New Roman"/>
                <a:sym typeface="Times New Roman"/>
              </a:rPr>
              <a:t>Ưu điểm: đơn giản, ít xử lý</a:t>
            </a:r>
            <a:endParaRPr/>
          </a:p>
          <a:p>
            <a:pPr indent="-342900" lvl="0" marL="342900" marR="0" rtl="0" algn="l">
              <a:lnSpc>
                <a:spcPct val="100000"/>
              </a:lnSpc>
              <a:spcBef>
                <a:spcPts val="600"/>
              </a:spcBef>
              <a:spcAft>
                <a:spcPts val="0"/>
              </a:spcAft>
              <a:buClr>
                <a:schemeClr val="dk2"/>
              </a:buClr>
              <a:buSzPts val="3000"/>
              <a:buFont typeface="Noto Sans Symbols"/>
              <a:buChar char="▪"/>
            </a:pPr>
            <a:r>
              <a:rPr b="0" i="0" lang="en-US" sz="3000" u="none">
                <a:solidFill>
                  <a:schemeClr val="dk2"/>
                </a:solidFill>
                <a:latin typeface="Times New Roman"/>
                <a:ea typeface="Times New Roman"/>
                <a:cs typeface="Times New Roman"/>
                <a:sym typeface="Times New Roman"/>
              </a:rPr>
              <a:t>Nhược điểm:</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Số lượng chương xác định tại thời điểm tạo hệ thống hạn chế số lượng tiến trình hoạt động </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Kích thước chương thiết lập trước: không hiệu quả</a:t>
            </a:r>
            <a:endParaRPr b="0" i="0" sz="22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20650" lvl="1" marL="742950" marR="0" rtl="0" algn="l">
              <a:lnSpc>
                <a:spcPct val="100000"/>
              </a:lnSpc>
              <a:spcBef>
                <a:spcPts val="520"/>
              </a:spcBef>
              <a:spcAft>
                <a:spcPts val="0"/>
              </a:spcAft>
              <a:buClr>
                <a:schemeClr val="accent1"/>
              </a:buClr>
              <a:buSzPts val="2600"/>
              <a:buFont typeface="Noto Sans Symbols"/>
              <a:buNone/>
            </a:pPr>
            <a:r>
              <a:t/>
            </a:r>
            <a:endParaRPr b="0" i="0" sz="26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12" name="Google Shape;312;p22"/>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KỸ THUẬT PHÂN CHƯƠNG BỘ NHỚ</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Phân chương cố định</a:t>
            </a:r>
            <a:endParaRPr/>
          </a:p>
        </p:txBody>
      </p:sp>
      <p:sp>
        <p:nvSpPr>
          <p:cNvPr id="313" name="Google Shape;313;p2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4" name="Google Shape;314;p2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15" name="Google Shape;315;p2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3"/>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Kích thước, số lượng và vị trí chương đều có thể thay đổi </a:t>
            </a:r>
            <a:endParaRPr/>
          </a:p>
          <a:p>
            <a:pPr indent="-342900" lvl="0" marL="342900" marR="0" rtl="0" algn="l">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Khi có yêu cầu, HDH cấp cho tiến trình 1 chương có kích thước đúng bằng tiến trình đó đang cần.</a:t>
            </a:r>
            <a:endParaRPr/>
          </a:p>
          <a:p>
            <a:pPr indent="-342900" lvl="0" marL="342900" marR="0" rtl="0" algn="l">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Khi tiến trình kết thúc sẽ tạo vùng trống trong MEM</a:t>
            </a:r>
            <a:endParaRPr/>
          </a:p>
          <a:p>
            <a:pPr indent="-342900" lvl="0" marL="342900" marR="0" rtl="0" algn="l">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Các vùng trống bộ nhớ cũng có thể được liên kết thành một danh sách kết nối</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20650" lvl="1" marL="742950" marR="0" rtl="0" algn="l">
              <a:lnSpc>
                <a:spcPct val="100000"/>
              </a:lnSpc>
              <a:spcBef>
                <a:spcPts val="520"/>
              </a:spcBef>
              <a:spcAft>
                <a:spcPts val="0"/>
              </a:spcAft>
              <a:buClr>
                <a:schemeClr val="accent1"/>
              </a:buClr>
              <a:buSzPts val="2600"/>
              <a:buFont typeface="Noto Sans Symbols"/>
              <a:buNone/>
            </a:pPr>
            <a:r>
              <a:t/>
            </a:r>
            <a:endParaRPr b="0" i="0" sz="26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22" name="Google Shape;322;p23"/>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KỸ THUẬT PHÂN CHƯƠNG BỘ NHỚ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phân chương động</a:t>
            </a:r>
            <a:endParaRPr/>
          </a:p>
        </p:txBody>
      </p:sp>
      <p:sp>
        <p:nvSpPr>
          <p:cNvPr id="323" name="Google Shape;323;p2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24" name="Google Shape;324;p2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325" name="Google Shape;325;p23"/>
          <p:cNvPicPr preferRelativeResize="0"/>
          <p:nvPr/>
        </p:nvPicPr>
        <p:blipFill rotWithShape="1">
          <a:blip r:embed="rId3">
            <a:alphaModFix/>
          </a:blip>
          <a:srcRect b="0" l="0" r="0" t="0"/>
          <a:stretch/>
        </p:blipFill>
        <p:spPr>
          <a:xfrm>
            <a:off x="1790700" y="3286125"/>
            <a:ext cx="6248400" cy="2886075"/>
          </a:xfrm>
          <a:prstGeom prst="rect">
            <a:avLst/>
          </a:prstGeom>
          <a:noFill/>
          <a:ln>
            <a:noFill/>
          </a:ln>
        </p:spPr>
      </p:pic>
      <p:sp>
        <p:nvSpPr>
          <p:cNvPr id="326" name="Google Shape;326;p2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0" st="0"/>
                                            </p:txEl>
                                          </p:spTgt>
                                        </p:tgtEl>
                                        <p:attrNameLst>
                                          <p:attrName>style.visibility</p:attrName>
                                        </p:attrNameLst>
                                      </p:cBhvr>
                                      <p:to>
                                        <p:strVal val="visible"/>
                                      </p:to>
                                    </p:set>
                                    <p:animEffect filter="fade" transition="in">
                                      <p:cBhvr>
                                        <p:cTn dur="500"/>
                                        <p:tgtEl>
                                          <p:spTgt spid="3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1" st="1"/>
                                            </p:txEl>
                                          </p:spTgt>
                                        </p:tgtEl>
                                        <p:attrNameLst>
                                          <p:attrName>style.visibility</p:attrName>
                                        </p:attrNameLst>
                                      </p:cBhvr>
                                      <p:to>
                                        <p:strVal val="visible"/>
                                      </p:to>
                                    </p:set>
                                    <p:animEffect filter="fade" transition="in">
                                      <p:cBhvr>
                                        <p:cTn dur="500"/>
                                        <p:tgtEl>
                                          <p:spTgt spid="3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2" st="2"/>
                                            </p:txEl>
                                          </p:spTgt>
                                        </p:tgtEl>
                                        <p:attrNameLst>
                                          <p:attrName>style.visibility</p:attrName>
                                        </p:attrNameLst>
                                      </p:cBhvr>
                                      <p:to>
                                        <p:strVal val="visible"/>
                                      </p:to>
                                    </p:set>
                                    <p:animEffect filter="fade" transition="in">
                                      <p:cBhvr>
                                        <p:cTn dur="500"/>
                                        <p:tgtEl>
                                          <p:spTgt spid="3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3" st="3"/>
                                            </p:txEl>
                                          </p:spTgt>
                                        </p:tgtEl>
                                        <p:attrNameLst>
                                          <p:attrName>style.visibility</p:attrName>
                                        </p:attrNameLst>
                                      </p:cBhvr>
                                      <p:to>
                                        <p:strVal val="visible"/>
                                      </p:to>
                                    </p:set>
                                    <p:animEffect filter="fade" transition="in">
                                      <p:cBhvr>
                                        <p:cTn dur="500"/>
                                        <p:tgtEl>
                                          <p:spTgt spid="3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4" st="4"/>
                                            </p:txEl>
                                          </p:spTgt>
                                        </p:tgtEl>
                                        <p:attrNameLst>
                                          <p:attrName>style.visibility</p:attrName>
                                        </p:attrNameLst>
                                      </p:cBhvr>
                                      <p:to>
                                        <p:strVal val="visible"/>
                                      </p:to>
                                    </p:set>
                                    <p:animEffect filter="fade" transition="in">
                                      <p:cBhvr>
                                        <p:cTn dur="500"/>
                                        <p:tgtEl>
                                          <p:spTgt spid="32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5" st="5"/>
                                            </p:txEl>
                                          </p:spTgt>
                                        </p:tgtEl>
                                        <p:attrNameLst>
                                          <p:attrName>style.visibility</p:attrName>
                                        </p:attrNameLst>
                                      </p:cBhvr>
                                      <p:to>
                                        <p:strVal val="visible"/>
                                      </p:to>
                                    </p:set>
                                    <p:animEffect filter="fade" transition="in">
                                      <p:cBhvr>
                                        <p:cTn dur="500"/>
                                        <p:tgtEl>
                                          <p:spTgt spid="32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6" st="6"/>
                                            </p:txEl>
                                          </p:spTgt>
                                        </p:tgtEl>
                                        <p:attrNameLst>
                                          <p:attrName>style.visibility</p:attrName>
                                        </p:attrNameLst>
                                      </p:cBhvr>
                                      <p:to>
                                        <p:strVal val="visible"/>
                                      </p:to>
                                    </p:set>
                                    <p:animEffect filter="fade" transition="in">
                                      <p:cBhvr>
                                        <p:cTn dur="500"/>
                                        <p:tgtEl>
                                          <p:spTgt spid="32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7" st="7"/>
                                            </p:txEl>
                                          </p:spTgt>
                                        </p:tgtEl>
                                        <p:attrNameLst>
                                          <p:attrName>style.visibility</p:attrName>
                                        </p:attrNameLst>
                                      </p:cBhvr>
                                      <p:to>
                                        <p:strVal val="visible"/>
                                      </p:to>
                                    </p:set>
                                    <p:animEffect filter="fade" transition="in">
                                      <p:cBhvr>
                                        <p:cTn dur="500"/>
                                        <p:tgtEl>
                                          <p:spTgt spid="32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8" st="8"/>
                                            </p:txEl>
                                          </p:spTgt>
                                        </p:tgtEl>
                                        <p:attrNameLst>
                                          <p:attrName>style.visibility</p:attrName>
                                        </p:attrNameLst>
                                      </p:cBhvr>
                                      <p:to>
                                        <p:strVal val="visible"/>
                                      </p:to>
                                    </p:set>
                                    <p:animEffect filter="fade" transition="in">
                                      <p:cBhvr>
                                        <p:cTn dur="500"/>
                                        <p:tgtEl>
                                          <p:spTgt spid="32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9" st="9"/>
                                            </p:txEl>
                                          </p:spTgt>
                                        </p:tgtEl>
                                        <p:attrNameLst>
                                          <p:attrName>style.visibility</p:attrName>
                                        </p:attrNameLst>
                                      </p:cBhvr>
                                      <p:to>
                                        <p:strVal val="visible"/>
                                      </p:to>
                                    </p:set>
                                    <p:animEffect filter="fade" transition="in">
                                      <p:cBhvr>
                                        <p:cTn dur="500"/>
                                        <p:tgtEl>
                                          <p:spTgt spid="32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10" st="10"/>
                                            </p:txEl>
                                          </p:spTgt>
                                        </p:tgtEl>
                                        <p:attrNameLst>
                                          <p:attrName>style.visibility</p:attrName>
                                        </p:attrNameLst>
                                      </p:cBhvr>
                                      <p:to>
                                        <p:strVal val="visible"/>
                                      </p:to>
                                    </p:set>
                                    <p:animEffect filter="fade" transition="in">
                                      <p:cBhvr>
                                        <p:cTn dur="500"/>
                                        <p:tgtEl>
                                          <p:spTgt spid="321">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11" st="11"/>
                                            </p:txEl>
                                          </p:spTgt>
                                        </p:tgtEl>
                                        <p:attrNameLst>
                                          <p:attrName>style.visibility</p:attrName>
                                        </p:attrNameLst>
                                      </p:cBhvr>
                                      <p:to>
                                        <p:strVal val="visible"/>
                                      </p:to>
                                    </p:set>
                                    <p:animEffect filter="fade" transition="in">
                                      <p:cBhvr>
                                        <p:cTn dur="500"/>
                                        <p:tgtEl>
                                          <p:spTgt spid="321">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xEl>
                                              <p:pRg end="12" st="12"/>
                                            </p:txEl>
                                          </p:spTgt>
                                        </p:tgtEl>
                                        <p:attrNameLst>
                                          <p:attrName>style.visibility</p:attrName>
                                        </p:attrNameLst>
                                      </p:cBhvr>
                                      <p:to>
                                        <p:strVal val="visible"/>
                                      </p:to>
                                    </p:set>
                                    <p:animEffect filter="fade" transition="in">
                                      <p:cBhvr>
                                        <p:cTn dur="500"/>
                                        <p:tgtEl>
                                          <p:spTgt spid="321">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500"/>
                                        <p:tgtEl>
                                          <p:spTgt spid="3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4"/>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Tránh phân mảnh trong</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Gây phân mảnh ngoài: dồn những vùng trống nhỏ thành lớn (nén)</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Sử dụng các chiến lược cấp chương </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Chọn vùng thích hợp đầu tiên (first – fit)</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Vùng thích hợp nhất (best fit)</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Vùng không thích hợp nhất (worst fit)</a:t>
            </a:r>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20650" lvl="1" marL="742950" marR="0" rtl="0" algn="l">
              <a:lnSpc>
                <a:spcPct val="100000"/>
              </a:lnSpc>
              <a:spcBef>
                <a:spcPts val="520"/>
              </a:spcBef>
              <a:spcAft>
                <a:spcPts val="0"/>
              </a:spcAft>
              <a:buClr>
                <a:schemeClr val="accent1"/>
              </a:buClr>
              <a:buSzPts val="2600"/>
              <a:buFont typeface="Noto Sans Symbols"/>
              <a:buNone/>
            </a:pPr>
            <a:r>
              <a:t/>
            </a:r>
            <a:endParaRPr b="0" i="0" sz="26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33" name="Google Shape;333;p24"/>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KỸ THUẬT PHÂN CHƯƠNG BỘ NHỚ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Phân chương động</a:t>
            </a:r>
            <a:endParaRPr/>
          </a:p>
        </p:txBody>
      </p:sp>
      <p:sp>
        <p:nvSpPr>
          <p:cNvPr id="334" name="Google Shape;334;p2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5" name="Google Shape;335;p2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6" name="Google Shape;336;p2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0" st="0"/>
                                            </p:txEl>
                                          </p:spTgt>
                                        </p:tgtEl>
                                        <p:attrNameLst>
                                          <p:attrName>style.visibility</p:attrName>
                                        </p:attrNameLst>
                                      </p:cBhvr>
                                      <p:to>
                                        <p:strVal val="visible"/>
                                      </p:to>
                                    </p:set>
                                    <p:animEffect filter="fade" transition="in">
                                      <p:cBhvr>
                                        <p:cTn dur="500"/>
                                        <p:tgtEl>
                                          <p:spTgt spid="3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1" st="1"/>
                                            </p:txEl>
                                          </p:spTgt>
                                        </p:tgtEl>
                                        <p:attrNameLst>
                                          <p:attrName>style.visibility</p:attrName>
                                        </p:attrNameLst>
                                      </p:cBhvr>
                                      <p:to>
                                        <p:strVal val="visible"/>
                                      </p:to>
                                    </p:set>
                                    <p:animEffect filter="fade" transition="in">
                                      <p:cBhvr>
                                        <p:cTn dur="500"/>
                                        <p:tgtEl>
                                          <p:spTgt spid="33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2" st="2"/>
                                            </p:txEl>
                                          </p:spTgt>
                                        </p:tgtEl>
                                        <p:attrNameLst>
                                          <p:attrName>style.visibility</p:attrName>
                                        </p:attrNameLst>
                                      </p:cBhvr>
                                      <p:to>
                                        <p:strVal val="visible"/>
                                      </p:to>
                                    </p:set>
                                    <p:animEffect filter="fade" transition="in">
                                      <p:cBhvr>
                                        <p:cTn dur="500"/>
                                        <p:tgtEl>
                                          <p:spTgt spid="33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3" st="3"/>
                                            </p:txEl>
                                          </p:spTgt>
                                        </p:tgtEl>
                                        <p:attrNameLst>
                                          <p:attrName>style.visibility</p:attrName>
                                        </p:attrNameLst>
                                      </p:cBhvr>
                                      <p:to>
                                        <p:strVal val="visible"/>
                                      </p:to>
                                    </p:set>
                                    <p:animEffect filter="fade" transition="in">
                                      <p:cBhvr>
                                        <p:cTn dur="500"/>
                                        <p:tgtEl>
                                          <p:spTgt spid="33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4" st="4"/>
                                            </p:txEl>
                                          </p:spTgt>
                                        </p:tgtEl>
                                        <p:attrNameLst>
                                          <p:attrName>style.visibility</p:attrName>
                                        </p:attrNameLst>
                                      </p:cBhvr>
                                      <p:to>
                                        <p:strVal val="visible"/>
                                      </p:to>
                                    </p:set>
                                    <p:animEffect filter="fade" transition="in">
                                      <p:cBhvr>
                                        <p:cTn dur="500"/>
                                        <p:tgtEl>
                                          <p:spTgt spid="33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5" st="5"/>
                                            </p:txEl>
                                          </p:spTgt>
                                        </p:tgtEl>
                                        <p:attrNameLst>
                                          <p:attrName>style.visibility</p:attrName>
                                        </p:attrNameLst>
                                      </p:cBhvr>
                                      <p:to>
                                        <p:strVal val="visible"/>
                                      </p:to>
                                    </p:set>
                                    <p:animEffect filter="fade" transition="in">
                                      <p:cBhvr>
                                        <p:cTn dur="500"/>
                                        <p:tgtEl>
                                          <p:spTgt spid="33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6" st="6"/>
                                            </p:txEl>
                                          </p:spTgt>
                                        </p:tgtEl>
                                        <p:attrNameLst>
                                          <p:attrName>style.visibility</p:attrName>
                                        </p:attrNameLst>
                                      </p:cBhvr>
                                      <p:to>
                                        <p:strVal val="visible"/>
                                      </p:to>
                                    </p:set>
                                    <p:animEffect filter="fade" transition="in">
                                      <p:cBhvr>
                                        <p:cTn dur="500"/>
                                        <p:tgtEl>
                                          <p:spTgt spid="33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7" st="7"/>
                                            </p:txEl>
                                          </p:spTgt>
                                        </p:tgtEl>
                                        <p:attrNameLst>
                                          <p:attrName>style.visibility</p:attrName>
                                        </p:attrNameLst>
                                      </p:cBhvr>
                                      <p:to>
                                        <p:strVal val="visible"/>
                                      </p:to>
                                    </p:set>
                                    <p:animEffect filter="fade" transition="in">
                                      <p:cBhvr>
                                        <p:cTn dur="500"/>
                                        <p:tgtEl>
                                          <p:spTgt spid="33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8" st="8"/>
                                            </p:txEl>
                                          </p:spTgt>
                                        </p:tgtEl>
                                        <p:attrNameLst>
                                          <p:attrName>style.visibility</p:attrName>
                                        </p:attrNameLst>
                                      </p:cBhvr>
                                      <p:to>
                                        <p:strVal val="visible"/>
                                      </p:to>
                                    </p:set>
                                    <p:animEffect filter="fade" transition="in">
                                      <p:cBhvr>
                                        <p:cTn dur="500"/>
                                        <p:tgtEl>
                                          <p:spTgt spid="33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9" st="9"/>
                                            </p:txEl>
                                          </p:spTgt>
                                        </p:tgtEl>
                                        <p:attrNameLst>
                                          <p:attrName>style.visibility</p:attrName>
                                        </p:attrNameLst>
                                      </p:cBhvr>
                                      <p:to>
                                        <p:strVal val="visible"/>
                                      </p:to>
                                    </p:set>
                                    <p:animEffect filter="fade" transition="in">
                                      <p:cBhvr>
                                        <p:cTn dur="500"/>
                                        <p:tgtEl>
                                          <p:spTgt spid="33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10" st="10"/>
                                            </p:txEl>
                                          </p:spTgt>
                                        </p:tgtEl>
                                        <p:attrNameLst>
                                          <p:attrName>style.visibility</p:attrName>
                                        </p:attrNameLst>
                                      </p:cBhvr>
                                      <p:to>
                                        <p:strVal val="visible"/>
                                      </p:to>
                                    </p:set>
                                    <p:animEffect filter="fade" transition="in">
                                      <p:cBhvr>
                                        <p:cTn dur="500"/>
                                        <p:tgtEl>
                                          <p:spTgt spid="33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11" st="11"/>
                                            </p:txEl>
                                          </p:spTgt>
                                        </p:tgtEl>
                                        <p:attrNameLst>
                                          <p:attrName>style.visibility</p:attrName>
                                        </p:attrNameLst>
                                      </p:cBhvr>
                                      <p:to>
                                        <p:strVal val="visible"/>
                                      </p:to>
                                    </p:set>
                                    <p:animEffect filter="fade" transition="in">
                                      <p:cBhvr>
                                        <p:cTn dur="500"/>
                                        <p:tgtEl>
                                          <p:spTgt spid="33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12" st="12"/>
                                            </p:txEl>
                                          </p:spTgt>
                                        </p:tgtEl>
                                        <p:attrNameLst>
                                          <p:attrName>style.visibility</p:attrName>
                                        </p:attrNameLst>
                                      </p:cBhvr>
                                      <p:to>
                                        <p:strVal val="visible"/>
                                      </p:to>
                                    </p:set>
                                    <p:animEffect filter="fade" transition="in">
                                      <p:cBhvr>
                                        <p:cTn dur="500"/>
                                        <p:tgtEl>
                                          <p:spTgt spid="332">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xEl>
                                              <p:pRg end="13" st="13"/>
                                            </p:txEl>
                                          </p:spTgt>
                                        </p:tgtEl>
                                        <p:attrNameLst>
                                          <p:attrName>style.visibility</p:attrName>
                                        </p:attrNameLst>
                                      </p:cBhvr>
                                      <p:to>
                                        <p:strVal val="visible"/>
                                      </p:to>
                                    </p:set>
                                    <p:animEffect filter="fade" transition="in">
                                      <p:cBhvr>
                                        <p:cTn dur="500"/>
                                        <p:tgtEl>
                                          <p:spTgt spid="332">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5"/>
          <p:cNvSpPr txBox="1"/>
          <p:nvPr>
            <p:ph idx="1" type="body"/>
          </p:nvPr>
        </p:nvSpPr>
        <p:spPr>
          <a:xfrm>
            <a:off x="0" y="838200"/>
            <a:ext cx="9296400" cy="57150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Các chương và khối trống có kích thước là lũy thừa của 2</a:t>
            </a:r>
            <a:r>
              <a:rPr b="0" baseline="30000" i="0" lang="en-US" sz="2800" u="none">
                <a:solidFill>
                  <a:schemeClr val="dk2"/>
                </a:solidFill>
                <a:latin typeface="Times New Roman"/>
                <a:ea typeface="Times New Roman"/>
                <a:cs typeface="Times New Roman"/>
                <a:sym typeface="Times New Roman"/>
              </a:rPr>
              <a:t>k</a:t>
            </a:r>
            <a:r>
              <a:rPr b="0" i="0" lang="en-US" sz="2800" u="none">
                <a:solidFill>
                  <a:schemeClr val="dk2"/>
                </a:solidFill>
                <a:latin typeface="Times New Roman"/>
                <a:ea typeface="Times New Roman"/>
                <a:cs typeface="Times New Roman"/>
                <a:sym typeface="Times New Roman"/>
              </a:rPr>
              <a:t> (L≤k≤H)</a:t>
            </a:r>
            <a:r>
              <a:rPr b="0" i="0" lang="en-US" sz="2400" u="none">
                <a:solidFill>
                  <a:schemeClr val="dk2"/>
                </a:solidFill>
                <a:latin typeface="Times New Roman"/>
                <a:ea typeface="Times New Roman"/>
                <a:cs typeface="Times New Roman"/>
                <a:sym typeface="Times New Roman"/>
              </a:rPr>
              <a:t>: </a:t>
            </a:r>
            <a:r>
              <a:rPr b="0" i="0" lang="en-US" sz="2800" u="none">
                <a:solidFill>
                  <a:schemeClr val="dk2"/>
                </a:solidFill>
                <a:latin typeface="Times New Roman"/>
                <a:ea typeface="Times New Roman"/>
                <a:cs typeface="Times New Roman"/>
                <a:sym typeface="Times New Roman"/>
              </a:rPr>
              <a:t>2</a:t>
            </a:r>
            <a:r>
              <a:rPr b="0" baseline="30000" i="0" lang="en-US" sz="2800" u="none">
                <a:solidFill>
                  <a:schemeClr val="dk2"/>
                </a:solidFill>
                <a:latin typeface="Times New Roman"/>
                <a:ea typeface="Times New Roman"/>
                <a:cs typeface="Times New Roman"/>
                <a:sym typeface="Times New Roman"/>
              </a:rPr>
              <a:t>L</a:t>
            </a:r>
            <a:r>
              <a:rPr b="0" i="0" lang="en-US" sz="2800" u="none">
                <a:solidFill>
                  <a:schemeClr val="dk2"/>
                </a:solidFill>
                <a:latin typeface="Times New Roman"/>
                <a:ea typeface="Times New Roman"/>
                <a:cs typeface="Times New Roman"/>
                <a:sym typeface="Times New Roman"/>
              </a:rPr>
              <a:t>: kích thước nhỏ nhất của chương;  2</a:t>
            </a:r>
            <a:r>
              <a:rPr b="0" baseline="30000" i="0" lang="en-US" sz="2800" u="none">
                <a:solidFill>
                  <a:schemeClr val="dk2"/>
                </a:solidFill>
                <a:latin typeface="Times New Roman"/>
                <a:ea typeface="Times New Roman"/>
                <a:cs typeface="Times New Roman"/>
                <a:sym typeface="Times New Roman"/>
              </a:rPr>
              <a:t>H</a:t>
            </a:r>
            <a:r>
              <a:rPr b="0" i="0" lang="en-US" sz="2800" u="none">
                <a:solidFill>
                  <a:schemeClr val="dk2"/>
                </a:solidFill>
                <a:latin typeface="Times New Roman"/>
                <a:ea typeface="Times New Roman"/>
                <a:cs typeface="Times New Roman"/>
                <a:sym typeface="Times New Roman"/>
              </a:rPr>
              <a:t> : kích thước MEM</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Đầu tiên, toàn bộ không gian nhớ là 2</a:t>
            </a:r>
            <a:r>
              <a:rPr b="0" baseline="30000" i="0" lang="en-US" sz="2800" u="none">
                <a:solidFill>
                  <a:schemeClr val="dk2"/>
                </a:solidFill>
                <a:latin typeface="Times New Roman"/>
                <a:ea typeface="Times New Roman"/>
                <a:cs typeface="Times New Roman"/>
                <a:sym typeface="Times New Roman"/>
              </a:rPr>
              <a:t>H</a:t>
            </a:r>
            <a:r>
              <a:rPr b="0" i="0" lang="en-US" sz="2800" u="none">
                <a:solidFill>
                  <a:schemeClr val="dk2"/>
                </a:solidFill>
                <a:latin typeface="Times New Roman"/>
                <a:ea typeface="Times New Roman"/>
                <a:cs typeface="Times New Roman"/>
                <a:sym typeface="Times New Roman"/>
              </a:rPr>
              <a:t> , yêu cầu cấp vùng nhớ S</a:t>
            </a:r>
            <a:endParaRPr b="0" i="0" sz="24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2</a:t>
            </a:r>
            <a:r>
              <a:rPr b="0" baseline="30000" i="0" lang="en-US" sz="2400" u="none" cap="none" strike="noStrike">
                <a:solidFill>
                  <a:schemeClr val="dk2"/>
                </a:solidFill>
                <a:latin typeface="Times New Roman"/>
                <a:ea typeface="Times New Roman"/>
                <a:cs typeface="Times New Roman"/>
                <a:sym typeface="Times New Roman"/>
              </a:rPr>
              <a:t>H-1</a:t>
            </a:r>
            <a:r>
              <a:rPr b="0" i="0" lang="en-US" sz="2400" u="none" cap="none" strike="noStrike">
                <a:solidFill>
                  <a:schemeClr val="dk2"/>
                </a:solidFill>
                <a:latin typeface="Times New Roman"/>
                <a:ea typeface="Times New Roman"/>
                <a:cs typeface="Times New Roman"/>
                <a:sym typeface="Times New Roman"/>
              </a:rPr>
              <a:t> &lt;S≤ 2</a:t>
            </a:r>
            <a:r>
              <a:rPr b="0" baseline="30000" i="0" lang="en-US" sz="2400" u="none" cap="none" strike="noStrike">
                <a:solidFill>
                  <a:schemeClr val="dk2"/>
                </a:solidFill>
                <a:latin typeface="Times New Roman"/>
                <a:ea typeface="Times New Roman"/>
                <a:cs typeface="Times New Roman"/>
                <a:sym typeface="Times New Roman"/>
              </a:rPr>
              <a:t>H</a:t>
            </a:r>
            <a:r>
              <a:rPr b="0" i="0" lang="en-US" sz="2400" u="none" cap="none" strike="noStrike">
                <a:solidFill>
                  <a:schemeClr val="dk2"/>
                </a:solidFill>
                <a:latin typeface="Times New Roman"/>
                <a:ea typeface="Times New Roman"/>
                <a:cs typeface="Times New Roman"/>
                <a:sym typeface="Times New Roman"/>
              </a:rPr>
              <a:t> : cấp cả 2</a:t>
            </a:r>
            <a:r>
              <a:rPr b="0" baseline="30000" i="0" lang="en-US" sz="2400" u="none" cap="none" strike="noStrike">
                <a:solidFill>
                  <a:schemeClr val="dk2"/>
                </a:solidFill>
                <a:latin typeface="Times New Roman"/>
                <a:ea typeface="Times New Roman"/>
                <a:cs typeface="Times New Roman"/>
                <a:sym typeface="Times New Roman"/>
              </a:rPr>
              <a:t>H</a:t>
            </a:r>
            <a:r>
              <a:rPr b="0" i="0" lang="en-US" sz="2400" u="none" cap="none" strike="noStrike">
                <a:solidFill>
                  <a:schemeClr val="dk2"/>
                </a:solidFill>
                <a:latin typeface="Times New Roman"/>
                <a:ea typeface="Times New Roman"/>
                <a:cs typeface="Times New Roman"/>
                <a:sym typeface="Times New Roman"/>
              </a:rPr>
              <a:t> </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S≤ 2</a:t>
            </a:r>
            <a:r>
              <a:rPr b="0" baseline="30000" i="0" lang="en-US" sz="2400" u="none" cap="none" strike="noStrike">
                <a:solidFill>
                  <a:schemeClr val="dk2"/>
                </a:solidFill>
                <a:latin typeface="Times New Roman"/>
                <a:ea typeface="Times New Roman"/>
                <a:cs typeface="Times New Roman"/>
                <a:sym typeface="Times New Roman"/>
              </a:rPr>
              <a:t>H-1</a:t>
            </a:r>
            <a:r>
              <a:rPr b="0" i="0" lang="en-US" sz="2400" u="none" cap="none" strike="noStrike">
                <a:solidFill>
                  <a:schemeClr val="dk2"/>
                </a:solidFill>
                <a:latin typeface="Times New Roman"/>
                <a:ea typeface="Times New Roman"/>
                <a:cs typeface="Times New Roman"/>
                <a:sym typeface="Times New Roman"/>
              </a:rPr>
              <a:t> Chia đôi   thành 2 vùng</a:t>
            </a:r>
            <a:r>
              <a:rPr b="0" i="0" lang="en-US" sz="2200" u="none" cap="none" strike="noStrike">
                <a:solidFill>
                  <a:schemeClr val="dk2"/>
                </a:solidFill>
                <a:latin typeface="Times New Roman"/>
                <a:ea typeface="Times New Roman"/>
                <a:cs typeface="Times New Roman"/>
                <a:sym typeface="Times New Roman"/>
              </a:rPr>
              <a:t> </a:t>
            </a:r>
            <a:r>
              <a:rPr b="0" i="0" lang="en-US" sz="2400" u="none" cap="none" strike="noStrike">
                <a:solidFill>
                  <a:schemeClr val="dk2"/>
                </a:solidFill>
                <a:latin typeface="Times New Roman"/>
                <a:ea typeface="Times New Roman"/>
                <a:cs typeface="Times New Roman"/>
                <a:sym typeface="Times New Roman"/>
              </a:rPr>
              <a:t>2</a:t>
            </a:r>
            <a:r>
              <a:rPr b="0" baseline="30000" i="0" lang="en-US" sz="2400" u="none" cap="none" strike="noStrike">
                <a:solidFill>
                  <a:schemeClr val="dk2"/>
                </a:solidFill>
                <a:latin typeface="Times New Roman"/>
                <a:ea typeface="Times New Roman"/>
                <a:cs typeface="Times New Roman"/>
                <a:sym typeface="Times New Roman"/>
              </a:rPr>
              <a:t>H-1</a:t>
            </a:r>
            <a:r>
              <a:rPr b="0" i="0" lang="en-US" sz="2400" u="none" cap="none" strike="noStrike">
                <a:solidFill>
                  <a:schemeClr val="dk2"/>
                </a:solidFill>
                <a:latin typeface="Times New Roman"/>
                <a:ea typeface="Times New Roman"/>
                <a:cs typeface="Times New Roman"/>
                <a:sym typeface="Times New Roman"/>
              </a:rPr>
              <a:t> :</a:t>
            </a:r>
            <a:endParaRPr b="0" i="0" sz="2000" u="none" cap="none" strike="noStrike">
              <a:solidFill>
                <a:schemeClr val="dk2"/>
              </a:solidFill>
              <a:latin typeface="Times New Roman"/>
              <a:ea typeface="Times New Roman"/>
              <a:cs typeface="Times New Roman"/>
              <a:sym typeface="Times New Roman"/>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Nếu 2</a:t>
            </a:r>
            <a:r>
              <a:rPr b="0" baseline="30000" i="0" lang="en-US" sz="2000" u="none" cap="none" strike="noStrike">
                <a:solidFill>
                  <a:schemeClr val="dk2"/>
                </a:solidFill>
                <a:latin typeface="Times New Roman"/>
                <a:ea typeface="Times New Roman"/>
                <a:cs typeface="Times New Roman"/>
                <a:sym typeface="Times New Roman"/>
              </a:rPr>
              <a:t>H-2</a:t>
            </a:r>
            <a:r>
              <a:rPr b="0" i="0" lang="en-US" sz="2000" u="none" cap="none" strike="noStrike">
                <a:solidFill>
                  <a:schemeClr val="dk2"/>
                </a:solidFill>
                <a:latin typeface="Times New Roman"/>
                <a:ea typeface="Times New Roman"/>
                <a:cs typeface="Times New Roman"/>
                <a:sym typeface="Times New Roman"/>
              </a:rPr>
              <a:t> &lt;S≤ 2</a:t>
            </a:r>
            <a:r>
              <a:rPr b="0" baseline="30000" i="0" lang="en-US" sz="2000" u="none" cap="none" strike="noStrike">
                <a:solidFill>
                  <a:schemeClr val="dk2"/>
                </a:solidFill>
                <a:latin typeface="Times New Roman"/>
                <a:ea typeface="Times New Roman"/>
                <a:cs typeface="Times New Roman"/>
                <a:sym typeface="Times New Roman"/>
              </a:rPr>
              <a:t>H-1</a:t>
            </a:r>
            <a:r>
              <a:rPr b="0" i="0" lang="en-US" sz="2000" u="none" cap="none" strike="noStrike">
                <a:solidFill>
                  <a:schemeClr val="dk2"/>
                </a:solidFill>
                <a:latin typeface="Times New Roman"/>
                <a:ea typeface="Times New Roman"/>
                <a:cs typeface="Times New Roman"/>
                <a:sym typeface="Times New Roman"/>
              </a:rPr>
              <a:t> : cấp  2</a:t>
            </a:r>
            <a:r>
              <a:rPr b="0" baseline="30000" i="0" lang="en-US" sz="2000" u="none" cap="none" strike="noStrike">
                <a:solidFill>
                  <a:schemeClr val="dk2"/>
                </a:solidFill>
                <a:latin typeface="Times New Roman"/>
                <a:ea typeface="Times New Roman"/>
                <a:cs typeface="Times New Roman"/>
                <a:sym typeface="Times New Roman"/>
              </a:rPr>
              <a:t>H-1 </a:t>
            </a:r>
            <a:r>
              <a:rPr b="0" i="0" lang="en-US" sz="2000" u="none" cap="none" strike="noStrike">
                <a:solidFill>
                  <a:schemeClr val="dk2"/>
                </a:solidFill>
                <a:latin typeface="Times New Roman"/>
                <a:ea typeface="Times New Roman"/>
                <a:cs typeface="Times New Roman"/>
                <a:sym typeface="Times New Roman"/>
              </a:rPr>
              <a:t>     </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Tiếp tục chia đôi tới khi tìm được vùng thỏa mãn 2</a:t>
            </a:r>
            <a:r>
              <a:rPr b="0" baseline="30000" i="0" lang="en-US" sz="2000" u="none" cap="none" strike="noStrike">
                <a:solidFill>
                  <a:schemeClr val="dk2"/>
                </a:solidFill>
                <a:latin typeface="Times New Roman"/>
                <a:ea typeface="Times New Roman"/>
                <a:cs typeface="Times New Roman"/>
                <a:sym typeface="Times New Roman"/>
              </a:rPr>
              <a:t>k-1</a:t>
            </a:r>
            <a:r>
              <a:rPr b="0" i="0" lang="en-US" sz="2000" u="none" cap="none" strike="noStrike">
                <a:solidFill>
                  <a:schemeClr val="dk2"/>
                </a:solidFill>
                <a:latin typeface="Times New Roman"/>
                <a:ea typeface="Times New Roman"/>
                <a:cs typeface="Times New Roman"/>
                <a:sym typeface="Times New Roman"/>
              </a:rPr>
              <a:t>&lt;S≤ 2</a:t>
            </a:r>
            <a:r>
              <a:rPr b="0" baseline="30000" i="0" lang="en-US" sz="2000" u="none" cap="none" strike="noStrike">
                <a:solidFill>
                  <a:schemeClr val="dk2"/>
                </a:solidFill>
                <a:latin typeface="Times New Roman"/>
                <a:ea typeface="Times New Roman"/>
                <a:cs typeface="Times New Roman"/>
                <a:sym typeface="Times New Roman"/>
              </a:rPr>
              <a:t>k</a:t>
            </a:r>
            <a:r>
              <a:rPr b="0" i="0" lang="en-US" sz="2000" u="none" cap="none" strike="noStrike">
                <a:solidFill>
                  <a:schemeClr val="dk2"/>
                </a:solidFill>
                <a:latin typeface="Times New Roman"/>
                <a:ea typeface="Times New Roman"/>
                <a:cs typeface="Times New Roman"/>
                <a:sym typeface="Times New Roman"/>
              </a:rPr>
              <a:t> </a:t>
            </a:r>
            <a:endParaRPr b="0" i="0" sz="18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43" name="Google Shape;343;p25"/>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KỸ THUẬT PHÂN CHƯƠNG BỘ NHỚ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Phương pháp kề cận (buddy system)</a:t>
            </a:r>
            <a:endParaRPr/>
          </a:p>
        </p:txBody>
      </p:sp>
      <p:sp>
        <p:nvSpPr>
          <p:cNvPr id="344" name="Google Shape;344;p2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5" name="Google Shape;345;p2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6" name="Google Shape;346;p2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g2786d807e4b_0_0"/>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KỸ THUẬT PHÂN CHƯƠNG BỘ NHỚ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Phương pháp kề cận (buddy system)</a:t>
            </a:r>
            <a:endParaRPr/>
          </a:p>
        </p:txBody>
      </p:sp>
      <p:sp>
        <p:nvSpPr>
          <p:cNvPr id="353" name="Google Shape;353;g2786d807e4b_0_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4" name="Google Shape;354;g2786d807e4b_0_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55" name="Google Shape;355;g2786d807e4b_0_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356" name="Google Shape;356;g2786d807e4b_0_0"/>
          <p:cNvPicPr preferRelativeResize="0"/>
          <p:nvPr/>
        </p:nvPicPr>
        <p:blipFill>
          <a:blip r:embed="rId3">
            <a:alphaModFix/>
          </a:blip>
          <a:stretch>
            <a:fillRect/>
          </a:stretch>
        </p:blipFill>
        <p:spPr>
          <a:xfrm>
            <a:off x="407525" y="1071750"/>
            <a:ext cx="8328950" cy="47145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6"/>
          <p:cNvSpPr txBox="1"/>
          <p:nvPr>
            <p:ph idx="1" type="body"/>
          </p:nvPr>
        </p:nvSpPr>
        <p:spPr>
          <a:xfrm>
            <a:off x="0" y="762000"/>
            <a:ext cx="9296400" cy="5715000"/>
          </a:xfrm>
          <a:prstGeom prst="rect">
            <a:avLst/>
          </a:prstGeom>
          <a:noFill/>
          <a:ln>
            <a:noFill/>
          </a:ln>
        </p:spPr>
        <p:txBody>
          <a:bodyPr anchorCtr="0" anchor="t" bIns="45700" lIns="91425" spcFirstLastPara="1" rIns="91425" wrap="square" tIns="45700">
            <a:noAutofit/>
          </a:bodyPr>
          <a:lstStyle/>
          <a:p>
            <a:pPr indent="-228600" lvl="0" marL="342900" marR="0" rtl="0" algn="l">
              <a:lnSpc>
                <a:spcPct val="100000"/>
              </a:lnSpc>
              <a:spcBef>
                <a:spcPts val="0"/>
              </a:spcBef>
              <a:spcAft>
                <a:spcPts val="0"/>
              </a:spcAft>
              <a:buClr>
                <a:schemeClr val="dk2"/>
              </a:buClr>
              <a:buSzPts val="1800"/>
              <a:buFont typeface="Noto Sans Symbols"/>
              <a:buNone/>
            </a:pPr>
            <a:r>
              <a:t/>
            </a:r>
            <a:endParaRPr b="0" i="0" sz="1800" u="non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Sau một thời gian xuất hiện các khối trống có kích thước 2</a:t>
            </a:r>
            <a:r>
              <a:rPr b="0" baseline="30000" i="0" lang="en-US" sz="2800" u="none">
                <a:solidFill>
                  <a:schemeClr val="dk2"/>
                </a:solidFill>
                <a:latin typeface="Times New Roman"/>
                <a:ea typeface="Times New Roman"/>
                <a:cs typeface="Times New Roman"/>
                <a:sym typeface="Times New Roman"/>
              </a:rPr>
              <a:t>k</a:t>
            </a:r>
            <a:r>
              <a:rPr b="0" i="0" lang="en-US" sz="2800" u="none">
                <a:solidFill>
                  <a:schemeClr val="dk2"/>
                </a:solidFill>
                <a:latin typeface="Times New Roman"/>
                <a:ea typeface="Times New Roman"/>
                <a:cs typeface="Times New Roman"/>
                <a:sym typeface="Times New Roman"/>
              </a:rPr>
              <a:t> </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Tạo danh sách móc nối các vùng có cùng kích thước</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Nếu có 2 khối trống cùng kích thước và kề nhau thì ghép lại thành 1</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Khi cần cấp, sẽ tìm trong danh sách khối phù hợp nhất; nếu không tìm khối lớn hơn và cắt đôi</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63" name="Google Shape;363;p26"/>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KỸ THUẬT PHÂN CHƯƠNG BỘ NHỚ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Phương pháp kề cận </a:t>
            </a:r>
            <a:endParaRPr/>
          </a:p>
        </p:txBody>
      </p:sp>
      <p:sp>
        <p:nvSpPr>
          <p:cNvPr id="364" name="Google Shape;364;p2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5" name="Google Shape;365;p2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66" name="Google Shape;366;p2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27"/>
          <p:cNvSpPr txBox="1"/>
          <p:nvPr>
            <p:ph idx="1" type="body"/>
          </p:nvPr>
        </p:nvSpPr>
        <p:spPr>
          <a:xfrm>
            <a:off x="0" y="1143000"/>
            <a:ext cx="9296400" cy="5715000"/>
          </a:xfrm>
          <a:prstGeom prst="rect">
            <a:avLst/>
          </a:prstGeom>
          <a:noFill/>
          <a:ln>
            <a:noFill/>
          </a:ln>
        </p:spPr>
        <p:txBody>
          <a:bodyPr anchorCtr="0" anchor="t" bIns="45700" lIns="91425" spcFirstLastPara="1" rIns="91425" wrap="square" tIns="45700">
            <a:noAutofit/>
          </a:bodyPr>
          <a:lstStyle/>
          <a:p>
            <a:pPr indent="-228600" lvl="0" marL="342900" marR="0" rtl="0" algn="l">
              <a:lnSpc>
                <a:spcPct val="100000"/>
              </a:lnSpc>
              <a:spcBef>
                <a:spcPts val="0"/>
              </a:spcBef>
              <a:spcAft>
                <a:spcPts val="0"/>
              </a:spcAft>
              <a:buClr>
                <a:schemeClr val="dk2"/>
              </a:buClr>
              <a:buSzPts val="1800"/>
              <a:buFont typeface="Noto Sans Symbols"/>
              <a:buNone/>
            </a:pPr>
            <a:r>
              <a:t/>
            </a:r>
            <a:endParaRPr b="0" i="0" sz="1800" u="non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73" name="Google Shape;373;p27"/>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KỸ THUẬT PHÂN CHƯƠNG BỘ NHỚ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Phương pháp kề cận</a:t>
            </a:r>
            <a:endParaRPr/>
          </a:p>
        </p:txBody>
      </p:sp>
      <p:sp>
        <p:nvSpPr>
          <p:cNvPr id="374" name="Google Shape;374;p2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75" name="Google Shape;375;p2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376" name="Google Shape;376;p27"/>
          <p:cNvPicPr preferRelativeResize="0"/>
          <p:nvPr/>
        </p:nvPicPr>
        <p:blipFill rotWithShape="1">
          <a:blip r:embed="rId3">
            <a:alphaModFix/>
          </a:blip>
          <a:srcRect b="0" l="0" r="0" t="0"/>
          <a:stretch/>
        </p:blipFill>
        <p:spPr>
          <a:xfrm>
            <a:off x="857250" y="1676400"/>
            <a:ext cx="7427912" cy="3200400"/>
          </a:xfrm>
          <a:prstGeom prst="rect">
            <a:avLst/>
          </a:prstGeom>
          <a:noFill/>
          <a:ln>
            <a:noFill/>
          </a:ln>
        </p:spPr>
      </p:pic>
      <p:sp>
        <p:nvSpPr>
          <p:cNvPr id="377" name="Google Shape;377;p2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28"/>
          <p:cNvSpPr txBox="1"/>
          <p:nvPr>
            <p:ph idx="1" type="body"/>
          </p:nvPr>
        </p:nvSpPr>
        <p:spPr>
          <a:xfrm>
            <a:off x="0" y="762000"/>
            <a:ext cx="92964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Vị trí các chương thường không biết trước và có thể thay đổi =&gt; cần có cơ chế biến đổi địa chỉ logic thành vật lý</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Cấm truy cập trái phép: tiến trình này truy cập tới phần MEM của tiến trình khác</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Ánh xạ địa chỉ do phần cứng đảm nhiệm</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384" name="Google Shape;384;p28"/>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PHÂN CHƯƠNG BỘ NHỚ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Ánh xạ địa chỉ và chống truy cập trái phép</a:t>
            </a:r>
            <a:endParaRPr/>
          </a:p>
        </p:txBody>
      </p:sp>
      <p:sp>
        <p:nvSpPr>
          <p:cNvPr id="385" name="Google Shape;385;p2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6" name="Google Shape;386;p2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87" name="Google Shape;387;p2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388" name="Google Shape;388;p28"/>
          <p:cNvGrpSpPr/>
          <p:nvPr/>
        </p:nvGrpSpPr>
        <p:grpSpPr>
          <a:xfrm>
            <a:off x="1371600" y="3276600"/>
            <a:ext cx="6249987" cy="3194050"/>
            <a:chOff x="1985" y="1440"/>
            <a:chExt cx="7964" cy="4071"/>
          </a:xfrm>
        </p:grpSpPr>
        <p:sp>
          <p:nvSpPr>
            <p:cNvPr id="389" name="Google Shape;389;p28"/>
            <p:cNvSpPr/>
            <p:nvPr/>
          </p:nvSpPr>
          <p:spPr>
            <a:xfrm>
              <a:off x="1985" y="1440"/>
              <a:ext cx="7964" cy="407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90" name="Google Shape;390;p28"/>
            <p:cNvSpPr txBox="1"/>
            <p:nvPr/>
          </p:nvSpPr>
          <p:spPr>
            <a:xfrm>
              <a:off x="2474" y="3167"/>
              <a:ext cx="838" cy="67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CPU</a:t>
              </a:r>
              <a:endParaRPr/>
            </a:p>
          </p:txBody>
        </p:sp>
        <p:sp>
          <p:nvSpPr>
            <p:cNvPr id="391" name="Google Shape;391;p28"/>
            <p:cNvSpPr/>
            <p:nvPr/>
          </p:nvSpPr>
          <p:spPr>
            <a:xfrm>
              <a:off x="4411" y="3115"/>
              <a:ext cx="1034" cy="785"/>
            </a:xfrm>
            <a:prstGeom prst="diamond">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imes New Roman"/>
                <a:buNone/>
              </a:pPr>
              <a:r>
                <a:rPr b="1" i="0" lang="en-US" sz="1400" u="none">
                  <a:solidFill>
                    <a:schemeClr val="dk1"/>
                  </a:solidFill>
                  <a:latin typeface="Times New Roman"/>
                  <a:ea typeface="Times New Roman"/>
                  <a:cs typeface="Times New Roman"/>
                  <a:sym typeface="Times New Roman"/>
                </a:rPr>
                <a:t>&lt;</a:t>
              </a:r>
              <a:endParaRPr/>
            </a:p>
          </p:txBody>
        </p:sp>
        <p:sp>
          <p:nvSpPr>
            <p:cNvPr id="392" name="Google Shape;392;p28"/>
            <p:cNvSpPr txBox="1"/>
            <p:nvPr/>
          </p:nvSpPr>
          <p:spPr>
            <a:xfrm>
              <a:off x="4294" y="1694"/>
              <a:ext cx="1257" cy="67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Thanh ghi giới hạn</a:t>
              </a:r>
              <a:endParaRPr/>
            </a:p>
          </p:txBody>
        </p:sp>
        <p:sp>
          <p:nvSpPr>
            <p:cNvPr id="393" name="Google Shape;393;p28"/>
            <p:cNvSpPr txBox="1"/>
            <p:nvPr/>
          </p:nvSpPr>
          <p:spPr>
            <a:xfrm>
              <a:off x="6155" y="1700"/>
              <a:ext cx="1215" cy="67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Thanh ghi cơ sở</a:t>
              </a:r>
              <a:endParaRPr/>
            </a:p>
          </p:txBody>
        </p:sp>
        <p:sp>
          <p:nvSpPr>
            <p:cNvPr id="394" name="Google Shape;394;p28"/>
            <p:cNvSpPr/>
            <p:nvPr/>
          </p:nvSpPr>
          <p:spPr>
            <a:xfrm>
              <a:off x="6388" y="3115"/>
              <a:ext cx="747" cy="785"/>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imes New Roman"/>
                <a:buNone/>
              </a:pPr>
              <a:r>
                <a:rPr b="1" i="0" lang="en-US" sz="1400" u="none">
                  <a:solidFill>
                    <a:schemeClr val="dk1"/>
                  </a:solidFill>
                  <a:latin typeface="Times New Roman"/>
                  <a:ea typeface="Times New Roman"/>
                  <a:cs typeface="Times New Roman"/>
                  <a:sym typeface="Times New Roman"/>
                </a:rPr>
                <a:t>+</a:t>
              </a:r>
              <a:endParaRPr/>
            </a:p>
          </p:txBody>
        </p:sp>
        <p:sp>
          <p:nvSpPr>
            <p:cNvPr id="395" name="Google Shape;395;p28"/>
            <p:cNvSpPr txBox="1"/>
            <p:nvPr/>
          </p:nvSpPr>
          <p:spPr>
            <a:xfrm>
              <a:off x="8307" y="2536"/>
              <a:ext cx="1215" cy="194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Bộ nhớ</a:t>
              </a:r>
              <a:endParaRPr/>
            </a:p>
          </p:txBody>
        </p:sp>
        <p:sp>
          <p:nvSpPr>
            <p:cNvPr id="396" name="Google Shape;396;p28"/>
            <p:cNvSpPr txBox="1"/>
            <p:nvPr/>
          </p:nvSpPr>
          <p:spPr>
            <a:xfrm>
              <a:off x="3525" y="2994"/>
              <a:ext cx="703" cy="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Địa chỉ lô gic</a:t>
              </a:r>
              <a:endParaRPr/>
            </a:p>
          </p:txBody>
        </p:sp>
        <p:sp>
          <p:nvSpPr>
            <p:cNvPr id="397" name="Google Shape;397;p28"/>
            <p:cNvSpPr txBox="1"/>
            <p:nvPr/>
          </p:nvSpPr>
          <p:spPr>
            <a:xfrm>
              <a:off x="7396" y="2994"/>
              <a:ext cx="703" cy="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Địa chỉ vật lý</a:t>
              </a:r>
              <a:endParaRPr/>
            </a:p>
          </p:txBody>
        </p:sp>
        <p:sp>
          <p:nvSpPr>
            <p:cNvPr id="398" name="Google Shape;398;p28"/>
            <p:cNvSpPr txBox="1"/>
            <p:nvPr/>
          </p:nvSpPr>
          <p:spPr>
            <a:xfrm>
              <a:off x="5291" y="3167"/>
              <a:ext cx="703" cy="31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yes</a:t>
              </a:r>
              <a:endParaRPr/>
            </a:p>
          </p:txBody>
        </p:sp>
        <p:sp>
          <p:nvSpPr>
            <p:cNvPr id="399" name="Google Shape;399;p28"/>
            <p:cNvSpPr txBox="1"/>
            <p:nvPr/>
          </p:nvSpPr>
          <p:spPr>
            <a:xfrm>
              <a:off x="4828" y="3944"/>
              <a:ext cx="703" cy="31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no</a:t>
              </a:r>
              <a:endParaRPr/>
            </a:p>
          </p:txBody>
        </p:sp>
        <p:sp>
          <p:nvSpPr>
            <p:cNvPr id="400" name="Google Shape;400;p28"/>
            <p:cNvSpPr txBox="1"/>
            <p:nvPr/>
          </p:nvSpPr>
          <p:spPr>
            <a:xfrm>
              <a:off x="4137" y="4796"/>
              <a:ext cx="1563" cy="50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Lỗi truy cập bộ nhớ</a:t>
              </a:r>
              <a:endParaRPr/>
            </a:p>
          </p:txBody>
        </p:sp>
        <p:cxnSp>
          <p:nvCxnSpPr>
            <p:cNvPr id="401" name="Google Shape;401;p28"/>
            <p:cNvCxnSpPr/>
            <p:nvPr/>
          </p:nvCxnSpPr>
          <p:spPr>
            <a:xfrm>
              <a:off x="3312" y="3502"/>
              <a:ext cx="1099" cy="6"/>
            </a:xfrm>
            <a:prstGeom prst="straightConnector1">
              <a:avLst/>
            </a:prstGeom>
            <a:noFill/>
            <a:ln cap="flat" cmpd="sng" w="9525">
              <a:solidFill>
                <a:srgbClr val="000000"/>
              </a:solidFill>
              <a:prstDash val="solid"/>
              <a:miter lim="800000"/>
              <a:headEnd len="med" w="med" type="none"/>
              <a:tailEnd len="med" w="med" type="triangle"/>
            </a:ln>
          </p:spPr>
        </p:cxnSp>
        <p:cxnSp>
          <p:nvCxnSpPr>
            <p:cNvPr id="402" name="Google Shape;402;p28"/>
            <p:cNvCxnSpPr/>
            <p:nvPr/>
          </p:nvCxnSpPr>
          <p:spPr>
            <a:xfrm>
              <a:off x="5445" y="3508"/>
              <a:ext cx="943" cy="1"/>
            </a:xfrm>
            <a:prstGeom prst="straightConnector1">
              <a:avLst/>
            </a:prstGeom>
            <a:noFill/>
            <a:ln cap="flat" cmpd="sng" w="9525">
              <a:solidFill>
                <a:srgbClr val="000000"/>
              </a:solidFill>
              <a:prstDash val="solid"/>
              <a:miter lim="800000"/>
              <a:headEnd len="med" w="med" type="none"/>
              <a:tailEnd len="med" w="med" type="triangle"/>
            </a:ln>
          </p:spPr>
        </p:cxnSp>
        <p:cxnSp>
          <p:nvCxnSpPr>
            <p:cNvPr id="403" name="Google Shape;403;p28"/>
            <p:cNvCxnSpPr/>
            <p:nvPr/>
          </p:nvCxnSpPr>
          <p:spPr>
            <a:xfrm flipH="1" rot="10800000">
              <a:off x="7135" y="3506"/>
              <a:ext cx="1172" cy="2"/>
            </a:xfrm>
            <a:prstGeom prst="straightConnector1">
              <a:avLst/>
            </a:prstGeom>
            <a:noFill/>
            <a:ln cap="flat" cmpd="sng" w="9525">
              <a:solidFill>
                <a:srgbClr val="000000"/>
              </a:solidFill>
              <a:prstDash val="solid"/>
              <a:miter lim="800000"/>
              <a:headEnd len="med" w="med" type="none"/>
              <a:tailEnd len="med" w="med" type="triangle"/>
            </a:ln>
          </p:spPr>
        </p:cxnSp>
        <p:cxnSp>
          <p:nvCxnSpPr>
            <p:cNvPr id="404" name="Google Shape;404;p28"/>
            <p:cNvCxnSpPr/>
            <p:nvPr/>
          </p:nvCxnSpPr>
          <p:spPr>
            <a:xfrm>
              <a:off x="4923" y="2364"/>
              <a:ext cx="5" cy="751"/>
            </a:xfrm>
            <a:prstGeom prst="straightConnector1">
              <a:avLst/>
            </a:prstGeom>
            <a:noFill/>
            <a:ln cap="flat" cmpd="sng" w="9525">
              <a:solidFill>
                <a:srgbClr val="000000"/>
              </a:solidFill>
              <a:prstDash val="solid"/>
              <a:miter lim="800000"/>
              <a:headEnd len="med" w="med" type="none"/>
              <a:tailEnd len="med" w="med" type="triangle"/>
            </a:ln>
          </p:spPr>
        </p:cxnSp>
        <p:cxnSp>
          <p:nvCxnSpPr>
            <p:cNvPr id="405" name="Google Shape;405;p28"/>
            <p:cNvCxnSpPr/>
            <p:nvPr/>
          </p:nvCxnSpPr>
          <p:spPr>
            <a:xfrm flipH="1">
              <a:off x="6762" y="2370"/>
              <a:ext cx="1" cy="745"/>
            </a:xfrm>
            <a:prstGeom prst="straightConnector1">
              <a:avLst/>
            </a:prstGeom>
            <a:noFill/>
            <a:ln cap="flat" cmpd="sng" w="9525">
              <a:solidFill>
                <a:srgbClr val="000000"/>
              </a:solidFill>
              <a:prstDash val="solid"/>
              <a:miter lim="800000"/>
              <a:headEnd len="med" w="med" type="none"/>
              <a:tailEnd len="med" w="med" type="triangle"/>
            </a:ln>
          </p:spPr>
        </p:cxnSp>
        <p:cxnSp>
          <p:nvCxnSpPr>
            <p:cNvPr id="406" name="Google Shape;406;p28"/>
            <p:cNvCxnSpPr/>
            <p:nvPr/>
          </p:nvCxnSpPr>
          <p:spPr>
            <a:xfrm>
              <a:off x="4928" y="3900"/>
              <a:ext cx="0" cy="891"/>
            </a:xfrm>
            <a:prstGeom prst="straightConnector1">
              <a:avLst/>
            </a:prstGeom>
            <a:noFill/>
            <a:ln cap="flat" cmpd="sng" w="9525">
              <a:solidFill>
                <a:srgbClr val="000000"/>
              </a:solidFill>
              <a:prstDash val="solid"/>
              <a:miter lim="800000"/>
              <a:headEnd len="med" w="med" type="none"/>
              <a:tailEnd len="med" w="med" type="triangle"/>
            </a:ln>
          </p:spPr>
        </p:cxnSp>
      </p:grpSp>
      <p:sp>
        <p:nvSpPr>
          <p:cNvPr id="407" name="Google Shape;407;p2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
                                            <p:txEl>
                                              <p:pRg end="0" st="0"/>
                                            </p:txEl>
                                          </p:spTgt>
                                        </p:tgtEl>
                                        <p:attrNameLst>
                                          <p:attrName>style.visibility</p:attrName>
                                        </p:attrNameLst>
                                      </p:cBhvr>
                                      <p:to>
                                        <p:strVal val="visible"/>
                                      </p:to>
                                    </p:set>
                                    <p:animEffect filter="fade" transition="in">
                                      <p:cBhvr>
                                        <p:cTn dur="500"/>
                                        <p:tgtEl>
                                          <p:spTgt spid="38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
                                            <p:txEl>
                                              <p:pRg end="1" st="1"/>
                                            </p:txEl>
                                          </p:spTgt>
                                        </p:tgtEl>
                                        <p:attrNameLst>
                                          <p:attrName>style.visibility</p:attrName>
                                        </p:attrNameLst>
                                      </p:cBhvr>
                                      <p:to>
                                        <p:strVal val="visible"/>
                                      </p:to>
                                    </p:set>
                                    <p:animEffect filter="fade" transition="in">
                                      <p:cBhvr>
                                        <p:cTn dur="500"/>
                                        <p:tgtEl>
                                          <p:spTgt spid="38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
                                            <p:txEl>
                                              <p:pRg end="2" st="2"/>
                                            </p:txEl>
                                          </p:spTgt>
                                        </p:tgtEl>
                                        <p:attrNameLst>
                                          <p:attrName>style.visibility</p:attrName>
                                        </p:attrNameLst>
                                      </p:cBhvr>
                                      <p:to>
                                        <p:strVal val="visible"/>
                                      </p:to>
                                    </p:set>
                                    <p:animEffect filter="fade" transition="in">
                                      <p:cBhvr>
                                        <p:cTn dur="500"/>
                                        <p:tgtEl>
                                          <p:spTgt spid="38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
                                            <p:txEl>
                                              <p:pRg end="3" st="3"/>
                                            </p:txEl>
                                          </p:spTgt>
                                        </p:tgtEl>
                                        <p:attrNameLst>
                                          <p:attrName>style.visibility</p:attrName>
                                        </p:attrNameLst>
                                      </p:cBhvr>
                                      <p:to>
                                        <p:strVal val="visible"/>
                                      </p:to>
                                    </p:set>
                                    <p:animEffect filter="fade" transition="in">
                                      <p:cBhvr>
                                        <p:cTn dur="500"/>
                                        <p:tgtEl>
                                          <p:spTgt spid="38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
                                            <p:txEl>
                                              <p:pRg end="4" st="4"/>
                                            </p:txEl>
                                          </p:spTgt>
                                        </p:tgtEl>
                                        <p:attrNameLst>
                                          <p:attrName>style.visibility</p:attrName>
                                        </p:attrNameLst>
                                      </p:cBhvr>
                                      <p:to>
                                        <p:strVal val="visible"/>
                                      </p:to>
                                    </p:set>
                                    <p:animEffect filter="fade" transition="in">
                                      <p:cBhvr>
                                        <p:cTn dur="500"/>
                                        <p:tgtEl>
                                          <p:spTgt spid="38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
                                            <p:txEl>
                                              <p:pRg end="5" st="5"/>
                                            </p:txEl>
                                          </p:spTgt>
                                        </p:tgtEl>
                                        <p:attrNameLst>
                                          <p:attrName>style.visibility</p:attrName>
                                        </p:attrNameLst>
                                      </p:cBhvr>
                                      <p:to>
                                        <p:strVal val="visible"/>
                                      </p:to>
                                    </p:set>
                                    <p:animEffect filter="fade" transition="in">
                                      <p:cBhvr>
                                        <p:cTn dur="500"/>
                                        <p:tgtEl>
                                          <p:spTgt spid="38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
                                            <p:txEl>
                                              <p:pRg end="6" st="6"/>
                                            </p:txEl>
                                          </p:spTgt>
                                        </p:tgtEl>
                                        <p:attrNameLst>
                                          <p:attrName>style.visibility</p:attrName>
                                        </p:attrNameLst>
                                      </p:cBhvr>
                                      <p:to>
                                        <p:strVal val="visible"/>
                                      </p:to>
                                    </p:set>
                                    <p:animEffect filter="fade" transition="in">
                                      <p:cBhvr>
                                        <p:cTn dur="500"/>
                                        <p:tgtEl>
                                          <p:spTgt spid="38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3">
                                            <p:txEl>
                                              <p:pRg end="7" st="7"/>
                                            </p:txEl>
                                          </p:spTgt>
                                        </p:tgtEl>
                                        <p:attrNameLst>
                                          <p:attrName>style.visibility</p:attrName>
                                        </p:attrNameLst>
                                      </p:cBhvr>
                                      <p:to>
                                        <p:strVal val="visible"/>
                                      </p:to>
                                    </p:set>
                                    <p:animEffect filter="fade" transition="in">
                                      <p:cBhvr>
                                        <p:cTn dur="500"/>
                                        <p:tgtEl>
                                          <p:spTgt spid="383">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9"/>
          <p:cNvSpPr txBox="1"/>
          <p:nvPr>
            <p:ph idx="1" type="body"/>
          </p:nvPr>
        </p:nvSpPr>
        <p:spPr>
          <a:xfrm>
            <a:off x="0" y="838200"/>
            <a:ext cx="4951412" cy="297815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Khi tiến trình được tải vào MEM, CPU dành 2 thanh ghi:</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Thanh ghi cơ sở: chứa địa chỉ bắt đầu của tiến trình</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Thanh ghi giới hạn: chứa </a:t>
            </a:r>
            <a:endParaRPr/>
          </a:p>
          <a:p>
            <a:pPr indent="-285750" lvl="1" marL="742950" marR="0" rtl="0" algn="l">
              <a:lnSpc>
                <a:spcPct val="100000"/>
              </a:lnSpc>
              <a:spcBef>
                <a:spcPts val="480"/>
              </a:spcBef>
              <a:spcAft>
                <a:spcPts val="0"/>
              </a:spcAft>
              <a:buClr>
                <a:schemeClr val="accent1"/>
              </a:buClr>
              <a:buSzPts val="2400"/>
              <a:buFont typeface="Noto Sans Symbols"/>
              <a:buNone/>
            </a:pPr>
            <a:r>
              <a:rPr b="0" i="0" lang="en-US" sz="2400" u="none" cap="none" strike="noStrike">
                <a:solidFill>
                  <a:schemeClr val="dk2"/>
                </a:solidFill>
                <a:latin typeface="Times New Roman"/>
                <a:ea typeface="Times New Roman"/>
                <a:cs typeface="Times New Roman"/>
                <a:sym typeface="Times New Roman"/>
              </a:rPr>
              <a:t>độ dài chương</a:t>
            </a:r>
            <a:endParaRPr/>
          </a:p>
        </p:txBody>
      </p:sp>
      <p:sp>
        <p:nvSpPr>
          <p:cNvPr id="414" name="Google Shape;414;p29"/>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PHÂN CHƯƠNG BỘ NHỚ </a:t>
            </a:r>
            <a:br>
              <a:rPr b="1" i="0" lang="en-US" sz="36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4. Ánh xạ địa chỉ và chống truy cập trái phép</a:t>
            </a:r>
            <a:endParaRPr/>
          </a:p>
        </p:txBody>
      </p:sp>
      <p:sp>
        <p:nvSpPr>
          <p:cNvPr id="415" name="Google Shape;415;p2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6" name="Google Shape;416;p2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17" name="Google Shape;417;p2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418" name="Google Shape;418;p29"/>
          <p:cNvGrpSpPr/>
          <p:nvPr/>
        </p:nvGrpSpPr>
        <p:grpSpPr>
          <a:xfrm>
            <a:off x="3810000" y="1006475"/>
            <a:ext cx="5410200" cy="2879725"/>
            <a:chOff x="1985" y="1440"/>
            <a:chExt cx="7964" cy="4071"/>
          </a:xfrm>
        </p:grpSpPr>
        <p:sp>
          <p:nvSpPr>
            <p:cNvPr id="419" name="Google Shape;419;p29"/>
            <p:cNvSpPr/>
            <p:nvPr/>
          </p:nvSpPr>
          <p:spPr>
            <a:xfrm>
              <a:off x="1985" y="1440"/>
              <a:ext cx="7964" cy="407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20" name="Google Shape;420;p29"/>
            <p:cNvSpPr txBox="1"/>
            <p:nvPr/>
          </p:nvSpPr>
          <p:spPr>
            <a:xfrm>
              <a:off x="2474" y="3167"/>
              <a:ext cx="838" cy="513"/>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CPU</a:t>
              </a:r>
              <a:endParaRPr/>
            </a:p>
          </p:txBody>
        </p:sp>
        <p:sp>
          <p:nvSpPr>
            <p:cNvPr id="421" name="Google Shape;421;p29"/>
            <p:cNvSpPr/>
            <p:nvPr/>
          </p:nvSpPr>
          <p:spPr>
            <a:xfrm>
              <a:off x="4411" y="3115"/>
              <a:ext cx="1034" cy="785"/>
            </a:xfrm>
            <a:prstGeom prst="diamond">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imes New Roman"/>
                <a:buNone/>
              </a:pPr>
              <a:r>
                <a:rPr b="1" i="0" lang="en-US" sz="1400" u="none">
                  <a:solidFill>
                    <a:schemeClr val="dk1"/>
                  </a:solidFill>
                  <a:latin typeface="Times New Roman"/>
                  <a:ea typeface="Times New Roman"/>
                  <a:cs typeface="Times New Roman"/>
                  <a:sym typeface="Times New Roman"/>
                </a:rPr>
                <a:t>&lt;</a:t>
              </a:r>
              <a:endParaRPr/>
            </a:p>
          </p:txBody>
        </p:sp>
        <p:sp>
          <p:nvSpPr>
            <p:cNvPr id="422" name="Google Shape;422;p29"/>
            <p:cNvSpPr txBox="1"/>
            <p:nvPr/>
          </p:nvSpPr>
          <p:spPr>
            <a:xfrm>
              <a:off x="4294" y="1694"/>
              <a:ext cx="1257" cy="67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Thanh ghi giới hạn</a:t>
              </a:r>
              <a:endParaRPr/>
            </a:p>
          </p:txBody>
        </p:sp>
        <p:sp>
          <p:nvSpPr>
            <p:cNvPr id="423" name="Google Shape;423;p29"/>
            <p:cNvSpPr txBox="1"/>
            <p:nvPr/>
          </p:nvSpPr>
          <p:spPr>
            <a:xfrm>
              <a:off x="6155" y="1700"/>
              <a:ext cx="1215" cy="67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Thanh ghi cơ sở</a:t>
              </a:r>
              <a:endParaRPr/>
            </a:p>
          </p:txBody>
        </p:sp>
        <p:sp>
          <p:nvSpPr>
            <p:cNvPr id="424" name="Google Shape;424;p29"/>
            <p:cNvSpPr/>
            <p:nvPr/>
          </p:nvSpPr>
          <p:spPr>
            <a:xfrm>
              <a:off x="6388" y="3115"/>
              <a:ext cx="747" cy="785"/>
            </a:xfrm>
            <a:prstGeom prst="ellipse">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Times New Roman"/>
                <a:buNone/>
              </a:pPr>
              <a:r>
                <a:rPr b="1" i="0" lang="en-US" sz="1400" u="none">
                  <a:solidFill>
                    <a:schemeClr val="dk1"/>
                  </a:solidFill>
                  <a:latin typeface="Times New Roman"/>
                  <a:ea typeface="Times New Roman"/>
                  <a:cs typeface="Times New Roman"/>
                  <a:sym typeface="Times New Roman"/>
                </a:rPr>
                <a:t>+</a:t>
              </a:r>
              <a:endParaRPr/>
            </a:p>
          </p:txBody>
        </p:sp>
        <p:sp>
          <p:nvSpPr>
            <p:cNvPr id="425" name="Google Shape;425;p29"/>
            <p:cNvSpPr txBox="1"/>
            <p:nvPr/>
          </p:nvSpPr>
          <p:spPr>
            <a:xfrm>
              <a:off x="8307" y="2536"/>
              <a:ext cx="1215" cy="1940"/>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Bộ nhớ</a:t>
              </a:r>
              <a:endParaRPr/>
            </a:p>
          </p:txBody>
        </p:sp>
        <p:sp>
          <p:nvSpPr>
            <p:cNvPr id="426" name="Google Shape;426;p29"/>
            <p:cNvSpPr txBox="1"/>
            <p:nvPr/>
          </p:nvSpPr>
          <p:spPr>
            <a:xfrm>
              <a:off x="3525" y="2994"/>
              <a:ext cx="703" cy="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Địa chỉ lô gic</a:t>
              </a:r>
              <a:endParaRPr/>
            </a:p>
          </p:txBody>
        </p:sp>
        <p:sp>
          <p:nvSpPr>
            <p:cNvPr id="427" name="Google Shape;427;p29"/>
            <p:cNvSpPr txBox="1"/>
            <p:nvPr/>
          </p:nvSpPr>
          <p:spPr>
            <a:xfrm>
              <a:off x="7396" y="2994"/>
              <a:ext cx="703" cy="5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Địa chỉ vật lý</a:t>
              </a:r>
              <a:endParaRPr/>
            </a:p>
          </p:txBody>
        </p:sp>
        <p:sp>
          <p:nvSpPr>
            <p:cNvPr id="428" name="Google Shape;428;p29"/>
            <p:cNvSpPr txBox="1"/>
            <p:nvPr/>
          </p:nvSpPr>
          <p:spPr>
            <a:xfrm>
              <a:off x="5291" y="3167"/>
              <a:ext cx="703" cy="31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yes</a:t>
              </a:r>
              <a:endParaRPr/>
            </a:p>
          </p:txBody>
        </p:sp>
        <p:sp>
          <p:nvSpPr>
            <p:cNvPr id="429" name="Google Shape;429;p29"/>
            <p:cNvSpPr txBox="1"/>
            <p:nvPr/>
          </p:nvSpPr>
          <p:spPr>
            <a:xfrm>
              <a:off x="4828" y="3944"/>
              <a:ext cx="703" cy="318"/>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no</a:t>
              </a:r>
              <a:endParaRPr/>
            </a:p>
          </p:txBody>
        </p:sp>
        <p:sp>
          <p:nvSpPr>
            <p:cNvPr id="430" name="Google Shape;430;p29"/>
            <p:cNvSpPr txBox="1"/>
            <p:nvPr/>
          </p:nvSpPr>
          <p:spPr>
            <a:xfrm>
              <a:off x="4137" y="4796"/>
              <a:ext cx="1563" cy="507"/>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Lỗi truy cập bộ nhớ</a:t>
              </a:r>
              <a:endParaRPr/>
            </a:p>
          </p:txBody>
        </p:sp>
        <p:cxnSp>
          <p:nvCxnSpPr>
            <p:cNvPr id="431" name="Google Shape;431;p29"/>
            <p:cNvCxnSpPr/>
            <p:nvPr/>
          </p:nvCxnSpPr>
          <p:spPr>
            <a:xfrm>
              <a:off x="3312" y="3502"/>
              <a:ext cx="1099" cy="6"/>
            </a:xfrm>
            <a:prstGeom prst="straightConnector1">
              <a:avLst/>
            </a:prstGeom>
            <a:noFill/>
            <a:ln cap="flat" cmpd="sng" w="9525">
              <a:solidFill>
                <a:srgbClr val="000000"/>
              </a:solidFill>
              <a:prstDash val="solid"/>
              <a:miter lim="800000"/>
              <a:headEnd len="med" w="med" type="none"/>
              <a:tailEnd len="med" w="med" type="triangle"/>
            </a:ln>
          </p:spPr>
        </p:cxnSp>
        <p:cxnSp>
          <p:nvCxnSpPr>
            <p:cNvPr id="432" name="Google Shape;432;p29"/>
            <p:cNvCxnSpPr/>
            <p:nvPr/>
          </p:nvCxnSpPr>
          <p:spPr>
            <a:xfrm>
              <a:off x="5445" y="3508"/>
              <a:ext cx="943" cy="1"/>
            </a:xfrm>
            <a:prstGeom prst="straightConnector1">
              <a:avLst/>
            </a:prstGeom>
            <a:noFill/>
            <a:ln cap="flat" cmpd="sng" w="9525">
              <a:solidFill>
                <a:srgbClr val="000000"/>
              </a:solidFill>
              <a:prstDash val="solid"/>
              <a:miter lim="800000"/>
              <a:headEnd len="med" w="med" type="none"/>
              <a:tailEnd len="med" w="med" type="triangle"/>
            </a:ln>
          </p:spPr>
        </p:cxnSp>
        <p:cxnSp>
          <p:nvCxnSpPr>
            <p:cNvPr id="433" name="Google Shape;433;p29"/>
            <p:cNvCxnSpPr/>
            <p:nvPr/>
          </p:nvCxnSpPr>
          <p:spPr>
            <a:xfrm flipH="1" rot="10800000">
              <a:off x="7135" y="3506"/>
              <a:ext cx="1172" cy="2"/>
            </a:xfrm>
            <a:prstGeom prst="straightConnector1">
              <a:avLst/>
            </a:prstGeom>
            <a:noFill/>
            <a:ln cap="flat" cmpd="sng" w="9525">
              <a:solidFill>
                <a:srgbClr val="000000"/>
              </a:solidFill>
              <a:prstDash val="solid"/>
              <a:miter lim="800000"/>
              <a:headEnd len="med" w="med" type="none"/>
              <a:tailEnd len="med" w="med" type="triangle"/>
            </a:ln>
          </p:spPr>
        </p:cxnSp>
        <p:cxnSp>
          <p:nvCxnSpPr>
            <p:cNvPr id="434" name="Google Shape;434;p29"/>
            <p:cNvCxnSpPr/>
            <p:nvPr/>
          </p:nvCxnSpPr>
          <p:spPr>
            <a:xfrm>
              <a:off x="4923" y="2364"/>
              <a:ext cx="5" cy="751"/>
            </a:xfrm>
            <a:prstGeom prst="straightConnector1">
              <a:avLst/>
            </a:prstGeom>
            <a:noFill/>
            <a:ln cap="flat" cmpd="sng" w="9525">
              <a:solidFill>
                <a:srgbClr val="000000"/>
              </a:solidFill>
              <a:prstDash val="solid"/>
              <a:miter lim="800000"/>
              <a:headEnd len="med" w="med" type="none"/>
              <a:tailEnd len="med" w="med" type="triangle"/>
            </a:ln>
          </p:spPr>
        </p:cxnSp>
        <p:cxnSp>
          <p:nvCxnSpPr>
            <p:cNvPr id="435" name="Google Shape;435;p29"/>
            <p:cNvCxnSpPr/>
            <p:nvPr/>
          </p:nvCxnSpPr>
          <p:spPr>
            <a:xfrm flipH="1">
              <a:off x="6762" y="2370"/>
              <a:ext cx="1" cy="745"/>
            </a:xfrm>
            <a:prstGeom prst="straightConnector1">
              <a:avLst/>
            </a:prstGeom>
            <a:noFill/>
            <a:ln cap="flat" cmpd="sng" w="9525">
              <a:solidFill>
                <a:srgbClr val="000000"/>
              </a:solidFill>
              <a:prstDash val="solid"/>
              <a:miter lim="800000"/>
              <a:headEnd len="med" w="med" type="none"/>
              <a:tailEnd len="med" w="med" type="triangle"/>
            </a:ln>
          </p:spPr>
        </p:cxnSp>
        <p:cxnSp>
          <p:nvCxnSpPr>
            <p:cNvPr id="436" name="Google Shape;436;p29"/>
            <p:cNvCxnSpPr/>
            <p:nvPr/>
          </p:nvCxnSpPr>
          <p:spPr>
            <a:xfrm>
              <a:off x="4928" y="3900"/>
              <a:ext cx="0" cy="891"/>
            </a:xfrm>
            <a:prstGeom prst="straightConnector1">
              <a:avLst/>
            </a:prstGeom>
            <a:noFill/>
            <a:ln cap="flat" cmpd="sng" w="9525">
              <a:solidFill>
                <a:srgbClr val="000000"/>
              </a:solidFill>
              <a:prstDash val="solid"/>
              <a:miter lim="800000"/>
              <a:headEnd len="med" w="med" type="none"/>
              <a:tailEnd len="med" w="med" type="triangle"/>
            </a:ln>
          </p:spPr>
        </p:cxnSp>
      </p:grpSp>
      <p:sp>
        <p:nvSpPr>
          <p:cNvPr id="437" name="Google Shape;437;p29"/>
          <p:cNvSpPr txBox="1"/>
          <p:nvPr/>
        </p:nvSpPr>
        <p:spPr>
          <a:xfrm>
            <a:off x="152400" y="3657600"/>
            <a:ext cx="8840787"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Địa chỉ logic được so sánh với nội dung của thanh ghi giới hạn</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Nếu lớn hơn: lỗi truy cập</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Nhỏ hơn: được đưa tới bộ cộng với thanh ghi cơ sở để thành địa chỉ vật lý</a:t>
            </a:r>
            <a:endParaRPr/>
          </a:p>
          <a:p>
            <a:pPr indent="-342900" lvl="0" marL="342900" marR="0" rtl="0" algn="l">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Nếu chương bị di chuyển thì nội dung của thanh ghi cơ sở bị thay đổi chứa địa chỉ vị trí mới</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b="0" i="0" sz="2400" u="none" cap="none" strike="noStrike">
              <a:solidFill>
                <a:schemeClr val="dk2"/>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30"/>
          <p:cNvSpPr txBox="1"/>
          <p:nvPr>
            <p:ph idx="1" type="body"/>
          </p:nvPr>
        </p:nvSpPr>
        <p:spPr>
          <a:xfrm>
            <a:off x="0" y="1295400"/>
            <a:ext cx="9296400" cy="4876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Các tiến trình đang thực hiện có thể bị tạm thời tải ra đĩa nhường chỗ để tải các tiến trình khác vào </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Sau đó lại được tải vào (nếu chưa kết thúc) để thực hiện tiếp</a:t>
            </a:r>
            <a:endParaRPr/>
          </a:p>
          <a:p>
            <a:pPr indent="-342900" lvl="0" marL="342900" marR="0" rtl="0" algn="l">
              <a:lnSpc>
                <a:spcPct val="100000"/>
              </a:lnSpc>
              <a:spcBef>
                <a:spcPts val="560"/>
              </a:spcBef>
              <a:spcAft>
                <a:spcPts val="0"/>
              </a:spcAft>
              <a:buClr>
                <a:schemeClr val="accent1"/>
              </a:buClr>
              <a:buSzPts val="1960"/>
              <a:buFont typeface="Noto Sans Symbols"/>
              <a:buChar char="▪"/>
            </a:pPr>
            <a:r>
              <a:rPr b="0" i="0" lang="en-US" sz="2800" u="none">
                <a:solidFill>
                  <a:schemeClr val="dk2"/>
                </a:solidFill>
                <a:latin typeface="Times New Roman"/>
                <a:ea typeface="Times New Roman"/>
                <a:cs typeface="Times New Roman"/>
                <a:sym typeface="Times New Roman"/>
              </a:rPr>
              <a:t>Xảy ra khi:</a:t>
            </a:r>
            <a:endParaRPr/>
          </a:p>
          <a:p>
            <a:pPr indent="-342900" lvl="1" marL="800100" marR="0" rtl="0" algn="l">
              <a:lnSpc>
                <a:spcPct val="100000"/>
              </a:lnSpc>
              <a:spcBef>
                <a:spcPts val="480"/>
              </a:spcBef>
              <a:spcAft>
                <a:spcPts val="0"/>
              </a:spcAft>
              <a:buClr>
                <a:schemeClr val="accent1"/>
              </a:buClr>
              <a:buSzPts val="1680"/>
              <a:buFont typeface="Noto Sans Symbols"/>
              <a:buChar char="▪"/>
            </a:pPr>
            <a:r>
              <a:rPr b="0" i="0" lang="en-US" sz="2400" u="none" cap="none" strike="noStrike">
                <a:solidFill>
                  <a:schemeClr val="dk2"/>
                </a:solidFill>
                <a:latin typeface="Times New Roman"/>
                <a:ea typeface="Times New Roman"/>
                <a:cs typeface="Times New Roman"/>
                <a:sym typeface="Times New Roman"/>
              </a:rPr>
              <a:t>Một tiến trình đã hết khoảng thời gian sử dụng CPU của mình</a:t>
            </a:r>
            <a:endParaRPr/>
          </a:p>
          <a:p>
            <a:pPr indent="-342900" lvl="1" marL="800100" marR="0" rtl="0" algn="l">
              <a:lnSpc>
                <a:spcPct val="100000"/>
              </a:lnSpc>
              <a:spcBef>
                <a:spcPts val="480"/>
              </a:spcBef>
              <a:spcAft>
                <a:spcPts val="0"/>
              </a:spcAft>
              <a:buClr>
                <a:schemeClr val="accent1"/>
              </a:buClr>
              <a:buSzPts val="1680"/>
              <a:buFont typeface="Noto Sans Symbols"/>
              <a:buChar char="▪"/>
            </a:pPr>
            <a:r>
              <a:rPr b="0" i="0" lang="en-US" sz="2400" u="none" cap="none" strike="noStrike">
                <a:solidFill>
                  <a:schemeClr val="dk2"/>
                </a:solidFill>
                <a:latin typeface="Times New Roman"/>
                <a:ea typeface="Times New Roman"/>
                <a:cs typeface="Times New Roman"/>
                <a:sym typeface="Times New Roman"/>
              </a:rPr>
              <a:t>Nhường chỗ cho một tiến trình khác có thứ tự ưu tiên cao hơn</a:t>
            </a:r>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215900" lvl="1" marL="80010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1" marL="80010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444" name="Google Shape;444;p30"/>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PHÂN CHƯƠNG BỘ NHỚ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Trao đổi giữa bộ nhớ và đĩa (swapping)</a:t>
            </a:r>
            <a:endParaRPr/>
          </a:p>
        </p:txBody>
      </p:sp>
      <p:sp>
        <p:nvSpPr>
          <p:cNvPr id="445" name="Google Shape;445;p3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46" name="Google Shape;446;p3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47" name="Google Shape;447;p3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xEl>
                                              <p:pRg end="0" st="0"/>
                                            </p:txEl>
                                          </p:spTgt>
                                        </p:tgtEl>
                                        <p:attrNameLst>
                                          <p:attrName>style.visibility</p:attrName>
                                        </p:attrNameLst>
                                      </p:cBhvr>
                                      <p:to>
                                        <p:strVal val="visible"/>
                                      </p:to>
                                    </p:set>
                                    <p:animEffect filter="fade" transition="in">
                                      <p:cBhvr>
                                        <p:cTn dur="500"/>
                                        <p:tgtEl>
                                          <p:spTgt spid="44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xEl>
                                              <p:pRg end="1" st="1"/>
                                            </p:txEl>
                                          </p:spTgt>
                                        </p:tgtEl>
                                        <p:attrNameLst>
                                          <p:attrName>style.visibility</p:attrName>
                                        </p:attrNameLst>
                                      </p:cBhvr>
                                      <p:to>
                                        <p:strVal val="visible"/>
                                      </p:to>
                                    </p:set>
                                    <p:animEffect filter="fade" transition="in">
                                      <p:cBhvr>
                                        <p:cTn dur="500"/>
                                        <p:tgtEl>
                                          <p:spTgt spid="44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xEl>
                                              <p:pRg end="2" st="2"/>
                                            </p:txEl>
                                          </p:spTgt>
                                        </p:tgtEl>
                                        <p:attrNameLst>
                                          <p:attrName>style.visibility</p:attrName>
                                        </p:attrNameLst>
                                      </p:cBhvr>
                                      <p:to>
                                        <p:strVal val="visible"/>
                                      </p:to>
                                    </p:set>
                                    <p:animEffect filter="fade" transition="in">
                                      <p:cBhvr>
                                        <p:cTn dur="500"/>
                                        <p:tgtEl>
                                          <p:spTgt spid="44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xEl>
                                              <p:pRg end="3" st="3"/>
                                            </p:txEl>
                                          </p:spTgt>
                                        </p:tgtEl>
                                        <p:attrNameLst>
                                          <p:attrName>style.visibility</p:attrName>
                                        </p:attrNameLst>
                                      </p:cBhvr>
                                      <p:to>
                                        <p:strVal val="visible"/>
                                      </p:to>
                                    </p:set>
                                    <p:animEffect filter="fade" transition="in">
                                      <p:cBhvr>
                                        <p:cTn dur="500"/>
                                        <p:tgtEl>
                                          <p:spTgt spid="44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xEl>
                                              <p:pRg end="4" st="4"/>
                                            </p:txEl>
                                          </p:spTgt>
                                        </p:tgtEl>
                                        <p:attrNameLst>
                                          <p:attrName>style.visibility</p:attrName>
                                        </p:attrNameLst>
                                      </p:cBhvr>
                                      <p:to>
                                        <p:strVal val="visible"/>
                                      </p:to>
                                    </p:set>
                                    <p:animEffect filter="fade" transition="in">
                                      <p:cBhvr>
                                        <p:cTn dur="500"/>
                                        <p:tgtEl>
                                          <p:spTgt spid="44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xEl>
                                              <p:pRg end="5" st="5"/>
                                            </p:txEl>
                                          </p:spTgt>
                                        </p:tgtEl>
                                        <p:attrNameLst>
                                          <p:attrName>style.visibility</p:attrName>
                                        </p:attrNameLst>
                                      </p:cBhvr>
                                      <p:to>
                                        <p:strVal val="visible"/>
                                      </p:to>
                                    </p:set>
                                    <p:animEffect filter="fade" transition="in">
                                      <p:cBhvr>
                                        <p:cTn dur="500"/>
                                        <p:tgtEl>
                                          <p:spTgt spid="44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xEl>
                                              <p:pRg end="6" st="6"/>
                                            </p:txEl>
                                          </p:spTgt>
                                        </p:tgtEl>
                                        <p:attrNameLst>
                                          <p:attrName>style.visibility</p:attrName>
                                        </p:attrNameLst>
                                      </p:cBhvr>
                                      <p:to>
                                        <p:strVal val="visible"/>
                                      </p:to>
                                    </p:set>
                                    <p:animEffect filter="fade" transition="in">
                                      <p:cBhvr>
                                        <p:cTn dur="500"/>
                                        <p:tgtEl>
                                          <p:spTgt spid="44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xEl>
                                              <p:pRg end="7" st="7"/>
                                            </p:txEl>
                                          </p:spTgt>
                                        </p:tgtEl>
                                        <p:attrNameLst>
                                          <p:attrName>style.visibility</p:attrName>
                                        </p:attrNameLst>
                                      </p:cBhvr>
                                      <p:to>
                                        <p:strVal val="visible"/>
                                      </p:to>
                                    </p:set>
                                    <p:animEffect filter="fade" transition="in">
                                      <p:cBhvr>
                                        <p:cTn dur="500"/>
                                        <p:tgtEl>
                                          <p:spTgt spid="44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xEl>
                                              <p:pRg end="8" st="8"/>
                                            </p:txEl>
                                          </p:spTgt>
                                        </p:tgtEl>
                                        <p:attrNameLst>
                                          <p:attrName>style.visibility</p:attrName>
                                        </p:attrNameLst>
                                      </p:cBhvr>
                                      <p:to>
                                        <p:strVal val="visible"/>
                                      </p:to>
                                    </p:set>
                                    <p:animEffect filter="fade" transition="in">
                                      <p:cBhvr>
                                        <p:cTn dur="500"/>
                                        <p:tgtEl>
                                          <p:spTgt spid="44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3">
                                            <p:txEl>
                                              <p:pRg end="9" st="9"/>
                                            </p:txEl>
                                          </p:spTgt>
                                        </p:tgtEl>
                                        <p:attrNameLst>
                                          <p:attrName>style.visibility</p:attrName>
                                        </p:attrNameLst>
                                      </p:cBhvr>
                                      <p:to>
                                        <p:strVal val="visible"/>
                                      </p:to>
                                    </p:set>
                                    <p:animEffect filter="fade" transition="in">
                                      <p:cBhvr>
                                        <p:cTn dur="500"/>
                                        <p:tgtEl>
                                          <p:spTgt spid="443">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31"/>
          <p:cNvSpPr txBox="1"/>
          <p:nvPr>
            <p:ph idx="1" type="body"/>
          </p:nvPr>
        </p:nvSpPr>
        <p:spPr>
          <a:xfrm>
            <a:off x="0" y="1143000"/>
            <a:ext cx="9296400" cy="57150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Thời gian tải phụ thuộc vào tốc độ truy cập đĩa, tốc độ truy cập bộ nhớ và kích thước tiến trình</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Khi được tải vào lại, tiến trình có thể được chứa vào chương ở vị trí cũ hoặc được cấp cho một chương địa chỉ hoàn toàn mới</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Các tiến trình bị trao đổi phải ở trạng thái nghỉ, đặc biệt không thực hiện các thao tác vào ra</a:t>
            </a:r>
            <a:endParaRPr b="0" i="0" sz="32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454" name="Google Shape;454;p31"/>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IV. PHÂN CHƯƠNG BỘ NHỚ </a:t>
            </a:r>
            <a:br>
              <a:rPr b="1" i="0" lang="en-US" sz="36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5. Trao đổi giữa bộ nhớ và đĩa (swapping)</a:t>
            </a:r>
            <a:endParaRPr/>
          </a:p>
        </p:txBody>
      </p:sp>
      <p:sp>
        <p:nvSpPr>
          <p:cNvPr id="455" name="Google Shape;455;p3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56" name="Google Shape;456;p3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57" name="Google Shape;457;p3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32"/>
          <p:cNvSpPr txBox="1"/>
          <p:nvPr>
            <p:ph idx="1" type="body"/>
          </p:nvPr>
        </p:nvSpPr>
        <p:spPr>
          <a:xfrm>
            <a:off x="0" y="838200"/>
            <a:ext cx="8915400" cy="5715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Trong kỹ thuật phân chương được trình bày ở trên, mỗi tiến trình chiếm một chương tức là một vùng liên tục trong bộ nhớ =&gt; phân mảnh =&gt; không tận dụng hết được bộ nhớ.</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Để hạn chế nhược điểm của kỹ thuật phân chương. Trong phần này, ta đi tìm kiểm kỹ thuật phân trang (paging).</a:t>
            </a:r>
            <a:endParaRPr b="0" i="0" sz="2400" u="none">
              <a:solidFill>
                <a:schemeClr val="dk2"/>
              </a:solidFill>
              <a:latin typeface="Times New Roman"/>
              <a:ea typeface="Times New Roman"/>
              <a:cs typeface="Times New Roman"/>
              <a:sym typeface="Times New Roman"/>
            </a:endParaRPr>
          </a:p>
          <a:p>
            <a:pPr indent="-158750" lvl="1" marL="742950" marR="0" rtl="0" algn="just">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just">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464" name="Google Shape;464;p32"/>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PHÂN TRANG BỘ NHỚ</a:t>
            </a:r>
            <a:br>
              <a:rPr b="1" i="0" lang="en-US" sz="2800" u="none">
                <a:solidFill>
                  <a:srgbClr val="000066"/>
                </a:solidFill>
                <a:latin typeface="Times New Roman"/>
                <a:ea typeface="Times New Roman"/>
                <a:cs typeface="Times New Roman"/>
                <a:sym typeface="Times New Roman"/>
              </a:rPr>
            </a:br>
            <a:endParaRPr/>
          </a:p>
        </p:txBody>
      </p:sp>
      <p:sp>
        <p:nvSpPr>
          <p:cNvPr id="465" name="Google Shape;465;p3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66" name="Google Shape;466;p3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67" name="Google Shape;467;p3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
                                            <p:txEl>
                                              <p:pRg end="0" st="0"/>
                                            </p:txEl>
                                          </p:spTgt>
                                        </p:tgtEl>
                                        <p:attrNameLst>
                                          <p:attrName>style.visibility</p:attrName>
                                        </p:attrNameLst>
                                      </p:cBhvr>
                                      <p:to>
                                        <p:strVal val="visible"/>
                                      </p:to>
                                    </p:set>
                                    <p:animEffect filter="fade" transition="in">
                                      <p:cBhvr>
                                        <p:cTn dur="500"/>
                                        <p:tgtEl>
                                          <p:spTgt spid="4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
                                            <p:txEl>
                                              <p:pRg end="1" st="1"/>
                                            </p:txEl>
                                          </p:spTgt>
                                        </p:tgtEl>
                                        <p:attrNameLst>
                                          <p:attrName>style.visibility</p:attrName>
                                        </p:attrNameLst>
                                      </p:cBhvr>
                                      <p:to>
                                        <p:strVal val="visible"/>
                                      </p:to>
                                    </p:set>
                                    <p:animEffect filter="fade" transition="in">
                                      <p:cBhvr>
                                        <p:cTn dur="500"/>
                                        <p:tgtEl>
                                          <p:spTgt spid="4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
                                            <p:txEl>
                                              <p:pRg end="2" st="2"/>
                                            </p:txEl>
                                          </p:spTgt>
                                        </p:tgtEl>
                                        <p:attrNameLst>
                                          <p:attrName>style.visibility</p:attrName>
                                        </p:attrNameLst>
                                      </p:cBhvr>
                                      <p:to>
                                        <p:strVal val="visible"/>
                                      </p:to>
                                    </p:set>
                                    <p:animEffect filter="fade" transition="in">
                                      <p:cBhvr>
                                        <p:cTn dur="500"/>
                                        <p:tgtEl>
                                          <p:spTgt spid="4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
                                            <p:txEl>
                                              <p:pRg end="3" st="3"/>
                                            </p:txEl>
                                          </p:spTgt>
                                        </p:tgtEl>
                                        <p:attrNameLst>
                                          <p:attrName>style.visibility</p:attrName>
                                        </p:attrNameLst>
                                      </p:cBhvr>
                                      <p:to>
                                        <p:strVal val="visible"/>
                                      </p:to>
                                    </p:set>
                                    <p:animEffect filter="fade" transition="in">
                                      <p:cBhvr>
                                        <p:cTn dur="500"/>
                                        <p:tgtEl>
                                          <p:spTgt spid="46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
                                            <p:txEl>
                                              <p:pRg end="4" st="4"/>
                                            </p:txEl>
                                          </p:spTgt>
                                        </p:tgtEl>
                                        <p:attrNameLst>
                                          <p:attrName>style.visibility</p:attrName>
                                        </p:attrNameLst>
                                      </p:cBhvr>
                                      <p:to>
                                        <p:strVal val="visible"/>
                                      </p:to>
                                    </p:set>
                                    <p:animEffect filter="fade" transition="in">
                                      <p:cBhvr>
                                        <p:cTn dur="500"/>
                                        <p:tgtEl>
                                          <p:spTgt spid="46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3"/>
          <p:cNvSpPr txBox="1"/>
          <p:nvPr>
            <p:ph idx="1" type="body"/>
          </p:nvPr>
        </p:nvSpPr>
        <p:spPr>
          <a:xfrm>
            <a:off x="0" y="838200"/>
            <a:ext cx="89154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Bộ nhớ vật lý được chia thành các khối nhỏ, kích thước cố định và bằng nhau gọi là khung trang (page frame) hay đơn giản gọi là khung</a:t>
            </a:r>
            <a:endParaRPr/>
          </a:p>
          <a:p>
            <a:pPr indent="-342900" lvl="0" marL="342900" marR="0" rtl="0" algn="l">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Không gian địa chỉ logic của tiến trình được chia thành những khối gọi là trang (page), có kích thước bằng khung  </a:t>
            </a:r>
            <a:endParaRPr/>
          </a:p>
          <a:p>
            <a:pPr indent="-342900" lvl="0" marL="342900" marR="0" rtl="0" algn="l">
              <a:lnSpc>
                <a:spcPct val="100000"/>
              </a:lnSpc>
              <a:spcBef>
                <a:spcPts val="480"/>
              </a:spcBef>
              <a:spcAft>
                <a:spcPts val="0"/>
              </a:spcAft>
              <a:buClr>
                <a:schemeClr val="dk2"/>
              </a:buClr>
              <a:buSzPts val="2400"/>
              <a:buFont typeface="Noto Sans Symbols"/>
              <a:buNone/>
            </a:pPr>
            <a:br>
              <a:rPr b="0" i="0" lang="en-US" sz="2400" u="none">
                <a:solidFill>
                  <a:schemeClr val="dk2"/>
                </a:solidFill>
                <a:latin typeface="Times New Roman"/>
                <a:ea typeface="Times New Roman"/>
                <a:cs typeface="Times New Roman"/>
                <a:sym typeface="Times New Roman"/>
              </a:rPr>
            </a:b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20650" lvl="1" marL="742950" marR="0" rtl="0" algn="l">
              <a:lnSpc>
                <a:spcPct val="100000"/>
              </a:lnSpc>
              <a:spcBef>
                <a:spcPts val="520"/>
              </a:spcBef>
              <a:spcAft>
                <a:spcPts val="0"/>
              </a:spcAft>
              <a:buClr>
                <a:schemeClr val="accent1"/>
              </a:buClr>
              <a:buSzPts val="2600"/>
              <a:buFont typeface="Noto Sans Symbols"/>
              <a:buNone/>
            </a:pPr>
            <a:r>
              <a:t/>
            </a:r>
            <a:endParaRPr b="0" i="0" sz="26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474" name="Google Shape;474;p33"/>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PHÂN TRANG BỘ NHỚ</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Khái niệm phân trang</a:t>
            </a:r>
            <a:endParaRPr/>
          </a:p>
        </p:txBody>
      </p:sp>
      <p:sp>
        <p:nvSpPr>
          <p:cNvPr id="475" name="Google Shape;475;p3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76" name="Google Shape;476;p3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477" name="Google Shape;477;p33"/>
          <p:cNvPicPr preferRelativeResize="0"/>
          <p:nvPr/>
        </p:nvPicPr>
        <p:blipFill rotWithShape="1">
          <a:blip r:embed="rId3">
            <a:alphaModFix/>
          </a:blip>
          <a:srcRect b="413" l="0" r="4686" t="4858"/>
          <a:stretch/>
        </p:blipFill>
        <p:spPr>
          <a:xfrm>
            <a:off x="2133600" y="3200400"/>
            <a:ext cx="4648200" cy="2971800"/>
          </a:xfrm>
          <a:prstGeom prst="rect">
            <a:avLst/>
          </a:prstGeom>
          <a:noFill/>
          <a:ln>
            <a:noFill/>
          </a:ln>
        </p:spPr>
      </p:pic>
      <p:sp>
        <p:nvSpPr>
          <p:cNvPr id="478" name="Google Shape;478;p3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
                                            <p:txEl>
                                              <p:pRg end="0" st="0"/>
                                            </p:txEl>
                                          </p:spTgt>
                                        </p:tgtEl>
                                        <p:attrNameLst>
                                          <p:attrName>style.visibility</p:attrName>
                                        </p:attrNameLst>
                                      </p:cBhvr>
                                      <p:to>
                                        <p:strVal val="visible"/>
                                      </p:to>
                                    </p:set>
                                    <p:animEffect filter="fade" transition="in">
                                      <p:cBhvr>
                                        <p:cTn dur="500"/>
                                        <p:tgtEl>
                                          <p:spTgt spid="4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
                                            <p:txEl>
                                              <p:pRg end="1" st="1"/>
                                            </p:txEl>
                                          </p:spTgt>
                                        </p:tgtEl>
                                        <p:attrNameLst>
                                          <p:attrName>style.visibility</p:attrName>
                                        </p:attrNameLst>
                                      </p:cBhvr>
                                      <p:to>
                                        <p:strVal val="visible"/>
                                      </p:to>
                                    </p:set>
                                    <p:animEffect filter="fade" transition="in">
                                      <p:cBhvr>
                                        <p:cTn dur="500"/>
                                        <p:tgtEl>
                                          <p:spTgt spid="4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
                                            <p:txEl>
                                              <p:pRg end="2" st="2"/>
                                            </p:txEl>
                                          </p:spTgt>
                                        </p:tgtEl>
                                        <p:attrNameLst>
                                          <p:attrName>style.visibility</p:attrName>
                                        </p:attrNameLst>
                                      </p:cBhvr>
                                      <p:to>
                                        <p:strVal val="visible"/>
                                      </p:to>
                                    </p:set>
                                    <p:animEffect filter="fade" transition="in">
                                      <p:cBhvr>
                                        <p:cTn dur="500"/>
                                        <p:tgtEl>
                                          <p:spTgt spid="4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
                                            <p:txEl>
                                              <p:pRg end="3" st="3"/>
                                            </p:txEl>
                                          </p:spTgt>
                                        </p:tgtEl>
                                        <p:attrNameLst>
                                          <p:attrName>style.visibility</p:attrName>
                                        </p:attrNameLst>
                                      </p:cBhvr>
                                      <p:to>
                                        <p:strVal val="visible"/>
                                      </p:to>
                                    </p:set>
                                    <p:animEffect filter="fade" transition="in">
                                      <p:cBhvr>
                                        <p:cTn dur="500"/>
                                        <p:tgtEl>
                                          <p:spTgt spid="4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
                                            <p:txEl>
                                              <p:pRg end="4" st="4"/>
                                            </p:txEl>
                                          </p:spTgt>
                                        </p:tgtEl>
                                        <p:attrNameLst>
                                          <p:attrName>style.visibility</p:attrName>
                                        </p:attrNameLst>
                                      </p:cBhvr>
                                      <p:to>
                                        <p:strVal val="visible"/>
                                      </p:to>
                                    </p:set>
                                    <p:animEffect filter="fade" transition="in">
                                      <p:cBhvr>
                                        <p:cTn dur="500"/>
                                        <p:tgtEl>
                                          <p:spTgt spid="47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
                                            <p:txEl>
                                              <p:pRg end="5" st="5"/>
                                            </p:txEl>
                                          </p:spTgt>
                                        </p:tgtEl>
                                        <p:attrNameLst>
                                          <p:attrName>style.visibility</p:attrName>
                                        </p:attrNameLst>
                                      </p:cBhvr>
                                      <p:to>
                                        <p:strVal val="visible"/>
                                      </p:to>
                                    </p:set>
                                    <p:animEffect filter="fade" transition="in">
                                      <p:cBhvr>
                                        <p:cTn dur="500"/>
                                        <p:tgtEl>
                                          <p:spTgt spid="47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
                                            <p:txEl>
                                              <p:pRg end="6" st="6"/>
                                            </p:txEl>
                                          </p:spTgt>
                                        </p:tgtEl>
                                        <p:attrNameLst>
                                          <p:attrName>style.visibility</p:attrName>
                                        </p:attrNameLst>
                                      </p:cBhvr>
                                      <p:to>
                                        <p:strVal val="visible"/>
                                      </p:to>
                                    </p:set>
                                    <p:animEffect filter="fade" transition="in">
                                      <p:cBhvr>
                                        <p:cTn dur="500"/>
                                        <p:tgtEl>
                                          <p:spTgt spid="47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
                                            <p:txEl>
                                              <p:pRg end="7" st="7"/>
                                            </p:txEl>
                                          </p:spTgt>
                                        </p:tgtEl>
                                        <p:attrNameLst>
                                          <p:attrName>style.visibility</p:attrName>
                                        </p:attrNameLst>
                                      </p:cBhvr>
                                      <p:to>
                                        <p:strVal val="visible"/>
                                      </p:to>
                                    </p:set>
                                    <p:animEffect filter="fade" transition="in">
                                      <p:cBhvr>
                                        <p:cTn dur="500"/>
                                        <p:tgtEl>
                                          <p:spTgt spid="47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
                                            <p:txEl>
                                              <p:pRg end="8" st="8"/>
                                            </p:txEl>
                                          </p:spTgt>
                                        </p:tgtEl>
                                        <p:attrNameLst>
                                          <p:attrName>style.visibility</p:attrName>
                                        </p:attrNameLst>
                                      </p:cBhvr>
                                      <p:to>
                                        <p:strVal val="visible"/>
                                      </p:to>
                                    </p:set>
                                    <p:animEffect filter="fade" transition="in">
                                      <p:cBhvr>
                                        <p:cTn dur="500"/>
                                        <p:tgtEl>
                                          <p:spTgt spid="47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3">
                                            <p:txEl>
                                              <p:pRg end="9" st="9"/>
                                            </p:txEl>
                                          </p:spTgt>
                                        </p:tgtEl>
                                        <p:attrNameLst>
                                          <p:attrName>style.visibility</p:attrName>
                                        </p:attrNameLst>
                                      </p:cBhvr>
                                      <p:to>
                                        <p:strVal val="visible"/>
                                      </p:to>
                                    </p:set>
                                    <p:animEffect filter="fade" transition="in">
                                      <p:cBhvr>
                                        <p:cTn dur="500"/>
                                        <p:tgtEl>
                                          <p:spTgt spid="47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500"/>
                                        <p:tgtEl>
                                          <p:spTgt spid="4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34"/>
          <p:cNvSpPr txBox="1"/>
          <p:nvPr>
            <p:ph idx="1" type="body"/>
          </p:nvPr>
        </p:nvSpPr>
        <p:spPr>
          <a:xfrm>
            <a:off x="0" y="1143000"/>
            <a:ext cx="44958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Tiến trình được cấp các khung để chứa các trang của mình. </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Các trang có thể chứa trong các khung nằm rải rác trong bộ nhớ</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20650" lvl="1" marL="742950" marR="0" rtl="0" algn="l">
              <a:lnSpc>
                <a:spcPct val="100000"/>
              </a:lnSpc>
              <a:spcBef>
                <a:spcPts val="520"/>
              </a:spcBef>
              <a:spcAft>
                <a:spcPts val="0"/>
              </a:spcAft>
              <a:buClr>
                <a:schemeClr val="accent1"/>
              </a:buClr>
              <a:buSzPts val="2600"/>
              <a:buFont typeface="Noto Sans Symbols"/>
              <a:buNone/>
            </a:pPr>
            <a:r>
              <a:t/>
            </a:r>
            <a:endParaRPr b="0" i="0" sz="26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485" name="Google Shape;485;p34"/>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PHÂN TRANG BỘ NHỚ</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Khái niệm phân trang</a:t>
            </a:r>
            <a:endParaRPr/>
          </a:p>
        </p:txBody>
      </p:sp>
      <p:sp>
        <p:nvSpPr>
          <p:cNvPr id="486" name="Google Shape;486;p3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87" name="Google Shape;487;p3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488" name="Google Shape;488;p34"/>
          <p:cNvPicPr preferRelativeResize="0"/>
          <p:nvPr/>
        </p:nvPicPr>
        <p:blipFill rotWithShape="1">
          <a:blip r:embed="rId3">
            <a:alphaModFix/>
          </a:blip>
          <a:srcRect b="0" l="0" r="0" t="0"/>
          <a:stretch/>
        </p:blipFill>
        <p:spPr>
          <a:xfrm>
            <a:off x="4876800" y="847725"/>
            <a:ext cx="3967162" cy="5324475"/>
          </a:xfrm>
          <a:prstGeom prst="rect">
            <a:avLst/>
          </a:prstGeom>
          <a:noFill/>
          <a:ln>
            <a:noFill/>
          </a:ln>
        </p:spPr>
      </p:pic>
      <p:sp>
        <p:nvSpPr>
          <p:cNvPr id="489" name="Google Shape;489;p3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490" name="Google Shape;490;p34"/>
          <p:cNvPicPr preferRelativeResize="0"/>
          <p:nvPr/>
        </p:nvPicPr>
        <p:blipFill rotWithShape="1">
          <a:blip r:embed="rId4">
            <a:alphaModFix/>
          </a:blip>
          <a:srcRect b="407" l="0" r="4689" t="4859"/>
          <a:stretch/>
        </p:blipFill>
        <p:spPr>
          <a:xfrm>
            <a:off x="683250" y="3893505"/>
            <a:ext cx="3564150" cy="22787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36"/>
          <p:cNvSpPr txBox="1"/>
          <p:nvPr>
            <p:ph idx="1" type="body"/>
          </p:nvPr>
        </p:nvSpPr>
        <p:spPr>
          <a:xfrm>
            <a:off x="0" y="838200"/>
            <a:ext cx="8915400" cy="57150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Tương tự như phân chương cố định: khung tương tự chương, kích thước và vị trí không thay đổi</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Tuy nhiên kích thước các phần tương đối nhỏ và các phần cho 1 tiến trình không cần liên tục nhau</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Không có phân mảnh ngoài</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Có phân mảnh trong</a:t>
            </a:r>
            <a:br>
              <a:rPr b="0" i="0" lang="en-US" sz="2800" u="none">
                <a:solidFill>
                  <a:schemeClr val="dk2"/>
                </a:solidFill>
                <a:latin typeface="Times New Roman"/>
                <a:ea typeface="Times New Roman"/>
                <a:cs typeface="Times New Roman"/>
                <a:sym typeface="Times New Roman"/>
              </a:rPr>
            </a:b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20650" lvl="1" marL="742950" marR="0" rtl="0" algn="l">
              <a:lnSpc>
                <a:spcPct val="100000"/>
              </a:lnSpc>
              <a:spcBef>
                <a:spcPts val="520"/>
              </a:spcBef>
              <a:spcAft>
                <a:spcPts val="0"/>
              </a:spcAft>
              <a:buClr>
                <a:schemeClr val="accent1"/>
              </a:buClr>
              <a:buSzPts val="2600"/>
              <a:buFont typeface="Noto Sans Symbols"/>
              <a:buNone/>
            </a:pPr>
            <a:r>
              <a:t/>
            </a:r>
            <a:endParaRPr b="0" i="0" sz="26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497" name="Google Shape;497;p36"/>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PHÂN TRANG BỘ NHỚ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Khái niệm phân trang</a:t>
            </a:r>
            <a:endParaRPr/>
          </a:p>
        </p:txBody>
      </p:sp>
      <p:sp>
        <p:nvSpPr>
          <p:cNvPr id="498" name="Google Shape;498;p3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499" name="Google Shape;499;p3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0" name="Google Shape;500;p3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35"/>
          <p:cNvSpPr txBox="1"/>
          <p:nvPr>
            <p:ph idx="1" type="body"/>
          </p:nvPr>
        </p:nvSpPr>
        <p:spPr>
          <a:xfrm>
            <a:off x="0" y="1143000"/>
            <a:ext cx="8915400" cy="3352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HDH quản lý việc cấp phát khung cho mỗi tiến trình bằng bảng trang (bảng phân trang): mỗi ô tương ứng với 1 trang và chứa </a:t>
            </a:r>
            <a:r>
              <a:rPr b="0" i="0" lang="en-US" sz="2800" u="none">
                <a:solidFill>
                  <a:srgbClr val="FF0000"/>
                </a:solidFill>
                <a:latin typeface="Times New Roman"/>
                <a:ea typeface="Times New Roman"/>
                <a:cs typeface="Times New Roman"/>
                <a:sym typeface="Times New Roman"/>
              </a:rPr>
              <a:t>số khung </a:t>
            </a:r>
            <a:r>
              <a:rPr b="0" i="0" lang="en-US" sz="2800" u="none">
                <a:solidFill>
                  <a:schemeClr val="dk2"/>
                </a:solidFill>
                <a:latin typeface="Times New Roman"/>
                <a:ea typeface="Times New Roman"/>
                <a:cs typeface="Times New Roman"/>
                <a:sym typeface="Times New Roman"/>
              </a:rPr>
              <a:t>cấp cho trang đó</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Mỗi tiến trình có bảng trang riêng</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Duy trì danh sách các khung trống trong MEM </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20650" lvl="1" marL="742950" marR="0" rtl="0" algn="l">
              <a:lnSpc>
                <a:spcPct val="100000"/>
              </a:lnSpc>
              <a:spcBef>
                <a:spcPts val="520"/>
              </a:spcBef>
              <a:spcAft>
                <a:spcPts val="0"/>
              </a:spcAft>
              <a:buClr>
                <a:schemeClr val="accent1"/>
              </a:buClr>
              <a:buSzPts val="2600"/>
              <a:buFont typeface="Noto Sans Symbols"/>
              <a:buNone/>
            </a:pPr>
            <a:r>
              <a:t/>
            </a:r>
            <a:endParaRPr b="0" i="0" sz="26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07" name="Google Shape;507;p35"/>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PHÂN TRANG BỘ NHỚ</a:t>
            </a:r>
            <a:br>
              <a:rPr b="1" i="0" lang="en-US" sz="36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Khái niệm phân trang</a:t>
            </a:r>
            <a:endParaRPr/>
          </a:p>
        </p:txBody>
      </p:sp>
      <p:sp>
        <p:nvSpPr>
          <p:cNvPr id="508" name="Google Shape;508;p3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09" name="Google Shape;509;p3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10" name="Google Shape;510;p3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511" name="Google Shape;511;p35"/>
          <p:cNvPicPr preferRelativeResize="0"/>
          <p:nvPr/>
        </p:nvPicPr>
        <p:blipFill>
          <a:blip r:embed="rId3">
            <a:alphaModFix/>
          </a:blip>
          <a:stretch>
            <a:fillRect/>
          </a:stretch>
        </p:blipFill>
        <p:spPr>
          <a:xfrm>
            <a:off x="2348038" y="3751525"/>
            <a:ext cx="4447925" cy="2080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0" st="0"/>
                                            </p:txEl>
                                          </p:spTgt>
                                        </p:tgtEl>
                                        <p:attrNameLst>
                                          <p:attrName>style.visibility</p:attrName>
                                        </p:attrNameLst>
                                      </p:cBhvr>
                                      <p:to>
                                        <p:strVal val="visible"/>
                                      </p:to>
                                    </p:set>
                                    <p:animEffect filter="fade" transition="in">
                                      <p:cBhvr>
                                        <p:cTn dur="500"/>
                                        <p:tgtEl>
                                          <p:spTgt spid="5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1" st="1"/>
                                            </p:txEl>
                                          </p:spTgt>
                                        </p:tgtEl>
                                        <p:attrNameLst>
                                          <p:attrName>style.visibility</p:attrName>
                                        </p:attrNameLst>
                                      </p:cBhvr>
                                      <p:to>
                                        <p:strVal val="visible"/>
                                      </p:to>
                                    </p:set>
                                    <p:animEffect filter="fade" transition="in">
                                      <p:cBhvr>
                                        <p:cTn dur="500"/>
                                        <p:tgtEl>
                                          <p:spTgt spid="5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2" st="2"/>
                                            </p:txEl>
                                          </p:spTgt>
                                        </p:tgtEl>
                                        <p:attrNameLst>
                                          <p:attrName>style.visibility</p:attrName>
                                        </p:attrNameLst>
                                      </p:cBhvr>
                                      <p:to>
                                        <p:strVal val="visible"/>
                                      </p:to>
                                    </p:set>
                                    <p:animEffect filter="fade" transition="in">
                                      <p:cBhvr>
                                        <p:cTn dur="500"/>
                                        <p:tgtEl>
                                          <p:spTgt spid="5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3" st="3"/>
                                            </p:txEl>
                                          </p:spTgt>
                                        </p:tgtEl>
                                        <p:attrNameLst>
                                          <p:attrName>style.visibility</p:attrName>
                                        </p:attrNameLst>
                                      </p:cBhvr>
                                      <p:to>
                                        <p:strVal val="visible"/>
                                      </p:to>
                                    </p:set>
                                    <p:animEffect filter="fade" transition="in">
                                      <p:cBhvr>
                                        <p:cTn dur="500"/>
                                        <p:tgtEl>
                                          <p:spTgt spid="5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4" st="4"/>
                                            </p:txEl>
                                          </p:spTgt>
                                        </p:tgtEl>
                                        <p:attrNameLst>
                                          <p:attrName>style.visibility</p:attrName>
                                        </p:attrNameLst>
                                      </p:cBhvr>
                                      <p:to>
                                        <p:strVal val="visible"/>
                                      </p:to>
                                    </p:set>
                                    <p:animEffect filter="fade" transition="in">
                                      <p:cBhvr>
                                        <p:cTn dur="500"/>
                                        <p:tgtEl>
                                          <p:spTgt spid="5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5" st="5"/>
                                            </p:txEl>
                                          </p:spTgt>
                                        </p:tgtEl>
                                        <p:attrNameLst>
                                          <p:attrName>style.visibility</p:attrName>
                                        </p:attrNameLst>
                                      </p:cBhvr>
                                      <p:to>
                                        <p:strVal val="visible"/>
                                      </p:to>
                                    </p:set>
                                    <p:animEffect filter="fade" transition="in">
                                      <p:cBhvr>
                                        <p:cTn dur="500"/>
                                        <p:tgtEl>
                                          <p:spTgt spid="50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6" st="6"/>
                                            </p:txEl>
                                          </p:spTgt>
                                        </p:tgtEl>
                                        <p:attrNameLst>
                                          <p:attrName>style.visibility</p:attrName>
                                        </p:attrNameLst>
                                      </p:cBhvr>
                                      <p:to>
                                        <p:strVal val="visible"/>
                                      </p:to>
                                    </p:set>
                                    <p:animEffect filter="fade" transition="in">
                                      <p:cBhvr>
                                        <p:cTn dur="500"/>
                                        <p:tgtEl>
                                          <p:spTgt spid="50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7" st="7"/>
                                            </p:txEl>
                                          </p:spTgt>
                                        </p:tgtEl>
                                        <p:attrNameLst>
                                          <p:attrName>style.visibility</p:attrName>
                                        </p:attrNameLst>
                                      </p:cBhvr>
                                      <p:to>
                                        <p:strVal val="visible"/>
                                      </p:to>
                                    </p:set>
                                    <p:animEffect filter="fade" transition="in">
                                      <p:cBhvr>
                                        <p:cTn dur="500"/>
                                        <p:tgtEl>
                                          <p:spTgt spid="50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8" st="8"/>
                                            </p:txEl>
                                          </p:spTgt>
                                        </p:tgtEl>
                                        <p:attrNameLst>
                                          <p:attrName>style.visibility</p:attrName>
                                        </p:attrNameLst>
                                      </p:cBhvr>
                                      <p:to>
                                        <p:strVal val="visible"/>
                                      </p:to>
                                    </p:set>
                                    <p:animEffect filter="fade" transition="in">
                                      <p:cBhvr>
                                        <p:cTn dur="500"/>
                                        <p:tgtEl>
                                          <p:spTgt spid="50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9" st="9"/>
                                            </p:txEl>
                                          </p:spTgt>
                                        </p:tgtEl>
                                        <p:attrNameLst>
                                          <p:attrName>style.visibility</p:attrName>
                                        </p:attrNameLst>
                                      </p:cBhvr>
                                      <p:to>
                                        <p:strVal val="visible"/>
                                      </p:to>
                                    </p:set>
                                    <p:animEffect filter="fade" transition="in">
                                      <p:cBhvr>
                                        <p:cTn dur="500"/>
                                        <p:tgtEl>
                                          <p:spTgt spid="50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6">
                                            <p:txEl>
                                              <p:pRg end="10" st="10"/>
                                            </p:txEl>
                                          </p:spTgt>
                                        </p:tgtEl>
                                        <p:attrNameLst>
                                          <p:attrName>style.visibility</p:attrName>
                                        </p:attrNameLst>
                                      </p:cBhvr>
                                      <p:to>
                                        <p:strVal val="visible"/>
                                      </p:to>
                                    </p:set>
                                    <p:animEffect filter="fade" transition="in">
                                      <p:cBhvr>
                                        <p:cTn dur="500"/>
                                        <p:tgtEl>
                                          <p:spTgt spid="506">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37"/>
          <p:cNvSpPr txBox="1"/>
          <p:nvPr>
            <p:ph idx="1" type="body"/>
          </p:nvPr>
        </p:nvSpPr>
        <p:spPr>
          <a:xfrm>
            <a:off x="0" y="838200"/>
            <a:ext cx="89154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Để tính toán địa chỉ hiệu quả, kích thước khung được chọn là lũy thừa của 2</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Địa chỉ logic gồm 2 phần:</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Số thứ tự trang (p)</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Độ dịch (địa chỉ lệch) của địa chỉ so với đầu trang (o)</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Nếu kích thước trang là 2</a:t>
            </a:r>
            <a:r>
              <a:rPr b="0" baseline="30000" i="0" lang="en-US" sz="2800" u="none">
                <a:solidFill>
                  <a:schemeClr val="dk2"/>
                </a:solidFill>
                <a:latin typeface="Times New Roman"/>
                <a:ea typeface="Times New Roman"/>
                <a:cs typeface="Times New Roman"/>
                <a:sym typeface="Times New Roman"/>
              </a:rPr>
              <a:t>n.</a:t>
            </a:r>
            <a:r>
              <a:rPr b="0" i="0" lang="en-US" sz="2800" u="none">
                <a:solidFill>
                  <a:schemeClr val="dk2"/>
                </a:solidFill>
                <a:latin typeface="Times New Roman"/>
                <a:ea typeface="Times New Roman"/>
                <a:cs typeface="Times New Roman"/>
                <a:sym typeface="Times New Roman"/>
              </a:rPr>
              <a:t> Biểu diễn địa chỉ logic dưới dạng địa chỉ có độ dài (m + n) bit</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m bit cao: biểu diễn số thứ tự trang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 bit thấp: biểu diễn độ dịch trong trang nhớ</a:t>
            </a:r>
            <a:br>
              <a:rPr b="0" i="0" lang="en-US" sz="2000" u="none" cap="none" strike="noStrike">
                <a:solidFill>
                  <a:schemeClr val="dk2"/>
                </a:solidFill>
                <a:latin typeface="Times New Roman"/>
                <a:ea typeface="Times New Roman"/>
                <a:cs typeface="Times New Roman"/>
                <a:sym typeface="Times New Roman"/>
              </a:rPr>
            </a:b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20650" lvl="1" marL="742950" marR="0" rtl="0" algn="l">
              <a:lnSpc>
                <a:spcPct val="100000"/>
              </a:lnSpc>
              <a:spcBef>
                <a:spcPts val="520"/>
              </a:spcBef>
              <a:spcAft>
                <a:spcPts val="0"/>
              </a:spcAft>
              <a:buClr>
                <a:schemeClr val="accent1"/>
              </a:buClr>
              <a:buSzPts val="2600"/>
              <a:buFont typeface="Noto Sans Symbols"/>
              <a:buNone/>
            </a:pPr>
            <a:r>
              <a:t/>
            </a:r>
            <a:endParaRPr b="0" i="0" sz="26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18" name="Google Shape;518;p37"/>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PHÂN TRANG BỘ NHỚ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Ánh xạ địa chỉ</a:t>
            </a:r>
            <a:endParaRPr/>
          </a:p>
        </p:txBody>
      </p:sp>
      <p:sp>
        <p:nvSpPr>
          <p:cNvPr id="519" name="Google Shape;519;p3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20" name="Google Shape;520;p3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521" name="Google Shape;521;p37"/>
          <p:cNvGraphicFramePr/>
          <p:nvPr/>
        </p:nvGraphicFramePr>
        <p:xfrm>
          <a:off x="2133600" y="5084762"/>
          <a:ext cx="3000000" cy="3000000"/>
        </p:xfrm>
        <a:graphic>
          <a:graphicData uri="http://schemas.openxmlformats.org/drawingml/2006/table">
            <a:tbl>
              <a:tblPr>
                <a:noFill/>
                <a:tableStyleId>{71EE02FC-BA3E-45F9-B2DA-8AEF37A3CA9D}</a:tableStyleId>
              </a:tblPr>
              <a:tblGrid>
                <a:gridCol w="1244600"/>
                <a:gridCol w="1765300"/>
                <a:gridCol w="1866900"/>
              </a:tblGrid>
              <a:tr h="325425">
                <a:tc>
                  <a:txBody>
                    <a:bodyPr/>
                    <a:lstStyle/>
                    <a:p>
                      <a:pPr indent="0" lvl="0" marL="0" marR="0" rtl="0" algn="just">
                        <a:lnSpc>
                          <a:spcPct val="115000"/>
                        </a:lnSpc>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Địa chỉ lô gic</a:t>
                      </a:r>
                      <a:endParaRPr/>
                    </a:p>
                  </a:txBody>
                  <a:tcPr marT="0" marB="0" marR="68575" marL="68575">
                    <a:lnR cap="flat" cmpd="sng" w="12700">
                      <a:solidFill>
                        <a:srgbClr val="000000"/>
                      </a:solidFill>
                      <a:prstDash val="solid"/>
                      <a:round/>
                      <a:headEnd len="sm" w="sm" type="none"/>
                      <a:tailEnd len="sm" w="sm" type="none"/>
                    </a:lnR>
                  </a:tcPr>
                </a:tc>
                <a:tc>
                  <a:txBody>
                    <a:bodyPr/>
                    <a:lstStyle/>
                    <a:p>
                      <a:pPr indent="0" lvl="0" marL="0" marR="0" rtl="0" algn="ctr">
                        <a:lnSpc>
                          <a:spcPct val="115000"/>
                        </a:lnSpc>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số thứ tự trang (</a:t>
                      </a:r>
                      <a:r>
                        <a:rPr b="0" i="1" lang="en-US" sz="1400" u="none" cap="none" strike="noStrike">
                          <a:solidFill>
                            <a:schemeClr val="dk1"/>
                          </a:solidFill>
                          <a:latin typeface="Times New Roman"/>
                          <a:ea typeface="Times New Roman"/>
                          <a:cs typeface="Times New Roman"/>
                          <a:sym typeface="Times New Roman"/>
                        </a:rPr>
                        <a:t>p</a:t>
                      </a:r>
                      <a:r>
                        <a:rPr b="0" i="0" lang="en-US" sz="1400" u="none" cap="none" strike="noStrike">
                          <a:solidFill>
                            <a:schemeClr val="dk1"/>
                          </a:solidFill>
                          <a:latin typeface="Times New Roman"/>
                          <a:ea typeface="Times New Roman"/>
                          <a:cs typeface="Times New Roman"/>
                          <a:sym typeface="Times New Roman"/>
                        </a:rPr>
                        <a:t>)</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độ dịch trong trang (</a:t>
                      </a:r>
                      <a:r>
                        <a:rPr b="0" i="1" lang="en-US" sz="1400" u="none" cap="none" strike="noStrike">
                          <a:solidFill>
                            <a:schemeClr val="dk1"/>
                          </a:solidFill>
                          <a:latin typeface="Times New Roman"/>
                          <a:ea typeface="Times New Roman"/>
                          <a:cs typeface="Times New Roman"/>
                          <a:sym typeface="Times New Roman"/>
                        </a:rPr>
                        <a:t>0</a:t>
                      </a:r>
                      <a:r>
                        <a:rPr b="0" i="0" lang="en-US" sz="1400" u="none" cap="none" strike="noStrike">
                          <a:solidFill>
                            <a:schemeClr val="dk1"/>
                          </a:solidFill>
                          <a:latin typeface="Times New Roman"/>
                          <a:ea typeface="Times New Roman"/>
                          <a:cs typeface="Times New Roman"/>
                          <a:sym typeface="Times New Roman"/>
                        </a:rPr>
                        <a:t>)</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11150">
                <a:tc>
                  <a:txBody>
                    <a:bodyPr/>
                    <a:lstStyle/>
                    <a:p>
                      <a:pPr indent="0" lvl="0" marL="0" marR="0" rtl="0" algn="just">
                        <a:lnSpc>
                          <a:spcPct val="115000"/>
                        </a:lnSpc>
                        <a:spcBef>
                          <a:spcPts val="0"/>
                        </a:spcBef>
                        <a:spcAft>
                          <a:spcPts val="0"/>
                        </a:spcAft>
                        <a:buClr>
                          <a:schemeClr val="dk1"/>
                        </a:buClr>
                        <a:buSzPts val="1400"/>
                        <a:buFont typeface="Times New Roman"/>
                        <a:buNone/>
                      </a:pPr>
                      <a:r>
                        <a:rPr b="0" i="0" lang="en-US" sz="1400" u="none" cap="none" strike="noStrike">
                          <a:solidFill>
                            <a:schemeClr val="dk1"/>
                          </a:solidFill>
                          <a:latin typeface="Times New Roman"/>
                          <a:ea typeface="Times New Roman"/>
                          <a:cs typeface="Times New Roman"/>
                          <a:sym typeface="Times New Roman"/>
                        </a:rPr>
                        <a:t>Độ dài</a:t>
                      </a:r>
                      <a:endParaRPr/>
                    </a:p>
                  </a:txBody>
                  <a:tcPr marT="0" marB="0" marR="68575" marL="68575"/>
                </a:tc>
                <a:tc>
                  <a:txBody>
                    <a:bodyPr/>
                    <a:lstStyle/>
                    <a:p>
                      <a:pPr indent="0" lvl="0" marL="0" marR="0" rtl="0" algn="ctr">
                        <a:lnSpc>
                          <a:spcPct val="115000"/>
                        </a:lnSpc>
                        <a:spcBef>
                          <a:spcPts val="0"/>
                        </a:spcBef>
                        <a:spcAft>
                          <a:spcPts val="0"/>
                        </a:spcAft>
                        <a:buClr>
                          <a:schemeClr val="dk1"/>
                        </a:buClr>
                        <a:buSzPts val="1400"/>
                        <a:buFont typeface="Times New Roman"/>
                        <a:buNone/>
                      </a:pPr>
                      <a:r>
                        <a:rPr b="0" i="1" lang="en-US" sz="1400" u="none" cap="none" strike="noStrike">
                          <a:solidFill>
                            <a:schemeClr val="dk1"/>
                          </a:solidFill>
                          <a:latin typeface="Times New Roman"/>
                          <a:ea typeface="Times New Roman"/>
                          <a:cs typeface="Times New Roman"/>
                          <a:sym typeface="Times New Roman"/>
                        </a:rPr>
                        <a:t>m</a:t>
                      </a:r>
                      <a:endParaRPr/>
                    </a:p>
                  </a:txBody>
                  <a:tcPr marT="0" marB="0" marR="68575" marL="68575">
                    <a:lnT cap="flat" cmpd="sng" w="12700">
                      <a:solidFill>
                        <a:srgbClr val="000000"/>
                      </a:solidFill>
                      <a:prstDash val="solid"/>
                      <a:round/>
                      <a:headEnd len="sm" w="sm" type="none"/>
                      <a:tailEnd len="sm" w="sm" type="none"/>
                    </a:lnT>
                  </a:tcPr>
                </a:tc>
                <a:tc>
                  <a:txBody>
                    <a:bodyPr/>
                    <a:lstStyle/>
                    <a:p>
                      <a:pPr indent="0" lvl="0" marL="0" marR="0" rtl="0" algn="ctr">
                        <a:lnSpc>
                          <a:spcPct val="115000"/>
                        </a:lnSpc>
                        <a:spcBef>
                          <a:spcPts val="0"/>
                        </a:spcBef>
                        <a:spcAft>
                          <a:spcPts val="0"/>
                        </a:spcAft>
                        <a:buClr>
                          <a:schemeClr val="dk1"/>
                        </a:buClr>
                        <a:buSzPts val="1400"/>
                        <a:buFont typeface="Times New Roman"/>
                        <a:buNone/>
                      </a:pPr>
                      <a:r>
                        <a:rPr b="0" i="1" lang="en-US" sz="1400" u="none" cap="none" strike="noStrike">
                          <a:solidFill>
                            <a:schemeClr val="dk1"/>
                          </a:solidFill>
                          <a:latin typeface="Times New Roman"/>
                          <a:ea typeface="Times New Roman"/>
                          <a:cs typeface="Times New Roman"/>
                          <a:sym typeface="Times New Roman"/>
                        </a:rPr>
                        <a:t>n</a:t>
                      </a:r>
                      <a:endParaRPr/>
                    </a:p>
                  </a:txBody>
                  <a:tcPr marT="0" marB="0" marR="68575" marL="68575">
                    <a:lnT cap="flat" cmpd="sng" w="12700">
                      <a:solidFill>
                        <a:srgbClr val="000000"/>
                      </a:solidFill>
                      <a:prstDash val="solid"/>
                      <a:round/>
                      <a:headEnd len="sm" w="sm" type="none"/>
                      <a:tailEnd len="sm" w="sm" type="none"/>
                    </a:lnT>
                  </a:tcPr>
                </a:tc>
              </a:tr>
            </a:tbl>
          </a:graphicData>
        </a:graphic>
      </p:graphicFrame>
      <p:sp>
        <p:nvSpPr>
          <p:cNvPr id="522" name="Google Shape;522;p3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0" st="0"/>
                                            </p:txEl>
                                          </p:spTgt>
                                        </p:tgtEl>
                                        <p:attrNameLst>
                                          <p:attrName>style.visibility</p:attrName>
                                        </p:attrNameLst>
                                      </p:cBhvr>
                                      <p:to>
                                        <p:strVal val="visible"/>
                                      </p:to>
                                    </p:set>
                                    <p:animEffect filter="fade" transition="in">
                                      <p:cBhvr>
                                        <p:cTn dur="500"/>
                                        <p:tgtEl>
                                          <p:spTgt spid="5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1" st="1"/>
                                            </p:txEl>
                                          </p:spTgt>
                                        </p:tgtEl>
                                        <p:attrNameLst>
                                          <p:attrName>style.visibility</p:attrName>
                                        </p:attrNameLst>
                                      </p:cBhvr>
                                      <p:to>
                                        <p:strVal val="visible"/>
                                      </p:to>
                                    </p:set>
                                    <p:animEffect filter="fade" transition="in">
                                      <p:cBhvr>
                                        <p:cTn dur="500"/>
                                        <p:tgtEl>
                                          <p:spTgt spid="5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2" st="2"/>
                                            </p:txEl>
                                          </p:spTgt>
                                        </p:tgtEl>
                                        <p:attrNameLst>
                                          <p:attrName>style.visibility</p:attrName>
                                        </p:attrNameLst>
                                      </p:cBhvr>
                                      <p:to>
                                        <p:strVal val="visible"/>
                                      </p:to>
                                    </p:set>
                                    <p:animEffect filter="fade" transition="in">
                                      <p:cBhvr>
                                        <p:cTn dur="500"/>
                                        <p:tgtEl>
                                          <p:spTgt spid="51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3" st="3"/>
                                            </p:txEl>
                                          </p:spTgt>
                                        </p:tgtEl>
                                        <p:attrNameLst>
                                          <p:attrName>style.visibility</p:attrName>
                                        </p:attrNameLst>
                                      </p:cBhvr>
                                      <p:to>
                                        <p:strVal val="visible"/>
                                      </p:to>
                                    </p:set>
                                    <p:animEffect filter="fade" transition="in">
                                      <p:cBhvr>
                                        <p:cTn dur="500"/>
                                        <p:tgtEl>
                                          <p:spTgt spid="51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4" st="4"/>
                                            </p:txEl>
                                          </p:spTgt>
                                        </p:tgtEl>
                                        <p:attrNameLst>
                                          <p:attrName>style.visibility</p:attrName>
                                        </p:attrNameLst>
                                      </p:cBhvr>
                                      <p:to>
                                        <p:strVal val="visible"/>
                                      </p:to>
                                    </p:set>
                                    <p:animEffect filter="fade" transition="in">
                                      <p:cBhvr>
                                        <p:cTn dur="500"/>
                                        <p:tgtEl>
                                          <p:spTgt spid="51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5" st="5"/>
                                            </p:txEl>
                                          </p:spTgt>
                                        </p:tgtEl>
                                        <p:attrNameLst>
                                          <p:attrName>style.visibility</p:attrName>
                                        </p:attrNameLst>
                                      </p:cBhvr>
                                      <p:to>
                                        <p:strVal val="visible"/>
                                      </p:to>
                                    </p:set>
                                    <p:animEffect filter="fade" transition="in">
                                      <p:cBhvr>
                                        <p:cTn dur="500"/>
                                        <p:tgtEl>
                                          <p:spTgt spid="51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6" st="6"/>
                                            </p:txEl>
                                          </p:spTgt>
                                        </p:tgtEl>
                                        <p:attrNameLst>
                                          <p:attrName>style.visibility</p:attrName>
                                        </p:attrNameLst>
                                      </p:cBhvr>
                                      <p:to>
                                        <p:strVal val="visible"/>
                                      </p:to>
                                    </p:set>
                                    <p:animEffect filter="fade" transition="in">
                                      <p:cBhvr>
                                        <p:cTn dur="500"/>
                                        <p:tgtEl>
                                          <p:spTgt spid="51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7" st="7"/>
                                            </p:txEl>
                                          </p:spTgt>
                                        </p:tgtEl>
                                        <p:attrNameLst>
                                          <p:attrName>style.visibility</p:attrName>
                                        </p:attrNameLst>
                                      </p:cBhvr>
                                      <p:to>
                                        <p:strVal val="visible"/>
                                      </p:to>
                                    </p:set>
                                    <p:animEffect filter="fade" transition="in">
                                      <p:cBhvr>
                                        <p:cTn dur="500"/>
                                        <p:tgtEl>
                                          <p:spTgt spid="51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8" st="8"/>
                                            </p:txEl>
                                          </p:spTgt>
                                        </p:tgtEl>
                                        <p:attrNameLst>
                                          <p:attrName>style.visibility</p:attrName>
                                        </p:attrNameLst>
                                      </p:cBhvr>
                                      <p:to>
                                        <p:strVal val="visible"/>
                                      </p:to>
                                    </p:set>
                                    <p:animEffect filter="fade" transition="in">
                                      <p:cBhvr>
                                        <p:cTn dur="500"/>
                                        <p:tgtEl>
                                          <p:spTgt spid="51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9" st="9"/>
                                            </p:txEl>
                                          </p:spTgt>
                                        </p:tgtEl>
                                        <p:attrNameLst>
                                          <p:attrName>style.visibility</p:attrName>
                                        </p:attrNameLst>
                                      </p:cBhvr>
                                      <p:to>
                                        <p:strVal val="visible"/>
                                      </p:to>
                                    </p:set>
                                    <p:animEffect filter="fade" transition="in">
                                      <p:cBhvr>
                                        <p:cTn dur="500"/>
                                        <p:tgtEl>
                                          <p:spTgt spid="51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10" st="10"/>
                                            </p:txEl>
                                          </p:spTgt>
                                        </p:tgtEl>
                                        <p:attrNameLst>
                                          <p:attrName>style.visibility</p:attrName>
                                        </p:attrNameLst>
                                      </p:cBhvr>
                                      <p:to>
                                        <p:strVal val="visible"/>
                                      </p:to>
                                    </p:set>
                                    <p:animEffect filter="fade" transition="in">
                                      <p:cBhvr>
                                        <p:cTn dur="500"/>
                                        <p:tgtEl>
                                          <p:spTgt spid="51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11" st="11"/>
                                            </p:txEl>
                                          </p:spTgt>
                                        </p:tgtEl>
                                        <p:attrNameLst>
                                          <p:attrName>style.visibility</p:attrName>
                                        </p:attrNameLst>
                                      </p:cBhvr>
                                      <p:to>
                                        <p:strVal val="visible"/>
                                      </p:to>
                                    </p:set>
                                    <p:animEffect filter="fade" transition="in">
                                      <p:cBhvr>
                                        <p:cTn dur="500"/>
                                        <p:tgtEl>
                                          <p:spTgt spid="51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12" st="12"/>
                                            </p:txEl>
                                          </p:spTgt>
                                        </p:tgtEl>
                                        <p:attrNameLst>
                                          <p:attrName>style.visibility</p:attrName>
                                        </p:attrNameLst>
                                      </p:cBhvr>
                                      <p:to>
                                        <p:strVal val="visible"/>
                                      </p:to>
                                    </p:set>
                                    <p:animEffect filter="fade" transition="in">
                                      <p:cBhvr>
                                        <p:cTn dur="500"/>
                                        <p:tgtEl>
                                          <p:spTgt spid="517">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xEl>
                                              <p:pRg end="13" st="13"/>
                                            </p:txEl>
                                          </p:spTgt>
                                        </p:tgtEl>
                                        <p:attrNameLst>
                                          <p:attrName>style.visibility</p:attrName>
                                        </p:attrNameLst>
                                      </p:cBhvr>
                                      <p:to>
                                        <p:strVal val="visible"/>
                                      </p:to>
                                    </p:set>
                                    <p:animEffect filter="fade" transition="in">
                                      <p:cBhvr>
                                        <p:cTn dur="500"/>
                                        <p:tgtEl>
                                          <p:spTgt spid="517">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38"/>
          <p:cNvSpPr txBox="1"/>
          <p:nvPr>
            <p:ph idx="1" type="body"/>
          </p:nvPr>
        </p:nvSpPr>
        <p:spPr>
          <a:xfrm>
            <a:off x="0" y="1143000"/>
            <a:ext cx="8915400" cy="57150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Quá trình chuyển địa chỉ logic sang địa chỉ vật lý:</a:t>
            </a:r>
            <a:endParaRPr b="0" i="0" sz="24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Lấy </a:t>
            </a:r>
            <a:r>
              <a:rPr b="1" i="0" lang="en-US" sz="2400" u="none" cap="none" strike="noStrike">
                <a:solidFill>
                  <a:schemeClr val="dk2"/>
                </a:solidFill>
                <a:latin typeface="Times New Roman"/>
                <a:ea typeface="Times New Roman"/>
                <a:cs typeface="Times New Roman"/>
                <a:sym typeface="Times New Roman"/>
              </a:rPr>
              <a:t>m bit cao </a:t>
            </a:r>
            <a:r>
              <a:rPr b="0" i="0" lang="en-US" sz="2400" u="none" cap="none" strike="noStrike">
                <a:solidFill>
                  <a:schemeClr val="dk2"/>
                </a:solidFill>
                <a:latin typeface="Times New Roman"/>
                <a:ea typeface="Times New Roman"/>
                <a:cs typeface="Times New Roman"/>
                <a:sym typeface="Times New Roman"/>
              </a:rPr>
              <a:t>của địa chỉ =&gt; được số thứ tự trang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Dựa vào bảng trang, tìm được </a:t>
            </a:r>
            <a:r>
              <a:rPr b="1" i="0" lang="en-US" sz="2400" u="none" cap="none" strike="noStrike">
                <a:solidFill>
                  <a:schemeClr val="dk2"/>
                </a:solidFill>
                <a:latin typeface="Times New Roman"/>
                <a:ea typeface="Times New Roman"/>
                <a:cs typeface="Times New Roman"/>
                <a:sym typeface="Times New Roman"/>
              </a:rPr>
              <a:t>số thứ tự khung </a:t>
            </a:r>
            <a:r>
              <a:rPr b="0" i="0" lang="en-US" sz="2400" u="none" cap="none" strike="noStrike">
                <a:solidFill>
                  <a:schemeClr val="dk2"/>
                </a:solidFill>
                <a:latin typeface="Times New Roman"/>
                <a:ea typeface="Times New Roman"/>
                <a:cs typeface="Times New Roman"/>
                <a:sym typeface="Times New Roman"/>
              </a:rPr>
              <a:t>vật lý (k)</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Địa chỉ vật lý bắt đầu của khung là </a:t>
            </a:r>
            <a:r>
              <a:rPr b="1" i="0" lang="en-US" sz="2400" u="none" cap="none" strike="noStrike">
                <a:solidFill>
                  <a:schemeClr val="dk2"/>
                </a:solidFill>
                <a:latin typeface="Times New Roman"/>
                <a:ea typeface="Times New Roman"/>
                <a:cs typeface="Times New Roman"/>
                <a:sym typeface="Times New Roman"/>
              </a:rPr>
              <a:t>k*2</a:t>
            </a:r>
            <a:r>
              <a:rPr b="1" baseline="30000" i="0" lang="en-US" sz="2400" u="none" cap="none" strike="noStrike">
                <a:solidFill>
                  <a:schemeClr val="dk2"/>
                </a:solidFill>
                <a:latin typeface="Times New Roman"/>
                <a:ea typeface="Times New Roman"/>
                <a:cs typeface="Times New Roman"/>
                <a:sym typeface="Times New Roman"/>
              </a:rPr>
              <a:t>n</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Địa chỉ vật lý của byte được tham chiếu là </a:t>
            </a:r>
            <a:r>
              <a:rPr b="1" i="0" lang="en-US" sz="2400" u="none" cap="none" strike="noStrike">
                <a:solidFill>
                  <a:schemeClr val="dk2"/>
                </a:solidFill>
                <a:latin typeface="Times New Roman"/>
                <a:ea typeface="Times New Roman"/>
                <a:cs typeface="Times New Roman"/>
                <a:sym typeface="Times New Roman"/>
              </a:rPr>
              <a:t>địa chỉ bắt đầu của khung</a:t>
            </a:r>
            <a:r>
              <a:rPr b="0" i="0" lang="en-US" sz="2400" u="none" cap="none" strike="noStrike">
                <a:solidFill>
                  <a:schemeClr val="dk2"/>
                </a:solidFill>
                <a:latin typeface="Times New Roman"/>
                <a:ea typeface="Times New Roman"/>
                <a:cs typeface="Times New Roman"/>
                <a:sym typeface="Times New Roman"/>
              </a:rPr>
              <a:t> cộng với </a:t>
            </a:r>
            <a:r>
              <a:rPr b="1" i="0" lang="en-US" sz="2400" u="none" cap="none" strike="noStrike">
                <a:solidFill>
                  <a:schemeClr val="dk2"/>
                </a:solidFill>
                <a:latin typeface="Times New Roman"/>
                <a:ea typeface="Times New Roman"/>
                <a:cs typeface="Times New Roman"/>
                <a:sym typeface="Times New Roman"/>
              </a:rPr>
              <a:t>địa chỉ lệch </a:t>
            </a:r>
            <a:r>
              <a:rPr b="0" i="0" lang="en-US" sz="2400" u="none" cap="none" strike="noStrike">
                <a:solidFill>
                  <a:schemeClr val="dk2"/>
                </a:solidFill>
                <a:latin typeface="Times New Roman"/>
                <a:ea typeface="Times New Roman"/>
                <a:cs typeface="Times New Roman"/>
                <a:sym typeface="Times New Roman"/>
              </a:rPr>
              <a:t>(độ dịch)</a:t>
            </a:r>
            <a:endParaRPr/>
          </a:p>
          <a:p>
            <a:pPr indent="-285750" lvl="1" marL="742950" marR="0" rtl="0" algn="l">
              <a:lnSpc>
                <a:spcPct val="100000"/>
              </a:lnSpc>
              <a:spcBef>
                <a:spcPts val="480"/>
              </a:spcBef>
              <a:spcAft>
                <a:spcPts val="0"/>
              </a:spcAft>
              <a:buClr>
                <a:schemeClr val="accent1"/>
              </a:buClr>
              <a:buSzPts val="2400"/>
              <a:buFont typeface="Noto Sans Symbols"/>
              <a:buNone/>
            </a:pPr>
            <a:r>
              <a:rPr b="0" i="0" lang="en-US" sz="2400" u="none" cap="none" strike="noStrike">
                <a:solidFill>
                  <a:schemeClr val="dk2"/>
                </a:solidFill>
                <a:latin typeface="Times New Roman"/>
                <a:ea typeface="Times New Roman"/>
                <a:cs typeface="Times New Roman"/>
                <a:sym typeface="Times New Roman"/>
              </a:rPr>
              <a:t>=&gt; Chỉ cần thêm số khung vào trước dãy bit biểu diễn độ lệch</a:t>
            </a:r>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285750" lvl="1" marL="742950" marR="0" rtl="0" algn="l">
              <a:lnSpc>
                <a:spcPct val="100000"/>
              </a:lnSpc>
              <a:spcBef>
                <a:spcPts val="400"/>
              </a:spcBef>
              <a:spcAft>
                <a:spcPts val="0"/>
              </a:spcAft>
              <a:buClr>
                <a:schemeClr val="accent1"/>
              </a:buClr>
              <a:buSzPts val="2000"/>
              <a:buFont typeface="Noto Sans Symbols"/>
              <a:buNone/>
            </a:pPr>
            <a:br>
              <a:rPr b="0" i="0" lang="en-US" sz="2000" u="none" cap="none" strike="noStrike">
                <a:solidFill>
                  <a:schemeClr val="dk2"/>
                </a:solidFill>
                <a:latin typeface="Times New Roman"/>
                <a:ea typeface="Times New Roman"/>
                <a:cs typeface="Times New Roman"/>
                <a:sym typeface="Times New Roman"/>
              </a:rPr>
            </a:b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20650" lvl="1" marL="742950" marR="0" rtl="0" algn="l">
              <a:lnSpc>
                <a:spcPct val="100000"/>
              </a:lnSpc>
              <a:spcBef>
                <a:spcPts val="520"/>
              </a:spcBef>
              <a:spcAft>
                <a:spcPts val="0"/>
              </a:spcAft>
              <a:buClr>
                <a:schemeClr val="accent1"/>
              </a:buClr>
              <a:buSzPts val="2600"/>
              <a:buFont typeface="Noto Sans Symbols"/>
              <a:buNone/>
            </a:pPr>
            <a:r>
              <a:t/>
            </a:r>
            <a:endParaRPr b="0" i="0" sz="26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29" name="Google Shape;529;p38"/>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PHÂN TRANG BỘ NHỚ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Ánh xạ địa chỉ</a:t>
            </a:r>
            <a:endParaRPr/>
          </a:p>
        </p:txBody>
      </p:sp>
      <p:sp>
        <p:nvSpPr>
          <p:cNvPr id="530" name="Google Shape;530;p3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31" name="Google Shape;531;p3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32" name="Google Shape;532;p3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39"/>
          <p:cNvSpPr txBox="1"/>
          <p:nvPr>
            <p:ph idx="1" type="body"/>
          </p:nvPr>
        </p:nvSpPr>
        <p:spPr>
          <a:xfrm>
            <a:off x="152400" y="762000"/>
            <a:ext cx="89154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Ví dụ: Cho bảng trang như sau: Với kích thước trang </a:t>
            </a:r>
            <a:endParaRPr/>
          </a:p>
          <a:p>
            <a:pPr indent="-342900" lvl="0" marL="342900" marR="0" rtl="0" algn="l">
              <a:lnSpc>
                <a:spcPct val="100000"/>
              </a:lnSpc>
              <a:spcBef>
                <a:spcPts val="48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Là 1KB. Hãy chuyển các địa chỉ logic sau sang địa chỉ </a:t>
            </a:r>
            <a:endParaRPr/>
          </a:p>
          <a:p>
            <a:pPr indent="-342900" lvl="0" marL="342900" marR="0" rtl="0" algn="l">
              <a:lnSpc>
                <a:spcPct val="100000"/>
              </a:lnSpc>
              <a:spcBef>
                <a:spcPts val="48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vật lý:</a:t>
            </a:r>
            <a:endParaRPr/>
          </a:p>
          <a:p>
            <a:pPr indent="-342900" lvl="0" marL="342900" marR="0" rtl="0" algn="l">
              <a:lnSpc>
                <a:spcPct val="100000"/>
              </a:lnSpc>
              <a:spcBef>
                <a:spcPts val="480"/>
              </a:spcBef>
              <a:spcAft>
                <a:spcPts val="0"/>
              </a:spcAft>
              <a:buClr>
                <a:schemeClr val="dk2"/>
              </a:buClr>
              <a:buSzPts val="2400"/>
              <a:buFont typeface="Noto Sans Symbols"/>
              <a:buAutoNum type="alphaLcParenR"/>
            </a:pPr>
            <a:r>
              <a:rPr b="0" i="0" lang="en-US" sz="2400" u="none">
                <a:solidFill>
                  <a:schemeClr val="dk2"/>
                </a:solidFill>
                <a:latin typeface="Times New Roman"/>
                <a:ea typeface="Times New Roman"/>
                <a:cs typeface="Times New Roman"/>
                <a:sym typeface="Times New Roman"/>
              </a:rPr>
              <a:t>1240</a:t>
            </a:r>
            <a:endParaRPr/>
          </a:p>
          <a:p>
            <a:pPr indent="-342900" lvl="0" marL="342900" marR="0" rtl="0" algn="l">
              <a:lnSpc>
                <a:spcPct val="100000"/>
              </a:lnSpc>
              <a:spcBef>
                <a:spcPts val="480"/>
              </a:spcBef>
              <a:spcAft>
                <a:spcPts val="0"/>
              </a:spcAft>
              <a:buClr>
                <a:schemeClr val="dk2"/>
              </a:buClr>
              <a:buSzPts val="2400"/>
              <a:buFont typeface="Noto Sans Symbols"/>
              <a:buAutoNum type="alphaLcParenR"/>
            </a:pPr>
            <a:r>
              <a:rPr b="0" i="0" lang="en-US" sz="2400" u="none">
                <a:solidFill>
                  <a:schemeClr val="dk2"/>
                </a:solidFill>
                <a:latin typeface="Times New Roman"/>
                <a:ea typeface="Times New Roman"/>
                <a:cs typeface="Times New Roman"/>
                <a:sym typeface="Times New Roman"/>
              </a:rPr>
              <a:t>3580</a:t>
            </a:r>
            <a:endParaRPr/>
          </a:p>
          <a:p>
            <a:pPr indent="-342900" lvl="0" marL="342900" marR="0" rtl="0" algn="l">
              <a:lnSpc>
                <a:spcPct val="100000"/>
              </a:lnSpc>
              <a:spcBef>
                <a:spcPts val="480"/>
              </a:spcBef>
              <a:spcAft>
                <a:spcPts val="0"/>
              </a:spcAft>
              <a:buClr>
                <a:schemeClr val="dk2"/>
              </a:buClr>
              <a:buSzPts val="2400"/>
              <a:buFont typeface="Noto Sans Symbols"/>
              <a:buAutoNum type="alphaLcParenR"/>
            </a:pPr>
            <a:r>
              <a:rPr b="0" i="0" lang="en-US" sz="2400" u="none">
                <a:solidFill>
                  <a:schemeClr val="dk2"/>
                </a:solidFill>
                <a:latin typeface="Times New Roman"/>
                <a:ea typeface="Times New Roman"/>
                <a:cs typeface="Times New Roman"/>
                <a:sym typeface="Times New Roman"/>
              </a:rPr>
              <a:t>1502</a:t>
            </a:r>
            <a:endParaRPr/>
          </a:p>
          <a:p>
            <a:pPr indent="-342900" lvl="0" marL="342900" marR="0" rtl="0" algn="l">
              <a:lnSpc>
                <a:spcPct val="100000"/>
              </a:lnSpc>
              <a:spcBef>
                <a:spcPts val="48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Hướng dẫn:</a:t>
            </a:r>
            <a:endParaRPr/>
          </a:p>
          <a:p>
            <a:pPr indent="-342900" lvl="0" marL="342900" marR="0" rtl="0" algn="l">
              <a:lnSpc>
                <a:spcPct val="100000"/>
              </a:lnSpc>
              <a:spcBef>
                <a:spcPts val="480"/>
              </a:spcBef>
              <a:spcAft>
                <a:spcPts val="0"/>
              </a:spcAft>
              <a:buClr>
                <a:schemeClr val="dk2"/>
              </a:buClr>
              <a:buSzPts val="2400"/>
              <a:buFont typeface="Noto Sans Symbols"/>
              <a:buNone/>
            </a:pPr>
            <a:r>
              <a:rPr b="0" i="0" lang="en-US" sz="2400" u="sng">
                <a:solidFill>
                  <a:schemeClr val="dk2"/>
                </a:solidFill>
                <a:latin typeface="Times New Roman"/>
                <a:ea typeface="Times New Roman"/>
                <a:cs typeface="Times New Roman"/>
                <a:sym typeface="Times New Roman"/>
              </a:rPr>
              <a:t>B1</a:t>
            </a:r>
            <a:r>
              <a:rPr b="0" i="0" lang="en-US" sz="2400" u="none">
                <a:solidFill>
                  <a:schemeClr val="dk2"/>
                </a:solidFill>
                <a:latin typeface="Times New Roman"/>
                <a:ea typeface="Times New Roman"/>
                <a:cs typeface="Times New Roman"/>
                <a:sym typeface="Times New Roman"/>
              </a:rPr>
              <a:t>: Lấy (Địa chỉ logic) div (kích thước trang) = page =&gt; Xác định Frame</a:t>
            </a:r>
            <a:endParaRPr/>
          </a:p>
          <a:p>
            <a:pPr indent="-342900" lvl="0" marL="342900" marR="0" rtl="0" algn="l">
              <a:lnSpc>
                <a:spcPct val="100000"/>
              </a:lnSpc>
              <a:spcBef>
                <a:spcPts val="480"/>
              </a:spcBef>
              <a:spcAft>
                <a:spcPts val="0"/>
              </a:spcAft>
              <a:buClr>
                <a:schemeClr val="dk2"/>
              </a:buClr>
              <a:buSzPts val="2400"/>
              <a:buFont typeface="Noto Sans Symbols"/>
              <a:buNone/>
            </a:pPr>
            <a:r>
              <a:rPr b="0" i="0" lang="en-US" sz="2400" u="sng">
                <a:solidFill>
                  <a:schemeClr val="dk2"/>
                </a:solidFill>
                <a:latin typeface="Times New Roman"/>
                <a:ea typeface="Times New Roman"/>
                <a:cs typeface="Times New Roman"/>
                <a:sym typeface="Times New Roman"/>
              </a:rPr>
              <a:t>B2</a:t>
            </a:r>
            <a:r>
              <a:rPr b="0" i="0" lang="en-US" sz="2400" u="none">
                <a:solidFill>
                  <a:schemeClr val="dk2"/>
                </a:solidFill>
                <a:latin typeface="Times New Roman"/>
                <a:ea typeface="Times New Roman"/>
                <a:cs typeface="Times New Roman"/>
                <a:sym typeface="Times New Roman"/>
              </a:rPr>
              <a:t>: Frame * (kích thước trang) + (địa chỉ logic) % (kích thước trang) = </a:t>
            </a:r>
            <a:r>
              <a:rPr b="1" i="0" lang="en-US" sz="2400" u="none">
                <a:solidFill>
                  <a:schemeClr val="dk2"/>
                </a:solidFill>
                <a:latin typeface="Times New Roman"/>
                <a:ea typeface="Times New Roman"/>
                <a:cs typeface="Times New Roman"/>
                <a:sym typeface="Times New Roman"/>
              </a:rPr>
              <a:t>địa chỉ vật lý </a:t>
            </a:r>
            <a:endParaRPr/>
          </a:p>
          <a:p>
            <a:pPr indent="-3429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 </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None/>
            </a:pPr>
            <a:br>
              <a:rPr b="0" i="0" lang="en-US" sz="2400" u="none" cap="none" strike="noStrike">
                <a:solidFill>
                  <a:schemeClr val="dk2"/>
                </a:solidFill>
                <a:latin typeface="Times New Roman"/>
                <a:ea typeface="Times New Roman"/>
                <a:cs typeface="Times New Roman"/>
                <a:sym typeface="Times New Roman"/>
              </a:rPr>
            </a:b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39" name="Google Shape;539;p39"/>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PHÂN TRANG BỘ NHỚ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Ánh xạ địa chỉ</a:t>
            </a:r>
            <a:endParaRPr/>
          </a:p>
        </p:txBody>
      </p:sp>
      <p:sp>
        <p:nvSpPr>
          <p:cNvPr id="540" name="Google Shape;540;p3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41" name="Google Shape;541;p3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42" name="Google Shape;542;p3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543" name="Google Shape;543;p39"/>
          <p:cNvGraphicFramePr/>
          <p:nvPr/>
        </p:nvGraphicFramePr>
        <p:xfrm>
          <a:off x="7315200" y="990600"/>
          <a:ext cx="3000000" cy="3000000"/>
        </p:xfrm>
        <a:graphic>
          <a:graphicData uri="http://schemas.openxmlformats.org/drawingml/2006/table">
            <a:tbl>
              <a:tblPr>
                <a:noFill/>
                <a:tableStyleId>{71EE02FC-BA3E-45F9-B2DA-8AEF37A3CA9D}</a:tableStyleId>
              </a:tblPr>
              <a:tblGrid>
                <a:gridCol w="762000"/>
                <a:gridCol w="914400"/>
              </a:tblGrid>
              <a:tr h="371475">
                <a:tc>
                  <a:txBody>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Page</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Frame</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369875">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F1"/>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F1"/>
                    </a:solidFill>
                  </a:tcPr>
                </a:tc>
              </a:tr>
              <a:tr h="371475">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EFF8"/>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EFF8"/>
                    </a:solidFill>
                  </a:tcPr>
                </a:tc>
              </a:tr>
              <a:tr h="369875">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F1"/>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6</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F1"/>
                    </a:solidFill>
                  </a:tcPr>
                </a:tc>
              </a:tr>
              <a:tr h="371475">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EFF8"/>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4</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EFF8"/>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0" st="0"/>
                                            </p:txEl>
                                          </p:spTgt>
                                        </p:tgtEl>
                                        <p:attrNameLst>
                                          <p:attrName>style.visibility</p:attrName>
                                        </p:attrNameLst>
                                      </p:cBhvr>
                                      <p:to>
                                        <p:strVal val="visible"/>
                                      </p:to>
                                    </p:set>
                                    <p:animEffect filter="fade" transition="in">
                                      <p:cBhvr>
                                        <p:cTn dur="500"/>
                                        <p:tgtEl>
                                          <p:spTgt spid="5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1" st="1"/>
                                            </p:txEl>
                                          </p:spTgt>
                                        </p:tgtEl>
                                        <p:attrNameLst>
                                          <p:attrName>style.visibility</p:attrName>
                                        </p:attrNameLst>
                                      </p:cBhvr>
                                      <p:to>
                                        <p:strVal val="visible"/>
                                      </p:to>
                                    </p:set>
                                    <p:animEffect filter="fade" transition="in">
                                      <p:cBhvr>
                                        <p:cTn dur="500"/>
                                        <p:tgtEl>
                                          <p:spTgt spid="5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2" st="2"/>
                                            </p:txEl>
                                          </p:spTgt>
                                        </p:tgtEl>
                                        <p:attrNameLst>
                                          <p:attrName>style.visibility</p:attrName>
                                        </p:attrNameLst>
                                      </p:cBhvr>
                                      <p:to>
                                        <p:strVal val="visible"/>
                                      </p:to>
                                    </p:set>
                                    <p:animEffect filter="fade" transition="in">
                                      <p:cBhvr>
                                        <p:cTn dur="500"/>
                                        <p:tgtEl>
                                          <p:spTgt spid="53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3" st="3"/>
                                            </p:txEl>
                                          </p:spTgt>
                                        </p:tgtEl>
                                        <p:attrNameLst>
                                          <p:attrName>style.visibility</p:attrName>
                                        </p:attrNameLst>
                                      </p:cBhvr>
                                      <p:to>
                                        <p:strVal val="visible"/>
                                      </p:to>
                                    </p:set>
                                    <p:animEffect filter="fade" transition="in">
                                      <p:cBhvr>
                                        <p:cTn dur="500"/>
                                        <p:tgtEl>
                                          <p:spTgt spid="53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4" st="4"/>
                                            </p:txEl>
                                          </p:spTgt>
                                        </p:tgtEl>
                                        <p:attrNameLst>
                                          <p:attrName>style.visibility</p:attrName>
                                        </p:attrNameLst>
                                      </p:cBhvr>
                                      <p:to>
                                        <p:strVal val="visible"/>
                                      </p:to>
                                    </p:set>
                                    <p:animEffect filter="fade" transition="in">
                                      <p:cBhvr>
                                        <p:cTn dur="500"/>
                                        <p:tgtEl>
                                          <p:spTgt spid="53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5" st="5"/>
                                            </p:txEl>
                                          </p:spTgt>
                                        </p:tgtEl>
                                        <p:attrNameLst>
                                          <p:attrName>style.visibility</p:attrName>
                                        </p:attrNameLst>
                                      </p:cBhvr>
                                      <p:to>
                                        <p:strVal val="visible"/>
                                      </p:to>
                                    </p:set>
                                    <p:animEffect filter="fade" transition="in">
                                      <p:cBhvr>
                                        <p:cTn dur="500"/>
                                        <p:tgtEl>
                                          <p:spTgt spid="53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6" st="6"/>
                                            </p:txEl>
                                          </p:spTgt>
                                        </p:tgtEl>
                                        <p:attrNameLst>
                                          <p:attrName>style.visibility</p:attrName>
                                        </p:attrNameLst>
                                      </p:cBhvr>
                                      <p:to>
                                        <p:strVal val="visible"/>
                                      </p:to>
                                    </p:set>
                                    <p:animEffect filter="fade" transition="in">
                                      <p:cBhvr>
                                        <p:cTn dur="500"/>
                                        <p:tgtEl>
                                          <p:spTgt spid="53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7" st="7"/>
                                            </p:txEl>
                                          </p:spTgt>
                                        </p:tgtEl>
                                        <p:attrNameLst>
                                          <p:attrName>style.visibility</p:attrName>
                                        </p:attrNameLst>
                                      </p:cBhvr>
                                      <p:to>
                                        <p:strVal val="visible"/>
                                      </p:to>
                                    </p:set>
                                    <p:animEffect filter="fade" transition="in">
                                      <p:cBhvr>
                                        <p:cTn dur="500"/>
                                        <p:tgtEl>
                                          <p:spTgt spid="53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8" st="8"/>
                                            </p:txEl>
                                          </p:spTgt>
                                        </p:tgtEl>
                                        <p:attrNameLst>
                                          <p:attrName>style.visibility</p:attrName>
                                        </p:attrNameLst>
                                      </p:cBhvr>
                                      <p:to>
                                        <p:strVal val="visible"/>
                                      </p:to>
                                    </p:set>
                                    <p:animEffect filter="fade" transition="in">
                                      <p:cBhvr>
                                        <p:cTn dur="500"/>
                                        <p:tgtEl>
                                          <p:spTgt spid="53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9" st="9"/>
                                            </p:txEl>
                                          </p:spTgt>
                                        </p:tgtEl>
                                        <p:attrNameLst>
                                          <p:attrName>style.visibility</p:attrName>
                                        </p:attrNameLst>
                                      </p:cBhvr>
                                      <p:to>
                                        <p:strVal val="visible"/>
                                      </p:to>
                                    </p:set>
                                    <p:animEffect filter="fade" transition="in">
                                      <p:cBhvr>
                                        <p:cTn dur="500"/>
                                        <p:tgtEl>
                                          <p:spTgt spid="53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10" st="10"/>
                                            </p:txEl>
                                          </p:spTgt>
                                        </p:tgtEl>
                                        <p:attrNameLst>
                                          <p:attrName>style.visibility</p:attrName>
                                        </p:attrNameLst>
                                      </p:cBhvr>
                                      <p:to>
                                        <p:strVal val="visible"/>
                                      </p:to>
                                    </p:set>
                                    <p:animEffect filter="fade" transition="in">
                                      <p:cBhvr>
                                        <p:cTn dur="500"/>
                                        <p:tgtEl>
                                          <p:spTgt spid="53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11" st="11"/>
                                            </p:txEl>
                                          </p:spTgt>
                                        </p:tgtEl>
                                        <p:attrNameLst>
                                          <p:attrName>style.visibility</p:attrName>
                                        </p:attrNameLst>
                                      </p:cBhvr>
                                      <p:to>
                                        <p:strVal val="visible"/>
                                      </p:to>
                                    </p:set>
                                    <p:animEffect filter="fade" transition="in">
                                      <p:cBhvr>
                                        <p:cTn dur="500"/>
                                        <p:tgtEl>
                                          <p:spTgt spid="53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12" st="12"/>
                                            </p:txEl>
                                          </p:spTgt>
                                        </p:tgtEl>
                                        <p:attrNameLst>
                                          <p:attrName>style.visibility</p:attrName>
                                        </p:attrNameLst>
                                      </p:cBhvr>
                                      <p:to>
                                        <p:strVal val="visible"/>
                                      </p:to>
                                    </p:set>
                                    <p:animEffect filter="fade" transition="in">
                                      <p:cBhvr>
                                        <p:cTn dur="500"/>
                                        <p:tgtEl>
                                          <p:spTgt spid="53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13" st="13"/>
                                            </p:txEl>
                                          </p:spTgt>
                                        </p:tgtEl>
                                        <p:attrNameLst>
                                          <p:attrName>style.visibility</p:attrName>
                                        </p:attrNameLst>
                                      </p:cBhvr>
                                      <p:to>
                                        <p:strVal val="visible"/>
                                      </p:to>
                                    </p:set>
                                    <p:animEffect filter="fade" transition="in">
                                      <p:cBhvr>
                                        <p:cTn dur="500"/>
                                        <p:tgtEl>
                                          <p:spTgt spid="538">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14" st="14"/>
                                            </p:txEl>
                                          </p:spTgt>
                                        </p:tgtEl>
                                        <p:attrNameLst>
                                          <p:attrName>style.visibility</p:attrName>
                                        </p:attrNameLst>
                                      </p:cBhvr>
                                      <p:to>
                                        <p:strVal val="visible"/>
                                      </p:to>
                                    </p:set>
                                    <p:animEffect filter="fade" transition="in">
                                      <p:cBhvr>
                                        <p:cTn dur="500"/>
                                        <p:tgtEl>
                                          <p:spTgt spid="538">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15" st="15"/>
                                            </p:txEl>
                                          </p:spTgt>
                                        </p:tgtEl>
                                        <p:attrNameLst>
                                          <p:attrName>style.visibility</p:attrName>
                                        </p:attrNameLst>
                                      </p:cBhvr>
                                      <p:to>
                                        <p:strVal val="visible"/>
                                      </p:to>
                                    </p:set>
                                    <p:animEffect filter="fade" transition="in">
                                      <p:cBhvr>
                                        <p:cTn dur="500"/>
                                        <p:tgtEl>
                                          <p:spTgt spid="538">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16" st="16"/>
                                            </p:txEl>
                                          </p:spTgt>
                                        </p:tgtEl>
                                        <p:attrNameLst>
                                          <p:attrName>style.visibility</p:attrName>
                                        </p:attrNameLst>
                                      </p:cBhvr>
                                      <p:to>
                                        <p:strVal val="visible"/>
                                      </p:to>
                                    </p:set>
                                    <p:animEffect filter="fade" transition="in">
                                      <p:cBhvr>
                                        <p:cTn dur="500"/>
                                        <p:tgtEl>
                                          <p:spTgt spid="538">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17" st="17"/>
                                            </p:txEl>
                                          </p:spTgt>
                                        </p:tgtEl>
                                        <p:attrNameLst>
                                          <p:attrName>style.visibility</p:attrName>
                                        </p:attrNameLst>
                                      </p:cBhvr>
                                      <p:to>
                                        <p:strVal val="visible"/>
                                      </p:to>
                                    </p:set>
                                    <p:animEffect filter="fade" transition="in">
                                      <p:cBhvr>
                                        <p:cTn dur="500"/>
                                        <p:tgtEl>
                                          <p:spTgt spid="538">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18" st="18"/>
                                            </p:txEl>
                                          </p:spTgt>
                                        </p:tgtEl>
                                        <p:attrNameLst>
                                          <p:attrName>style.visibility</p:attrName>
                                        </p:attrNameLst>
                                      </p:cBhvr>
                                      <p:to>
                                        <p:strVal val="visible"/>
                                      </p:to>
                                    </p:set>
                                    <p:animEffect filter="fade" transition="in">
                                      <p:cBhvr>
                                        <p:cTn dur="500"/>
                                        <p:tgtEl>
                                          <p:spTgt spid="538">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19" st="19"/>
                                            </p:txEl>
                                          </p:spTgt>
                                        </p:tgtEl>
                                        <p:attrNameLst>
                                          <p:attrName>style.visibility</p:attrName>
                                        </p:attrNameLst>
                                      </p:cBhvr>
                                      <p:to>
                                        <p:strVal val="visible"/>
                                      </p:to>
                                    </p:set>
                                    <p:animEffect filter="fade" transition="in">
                                      <p:cBhvr>
                                        <p:cTn dur="500"/>
                                        <p:tgtEl>
                                          <p:spTgt spid="538">
                                            <p:txEl>
                                              <p:pRg end="19" st="1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20" st="20"/>
                                            </p:txEl>
                                          </p:spTgt>
                                        </p:tgtEl>
                                        <p:attrNameLst>
                                          <p:attrName>style.visibility</p:attrName>
                                        </p:attrNameLst>
                                      </p:cBhvr>
                                      <p:to>
                                        <p:strVal val="visible"/>
                                      </p:to>
                                    </p:set>
                                    <p:animEffect filter="fade" transition="in">
                                      <p:cBhvr>
                                        <p:cTn dur="500"/>
                                        <p:tgtEl>
                                          <p:spTgt spid="538">
                                            <p:txEl>
                                              <p:pRg end="20" st="2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21" st="21"/>
                                            </p:txEl>
                                          </p:spTgt>
                                        </p:tgtEl>
                                        <p:attrNameLst>
                                          <p:attrName>style.visibility</p:attrName>
                                        </p:attrNameLst>
                                      </p:cBhvr>
                                      <p:to>
                                        <p:strVal val="visible"/>
                                      </p:to>
                                    </p:set>
                                    <p:animEffect filter="fade" transition="in">
                                      <p:cBhvr>
                                        <p:cTn dur="500"/>
                                        <p:tgtEl>
                                          <p:spTgt spid="538">
                                            <p:txEl>
                                              <p:pRg end="21" st="2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8">
                                            <p:txEl>
                                              <p:pRg end="22" st="22"/>
                                            </p:txEl>
                                          </p:spTgt>
                                        </p:tgtEl>
                                        <p:attrNameLst>
                                          <p:attrName>style.visibility</p:attrName>
                                        </p:attrNameLst>
                                      </p:cBhvr>
                                      <p:to>
                                        <p:strVal val="visible"/>
                                      </p:to>
                                    </p:set>
                                    <p:animEffect filter="fade" transition="in">
                                      <p:cBhvr>
                                        <p:cTn dur="500"/>
                                        <p:tgtEl>
                                          <p:spTgt spid="538">
                                            <p:txEl>
                                              <p:pRg end="22" st="2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40"/>
          <p:cNvSpPr txBox="1"/>
          <p:nvPr>
            <p:ph idx="1" type="body"/>
          </p:nvPr>
        </p:nvSpPr>
        <p:spPr>
          <a:xfrm>
            <a:off x="0" y="762000"/>
            <a:ext cx="89154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Quá trình biến đổi từ địa chỉ logic sang địa chỉ vật lý được thực hiện bằng phần cứng</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Kích thước trang  là lũy thừa của 2, nằm trong khoảng từ 512B đến 16MB</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Việc tách phần p và o trong địa chỉ logic được thực hiện dễ dàng bằng phép dịch bit</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285750" lvl="1" marL="742950" marR="0" rtl="0" algn="l">
              <a:lnSpc>
                <a:spcPct val="100000"/>
              </a:lnSpc>
              <a:spcBef>
                <a:spcPts val="400"/>
              </a:spcBef>
              <a:spcAft>
                <a:spcPts val="0"/>
              </a:spcAft>
              <a:buClr>
                <a:schemeClr val="accent1"/>
              </a:buClr>
              <a:buSzPts val="2000"/>
              <a:buFont typeface="Noto Sans Symbols"/>
              <a:buNone/>
            </a:pPr>
            <a:br>
              <a:rPr b="0" i="0" lang="en-US" sz="2000" u="none" cap="none" strike="noStrike">
                <a:solidFill>
                  <a:schemeClr val="dk2"/>
                </a:solidFill>
                <a:latin typeface="Times New Roman"/>
                <a:ea typeface="Times New Roman"/>
                <a:cs typeface="Times New Roman"/>
                <a:sym typeface="Times New Roman"/>
              </a:rPr>
            </a:b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20650" lvl="1" marL="742950" marR="0" rtl="0" algn="l">
              <a:lnSpc>
                <a:spcPct val="100000"/>
              </a:lnSpc>
              <a:spcBef>
                <a:spcPts val="520"/>
              </a:spcBef>
              <a:spcAft>
                <a:spcPts val="0"/>
              </a:spcAft>
              <a:buClr>
                <a:schemeClr val="accent1"/>
              </a:buClr>
              <a:buSzPts val="2600"/>
              <a:buFont typeface="Noto Sans Symbols"/>
              <a:buNone/>
            </a:pPr>
            <a:r>
              <a:t/>
            </a:r>
            <a:endParaRPr b="0" i="0" sz="26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50" name="Google Shape;550;p40"/>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PHÂN TRANG BỘ NHỚ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Ánh xạ địa chỉ</a:t>
            </a:r>
            <a:endParaRPr/>
          </a:p>
        </p:txBody>
      </p:sp>
      <p:sp>
        <p:nvSpPr>
          <p:cNvPr id="551" name="Google Shape;551;p4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2" name="Google Shape;552;p4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53" name="Google Shape;553;p4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554" name="Google Shape;554;p40"/>
          <p:cNvGraphicFramePr/>
          <p:nvPr/>
        </p:nvGraphicFramePr>
        <p:xfrm>
          <a:off x="2133600" y="3657600"/>
          <a:ext cx="4743450" cy="2581275"/>
        </p:xfrm>
        <a:graphic>
          <a:graphicData uri="http://schemas.openxmlformats.org/presentationml/2006/ole">
            <mc:AlternateContent>
              <mc:Choice Requires="v">
                <p:oleObj r:id="rId4" imgH="2581275" imgW="4743450" progId="Visio.Drawing.11" spid="_x0000_s1">
                  <p:embed/>
                </p:oleObj>
              </mc:Choice>
              <mc:Fallback>
                <p:oleObj r:id="rId5" imgH="2581275" imgW="4743450" progId="Visio.Drawing.11">
                  <p:embed/>
                  <p:pic>
                    <p:nvPicPr>
                      <p:cNvPr id="554" name="Google Shape;554;p40"/>
                      <p:cNvPicPr preferRelativeResize="0"/>
                      <p:nvPr/>
                    </p:nvPicPr>
                    <p:blipFill rotWithShape="1">
                      <a:blip r:embed="rId6">
                        <a:alphaModFix/>
                      </a:blip>
                      <a:srcRect b="0" l="0" r="0" t="0"/>
                      <a:stretch/>
                    </p:blipFill>
                    <p:spPr>
                      <a:xfrm>
                        <a:off x="2133600" y="3657600"/>
                        <a:ext cx="4743450" cy="2581275"/>
                      </a:xfrm>
                      <a:prstGeom prst="rect">
                        <a:avLst/>
                      </a:prstGeom>
                      <a:noFill/>
                      <a:ln>
                        <a:noFill/>
                      </a:ln>
                    </p:spPr>
                  </p:pic>
                </p:oleObj>
              </mc:Fallback>
            </mc:AlternateContent>
          </a:graphicData>
        </a:graphic>
      </p:graphicFrame>
      <p:sp>
        <p:nvSpPr>
          <p:cNvPr id="555" name="Google Shape;555;p4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0" st="0"/>
                                            </p:txEl>
                                          </p:spTgt>
                                        </p:tgtEl>
                                        <p:attrNameLst>
                                          <p:attrName>style.visibility</p:attrName>
                                        </p:attrNameLst>
                                      </p:cBhvr>
                                      <p:to>
                                        <p:strVal val="visible"/>
                                      </p:to>
                                    </p:set>
                                    <p:animEffect filter="fade" transition="in">
                                      <p:cBhvr>
                                        <p:cTn dur="500"/>
                                        <p:tgtEl>
                                          <p:spTgt spid="54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1" st="1"/>
                                            </p:txEl>
                                          </p:spTgt>
                                        </p:tgtEl>
                                        <p:attrNameLst>
                                          <p:attrName>style.visibility</p:attrName>
                                        </p:attrNameLst>
                                      </p:cBhvr>
                                      <p:to>
                                        <p:strVal val="visible"/>
                                      </p:to>
                                    </p:set>
                                    <p:animEffect filter="fade" transition="in">
                                      <p:cBhvr>
                                        <p:cTn dur="500"/>
                                        <p:tgtEl>
                                          <p:spTgt spid="54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2" st="2"/>
                                            </p:txEl>
                                          </p:spTgt>
                                        </p:tgtEl>
                                        <p:attrNameLst>
                                          <p:attrName>style.visibility</p:attrName>
                                        </p:attrNameLst>
                                      </p:cBhvr>
                                      <p:to>
                                        <p:strVal val="visible"/>
                                      </p:to>
                                    </p:set>
                                    <p:animEffect filter="fade" transition="in">
                                      <p:cBhvr>
                                        <p:cTn dur="500"/>
                                        <p:tgtEl>
                                          <p:spTgt spid="54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3" st="3"/>
                                            </p:txEl>
                                          </p:spTgt>
                                        </p:tgtEl>
                                        <p:attrNameLst>
                                          <p:attrName>style.visibility</p:attrName>
                                        </p:attrNameLst>
                                      </p:cBhvr>
                                      <p:to>
                                        <p:strVal val="visible"/>
                                      </p:to>
                                    </p:set>
                                    <p:animEffect filter="fade" transition="in">
                                      <p:cBhvr>
                                        <p:cTn dur="500"/>
                                        <p:tgtEl>
                                          <p:spTgt spid="54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4" st="4"/>
                                            </p:txEl>
                                          </p:spTgt>
                                        </p:tgtEl>
                                        <p:attrNameLst>
                                          <p:attrName>style.visibility</p:attrName>
                                        </p:attrNameLst>
                                      </p:cBhvr>
                                      <p:to>
                                        <p:strVal val="visible"/>
                                      </p:to>
                                    </p:set>
                                    <p:animEffect filter="fade" transition="in">
                                      <p:cBhvr>
                                        <p:cTn dur="500"/>
                                        <p:tgtEl>
                                          <p:spTgt spid="54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5" st="5"/>
                                            </p:txEl>
                                          </p:spTgt>
                                        </p:tgtEl>
                                        <p:attrNameLst>
                                          <p:attrName>style.visibility</p:attrName>
                                        </p:attrNameLst>
                                      </p:cBhvr>
                                      <p:to>
                                        <p:strVal val="visible"/>
                                      </p:to>
                                    </p:set>
                                    <p:animEffect filter="fade" transition="in">
                                      <p:cBhvr>
                                        <p:cTn dur="500"/>
                                        <p:tgtEl>
                                          <p:spTgt spid="54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6" st="6"/>
                                            </p:txEl>
                                          </p:spTgt>
                                        </p:tgtEl>
                                        <p:attrNameLst>
                                          <p:attrName>style.visibility</p:attrName>
                                        </p:attrNameLst>
                                      </p:cBhvr>
                                      <p:to>
                                        <p:strVal val="visible"/>
                                      </p:to>
                                    </p:set>
                                    <p:animEffect filter="fade" transition="in">
                                      <p:cBhvr>
                                        <p:cTn dur="500"/>
                                        <p:tgtEl>
                                          <p:spTgt spid="54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7" st="7"/>
                                            </p:txEl>
                                          </p:spTgt>
                                        </p:tgtEl>
                                        <p:attrNameLst>
                                          <p:attrName>style.visibility</p:attrName>
                                        </p:attrNameLst>
                                      </p:cBhvr>
                                      <p:to>
                                        <p:strVal val="visible"/>
                                      </p:to>
                                    </p:set>
                                    <p:animEffect filter="fade" transition="in">
                                      <p:cBhvr>
                                        <p:cTn dur="500"/>
                                        <p:tgtEl>
                                          <p:spTgt spid="54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8" st="8"/>
                                            </p:txEl>
                                          </p:spTgt>
                                        </p:tgtEl>
                                        <p:attrNameLst>
                                          <p:attrName>style.visibility</p:attrName>
                                        </p:attrNameLst>
                                      </p:cBhvr>
                                      <p:to>
                                        <p:strVal val="visible"/>
                                      </p:to>
                                    </p:set>
                                    <p:animEffect filter="fade" transition="in">
                                      <p:cBhvr>
                                        <p:cTn dur="500"/>
                                        <p:tgtEl>
                                          <p:spTgt spid="54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9" st="9"/>
                                            </p:txEl>
                                          </p:spTgt>
                                        </p:tgtEl>
                                        <p:attrNameLst>
                                          <p:attrName>style.visibility</p:attrName>
                                        </p:attrNameLst>
                                      </p:cBhvr>
                                      <p:to>
                                        <p:strVal val="visible"/>
                                      </p:to>
                                    </p:set>
                                    <p:animEffect filter="fade" transition="in">
                                      <p:cBhvr>
                                        <p:cTn dur="500"/>
                                        <p:tgtEl>
                                          <p:spTgt spid="54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10" st="10"/>
                                            </p:txEl>
                                          </p:spTgt>
                                        </p:tgtEl>
                                        <p:attrNameLst>
                                          <p:attrName>style.visibility</p:attrName>
                                        </p:attrNameLst>
                                      </p:cBhvr>
                                      <p:to>
                                        <p:strVal val="visible"/>
                                      </p:to>
                                    </p:set>
                                    <p:animEffect filter="fade" transition="in">
                                      <p:cBhvr>
                                        <p:cTn dur="500"/>
                                        <p:tgtEl>
                                          <p:spTgt spid="54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11" st="11"/>
                                            </p:txEl>
                                          </p:spTgt>
                                        </p:tgtEl>
                                        <p:attrNameLst>
                                          <p:attrName>style.visibility</p:attrName>
                                        </p:attrNameLst>
                                      </p:cBhvr>
                                      <p:to>
                                        <p:strVal val="visible"/>
                                      </p:to>
                                    </p:set>
                                    <p:animEffect filter="fade" transition="in">
                                      <p:cBhvr>
                                        <p:cTn dur="500"/>
                                        <p:tgtEl>
                                          <p:spTgt spid="54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9">
                                            <p:txEl>
                                              <p:pRg end="12" st="12"/>
                                            </p:txEl>
                                          </p:spTgt>
                                        </p:tgtEl>
                                        <p:attrNameLst>
                                          <p:attrName>style.visibility</p:attrName>
                                        </p:attrNameLst>
                                      </p:cBhvr>
                                      <p:to>
                                        <p:strVal val="visible"/>
                                      </p:to>
                                    </p:set>
                                    <p:animEffect filter="fade" transition="in">
                                      <p:cBhvr>
                                        <p:cTn dur="500"/>
                                        <p:tgtEl>
                                          <p:spTgt spid="549">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41"/>
          <p:cNvSpPr txBox="1"/>
          <p:nvPr>
            <p:ph idx="1" type="body"/>
          </p:nvPr>
        </p:nvSpPr>
        <p:spPr>
          <a:xfrm>
            <a:off x="0" y="1143000"/>
            <a:ext cx="89154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Phân mảnh trong khi phân trang có giá trị trung bình bằng nửa trang</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=&gt; giảm kích thước trang cho phép tiết kiệm MEM</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Kích thước trang nhỏ =&gt; số lượng trang tăng =&gt; bảng trang to, khó quản lý</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Kích thước trang nhỏ: không tiện cho việc trao đổi với đĩa</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Windows 32bit: kích thước trang 4KB</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Cơ chế ánh xạ giữa hai loại địa chỉ hoàn toàn trong suốt đối với chương trình</a:t>
            </a:r>
            <a:endParaRPr/>
          </a:p>
          <a:p>
            <a:pPr indent="-165100" lvl="0" marL="342900" marR="0" rtl="0" algn="l">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p:txBody>
      </p:sp>
      <p:sp>
        <p:nvSpPr>
          <p:cNvPr id="562" name="Google Shape;562;p41"/>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PHÂN TRANG BỘ NHỚ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Ánh xạ địa chỉ</a:t>
            </a:r>
            <a:endParaRPr/>
          </a:p>
        </p:txBody>
      </p:sp>
      <p:sp>
        <p:nvSpPr>
          <p:cNvPr id="563" name="Google Shape;563;p4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4" name="Google Shape;564;p4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5" name="Google Shape;565;p4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66" name="Google Shape;566;p4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xEl>
                                              <p:pRg end="0" st="0"/>
                                            </p:txEl>
                                          </p:spTgt>
                                        </p:tgtEl>
                                        <p:attrNameLst>
                                          <p:attrName>style.visibility</p:attrName>
                                        </p:attrNameLst>
                                      </p:cBhvr>
                                      <p:to>
                                        <p:strVal val="visible"/>
                                      </p:to>
                                    </p:set>
                                    <p:animEffect filter="fade" transition="in">
                                      <p:cBhvr>
                                        <p:cTn dur="500"/>
                                        <p:tgtEl>
                                          <p:spTgt spid="5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xEl>
                                              <p:pRg end="1" st="1"/>
                                            </p:txEl>
                                          </p:spTgt>
                                        </p:tgtEl>
                                        <p:attrNameLst>
                                          <p:attrName>style.visibility</p:attrName>
                                        </p:attrNameLst>
                                      </p:cBhvr>
                                      <p:to>
                                        <p:strVal val="visible"/>
                                      </p:to>
                                    </p:set>
                                    <p:animEffect filter="fade" transition="in">
                                      <p:cBhvr>
                                        <p:cTn dur="500"/>
                                        <p:tgtEl>
                                          <p:spTgt spid="5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xEl>
                                              <p:pRg end="2" st="2"/>
                                            </p:txEl>
                                          </p:spTgt>
                                        </p:tgtEl>
                                        <p:attrNameLst>
                                          <p:attrName>style.visibility</p:attrName>
                                        </p:attrNameLst>
                                      </p:cBhvr>
                                      <p:to>
                                        <p:strVal val="visible"/>
                                      </p:to>
                                    </p:set>
                                    <p:animEffect filter="fade" transition="in">
                                      <p:cBhvr>
                                        <p:cTn dur="500"/>
                                        <p:tgtEl>
                                          <p:spTgt spid="5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xEl>
                                              <p:pRg end="3" st="3"/>
                                            </p:txEl>
                                          </p:spTgt>
                                        </p:tgtEl>
                                        <p:attrNameLst>
                                          <p:attrName>style.visibility</p:attrName>
                                        </p:attrNameLst>
                                      </p:cBhvr>
                                      <p:to>
                                        <p:strVal val="visible"/>
                                      </p:to>
                                    </p:set>
                                    <p:animEffect filter="fade" transition="in">
                                      <p:cBhvr>
                                        <p:cTn dur="500"/>
                                        <p:tgtEl>
                                          <p:spTgt spid="56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xEl>
                                              <p:pRg end="4" st="4"/>
                                            </p:txEl>
                                          </p:spTgt>
                                        </p:tgtEl>
                                        <p:attrNameLst>
                                          <p:attrName>style.visibility</p:attrName>
                                        </p:attrNameLst>
                                      </p:cBhvr>
                                      <p:to>
                                        <p:strVal val="visible"/>
                                      </p:to>
                                    </p:set>
                                    <p:animEffect filter="fade" transition="in">
                                      <p:cBhvr>
                                        <p:cTn dur="500"/>
                                        <p:tgtEl>
                                          <p:spTgt spid="56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xEl>
                                              <p:pRg end="5" st="5"/>
                                            </p:txEl>
                                          </p:spTgt>
                                        </p:tgtEl>
                                        <p:attrNameLst>
                                          <p:attrName>style.visibility</p:attrName>
                                        </p:attrNameLst>
                                      </p:cBhvr>
                                      <p:to>
                                        <p:strVal val="visible"/>
                                      </p:to>
                                    </p:set>
                                    <p:animEffect filter="fade" transition="in">
                                      <p:cBhvr>
                                        <p:cTn dur="500"/>
                                        <p:tgtEl>
                                          <p:spTgt spid="56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61">
                                            <p:txEl>
                                              <p:pRg end="6" st="6"/>
                                            </p:txEl>
                                          </p:spTgt>
                                        </p:tgtEl>
                                        <p:attrNameLst>
                                          <p:attrName>style.visibility</p:attrName>
                                        </p:attrNameLst>
                                      </p:cBhvr>
                                      <p:to>
                                        <p:strVal val="visible"/>
                                      </p:to>
                                    </p:set>
                                    <p:animEffect filter="fade" transition="in">
                                      <p:cBhvr>
                                        <p:cTn dur="500"/>
                                        <p:tgtEl>
                                          <p:spTgt spid="561">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42"/>
          <p:cNvSpPr txBox="1"/>
          <p:nvPr>
            <p:ph idx="1" type="body"/>
          </p:nvPr>
        </p:nvSpPr>
        <p:spPr>
          <a:xfrm>
            <a:off x="0" y="762000"/>
            <a:ext cx="89154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Mỗi thao tác truy cập bộ nhớ đều đòi hỏi truy cập bảng phân trang</a:t>
            </a:r>
            <a:endParaRPr/>
          </a:p>
          <a:p>
            <a:pPr indent="-342900" lvl="0" marL="342900" marR="0" rtl="0" algn="l">
              <a:lnSpc>
                <a:spcPct val="100000"/>
              </a:lnSpc>
              <a:spcBef>
                <a:spcPts val="56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=&gt; </a:t>
            </a:r>
            <a:r>
              <a:rPr b="0" i="0" lang="en-US" sz="2800" u="none">
                <a:solidFill>
                  <a:schemeClr val="dk2"/>
                </a:solidFill>
                <a:latin typeface="Times New Roman"/>
                <a:ea typeface="Times New Roman"/>
                <a:cs typeface="Times New Roman"/>
                <a:sym typeface="Times New Roman"/>
              </a:rPr>
              <a:t>tổ chức bảng phân trang sao cho tốc độ truy cập là cao nhất</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Sử dụng tập hợp các thanh ghi làm bảng phân trang: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Tốc độ truy cập rất cao</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Số lượng thanh ghi hạn chế =&gt; không áp dụng được</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Giữ các bảng trang trong MEM:</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Vị trí mỗi bảng được trỏ bởi thanh ghi cơ sở bảng trang PTBR (Page Table Base Register)</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Nhiều thời gian để truy cập bảng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=&gt; sử dụng bộ nhớ cache tốc độ cao</a:t>
            </a:r>
            <a:endParaRPr/>
          </a:p>
          <a:p>
            <a:pPr indent="-285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20650" lvl="1" marL="742950" marR="0" rtl="0" algn="l">
              <a:lnSpc>
                <a:spcPct val="100000"/>
              </a:lnSpc>
              <a:spcBef>
                <a:spcPts val="520"/>
              </a:spcBef>
              <a:spcAft>
                <a:spcPts val="0"/>
              </a:spcAft>
              <a:buClr>
                <a:schemeClr val="accent1"/>
              </a:buClr>
              <a:buSzPts val="2600"/>
              <a:buFont typeface="Noto Sans Symbols"/>
              <a:buNone/>
            </a:pPr>
            <a:r>
              <a:t/>
            </a:r>
            <a:endParaRPr b="0" i="0" sz="26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73" name="Google Shape;573;p42"/>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PHÂN TRANG BỘ NHỚ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Tổ chức bảng trang</a:t>
            </a:r>
            <a:endParaRPr/>
          </a:p>
        </p:txBody>
      </p:sp>
      <p:sp>
        <p:nvSpPr>
          <p:cNvPr id="574" name="Google Shape;574;p4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5" name="Google Shape;575;p4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6" name="Google Shape;576;p4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77" name="Google Shape;577;p4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0" st="0"/>
                                            </p:txEl>
                                          </p:spTgt>
                                        </p:tgtEl>
                                        <p:attrNameLst>
                                          <p:attrName>style.visibility</p:attrName>
                                        </p:attrNameLst>
                                      </p:cBhvr>
                                      <p:to>
                                        <p:strVal val="visible"/>
                                      </p:to>
                                    </p:set>
                                    <p:animEffect filter="fade" transition="in">
                                      <p:cBhvr>
                                        <p:cTn dur="500"/>
                                        <p:tgtEl>
                                          <p:spTgt spid="57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1" st="1"/>
                                            </p:txEl>
                                          </p:spTgt>
                                        </p:tgtEl>
                                        <p:attrNameLst>
                                          <p:attrName>style.visibility</p:attrName>
                                        </p:attrNameLst>
                                      </p:cBhvr>
                                      <p:to>
                                        <p:strVal val="visible"/>
                                      </p:to>
                                    </p:set>
                                    <p:animEffect filter="fade" transition="in">
                                      <p:cBhvr>
                                        <p:cTn dur="500"/>
                                        <p:tgtEl>
                                          <p:spTgt spid="57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2" st="2"/>
                                            </p:txEl>
                                          </p:spTgt>
                                        </p:tgtEl>
                                        <p:attrNameLst>
                                          <p:attrName>style.visibility</p:attrName>
                                        </p:attrNameLst>
                                      </p:cBhvr>
                                      <p:to>
                                        <p:strVal val="visible"/>
                                      </p:to>
                                    </p:set>
                                    <p:animEffect filter="fade" transition="in">
                                      <p:cBhvr>
                                        <p:cTn dur="500"/>
                                        <p:tgtEl>
                                          <p:spTgt spid="57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3" st="3"/>
                                            </p:txEl>
                                          </p:spTgt>
                                        </p:tgtEl>
                                        <p:attrNameLst>
                                          <p:attrName>style.visibility</p:attrName>
                                        </p:attrNameLst>
                                      </p:cBhvr>
                                      <p:to>
                                        <p:strVal val="visible"/>
                                      </p:to>
                                    </p:set>
                                    <p:animEffect filter="fade" transition="in">
                                      <p:cBhvr>
                                        <p:cTn dur="500"/>
                                        <p:tgtEl>
                                          <p:spTgt spid="57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4" st="4"/>
                                            </p:txEl>
                                          </p:spTgt>
                                        </p:tgtEl>
                                        <p:attrNameLst>
                                          <p:attrName>style.visibility</p:attrName>
                                        </p:attrNameLst>
                                      </p:cBhvr>
                                      <p:to>
                                        <p:strVal val="visible"/>
                                      </p:to>
                                    </p:set>
                                    <p:animEffect filter="fade" transition="in">
                                      <p:cBhvr>
                                        <p:cTn dur="500"/>
                                        <p:tgtEl>
                                          <p:spTgt spid="57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5" st="5"/>
                                            </p:txEl>
                                          </p:spTgt>
                                        </p:tgtEl>
                                        <p:attrNameLst>
                                          <p:attrName>style.visibility</p:attrName>
                                        </p:attrNameLst>
                                      </p:cBhvr>
                                      <p:to>
                                        <p:strVal val="visible"/>
                                      </p:to>
                                    </p:set>
                                    <p:animEffect filter="fade" transition="in">
                                      <p:cBhvr>
                                        <p:cTn dur="500"/>
                                        <p:tgtEl>
                                          <p:spTgt spid="57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6" st="6"/>
                                            </p:txEl>
                                          </p:spTgt>
                                        </p:tgtEl>
                                        <p:attrNameLst>
                                          <p:attrName>style.visibility</p:attrName>
                                        </p:attrNameLst>
                                      </p:cBhvr>
                                      <p:to>
                                        <p:strVal val="visible"/>
                                      </p:to>
                                    </p:set>
                                    <p:animEffect filter="fade" transition="in">
                                      <p:cBhvr>
                                        <p:cTn dur="500"/>
                                        <p:tgtEl>
                                          <p:spTgt spid="57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7" st="7"/>
                                            </p:txEl>
                                          </p:spTgt>
                                        </p:tgtEl>
                                        <p:attrNameLst>
                                          <p:attrName>style.visibility</p:attrName>
                                        </p:attrNameLst>
                                      </p:cBhvr>
                                      <p:to>
                                        <p:strVal val="visible"/>
                                      </p:to>
                                    </p:set>
                                    <p:animEffect filter="fade" transition="in">
                                      <p:cBhvr>
                                        <p:cTn dur="500"/>
                                        <p:tgtEl>
                                          <p:spTgt spid="57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8" st="8"/>
                                            </p:txEl>
                                          </p:spTgt>
                                        </p:tgtEl>
                                        <p:attrNameLst>
                                          <p:attrName>style.visibility</p:attrName>
                                        </p:attrNameLst>
                                      </p:cBhvr>
                                      <p:to>
                                        <p:strVal val="visible"/>
                                      </p:to>
                                    </p:set>
                                    <p:animEffect filter="fade" transition="in">
                                      <p:cBhvr>
                                        <p:cTn dur="500"/>
                                        <p:tgtEl>
                                          <p:spTgt spid="57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9" st="9"/>
                                            </p:txEl>
                                          </p:spTgt>
                                        </p:tgtEl>
                                        <p:attrNameLst>
                                          <p:attrName>style.visibility</p:attrName>
                                        </p:attrNameLst>
                                      </p:cBhvr>
                                      <p:to>
                                        <p:strVal val="visible"/>
                                      </p:to>
                                    </p:set>
                                    <p:animEffect filter="fade" transition="in">
                                      <p:cBhvr>
                                        <p:cTn dur="500"/>
                                        <p:tgtEl>
                                          <p:spTgt spid="57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10" st="10"/>
                                            </p:txEl>
                                          </p:spTgt>
                                        </p:tgtEl>
                                        <p:attrNameLst>
                                          <p:attrName>style.visibility</p:attrName>
                                        </p:attrNameLst>
                                      </p:cBhvr>
                                      <p:to>
                                        <p:strVal val="visible"/>
                                      </p:to>
                                    </p:set>
                                    <p:animEffect filter="fade" transition="in">
                                      <p:cBhvr>
                                        <p:cTn dur="500"/>
                                        <p:tgtEl>
                                          <p:spTgt spid="57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11" st="11"/>
                                            </p:txEl>
                                          </p:spTgt>
                                        </p:tgtEl>
                                        <p:attrNameLst>
                                          <p:attrName>style.visibility</p:attrName>
                                        </p:attrNameLst>
                                      </p:cBhvr>
                                      <p:to>
                                        <p:strVal val="visible"/>
                                      </p:to>
                                    </p:set>
                                    <p:animEffect filter="fade" transition="in">
                                      <p:cBhvr>
                                        <p:cTn dur="500"/>
                                        <p:tgtEl>
                                          <p:spTgt spid="572">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12" st="12"/>
                                            </p:txEl>
                                          </p:spTgt>
                                        </p:tgtEl>
                                        <p:attrNameLst>
                                          <p:attrName>style.visibility</p:attrName>
                                        </p:attrNameLst>
                                      </p:cBhvr>
                                      <p:to>
                                        <p:strVal val="visible"/>
                                      </p:to>
                                    </p:set>
                                    <p:animEffect filter="fade" transition="in">
                                      <p:cBhvr>
                                        <p:cTn dur="500"/>
                                        <p:tgtEl>
                                          <p:spTgt spid="572">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13" st="13"/>
                                            </p:txEl>
                                          </p:spTgt>
                                        </p:tgtEl>
                                        <p:attrNameLst>
                                          <p:attrName>style.visibility</p:attrName>
                                        </p:attrNameLst>
                                      </p:cBhvr>
                                      <p:to>
                                        <p:strVal val="visible"/>
                                      </p:to>
                                    </p:set>
                                    <p:animEffect filter="fade" transition="in">
                                      <p:cBhvr>
                                        <p:cTn dur="500"/>
                                        <p:tgtEl>
                                          <p:spTgt spid="572">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14" st="14"/>
                                            </p:txEl>
                                          </p:spTgt>
                                        </p:tgtEl>
                                        <p:attrNameLst>
                                          <p:attrName>style.visibility</p:attrName>
                                        </p:attrNameLst>
                                      </p:cBhvr>
                                      <p:to>
                                        <p:strVal val="visible"/>
                                      </p:to>
                                    </p:set>
                                    <p:animEffect filter="fade" transition="in">
                                      <p:cBhvr>
                                        <p:cTn dur="500"/>
                                        <p:tgtEl>
                                          <p:spTgt spid="572">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15" st="15"/>
                                            </p:txEl>
                                          </p:spTgt>
                                        </p:tgtEl>
                                        <p:attrNameLst>
                                          <p:attrName>style.visibility</p:attrName>
                                        </p:attrNameLst>
                                      </p:cBhvr>
                                      <p:to>
                                        <p:strVal val="visible"/>
                                      </p:to>
                                    </p:set>
                                    <p:animEffect filter="fade" transition="in">
                                      <p:cBhvr>
                                        <p:cTn dur="500"/>
                                        <p:tgtEl>
                                          <p:spTgt spid="572">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2">
                                            <p:txEl>
                                              <p:pRg end="16" st="16"/>
                                            </p:txEl>
                                          </p:spTgt>
                                        </p:tgtEl>
                                        <p:attrNameLst>
                                          <p:attrName>style.visibility</p:attrName>
                                        </p:attrNameLst>
                                      </p:cBhvr>
                                      <p:to>
                                        <p:strVal val="visible"/>
                                      </p:to>
                                    </p:set>
                                    <p:animEffect filter="fade" transition="in">
                                      <p:cBhvr>
                                        <p:cTn dur="500"/>
                                        <p:tgtEl>
                                          <p:spTgt spid="572">
                                            <p:txEl>
                                              <p:pRg end="16" st="1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21bc13fa9a2_0_2"/>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PHÂN TRANG BỘ NHỚ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Tổ chức bảng trang</a:t>
            </a:r>
            <a:endParaRPr/>
          </a:p>
        </p:txBody>
      </p:sp>
      <p:sp>
        <p:nvSpPr>
          <p:cNvPr id="584" name="Google Shape;584;g21bc13fa9a2_0_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5" name="Google Shape;585;g21bc13fa9a2_0_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6" name="Google Shape;586;g21bc13fa9a2_0_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87" name="Google Shape;587;g21bc13fa9a2_0_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588" name="Google Shape;588;g21bc13fa9a2_0_2"/>
          <p:cNvPicPr preferRelativeResize="0"/>
          <p:nvPr/>
        </p:nvPicPr>
        <p:blipFill>
          <a:blip r:embed="rId3">
            <a:alphaModFix/>
          </a:blip>
          <a:stretch>
            <a:fillRect/>
          </a:stretch>
        </p:blipFill>
        <p:spPr>
          <a:xfrm>
            <a:off x="1042988" y="914400"/>
            <a:ext cx="7134225" cy="49911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3" name="Shape 593"/>
        <p:cNvGrpSpPr/>
        <p:nvPr/>
      </p:nvGrpSpPr>
      <p:grpSpPr>
        <a:xfrm>
          <a:off x="0" y="0"/>
          <a:ext cx="0" cy="0"/>
          <a:chOff x="0" y="0"/>
          <a:chExt cx="0" cy="0"/>
        </a:xfrm>
      </p:grpSpPr>
      <p:sp>
        <p:nvSpPr>
          <p:cNvPr id="594" name="Google Shape;594;p43"/>
          <p:cNvSpPr txBox="1"/>
          <p:nvPr>
            <p:ph idx="1" type="body"/>
          </p:nvPr>
        </p:nvSpPr>
        <p:spPr>
          <a:xfrm>
            <a:off x="0" y="1143000"/>
            <a:ext cx="8915400" cy="5715000"/>
          </a:xfrm>
          <a:prstGeom prst="rect">
            <a:avLst/>
          </a:prstGeom>
          <a:noFill/>
          <a:ln>
            <a:noFill/>
          </a:ln>
        </p:spPr>
        <p:txBody>
          <a:bodyPr anchorCtr="0" anchor="t" bIns="45700" lIns="91425" spcFirstLastPara="1" rIns="91425" wrap="square" tIns="45700">
            <a:noAutofit/>
          </a:bodyPr>
          <a:lstStyle/>
          <a:p>
            <a:pPr indent="-165100" lvl="0" marL="342900" marR="0" rtl="0" algn="l">
              <a:lnSpc>
                <a:spcPct val="100000"/>
              </a:lnSpc>
              <a:spcBef>
                <a:spcPts val="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Các hệ thống tính toán hiện đại cho  phép sử dụng không gian địa chỉ logic lớn (2</a:t>
            </a:r>
            <a:r>
              <a:rPr b="0" baseline="30000" i="0" lang="en-US" sz="2800" u="none">
                <a:solidFill>
                  <a:schemeClr val="dk2"/>
                </a:solidFill>
                <a:latin typeface="Times New Roman"/>
                <a:ea typeface="Times New Roman"/>
                <a:cs typeface="Times New Roman"/>
                <a:sym typeface="Times New Roman"/>
              </a:rPr>
              <a:t>32</a:t>
            </a:r>
            <a:r>
              <a:rPr b="0" i="0" lang="en-US" sz="2800" u="none">
                <a:solidFill>
                  <a:schemeClr val="dk2"/>
                </a:solidFill>
                <a:latin typeface="Times New Roman"/>
                <a:ea typeface="Times New Roman"/>
                <a:cs typeface="Times New Roman"/>
                <a:sym typeface="Times New Roman"/>
              </a:rPr>
              <a:t> -&gt; 2</a:t>
            </a:r>
            <a:r>
              <a:rPr b="0" baseline="30000" i="0" lang="en-US" sz="2800" u="none">
                <a:solidFill>
                  <a:schemeClr val="dk2"/>
                </a:solidFill>
                <a:latin typeface="Times New Roman"/>
                <a:ea typeface="Times New Roman"/>
                <a:cs typeface="Times New Roman"/>
                <a:sym typeface="Times New Roman"/>
              </a:rPr>
              <a:t>64</a:t>
            </a:r>
            <a:r>
              <a:rPr b="0" i="0" lang="en-US" sz="2800" u="none">
                <a:solidFill>
                  <a:schemeClr val="dk2"/>
                </a:solidFill>
                <a:latin typeface="Times New Roman"/>
                <a:ea typeface="Times New Roman"/>
                <a:cs typeface="Times New Roman"/>
                <a:sym typeface="Times New Roman"/>
              </a:rPr>
              <a:t>) =&gt; kích thước bảng trang tăng</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=&gt; cần chia bảng trang thành những phần nhỏ hơn</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Tổ chức bảng trang nhiều mức: </a:t>
            </a:r>
            <a:r>
              <a:rPr b="0" i="0" lang="en-US" sz="2400" u="none">
                <a:solidFill>
                  <a:schemeClr val="dk2"/>
                </a:solidFill>
                <a:latin typeface="Times New Roman"/>
                <a:ea typeface="Times New Roman"/>
                <a:cs typeface="Times New Roman"/>
                <a:sym typeface="Times New Roman"/>
              </a:rPr>
              <a:t>Khoản mục của bảng mức trên chỉ tới bảng trang khác</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20650" lvl="1" marL="742950" marR="0" rtl="0" algn="l">
              <a:lnSpc>
                <a:spcPct val="100000"/>
              </a:lnSpc>
              <a:spcBef>
                <a:spcPts val="520"/>
              </a:spcBef>
              <a:spcAft>
                <a:spcPts val="0"/>
              </a:spcAft>
              <a:buClr>
                <a:schemeClr val="accent1"/>
              </a:buClr>
              <a:buSzPts val="2600"/>
              <a:buFont typeface="Noto Sans Symbols"/>
              <a:buNone/>
            </a:pPr>
            <a:r>
              <a:t/>
            </a:r>
            <a:endParaRPr b="0" i="0" sz="26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595" name="Google Shape;595;p43"/>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PHÂN TRANG BỘ NHỚ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Tổ chức bảng trang- </a:t>
            </a:r>
            <a:r>
              <a:rPr b="1" i="0" lang="en-US" sz="2000" u="none">
                <a:solidFill>
                  <a:srgbClr val="000066"/>
                </a:solidFill>
                <a:latin typeface="Times New Roman"/>
                <a:ea typeface="Times New Roman"/>
                <a:cs typeface="Times New Roman"/>
                <a:sym typeface="Times New Roman"/>
              </a:rPr>
              <a:t>bảng trang nhiều mức</a:t>
            </a:r>
            <a:endParaRPr/>
          </a:p>
        </p:txBody>
      </p:sp>
      <p:sp>
        <p:nvSpPr>
          <p:cNvPr id="596" name="Google Shape;596;p4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7" name="Google Shape;597;p4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8" name="Google Shape;598;p4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599" name="Google Shape;599;p4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44"/>
          <p:cNvSpPr txBox="1"/>
          <p:nvPr>
            <p:ph idx="1" type="body"/>
          </p:nvPr>
        </p:nvSpPr>
        <p:spPr>
          <a:xfrm>
            <a:off x="0" y="762000"/>
            <a:ext cx="89154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Ví dụ bảng 2 mức: địa chỉ 32 bit chia thành 3 phần</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P1: 10 bit cho phép định vị khoản mục trong bảng mức trên =&gt; tìm được bảng mức dưới tương ứng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P2: định vị khoản mục trong bảng mức dưới (chứa địa chỉ khung tương ứng)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O: 12 bit, chứa độ dịch trong trang</a:t>
            </a:r>
            <a:endParaRPr b="0" i="0" sz="2200" u="none" cap="none" strike="noStrike">
              <a:solidFill>
                <a:schemeClr val="dk2"/>
              </a:solidFill>
              <a:latin typeface="Times New Roman"/>
              <a:ea typeface="Times New Roman"/>
              <a:cs typeface="Times New Roman"/>
              <a:sym typeface="Times New Roman"/>
            </a:endParaRPr>
          </a:p>
          <a:p>
            <a:pPr indent="-120650" lvl="1" marL="742950" marR="0" rtl="0" algn="l">
              <a:lnSpc>
                <a:spcPct val="100000"/>
              </a:lnSpc>
              <a:spcBef>
                <a:spcPts val="520"/>
              </a:spcBef>
              <a:spcAft>
                <a:spcPts val="0"/>
              </a:spcAft>
              <a:buClr>
                <a:schemeClr val="accent1"/>
              </a:buClr>
              <a:buSzPts val="2600"/>
              <a:buFont typeface="Noto Sans Symbols"/>
              <a:buNone/>
            </a:pPr>
            <a:r>
              <a:t/>
            </a:r>
            <a:endParaRPr b="0" i="0" sz="26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06" name="Google Shape;606;p44"/>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PHÂN TRANG BỘ NHỚ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Tổ chức bảng trang- </a:t>
            </a:r>
            <a:r>
              <a:rPr b="1" i="0" lang="en-US" sz="2000" u="none">
                <a:solidFill>
                  <a:srgbClr val="000066"/>
                </a:solidFill>
                <a:latin typeface="Times New Roman"/>
                <a:ea typeface="Times New Roman"/>
                <a:cs typeface="Times New Roman"/>
                <a:sym typeface="Times New Roman"/>
              </a:rPr>
              <a:t>bảng trang nhiều mức</a:t>
            </a:r>
            <a:endParaRPr/>
          </a:p>
        </p:txBody>
      </p:sp>
      <p:sp>
        <p:nvSpPr>
          <p:cNvPr id="607" name="Google Shape;607;p4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8" name="Google Shape;608;p4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09" name="Google Shape;609;p4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10" name="Google Shape;610;p4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611" name="Google Shape;611;p44"/>
          <p:cNvGraphicFramePr/>
          <p:nvPr/>
        </p:nvGraphicFramePr>
        <p:xfrm>
          <a:off x="2133600" y="3276600"/>
          <a:ext cx="5410200" cy="3060700"/>
        </p:xfrm>
        <a:graphic>
          <a:graphicData uri="http://schemas.openxmlformats.org/presentationml/2006/ole">
            <mc:AlternateContent>
              <mc:Choice Requires="v">
                <p:oleObj r:id="rId4" imgH="3060700" imgW="5410200" progId="Visio.Drawing.11" spid="_x0000_s1">
                  <p:embed/>
                </p:oleObj>
              </mc:Choice>
              <mc:Fallback>
                <p:oleObj r:id="rId5" imgH="3060700" imgW="5410200" progId="Visio.Drawing.11">
                  <p:embed/>
                  <p:pic>
                    <p:nvPicPr>
                      <p:cNvPr id="611" name="Google Shape;611;p44"/>
                      <p:cNvPicPr preferRelativeResize="0"/>
                      <p:nvPr/>
                    </p:nvPicPr>
                    <p:blipFill rotWithShape="1">
                      <a:blip r:embed="rId6">
                        <a:alphaModFix/>
                      </a:blip>
                      <a:srcRect b="0" l="0" r="0" t="0"/>
                      <a:stretch/>
                    </p:blipFill>
                    <p:spPr>
                      <a:xfrm>
                        <a:off x="2133600" y="3276600"/>
                        <a:ext cx="5410200" cy="3060700"/>
                      </a:xfrm>
                      <a:prstGeom prst="rect">
                        <a:avLst/>
                      </a:prstGeom>
                      <a:noFill/>
                      <a:ln>
                        <a:noFill/>
                      </a:ln>
                    </p:spPr>
                  </p:pic>
                </p:oleObj>
              </mc:Fallback>
            </mc:AlternateContent>
          </a:graphicData>
        </a:graphic>
      </p:graphicFrame>
      <p:sp>
        <p:nvSpPr>
          <p:cNvPr id="612" name="Google Shape;612;p4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45"/>
          <p:cNvSpPr txBox="1"/>
          <p:nvPr>
            <p:ph idx="1" type="body"/>
          </p:nvPr>
        </p:nvSpPr>
        <p:spPr>
          <a:xfrm>
            <a:off x="0" y="6858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Chương trình thường được chia thành nhiều phần: dữ liệu, lệnh, hàm, ngăn xếp..</a:t>
            </a:r>
            <a:endParaRPr/>
          </a:p>
          <a:p>
            <a:pPr indent="-342900" lvl="0" marL="342900" marR="0" rtl="0" algn="just">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Tuy nhiên, khi phân trang, chương trình được chia thành các </a:t>
            </a:r>
            <a:r>
              <a:rPr b="1" i="0" lang="en-US" sz="2600" u="none">
                <a:solidFill>
                  <a:schemeClr val="dk2"/>
                </a:solidFill>
                <a:latin typeface="Times New Roman"/>
                <a:ea typeface="Times New Roman"/>
                <a:cs typeface="Times New Roman"/>
                <a:sym typeface="Times New Roman"/>
              </a:rPr>
              <a:t>trang</a:t>
            </a:r>
            <a:r>
              <a:rPr b="0" i="0" lang="en-US" sz="2600" u="none">
                <a:solidFill>
                  <a:schemeClr val="dk2"/>
                </a:solidFill>
                <a:latin typeface="Times New Roman"/>
                <a:ea typeface="Times New Roman"/>
                <a:cs typeface="Times New Roman"/>
                <a:sym typeface="Times New Roman"/>
              </a:rPr>
              <a:t> có kích thước đều nhau, không quan tâm tới tổ chức logic và ý nghĩa của từng thành phần.</a:t>
            </a:r>
            <a:endParaRPr/>
          </a:p>
          <a:p>
            <a:pPr indent="-342900" lvl="0" marL="342900" marR="0" rtl="0" algn="just">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Một cách tổ chức khác, cho phép chia chương trình thành các </a:t>
            </a:r>
            <a:r>
              <a:rPr b="1" i="0" lang="en-US" sz="2600" u="none">
                <a:solidFill>
                  <a:schemeClr val="dk2"/>
                </a:solidFill>
                <a:latin typeface="Times New Roman"/>
                <a:ea typeface="Times New Roman"/>
                <a:cs typeface="Times New Roman"/>
                <a:sym typeface="Times New Roman"/>
              </a:rPr>
              <a:t>đoạn</a:t>
            </a:r>
            <a:r>
              <a:rPr b="0" i="0" lang="en-US" sz="2600" u="none">
                <a:solidFill>
                  <a:schemeClr val="dk2"/>
                </a:solidFill>
                <a:latin typeface="Times New Roman"/>
                <a:ea typeface="Times New Roman"/>
                <a:cs typeface="Times New Roman"/>
                <a:sym typeface="Times New Roman"/>
              </a:rPr>
              <a:t> theo cấu trúc logic:</a:t>
            </a:r>
            <a:endParaRPr/>
          </a:p>
          <a:p>
            <a:pPr indent="-285750" lvl="1" marL="742950" marR="0" rtl="0" algn="just">
              <a:lnSpc>
                <a:spcPct val="100000"/>
              </a:lnSpc>
              <a:spcBef>
                <a:spcPts val="440"/>
              </a:spcBef>
              <a:spcAft>
                <a:spcPts val="0"/>
              </a:spcAft>
              <a:buClr>
                <a:schemeClr val="accent1"/>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Đoạn chương trình cứa toàn bộ mã chương trình, hay một số hàm hoặc thủ tục của chương trình</a:t>
            </a:r>
            <a:endParaRPr/>
          </a:p>
          <a:p>
            <a:pPr indent="-285750" lvl="1" marL="742950" marR="0" rtl="0" algn="just">
              <a:lnSpc>
                <a:spcPct val="100000"/>
              </a:lnSpc>
              <a:spcBef>
                <a:spcPts val="440"/>
              </a:spcBef>
              <a:spcAft>
                <a:spcPts val="0"/>
              </a:spcAft>
              <a:buClr>
                <a:schemeClr val="accent1"/>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Đoạn dữ liệu, chứa các biến toàn cục, các mảng</a:t>
            </a:r>
            <a:endParaRPr/>
          </a:p>
          <a:p>
            <a:pPr indent="-285750" lvl="1" marL="742950" marR="0" rtl="0" algn="just">
              <a:lnSpc>
                <a:spcPct val="100000"/>
              </a:lnSpc>
              <a:spcBef>
                <a:spcPts val="440"/>
              </a:spcBef>
              <a:spcAft>
                <a:spcPts val="0"/>
              </a:spcAft>
              <a:buClr>
                <a:schemeClr val="accent1"/>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Đoạn ngăn xếp, chứa ngăn xếp của tiến tình trong quá trình thực hiện</a:t>
            </a:r>
            <a:endParaRPr/>
          </a:p>
        </p:txBody>
      </p:sp>
      <p:sp>
        <p:nvSpPr>
          <p:cNvPr id="619" name="Google Shape;619;p45"/>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 PHÂN ĐOẠN BỘ NHỚ</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Khái niệm</a:t>
            </a:r>
            <a:endParaRPr/>
          </a:p>
        </p:txBody>
      </p:sp>
      <p:sp>
        <p:nvSpPr>
          <p:cNvPr id="620" name="Google Shape;620;p4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1" name="Google Shape;621;p4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22" name="Google Shape;622;p4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xEl>
                                              <p:pRg end="0" st="0"/>
                                            </p:txEl>
                                          </p:spTgt>
                                        </p:tgtEl>
                                        <p:attrNameLst>
                                          <p:attrName>style.visibility</p:attrName>
                                        </p:attrNameLst>
                                      </p:cBhvr>
                                      <p:to>
                                        <p:strVal val="visible"/>
                                      </p:to>
                                    </p:set>
                                    <p:animEffect filter="fade" transition="in">
                                      <p:cBhvr>
                                        <p:cTn dur="500"/>
                                        <p:tgtEl>
                                          <p:spTgt spid="61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xEl>
                                              <p:pRg end="1" st="1"/>
                                            </p:txEl>
                                          </p:spTgt>
                                        </p:tgtEl>
                                        <p:attrNameLst>
                                          <p:attrName>style.visibility</p:attrName>
                                        </p:attrNameLst>
                                      </p:cBhvr>
                                      <p:to>
                                        <p:strVal val="visible"/>
                                      </p:to>
                                    </p:set>
                                    <p:animEffect filter="fade" transition="in">
                                      <p:cBhvr>
                                        <p:cTn dur="500"/>
                                        <p:tgtEl>
                                          <p:spTgt spid="61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xEl>
                                              <p:pRg end="2" st="2"/>
                                            </p:txEl>
                                          </p:spTgt>
                                        </p:tgtEl>
                                        <p:attrNameLst>
                                          <p:attrName>style.visibility</p:attrName>
                                        </p:attrNameLst>
                                      </p:cBhvr>
                                      <p:to>
                                        <p:strVal val="visible"/>
                                      </p:to>
                                    </p:set>
                                    <p:animEffect filter="fade" transition="in">
                                      <p:cBhvr>
                                        <p:cTn dur="500"/>
                                        <p:tgtEl>
                                          <p:spTgt spid="61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xEl>
                                              <p:pRg end="3" st="3"/>
                                            </p:txEl>
                                          </p:spTgt>
                                        </p:tgtEl>
                                        <p:attrNameLst>
                                          <p:attrName>style.visibility</p:attrName>
                                        </p:attrNameLst>
                                      </p:cBhvr>
                                      <p:to>
                                        <p:strVal val="visible"/>
                                      </p:to>
                                    </p:set>
                                    <p:animEffect filter="fade" transition="in">
                                      <p:cBhvr>
                                        <p:cTn dur="500"/>
                                        <p:tgtEl>
                                          <p:spTgt spid="61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xEl>
                                              <p:pRg end="4" st="4"/>
                                            </p:txEl>
                                          </p:spTgt>
                                        </p:tgtEl>
                                        <p:attrNameLst>
                                          <p:attrName>style.visibility</p:attrName>
                                        </p:attrNameLst>
                                      </p:cBhvr>
                                      <p:to>
                                        <p:strVal val="visible"/>
                                      </p:to>
                                    </p:set>
                                    <p:animEffect filter="fade" transition="in">
                                      <p:cBhvr>
                                        <p:cTn dur="500"/>
                                        <p:tgtEl>
                                          <p:spTgt spid="61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8">
                                            <p:txEl>
                                              <p:pRg end="5" st="5"/>
                                            </p:txEl>
                                          </p:spTgt>
                                        </p:tgtEl>
                                        <p:attrNameLst>
                                          <p:attrName>style.visibility</p:attrName>
                                        </p:attrNameLst>
                                      </p:cBhvr>
                                      <p:to>
                                        <p:strVal val="visible"/>
                                      </p:to>
                                    </p:set>
                                    <p:animEffect filter="fade" transition="in">
                                      <p:cBhvr>
                                        <p:cTn dur="500"/>
                                        <p:tgtEl>
                                          <p:spTgt spid="618">
                                            <p:txEl>
                                              <p:pRg end="5" st="5"/>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46"/>
          <p:cNvSpPr txBox="1"/>
          <p:nvPr>
            <p:ph idx="1" type="body"/>
          </p:nvPr>
        </p:nvSpPr>
        <p:spPr>
          <a:xfrm>
            <a:off x="0" y="8382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Mỗi đoạn được phân vào 1 vùng nhớ, có kích thước không bằng nhau</a:t>
            </a:r>
            <a:endParaRPr/>
          </a:p>
          <a:p>
            <a:pPr indent="-342900" lvl="0" marL="342900" marR="0" rtl="0" algn="just">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Mỗi đoạn tương ứng với không gian địa chỉ riêng, được phân biệt bởi tên (STT) và độ dài của mình</a:t>
            </a:r>
            <a:endParaRPr/>
          </a:p>
          <a:p>
            <a:pPr indent="-342900" lvl="0" marL="342900" marR="0" rtl="0" algn="just">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Các vùng nhớ thuộc các đoạn khác nhau có thể nằm ở vị trí khác nhau.</a:t>
            </a:r>
            <a:endParaRPr/>
          </a:p>
        </p:txBody>
      </p:sp>
      <p:sp>
        <p:nvSpPr>
          <p:cNvPr id="629" name="Google Shape;629;p46"/>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 PHÂN ĐOẠN BỘ NHỚ</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Khái niệm</a:t>
            </a:r>
            <a:endParaRPr/>
          </a:p>
        </p:txBody>
      </p:sp>
      <p:sp>
        <p:nvSpPr>
          <p:cNvPr id="630" name="Google Shape;630;p4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31" name="Google Shape;631;p4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32" name="Google Shape;632;p4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8">
                                            <p:txEl>
                                              <p:pRg end="0" st="0"/>
                                            </p:txEl>
                                          </p:spTgt>
                                        </p:tgtEl>
                                        <p:attrNameLst>
                                          <p:attrName>style.visibility</p:attrName>
                                        </p:attrNameLst>
                                      </p:cBhvr>
                                      <p:to>
                                        <p:strVal val="visible"/>
                                      </p:to>
                                    </p:set>
                                    <p:animEffect filter="fade" transition="in">
                                      <p:cBhvr>
                                        <p:cTn dur="500"/>
                                        <p:tgtEl>
                                          <p:spTgt spid="62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8">
                                            <p:txEl>
                                              <p:pRg end="1" st="1"/>
                                            </p:txEl>
                                          </p:spTgt>
                                        </p:tgtEl>
                                        <p:attrNameLst>
                                          <p:attrName>style.visibility</p:attrName>
                                        </p:attrNameLst>
                                      </p:cBhvr>
                                      <p:to>
                                        <p:strVal val="visible"/>
                                      </p:to>
                                    </p:set>
                                    <p:animEffect filter="fade" transition="in">
                                      <p:cBhvr>
                                        <p:cTn dur="500"/>
                                        <p:tgtEl>
                                          <p:spTgt spid="62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8">
                                            <p:txEl>
                                              <p:pRg end="2" st="2"/>
                                            </p:txEl>
                                          </p:spTgt>
                                        </p:tgtEl>
                                        <p:attrNameLst>
                                          <p:attrName>style.visibility</p:attrName>
                                        </p:attrNameLst>
                                      </p:cBhvr>
                                      <p:to>
                                        <p:strVal val="visible"/>
                                      </p:to>
                                    </p:set>
                                    <p:animEffect filter="fade" transition="in">
                                      <p:cBhvr>
                                        <p:cTn dur="500"/>
                                        <p:tgtEl>
                                          <p:spTgt spid="628">
                                            <p:txEl>
                                              <p:pRg end="2" st="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47"/>
          <p:cNvSpPr txBox="1"/>
          <p:nvPr>
            <p:ph idx="1" type="body"/>
          </p:nvPr>
        </p:nvSpPr>
        <p:spPr>
          <a:xfrm>
            <a:off x="0" y="10668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Giống phân chương động: bộ nhớ được cấp phát theo từng vùng kích thước thay đổi</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Khác phân chương động: chương trình có thể chiếm nhiều hơn 1 đoạn và không cần liên tiếp nhau trong MEM</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Tránh hiện tượng phân mảnh trong</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Có phân mảnh ngoài</a:t>
            </a: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20650" lvl="1" marL="742950" marR="0" rtl="0" algn="l">
              <a:lnSpc>
                <a:spcPct val="100000"/>
              </a:lnSpc>
              <a:spcBef>
                <a:spcPts val="520"/>
              </a:spcBef>
              <a:spcAft>
                <a:spcPts val="0"/>
              </a:spcAft>
              <a:buClr>
                <a:schemeClr val="accent1"/>
              </a:buClr>
              <a:buSzPts val="2600"/>
              <a:buFont typeface="Noto Sans Symbols"/>
              <a:buNone/>
            </a:pPr>
            <a:r>
              <a:t/>
            </a:r>
            <a:endParaRPr b="0" i="0" sz="26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39" name="Google Shape;639;p47"/>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 PHÂN ĐOẠN BỘ NHỚ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Khái niệm</a:t>
            </a:r>
            <a:endParaRPr/>
          </a:p>
        </p:txBody>
      </p:sp>
      <p:sp>
        <p:nvSpPr>
          <p:cNvPr id="640" name="Google Shape;640;p4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41" name="Google Shape;641;p4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42" name="Google Shape;642;p4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0" st="0"/>
                                            </p:txEl>
                                          </p:spTgt>
                                        </p:tgtEl>
                                        <p:attrNameLst>
                                          <p:attrName>style.visibility</p:attrName>
                                        </p:attrNameLst>
                                      </p:cBhvr>
                                      <p:to>
                                        <p:strVal val="visible"/>
                                      </p:to>
                                    </p:set>
                                    <p:animEffect filter="fade" transition="in">
                                      <p:cBhvr>
                                        <p:cTn dur="500"/>
                                        <p:tgtEl>
                                          <p:spTgt spid="6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1" st="1"/>
                                            </p:txEl>
                                          </p:spTgt>
                                        </p:tgtEl>
                                        <p:attrNameLst>
                                          <p:attrName>style.visibility</p:attrName>
                                        </p:attrNameLst>
                                      </p:cBhvr>
                                      <p:to>
                                        <p:strVal val="visible"/>
                                      </p:to>
                                    </p:set>
                                    <p:animEffect filter="fade" transition="in">
                                      <p:cBhvr>
                                        <p:cTn dur="500"/>
                                        <p:tgtEl>
                                          <p:spTgt spid="6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2" st="2"/>
                                            </p:txEl>
                                          </p:spTgt>
                                        </p:tgtEl>
                                        <p:attrNameLst>
                                          <p:attrName>style.visibility</p:attrName>
                                        </p:attrNameLst>
                                      </p:cBhvr>
                                      <p:to>
                                        <p:strVal val="visible"/>
                                      </p:to>
                                    </p:set>
                                    <p:animEffect filter="fade" transition="in">
                                      <p:cBhvr>
                                        <p:cTn dur="500"/>
                                        <p:tgtEl>
                                          <p:spTgt spid="63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3" st="3"/>
                                            </p:txEl>
                                          </p:spTgt>
                                        </p:tgtEl>
                                        <p:attrNameLst>
                                          <p:attrName>style.visibility</p:attrName>
                                        </p:attrNameLst>
                                      </p:cBhvr>
                                      <p:to>
                                        <p:strVal val="visible"/>
                                      </p:to>
                                    </p:set>
                                    <p:animEffect filter="fade" transition="in">
                                      <p:cBhvr>
                                        <p:cTn dur="500"/>
                                        <p:tgtEl>
                                          <p:spTgt spid="63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4" st="4"/>
                                            </p:txEl>
                                          </p:spTgt>
                                        </p:tgtEl>
                                        <p:attrNameLst>
                                          <p:attrName>style.visibility</p:attrName>
                                        </p:attrNameLst>
                                      </p:cBhvr>
                                      <p:to>
                                        <p:strVal val="visible"/>
                                      </p:to>
                                    </p:set>
                                    <p:animEffect filter="fade" transition="in">
                                      <p:cBhvr>
                                        <p:cTn dur="500"/>
                                        <p:tgtEl>
                                          <p:spTgt spid="63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5" st="5"/>
                                            </p:txEl>
                                          </p:spTgt>
                                        </p:tgtEl>
                                        <p:attrNameLst>
                                          <p:attrName>style.visibility</p:attrName>
                                        </p:attrNameLst>
                                      </p:cBhvr>
                                      <p:to>
                                        <p:strVal val="visible"/>
                                      </p:to>
                                    </p:set>
                                    <p:animEffect filter="fade" transition="in">
                                      <p:cBhvr>
                                        <p:cTn dur="500"/>
                                        <p:tgtEl>
                                          <p:spTgt spid="63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6" st="6"/>
                                            </p:txEl>
                                          </p:spTgt>
                                        </p:tgtEl>
                                        <p:attrNameLst>
                                          <p:attrName>style.visibility</p:attrName>
                                        </p:attrNameLst>
                                      </p:cBhvr>
                                      <p:to>
                                        <p:strVal val="visible"/>
                                      </p:to>
                                    </p:set>
                                    <p:animEffect filter="fade" transition="in">
                                      <p:cBhvr>
                                        <p:cTn dur="500"/>
                                        <p:tgtEl>
                                          <p:spTgt spid="63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7" st="7"/>
                                            </p:txEl>
                                          </p:spTgt>
                                        </p:tgtEl>
                                        <p:attrNameLst>
                                          <p:attrName>style.visibility</p:attrName>
                                        </p:attrNameLst>
                                      </p:cBhvr>
                                      <p:to>
                                        <p:strVal val="visible"/>
                                      </p:to>
                                    </p:set>
                                    <p:animEffect filter="fade" transition="in">
                                      <p:cBhvr>
                                        <p:cTn dur="500"/>
                                        <p:tgtEl>
                                          <p:spTgt spid="63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8" st="8"/>
                                            </p:txEl>
                                          </p:spTgt>
                                        </p:tgtEl>
                                        <p:attrNameLst>
                                          <p:attrName>style.visibility</p:attrName>
                                        </p:attrNameLst>
                                      </p:cBhvr>
                                      <p:to>
                                        <p:strVal val="visible"/>
                                      </p:to>
                                    </p:set>
                                    <p:animEffect filter="fade" transition="in">
                                      <p:cBhvr>
                                        <p:cTn dur="500"/>
                                        <p:tgtEl>
                                          <p:spTgt spid="63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9" st="9"/>
                                            </p:txEl>
                                          </p:spTgt>
                                        </p:tgtEl>
                                        <p:attrNameLst>
                                          <p:attrName>style.visibility</p:attrName>
                                        </p:attrNameLst>
                                      </p:cBhvr>
                                      <p:to>
                                        <p:strVal val="visible"/>
                                      </p:to>
                                    </p:set>
                                    <p:animEffect filter="fade" transition="in">
                                      <p:cBhvr>
                                        <p:cTn dur="500"/>
                                        <p:tgtEl>
                                          <p:spTgt spid="63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8">
                                            <p:txEl>
                                              <p:pRg end="10" st="10"/>
                                            </p:txEl>
                                          </p:spTgt>
                                        </p:tgtEl>
                                        <p:attrNameLst>
                                          <p:attrName>style.visibility</p:attrName>
                                        </p:attrNameLst>
                                      </p:cBhvr>
                                      <p:to>
                                        <p:strVal val="visible"/>
                                      </p:to>
                                    </p:set>
                                    <p:animEffect filter="fade" transition="in">
                                      <p:cBhvr>
                                        <p:cTn dur="500"/>
                                        <p:tgtEl>
                                          <p:spTgt spid="638">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48"/>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165100" lvl="0" marL="342900" marR="0" rtl="0" algn="l">
              <a:lnSpc>
                <a:spcPct val="100000"/>
              </a:lnSpc>
              <a:spcBef>
                <a:spcPts val="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Sử dụng </a:t>
            </a:r>
            <a:r>
              <a:rPr b="1" i="0" lang="en-US" sz="2800" u="none">
                <a:solidFill>
                  <a:schemeClr val="dk2"/>
                </a:solidFill>
                <a:latin typeface="Times New Roman"/>
                <a:ea typeface="Times New Roman"/>
                <a:cs typeface="Times New Roman"/>
                <a:sym typeface="Times New Roman"/>
              </a:rPr>
              <a:t>bảng đoạn</a:t>
            </a:r>
            <a:r>
              <a:rPr b="0" i="0" lang="en-US" sz="2800" u="none">
                <a:solidFill>
                  <a:schemeClr val="dk2"/>
                </a:solidFill>
                <a:latin typeface="Times New Roman"/>
                <a:ea typeface="Times New Roman"/>
                <a:cs typeface="Times New Roman"/>
                <a:sym typeface="Times New Roman"/>
              </a:rPr>
              <a:t> cho mỗi tiến trình. Mỗi ô tương ứng với 1 đoạn, chứa:</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Địa chỉ cơ sở: vị trí bắt đầu của đoạn trong bộ nhớ</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Địa chỉ giới hạn: độ dài đoạn, sử dụng để chống truy cập trái phép ra ngoài đoạn</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Địa chỉ logic gồm 2 thành phần, (s, o):</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S: số thứ tự/ tên đoạn</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O: độ dịch trong đoạn</a:t>
            </a:r>
            <a:endParaRPr/>
          </a:p>
          <a:p>
            <a:pPr indent="-285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20650" lvl="1" marL="742950" marR="0" rtl="0" algn="l">
              <a:lnSpc>
                <a:spcPct val="100000"/>
              </a:lnSpc>
              <a:spcBef>
                <a:spcPts val="520"/>
              </a:spcBef>
              <a:spcAft>
                <a:spcPts val="0"/>
              </a:spcAft>
              <a:buClr>
                <a:schemeClr val="accent1"/>
              </a:buClr>
              <a:buSzPts val="2600"/>
              <a:buFont typeface="Noto Sans Symbols"/>
              <a:buNone/>
            </a:pPr>
            <a:r>
              <a:t/>
            </a:r>
            <a:endParaRPr b="0" i="0" sz="26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49" name="Google Shape;649;p48"/>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 PHÂN ĐOẠN BỘ NHỚ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Ánh xạ địa chỉ</a:t>
            </a:r>
            <a:endParaRPr/>
          </a:p>
        </p:txBody>
      </p:sp>
      <p:sp>
        <p:nvSpPr>
          <p:cNvPr id="650" name="Google Shape;650;p4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51" name="Google Shape;651;p4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52" name="Google Shape;652;p4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p49"/>
          <p:cNvSpPr txBox="1"/>
          <p:nvPr>
            <p:ph idx="1" type="body"/>
          </p:nvPr>
        </p:nvSpPr>
        <p:spPr>
          <a:xfrm>
            <a:off x="0" y="685800"/>
            <a:ext cx="9144000" cy="5715000"/>
          </a:xfrm>
          <a:prstGeom prst="rect">
            <a:avLst/>
          </a:prstGeom>
          <a:noFill/>
          <a:ln>
            <a:noFill/>
          </a:ln>
        </p:spPr>
        <p:txBody>
          <a:bodyPr anchorCtr="0" anchor="t" bIns="45700" lIns="91425" spcFirstLastPara="1" rIns="91425" wrap="square" tIns="45700">
            <a:noAutofit/>
          </a:bodyPr>
          <a:lstStyle/>
          <a:p>
            <a:pPr indent="-165100" lvl="0" marL="342900" marR="0" rtl="0" algn="l">
              <a:lnSpc>
                <a:spcPct val="100000"/>
              </a:lnSpc>
              <a:spcBef>
                <a:spcPts val="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Từ chỉ số đoạn s, vào bảng đoạn, tìm địa chỉ vật lý bắt đầu của đoạn</a:t>
            </a:r>
            <a:endParaRPr/>
          </a:p>
          <a:p>
            <a:pPr indent="-342900" lvl="0" marL="342900" marR="0" rtl="0" algn="l">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So sánh độ dịch o với chiều dài đoạn, nếu lớn hơn =&gt; địa chỉ sai</a:t>
            </a:r>
            <a:endParaRPr/>
          </a:p>
          <a:p>
            <a:pPr indent="-342900" lvl="0" marL="342900" marR="0" rtl="0" algn="l">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Địa chỉ vật lý mong muốn là tổng của địa chỉ vật lý bắt đầu đoạn và địa chỉ lệch</a:t>
            </a:r>
            <a:endParaRPr b="0" i="0" sz="28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20650" lvl="1" marL="742950" marR="0" rtl="0" algn="l">
              <a:lnSpc>
                <a:spcPct val="100000"/>
              </a:lnSpc>
              <a:spcBef>
                <a:spcPts val="520"/>
              </a:spcBef>
              <a:spcAft>
                <a:spcPts val="0"/>
              </a:spcAft>
              <a:buClr>
                <a:schemeClr val="accent1"/>
              </a:buClr>
              <a:buSzPts val="2600"/>
              <a:buFont typeface="Noto Sans Symbols"/>
              <a:buNone/>
            </a:pPr>
            <a:r>
              <a:t/>
            </a:r>
            <a:endParaRPr b="0" i="0" sz="26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59" name="Google Shape;659;p49"/>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 PHÂN ĐOẠN BỘ NHỚ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Ánh xạ địa chỉ</a:t>
            </a:r>
            <a:endParaRPr/>
          </a:p>
        </p:txBody>
      </p:sp>
      <p:sp>
        <p:nvSpPr>
          <p:cNvPr id="660" name="Google Shape;660;p4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61" name="Google Shape;661;p4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62" name="Google Shape;662;p4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663" name="Google Shape;663;p49"/>
          <p:cNvGraphicFramePr/>
          <p:nvPr/>
        </p:nvGraphicFramePr>
        <p:xfrm>
          <a:off x="1785937" y="914400"/>
          <a:ext cx="5505450" cy="3352800"/>
        </p:xfrm>
        <a:graphic>
          <a:graphicData uri="http://schemas.openxmlformats.org/presentationml/2006/ole">
            <mc:AlternateContent>
              <mc:Choice Requires="v">
                <p:oleObj r:id="rId4" imgH="3352800" imgW="5505450" progId="Visio.Drawing.11" spid="_x0000_s1">
                  <p:embed/>
                </p:oleObj>
              </mc:Choice>
              <mc:Fallback>
                <p:oleObj r:id="rId5" imgH="3352800" imgW="5505450" progId="Visio.Drawing.11">
                  <p:embed/>
                  <p:pic>
                    <p:nvPicPr>
                      <p:cNvPr id="663" name="Google Shape;663;p49"/>
                      <p:cNvPicPr preferRelativeResize="0"/>
                      <p:nvPr/>
                    </p:nvPicPr>
                    <p:blipFill rotWithShape="1">
                      <a:blip r:embed="rId6">
                        <a:alphaModFix/>
                      </a:blip>
                      <a:srcRect b="0" l="0" r="0" t="0"/>
                      <a:stretch/>
                    </p:blipFill>
                    <p:spPr>
                      <a:xfrm>
                        <a:off x="1785937" y="914400"/>
                        <a:ext cx="5505450" cy="3352800"/>
                      </a:xfrm>
                      <a:prstGeom prst="rect">
                        <a:avLst/>
                      </a:prstGeom>
                      <a:noFill/>
                      <a:ln>
                        <a:noFill/>
                      </a:ln>
                    </p:spPr>
                  </p:pic>
                </p:oleObj>
              </mc:Fallback>
            </mc:AlternateContent>
          </a:graphicData>
        </a:graphic>
      </p:graphicFrame>
      <p:sp>
        <p:nvSpPr>
          <p:cNvPr id="664" name="Google Shape;664;p4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50"/>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Phân đoạn chương trình, mỗi đoạn sẽ tiến hành phân trang</a:t>
            </a:r>
            <a:endParaRPr/>
          </a:p>
          <a:p>
            <a:pPr indent="-342900" lvl="0" marL="342900" marR="0" rtl="0" algn="l">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Địa chỉ gồm: số thứ tự đoạn, số thự tự trang, độ dịch trong trang</a:t>
            </a:r>
            <a:endParaRPr/>
          </a:p>
          <a:p>
            <a:pPr indent="-342900" lvl="0" marL="342900" marR="0" rtl="0" algn="l">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Tiến trình có 1 bảng phân đoạn, mỗi đoạn có 1 bảng phân trang</a:t>
            </a:r>
            <a:br>
              <a:rPr b="0" i="0" lang="en-US" sz="2400" u="none">
                <a:solidFill>
                  <a:schemeClr val="dk2"/>
                </a:solidFill>
                <a:latin typeface="Times New Roman"/>
                <a:ea typeface="Times New Roman"/>
                <a:cs typeface="Times New Roman"/>
                <a:sym typeface="Times New Roman"/>
              </a:rPr>
            </a:b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20650" lvl="1" marL="742950" marR="0" rtl="0" algn="l">
              <a:lnSpc>
                <a:spcPct val="100000"/>
              </a:lnSpc>
              <a:spcBef>
                <a:spcPts val="520"/>
              </a:spcBef>
              <a:spcAft>
                <a:spcPts val="0"/>
              </a:spcAft>
              <a:buClr>
                <a:schemeClr val="accent1"/>
              </a:buClr>
              <a:buSzPts val="2600"/>
              <a:buFont typeface="Noto Sans Symbols"/>
              <a:buNone/>
            </a:pPr>
            <a:r>
              <a:t/>
            </a:r>
            <a:endParaRPr b="0" i="0" sz="26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71" name="Google Shape;671;p50"/>
          <p:cNvSpPr txBox="1"/>
          <p:nvPr>
            <p:ph type="title"/>
          </p:nvPr>
        </p:nvSpPr>
        <p:spPr>
          <a:xfrm>
            <a:off x="457200" y="-76200"/>
            <a:ext cx="8686800" cy="9144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 PHÂN ĐOẠN BỘ NHỚ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Kết hợp phân trang và Phân đoạn</a:t>
            </a:r>
            <a:endParaRPr/>
          </a:p>
        </p:txBody>
      </p:sp>
      <p:sp>
        <p:nvSpPr>
          <p:cNvPr id="672" name="Google Shape;672;p5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73" name="Google Shape;673;p5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74" name="Google Shape;674;p5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675" name="Google Shape;675;p50"/>
          <p:cNvGraphicFramePr/>
          <p:nvPr/>
        </p:nvGraphicFramePr>
        <p:xfrm>
          <a:off x="1905000" y="2133600"/>
          <a:ext cx="5105400" cy="3997325"/>
        </p:xfrm>
        <a:graphic>
          <a:graphicData uri="http://schemas.openxmlformats.org/presentationml/2006/ole">
            <mc:AlternateContent>
              <mc:Choice Requires="v">
                <p:oleObj r:id="rId4" imgH="3997325" imgW="5105400" progId="Visio.Drawing.11" spid="_x0000_s1">
                  <p:embed/>
                </p:oleObj>
              </mc:Choice>
              <mc:Fallback>
                <p:oleObj r:id="rId5" imgH="3997325" imgW="5105400" progId="Visio.Drawing.11">
                  <p:embed/>
                  <p:pic>
                    <p:nvPicPr>
                      <p:cNvPr id="675" name="Google Shape;675;p50"/>
                      <p:cNvPicPr preferRelativeResize="0"/>
                      <p:nvPr/>
                    </p:nvPicPr>
                    <p:blipFill rotWithShape="1">
                      <a:blip r:embed="rId6">
                        <a:alphaModFix/>
                      </a:blip>
                      <a:srcRect b="0" l="0" r="0" t="0"/>
                      <a:stretch/>
                    </p:blipFill>
                    <p:spPr>
                      <a:xfrm>
                        <a:off x="1905000" y="2133600"/>
                        <a:ext cx="5105400" cy="3997325"/>
                      </a:xfrm>
                      <a:prstGeom prst="rect">
                        <a:avLst/>
                      </a:prstGeom>
                      <a:noFill/>
                      <a:ln>
                        <a:noFill/>
                      </a:ln>
                    </p:spPr>
                  </p:pic>
                </p:oleObj>
              </mc:Fallback>
            </mc:AlternateContent>
          </a:graphicData>
        </a:graphic>
      </p:graphicFrame>
      <p:sp>
        <p:nvSpPr>
          <p:cNvPr id="676" name="Google Shape;676;p5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51"/>
          <p:cNvSpPr txBox="1"/>
          <p:nvPr>
            <p:ph idx="1" type="body"/>
          </p:nvPr>
        </p:nvSpPr>
        <p:spPr>
          <a:xfrm>
            <a:off x="0" y="914400"/>
            <a:ext cx="8915400" cy="5105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Tiến trình có thể chia thành các phần nhỏ nằm rải rác trong bộ nhớ</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Tất cả các phép biến đổi là trong suốt với người dùng và người lập trình chỉ làm việc với không gian nhớ logic</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Không phải tiến trình nào khi chạy cũng sử dụng tất cả các lệnh và dữ liệu của mình với tần số như nhau</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=&gt; không nhất thiết toàn bộ các trang/ đoạn của một tiến trình phải có mặt đồng thời trong bộ nhớ khi tiến trình chạy</a:t>
            </a:r>
            <a:endParaRPr/>
          </a:p>
          <a:p>
            <a:pPr indent="-342900" lvl="0" marL="342900" marR="0" rtl="0" algn="just">
              <a:lnSpc>
                <a:spcPct val="100000"/>
              </a:lnSpc>
              <a:spcBef>
                <a:spcPts val="56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=&gt; </a:t>
            </a:r>
            <a:r>
              <a:rPr b="0" i="0" lang="en-US" sz="2800" u="none">
                <a:solidFill>
                  <a:schemeClr val="dk2"/>
                </a:solidFill>
                <a:latin typeface="Times New Roman"/>
                <a:ea typeface="Times New Roman"/>
                <a:cs typeface="Times New Roman"/>
                <a:sym typeface="Times New Roman"/>
              </a:rPr>
              <a:t>Các trang hoặc đoạn có thể được trao đổi từ đĩa vào bộ nhớ khi có nhu cầu truy cập tới.</a:t>
            </a:r>
            <a:endParaRPr b="0" i="0" sz="2400" u="none">
              <a:solidFill>
                <a:schemeClr val="dk2"/>
              </a:solidFill>
              <a:latin typeface="Times New Roman"/>
              <a:ea typeface="Times New Roman"/>
              <a:cs typeface="Times New Roman"/>
              <a:sym typeface="Times New Roman"/>
            </a:endParaRPr>
          </a:p>
          <a:p>
            <a:pPr indent="-120650" lvl="1" marL="742950" marR="0" rtl="0" algn="l">
              <a:lnSpc>
                <a:spcPct val="100000"/>
              </a:lnSpc>
              <a:spcBef>
                <a:spcPts val="520"/>
              </a:spcBef>
              <a:spcAft>
                <a:spcPts val="0"/>
              </a:spcAft>
              <a:buClr>
                <a:schemeClr val="accent1"/>
              </a:buClr>
              <a:buSzPts val="2600"/>
              <a:buFont typeface="Noto Sans Symbols"/>
              <a:buNone/>
            </a:pPr>
            <a:r>
              <a:t/>
            </a:r>
            <a:endParaRPr b="0" i="0" sz="26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83" name="Google Shape;683;p51"/>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Khái niệm</a:t>
            </a:r>
            <a:endParaRPr/>
          </a:p>
        </p:txBody>
      </p:sp>
      <p:sp>
        <p:nvSpPr>
          <p:cNvPr id="684" name="Google Shape;684;p5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85" name="Google Shape;685;p5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86" name="Google Shape;686;p5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2">
                                            <p:txEl>
                                              <p:pRg end="0" st="0"/>
                                            </p:txEl>
                                          </p:spTgt>
                                        </p:tgtEl>
                                        <p:attrNameLst>
                                          <p:attrName>style.visibility</p:attrName>
                                        </p:attrNameLst>
                                      </p:cBhvr>
                                      <p:to>
                                        <p:strVal val="visible"/>
                                      </p:to>
                                    </p:set>
                                    <p:animEffect filter="fade" transition="in">
                                      <p:cBhvr>
                                        <p:cTn dur="500"/>
                                        <p:tgtEl>
                                          <p:spTgt spid="68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2">
                                            <p:txEl>
                                              <p:pRg end="1" st="1"/>
                                            </p:txEl>
                                          </p:spTgt>
                                        </p:tgtEl>
                                        <p:attrNameLst>
                                          <p:attrName>style.visibility</p:attrName>
                                        </p:attrNameLst>
                                      </p:cBhvr>
                                      <p:to>
                                        <p:strVal val="visible"/>
                                      </p:to>
                                    </p:set>
                                    <p:animEffect filter="fade" transition="in">
                                      <p:cBhvr>
                                        <p:cTn dur="500"/>
                                        <p:tgtEl>
                                          <p:spTgt spid="68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2">
                                            <p:txEl>
                                              <p:pRg end="2" st="2"/>
                                            </p:txEl>
                                          </p:spTgt>
                                        </p:tgtEl>
                                        <p:attrNameLst>
                                          <p:attrName>style.visibility</p:attrName>
                                        </p:attrNameLst>
                                      </p:cBhvr>
                                      <p:to>
                                        <p:strVal val="visible"/>
                                      </p:to>
                                    </p:set>
                                    <p:animEffect filter="fade" transition="in">
                                      <p:cBhvr>
                                        <p:cTn dur="500"/>
                                        <p:tgtEl>
                                          <p:spTgt spid="68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2">
                                            <p:txEl>
                                              <p:pRg end="3" st="3"/>
                                            </p:txEl>
                                          </p:spTgt>
                                        </p:tgtEl>
                                        <p:attrNameLst>
                                          <p:attrName>style.visibility</p:attrName>
                                        </p:attrNameLst>
                                      </p:cBhvr>
                                      <p:to>
                                        <p:strVal val="visible"/>
                                      </p:to>
                                    </p:set>
                                    <p:animEffect filter="fade" transition="in">
                                      <p:cBhvr>
                                        <p:cTn dur="500"/>
                                        <p:tgtEl>
                                          <p:spTgt spid="68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2">
                                            <p:txEl>
                                              <p:pRg end="4" st="4"/>
                                            </p:txEl>
                                          </p:spTgt>
                                        </p:tgtEl>
                                        <p:attrNameLst>
                                          <p:attrName>style.visibility</p:attrName>
                                        </p:attrNameLst>
                                      </p:cBhvr>
                                      <p:to>
                                        <p:strVal val="visible"/>
                                      </p:to>
                                    </p:set>
                                    <p:animEffect filter="fade" transition="in">
                                      <p:cBhvr>
                                        <p:cTn dur="500"/>
                                        <p:tgtEl>
                                          <p:spTgt spid="68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2">
                                            <p:txEl>
                                              <p:pRg end="5" st="5"/>
                                            </p:txEl>
                                          </p:spTgt>
                                        </p:tgtEl>
                                        <p:attrNameLst>
                                          <p:attrName>style.visibility</p:attrName>
                                        </p:attrNameLst>
                                      </p:cBhvr>
                                      <p:to>
                                        <p:strVal val="visible"/>
                                      </p:to>
                                    </p:set>
                                    <p:animEffect filter="fade" transition="in">
                                      <p:cBhvr>
                                        <p:cTn dur="500"/>
                                        <p:tgtEl>
                                          <p:spTgt spid="68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2">
                                            <p:txEl>
                                              <p:pRg end="6" st="6"/>
                                            </p:txEl>
                                          </p:spTgt>
                                        </p:tgtEl>
                                        <p:attrNameLst>
                                          <p:attrName>style.visibility</p:attrName>
                                        </p:attrNameLst>
                                      </p:cBhvr>
                                      <p:to>
                                        <p:strVal val="visible"/>
                                      </p:to>
                                    </p:set>
                                    <p:animEffect filter="fade" transition="in">
                                      <p:cBhvr>
                                        <p:cTn dur="500"/>
                                        <p:tgtEl>
                                          <p:spTgt spid="68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2">
                                            <p:txEl>
                                              <p:pRg end="7" st="7"/>
                                            </p:txEl>
                                          </p:spTgt>
                                        </p:tgtEl>
                                        <p:attrNameLst>
                                          <p:attrName>style.visibility</p:attrName>
                                        </p:attrNameLst>
                                      </p:cBhvr>
                                      <p:to>
                                        <p:strVal val="visible"/>
                                      </p:to>
                                    </p:set>
                                    <p:animEffect filter="fade" transition="in">
                                      <p:cBhvr>
                                        <p:cTn dur="500"/>
                                        <p:tgtEl>
                                          <p:spTgt spid="68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2">
                                            <p:txEl>
                                              <p:pRg end="8" st="8"/>
                                            </p:txEl>
                                          </p:spTgt>
                                        </p:tgtEl>
                                        <p:attrNameLst>
                                          <p:attrName>style.visibility</p:attrName>
                                        </p:attrNameLst>
                                      </p:cBhvr>
                                      <p:to>
                                        <p:strVal val="visible"/>
                                      </p:to>
                                    </p:set>
                                    <p:animEffect filter="fade" transition="in">
                                      <p:cBhvr>
                                        <p:cTn dur="500"/>
                                        <p:tgtEl>
                                          <p:spTgt spid="68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2">
                                            <p:txEl>
                                              <p:pRg end="9" st="9"/>
                                            </p:txEl>
                                          </p:spTgt>
                                        </p:tgtEl>
                                        <p:attrNameLst>
                                          <p:attrName>style.visibility</p:attrName>
                                        </p:attrNameLst>
                                      </p:cBhvr>
                                      <p:to>
                                        <p:strVal val="visible"/>
                                      </p:to>
                                    </p:set>
                                    <p:animEffect filter="fade" transition="in">
                                      <p:cBhvr>
                                        <p:cTn dur="500"/>
                                        <p:tgtEl>
                                          <p:spTgt spid="68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2">
                                            <p:txEl>
                                              <p:pRg end="10" st="10"/>
                                            </p:txEl>
                                          </p:spTgt>
                                        </p:tgtEl>
                                        <p:attrNameLst>
                                          <p:attrName>style.visibility</p:attrName>
                                        </p:attrNameLst>
                                      </p:cBhvr>
                                      <p:to>
                                        <p:strVal val="visible"/>
                                      </p:to>
                                    </p:set>
                                    <p:animEffect filter="fade" transition="in">
                                      <p:cBhvr>
                                        <p:cTn dur="500"/>
                                        <p:tgtEl>
                                          <p:spTgt spid="682">
                                            <p:txEl>
                                              <p:pRg end="10" st="1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52"/>
          <p:cNvSpPr txBox="1"/>
          <p:nvPr>
            <p:ph idx="1" type="body"/>
          </p:nvPr>
        </p:nvSpPr>
        <p:spPr>
          <a:xfrm>
            <a:off x="0" y="838200"/>
            <a:ext cx="8915400" cy="5715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600"/>
              <a:buFont typeface="Noto Sans Symbols"/>
              <a:buChar char="▪"/>
            </a:pPr>
            <a:r>
              <a:rPr b="1" i="0" lang="en-US" sz="2600" u="none">
                <a:solidFill>
                  <a:schemeClr val="dk2"/>
                </a:solidFill>
                <a:latin typeface="Times New Roman"/>
                <a:ea typeface="Times New Roman"/>
                <a:cs typeface="Times New Roman"/>
                <a:sym typeface="Times New Roman"/>
              </a:rPr>
              <a:t>Bộ nhớ ảo </a:t>
            </a:r>
            <a:r>
              <a:rPr b="0" i="0" lang="en-US" sz="2600" u="none">
                <a:solidFill>
                  <a:schemeClr val="dk2"/>
                </a:solidFill>
                <a:latin typeface="Times New Roman"/>
                <a:ea typeface="Times New Roman"/>
                <a:cs typeface="Times New Roman"/>
                <a:sym typeface="Times New Roman"/>
              </a:rPr>
              <a:t>là kỹ thuật dùng bộ nhớ phụ lưu trữ tiến trình, các phần của tiến trình được chuyển vào-ra giữa bộ nhớ chính và bộ nhớ phụ để cho phép  thực thi một tiến trình mà không cần nạp toàn bộ vào bộ nhớ vật lý.</a:t>
            </a:r>
            <a:endParaRPr/>
          </a:p>
          <a:p>
            <a:pPr indent="-342900" lvl="0" marL="342900" marR="0" rtl="0" algn="just">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HĐH sẽ tăng được mức độ đa chương của hệ thống, có thể thực thi những chương trình có kích thước rất lớn so với kích thước bộ nhớ vật lý và người lập trình không cần quan tâm máy tính đó có đủ RAM để thực thi chương trình này hay không.</a:t>
            </a:r>
            <a:endParaRPr/>
          </a:p>
          <a:p>
            <a:pPr indent="-342900" lvl="0" marL="342900" marR="0" rtl="0" algn="just">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Có hai phương pháp cài đặt kỹ thuật bộ nhớ ảo</a:t>
            </a:r>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Nạp trang theo nhu cầu  (Demand paging)</a:t>
            </a:r>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Nạp đoạn theo nhu cầu (Demand segmentation)</a:t>
            </a:r>
            <a:endParaRPr/>
          </a:p>
          <a:p>
            <a:pPr indent="-190500" lvl="0" marL="342900" marR="0" rtl="0" algn="just">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20650" lvl="1" marL="742950" marR="0" rtl="0" algn="l">
              <a:lnSpc>
                <a:spcPct val="100000"/>
              </a:lnSpc>
              <a:spcBef>
                <a:spcPts val="520"/>
              </a:spcBef>
              <a:spcAft>
                <a:spcPts val="0"/>
              </a:spcAft>
              <a:buClr>
                <a:schemeClr val="accent1"/>
              </a:buClr>
              <a:buSzPts val="2600"/>
              <a:buFont typeface="Noto Sans Symbols"/>
              <a:buNone/>
            </a:pPr>
            <a:r>
              <a:t/>
            </a:r>
            <a:endParaRPr b="0" i="0" sz="2600" u="none" cap="none" strike="noStrik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693" name="Google Shape;693;p52"/>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1. Khái niệm</a:t>
            </a:r>
            <a:endParaRPr/>
          </a:p>
        </p:txBody>
      </p:sp>
      <p:sp>
        <p:nvSpPr>
          <p:cNvPr id="694" name="Google Shape;694;p5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95" name="Google Shape;695;p5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696" name="Google Shape;696;p5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0" st="0"/>
                                            </p:txEl>
                                          </p:spTgt>
                                        </p:tgtEl>
                                        <p:attrNameLst>
                                          <p:attrName>style.visibility</p:attrName>
                                        </p:attrNameLst>
                                      </p:cBhvr>
                                      <p:to>
                                        <p:strVal val="visible"/>
                                      </p:to>
                                    </p:set>
                                    <p:animEffect filter="fade" transition="in">
                                      <p:cBhvr>
                                        <p:cTn dur="500"/>
                                        <p:tgtEl>
                                          <p:spTgt spid="69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1" st="1"/>
                                            </p:txEl>
                                          </p:spTgt>
                                        </p:tgtEl>
                                        <p:attrNameLst>
                                          <p:attrName>style.visibility</p:attrName>
                                        </p:attrNameLst>
                                      </p:cBhvr>
                                      <p:to>
                                        <p:strVal val="visible"/>
                                      </p:to>
                                    </p:set>
                                    <p:animEffect filter="fade" transition="in">
                                      <p:cBhvr>
                                        <p:cTn dur="500"/>
                                        <p:tgtEl>
                                          <p:spTgt spid="69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2" st="2"/>
                                            </p:txEl>
                                          </p:spTgt>
                                        </p:tgtEl>
                                        <p:attrNameLst>
                                          <p:attrName>style.visibility</p:attrName>
                                        </p:attrNameLst>
                                      </p:cBhvr>
                                      <p:to>
                                        <p:strVal val="visible"/>
                                      </p:to>
                                    </p:set>
                                    <p:animEffect filter="fade" transition="in">
                                      <p:cBhvr>
                                        <p:cTn dur="500"/>
                                        <p:tgtEl>
                                          <p:spTgt spid="69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3" st="3"/>
                                            </p:txEl>
                                          </p:spTgt>
                                        </p:tgtEl>
                                        <p:attrNameLst>
                                          <p:attrName>style.visibility</p:attrName>
                                        </p:attrNameLst>
                                      </p:cBhvr>
                                      <p:to>
                                        <p:strVal val="visible"/>
                                      </p:to>
                                    </p:set>
                                    <p:animEffect filter="fade" transition="in">
                                      <p:cBhvr>
                                        <p:cTn dur="500"/>
                                        <p:tgtEl>
                                          <p:spTgt spid="69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4" st="4"/>
                                            </p:txEl>
                                          </p:spTgt>
                                        </p:tgtEl>
                                        <p:attrNameLst>
                                          <p:attrName>style.visibility</p:attrName>
                                        </p:attrNameLst>
                                      </p:cBhvr>
                                      <p:to>
                                        <p:strVal val="visible"/>
                                      </p:to>
                                    </p:set>
                                    <p:animEffect filter="fade" transition="in">
                                      <p:cBhvr>
                                        <p:cTn dur="500"/>
                                        <p:tgtEl>
                                          <p:spTgt spid="69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5" st="5"/>
                                            </p:txEl>
                                          </p:spTgt>
                                        </p:tgtEl>
                                        <p:attrNameLst>
                                          <p:attrName>style.visibility</p:attrName>
                                        </p:attrNameLst>
                                      </p:cBhvr>
                                      <p:to>
                                        <p:strVal val="visible"/>
                                      </p:to>
                                    </p:set>
                                    <p:animEffect filter="fade" transition="in">
                                      <p:cBhvr>
                                        <p:cTn dur="500"/>
                                        <p:tgtEl>
                                          <p:spTgt spid="69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6" st="6"/>
                                            </p:txEl>
                                          </p:spTgt>
                                        </p:tgtEl>
                                        <p:attrNameLst>
                                          <p:attrName>style.visibility</p:attrName>
                                        </p:attrNameLst>
                                      </p:cBhvr>
                                      <p:to>
                                        <p:strVal val="visible"/>
                                      </p:to>
                                    </p:set>
                                    <p:animEffect filter="fade" transition="in">
                                      <p:cBhvr>
                                        <p:cTn dur="500"/>
                                        <p:tgtEl>
                                          <p:spTgt spid="69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7" st="7"/>
                                            </p:txEl>
                                          </p:spTgt>
                                        </p:tgtEl>
                                        <p:attrNameLst>
                                          <p:attrName>style.visibility</p:attrName>
                                        </p:attrNameLst>
                                      </p:cBhvr>
                                      <p:to>
                                        <p:strVal val="visible"/>
                                      </p:to>
                                    </p:set>
                                    <p:animEffect filter="fade" transition="in">
                                      <p:cBhvr>
                                        <p:cTn dur="500"/>
                                        <p:tgtEl>
                                          <p:spTgt spid="69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8" st="8"/>
                                            </p:txEl>
                                          </p:spTgt>
                                        </p:tgtEl>
                                        <p:attrNameLst>
                                          <p:attrName>style.visibility</p:attrName>
                                        </p:attrNameLst>
                                      </p:cBhvr>
                                      <p:to>
                                        <p:strVal val="visible"/>
                                      </p:to>
                                    </p:set>
                                    <p:animEffect filter="fade" transition="in">
                                      <p:cBhvr>
                                        <p:cTn dur="500"/>
                                        <p:tgtEl>
                                          <p:spTgt spid="69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9" st="9"/>
                                            </p:txEl>
                                          </p:spTgt>
                                        </p:tgtEl>
                                        <p:attrNameLst>
                                          <p:attrName>style.visibility</p:attrName>
                                        </p:attrNameLst>
                                      </p:cBhvr>
                                      <p:to>
                                        <p:strVal val="visible"/>
                                      </p:to>
                                    </p:set>
                                    <p:animEffect filter="fade" transition="in">
                                      <p:cBhvr>
                                        <p:cTn dur="500"/>
                                        <p:tgtEl>
                                          <p:spTgt spid="69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10" st="10"/>
                                            </p:txEl>
                                          </p:spTgt>
                                        </p:tgtEl>
                                        <p:attrNameLst>
                                          <p:attrName>style.visibility</p:attrName>
                                        </p:attrNameLst>
                                      </p:cBhvr>
                                      <p:to>
                                        <p:strVal val="visible"/>
                                      </p:to>
                                    </p:set>
                                    <p:animEffect filter="fade" transition="in">
                                      <p:cBhvr>
                                        <p:cTn dur="500"/>
                                        <p:tgtEl>
                                          <p:spTgt spid="69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xEl>
                                              <p:pRg end="11" st="11"/>
                                            </p:txEl>
                                          </p:spTgt>
                                        </p:tgtEl>
                                        <p:attrNameLst>
                                          <p:attrName>style.visibility</p:attrName>
                                        </p:attrNameLst>
                                      </p:cBhvr>
                                      <p:to>
                                        <p:strVal val="visible"/>
                                      </p:to>
                                    </p:set>
                                    <p:animEffect filter="fade" transition="in">
                                      <p:cBhvr>
                                        <p:cTn dur="500"/>
                                        <p:tgtEl>
                                          <p:spTgt spid="692">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53"/>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Nạp trang theo nhu cầu dựa trên phân trang kết hợp trao đổi bộ nhớ-đĩa =&gt; Tiến trình được phân trang và chứa trên đĩa</a:t>
            </a:r>
            <a:endParaRPr/>
          </a:p>
          <a:p>
            <a:pPr indent="-342900" lvl="0" marL="342900" marR="0" rtl="0" algn="just">
              <a:lnSpc>
                <a:spcPct val="100000"/>
              </a:lnSpc>
              <a:spcBef>
                <a:spcPts val="48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Khi cần thực hiện, nạp tiến trình vào MEM: chỉ nạp những trang cần dùng =&gt; Ko phải toàn bộ các trang của tiến trình đc nạp cùng một lúc</a:t>
            </a:r>
            <a:endParaRPr/>
          </a:p>
          <a:p>
            <a:pPr indent="-342900" lvl="0" marL="342900" marR="0" rtl="0" algn="l">
              <a:lnSpc>
                <a:spcPct val="100000"/>
              </a:lnSpc>
              <a:spcBef>
                <a:spcPts val="320"/>
              </a:spcBef>
              <a:spcAft>
                <a:spcPts val="0"/>
              </a:spcAft>
              <a:buClr>
                <a:schemeClr val="dk2"/>
              </a:buClr>
              <a:buSzPts val="1600"/>
              <a:buFont typeface="Noto Sans Symbols"/>
              <a:buNone/>
            </a:pPr>
            <a:r>
              <a:t/>
            </a:r>
            <a:endParaRPr b="0" i="0" sz="1600" u="none">
              <a:solidFill>
                <a:schemeClr val="dk2"/>
              </a:solidFill>
              <a:latin typeface="Times New Roman"/>
              <a:ea typeface="Times New Roman"/>
              <a:cs typeface="Times New Roman"/>
              <a:sym typeface="Times New Roman"/>
            </a:endParaRPr>
          </a:p>
          <a:p>
            <a:pPr indent="-127000" lvl="2" marL="1143000" marR="0" rtl="0" algn="l">
              <a:lnSpc>
                <a:spcPct val="100000"/>
              </a:lnSpc>
              <a:spcBef>
                <a:spcPts val="320"/>
              </a:spcBef>
              <a:spcAft>
                <a:spcPts val="0"/>
              </a:spcAft>
              <a:buClr>
                <a:schemeClr val="accent2"/>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03" name="Google Shape;703;p53"/>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Nạp trang theo nhu cầu</a:t>
            </a:r>
            <a:endParaRPr/>
          </a:p>
        </p:txBody>
      </p:sp>
      <p:sp>
        <p:nvSpPr>
          <p:cNvPr id="704" name="Google Shape;704;p5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05" name="Google Shape;705;p5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06" name="Google Shape;706;p5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07" name="Google Shape;707;p5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708" name="Google Shape;708;p53"/>
          <p:cNvGraphicFramePr/>
          <p:nvPr/>
        </p:nvGraphicFramePr>
        <p:xfrm>
          <a:off x="2057400" y="2728912"/>
          <a:ext cx="4752975" cy="3519487"/>
        </p:xfrm>
        <a:graphic>
          <a:graphicData uri="http://schemas.openxmlformats.org/presentationml/2006/ole">
            <mc:AlternateContent>
              <mc:Choice Requires="v">
                <p:oleObj r:id="rId4" imgH="3519487" imgW="4752975" progId="Visio.Drawing.11" spid="_x0000_s1">
                  <p:embed/>
                </p:oleObj>
              </mc:Choice>
              <mc:Fallback>
                <p:oleObj r:id="rId5" imgH="3519487" imgW="4752975" progId="Visio.Drawing.11">
                  <p:embed/>
                  <p:pic>
                    <p:nvPicPr>
                      <p:cNvPr id="708" name="Google Shape;708;p53"/>
                      <p:cNvPicPr preferRelativeResize="0"/>
                      <p:nvPr/>
                    </p:nvPicPr>
                    <p:blipFill rotWithShape="1">
                      <a:blip r:embed="rId6">
                        <a:alphaModFix/>
                      </a:blip>
                      <a:srcRect b="0" l="0" r="0" t="0"/>
                      <a:stretch/>
                    </p:blipFill>
                    <p:spPr>
                      <a:xfrm>
                        <a:off x="2057400" y="2728912"/>
                        <a:ext cx="4752975" cy="3519487"/>
                      </a:xfrm>
                      <a:prstGeom prst="rect">
                        <a:avLst/>
                      </a:prstGeom>
                      <a:noFill/>
                      <a:ln>
                        <a:noFill/>
                      </a:ln>
                    </p:spPr>
                  </p:pic>
                </p:oleObj>
              </mc:Fallback>
            </mc:AlternateContent>
          </a:graphicData>
        </a:graphic>
      </p:graphicFrame>
      <p:sp>
        <p:nvSpPr>
          <p:cNvPr id="709" name="Google Shape;709;p5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2">
                                            <p:txEl>
                                              <p:pRg end="0" st="0"/>
                                            </p:txEl>
                                          </p:spTgt>
                                        </p:tgtEl>
                                        <p:attrNameLst>
                                          <p:attrName>style.visibility</p:attrName>
                                        </p:attrNameLst>
                                      </p:cBhvr>
                                      <p:to>
                                        <p:strVal val="visible"/>
                                      </p:to>
                                    </p:set>
                                    <p:animEffect filter="fade" transition="in">
                                      <p:cBhvr>
                                        <p:cTn dur="500"/>
                                        <p:tgtEl>
                                          <p:spTgt spid="70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2">
                                            <p:txEl>
                                              <p:pRg end="1" st="1"/>
                                            </p:txEl>
                                          </p:spTgt>
                                        </p:tgtEl>
                                        <p:attrNameLst>
                                          <p:attrName>style.visibility</p:attrName>
                                        </p:attrNameLst>
                                      </p:cBhvr>
                                      <p:to>
                                        <p:strVal val="visible"/>
                                      </p:to>
                                    </p:set>
                                    <p:animEffect filter="fade" transition="in">
                                      <p:cBhvr>
                                        <p:cTn dur="500"/>
                                        <p:tgtEl>
                                          <p:spTgt spid="70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2">
                                            <p:txEl>
                                              <p:pRg end="2" st="2"/>
                                            </p:txEl>
                                          </p:spTgt>
                                        </p:tgtEl>
                                        <p:attrNameLst>
                                          <p:attrName>style.visibility</p:attrName>
                                        </p:attrNameLst>
                                      </p:cBhvr>
                                      <p:to>
                                        <p:strVal val="visible"/>
                                      </p:to>
                                    </p:set>
                                    <p:animEffect filter="fade" transition="in">
                                      <p:cBhvr>
                                        <p:cTn dur="500"/>
                                        <p:tgtEl>
                                          <p:spTgt spid="70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2">
                                            <p:txEl>
                                              <p:pRg end="3" st="3"/>
                                            </p:txEl>
                                          </p:spTgt>
                                        </p:tgtEl>
                                        <p:attrNameLst>
                                          <p:attrName>style.visibility</p:attrName>
                                        </p:attrNameLst>
                                      </p:cBhvr>
                                      <p:to>
                                        <p:strVal val="visible"/>
                                      </p:to>
                                    </p:set>
                                    <p:animEffect filter="fade" transition="in">
                                      <p:cBhvr>
                                        <p:cTn dur="500"/>
                                        <p:tgtEl>
                                          <p:spTgt spid="70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2">
                                            <p:txEl>
                                              <p:pRg end="4" st="4"/>
                                            </p:txEl>
                                          </p:spTgt>
                                        </p:tgtEl>
                                        <p:attrNameLst>
                                          <p:attrName>style.visibility</p:attrName>
                                        </p:attrNameLst>
                                      </p:cBhvr>
                                      <p:to>
                                        <p:strVal val="visible"/>
                                      </p:to>
                                    </p:set>
                                    <p:animEffect filter="fade" transition="in">
                                      <p:cBhvr>
                                        <p:cTn dur="500"/>
                                        <p:tgtEl>
                                          <p:spTgt spid="70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2">
                                            <p:txEl>
                                              <p:pRg end="5" st="5"/>
                                            </p:txEl>
                                          </p:spTgt>
                                        </p:tgtEl>
                                        <p:attrNameLst>
                                          <p:attrName>style.visibility</p:attrName>
                                        </p:attrNameLst>
                                      </p:cBhvr>
                                      <p:to>
                                        <p:strVal val="visible"/>
                                      </p:to>
                                    </p:set>
                                    <p:animEffect filter="fade" transition="in">
                                      <p:cBhvr>
                                        <p:cTn dur="500"/>
                                        <p:tgtEl>
                                          <p:spTgt spid="70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2">
                                            <p:txEl>
                                              <p:pRg end="6" st="6"/>
                                            </p:txEl>
                                          </p:spTgt>
                                        </p:tgtEl>
                                        <p:attrNameLst>
                                          <p:attrName>style.visibility</p:attrName>
                                        </p:attrNameLst>
                                      </p:cBhvr>
                                      <p:to>
                                        <p:strVal val="visible"/>
                                      </p:to>
                                    </p:set>
                                    <p:animEffect filter="fade" transition="in">
                                      <p:cBhvr>
                                        <p:cTn dur="500"/>
                                        <p:tgtEl>
                                          <p:spTgt spid="70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2">
                                            <p:txEl>
                                              <p:pRg end="7" st="7"/>
                                            </p:txEl>
                                          </p:spTgt>
                                        </p:tgtEl>
                                        <p:attrNameLst>
                                          <p:attrName>style.visibility</p:attrName>
                                        </p:attrNameLst>
                                      </p:cBhvr>
                                      <p:to>
                                        <p:strVal val="visible"/>
                                      </p:to>
                                    </p:set>
                                    <p:animEffect filter="fade" transition="in">
                                      <p:cBhvr>
                                        <p:cTn dur="500"/>
                                        <p:tgtEl>
                                          <p:spTgt spid="702">
                                            <p:txEl>
                                              <p:pRg end="7" st="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54"/>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Tiến trình gồm các trang trên đĩa và trong MEM: thêm bit P trong khoản mục bảng trang để phân biệt (P=1: đã nạp vào MEM)</a:t>
            </a:r>
            <a:endParaRPr/>
          </a:p>
          <a:p>
            <a:pPr indent="-241300" lvl="0" marL="342900" marR="0" rtl="0" algn="l">
              <a:lnSpc>
                <a:spcPct val="100000"/>
              </a:lnSpc>
              <a:spcBef>
                <a:spcPts val="320"/>
              </a:spcBef>
              <a:spcAft>
                <a:spcPts val="0"/>
              </a:spcAft>
              <a:buClr>
                <a:schemeClr val="dk2"/>
              </a:buClr>
              <a:buSzPts val="1600"/>
              <a:buFont typeface="Noto Sans Symbols"/>
              <a:buNone/>
            </a:pPr>
            <a:r>
              <a:t/>
            </a:r>
            <a:endParaRPr b="0" i="0" sz="1600" u="none">
              <a:solidFill>
                <a:schemeClr val="dk2"/>
              </a:solidFill>
              <a:latin typeface="Times New Roman"/>
              <a:ea typeface="Times New Roman"/>
              <a:cs typeface="Times New Roman"/>
              <a:sym typeface="Times New Roman"/>
            </a:endParaRPr>
          </a:p>
          <a:p>
            <a:pPr indent="-127000" lvl="2" marL="1143000" marR="0" rtl="0" algn="l">
              <a:lnSpc>
                <a:spcPct val="100000"/>
              </a:lnSpc>
              <a:spcBef>
                <a:spcPts val="320"/>
              </a:spcBef>
              <a:spcAft>
                <a:spcPts val="0"/>
              </a:spcAft>
              <a:buClr>
                <a:schemeClr val="accent2"/>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16" name="Google Shape;716;p54"/>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Nạp trang theo nhu cầu</a:t>
            </a:r>
            <a:endParaRPr/>
          </a:p>
        </p:txBody>
      </p:sp>
      <p:sp>
        <p:nvSpPr>
          <p:cNvPr id="717" name="Google Shape;717;p5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18" name="Google Shape;718;p5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19" name="Google Shape;719;p5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20" name="Google Shape;720;p5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721" name="Google Shape;721;p54"/>
          <p:cNvGraphicFramePr/>
          <p:nvPr/>
        </p:nvGraphicFramePr>
        <p:xfrm>
          <a:off x="1724025" y="1752600"/>
          <a:ext cx="5762625" cy="4267200"/>
        </p:xfrm>
        <a:graphic>
          <a:graphicData uri="http://schemas.openxmlformats.org/presentationml/2006/ole">
            <mc:AlternateContent>
              <mc:Choice Requires="v">
                <p:oleObj r:id="rId4" imgH="4267200" imgW="5762625" progId="Visio.Drawing.11" spid="_x0000_s1">
                  <p:embed/>
                </p:oleObj>
              </mc:Choice>
              <mc:Fallback>
                <p:oleObj r:id="rId5" imgH="4267200" imgW="5762625" progId="Visio.Drawing.11">
                  <p:embed/>
                  <p:pic>
                    <p:nvPicPr>
                      <p:cNvPr id="721" name="Google Shape;721;p54"/>
                      <p:cNvPicPr preferRelativeResize="0"/>
                      <p:nvPr/>
                    </p:nvPicPr>
                    <p:blipFill rotWithShape="1">
                      <a:blip r:embed="rId6">
                        <a:alphaModFix/>
                      </a:blip>
                      <a:srcRect b="0" l="0" r="0" t="0"/>
                      <a:stretch/>
                    </p:blipFill>
                    <p:spPr>
                      <a:xfrm>
                        <a:off x="1724025" y="1752600"/>
                        <a:ext cx="5762625" cy="4267200"/>
                      </a:xfrm>
                      <a:prstGeom prst="rect">
                        <a:avLst/>
                      </a:prstGeom>
                      <a:noFill/>
                      <a:ln>
                        <a:noFill/>
                      </a:ln>
                    </p:spPr>
                  </p:pic>
                </p:oleObj>
              </mc:Fallback>
            </mc:AlternateContent>
          </a:graphicData>
        </a:graphic>
      </p:graphicFrame>
      <p:sp>
        <p:nvSpPr>
          <p:cNvPr id="722" name="Google Shape;722;p5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5">
                                            <p:txEl>
                                              <p:pRg end="0" st="0"/>
                                            </p:txEl>
                                          </p:spTgt>
                                        </p:tgtEl>
                                        <p:attrNameLst>
                                          <p:attrName>style.visibility</p:attrName>
                                        </p:attrNameLst>
                                      </p:cBhvr>
                                      <p:to>
                                        <p:strVal val="visible"/>
                                      </p:to>
                                    </p:set>
                                    <p:animEffect filter="fade" transition="in">
                                      <p:cBhvr>
                                        <p:cTn dur="500"/>
                                        <p:tgtEl>
                                          <p:spTgt spid="71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5">
                                            <p:txEl>
                                              <p:pRg end="1" st="1"/>
                                            </p:txEl>
                                          </p:spTgt>
                                        </p:tgtEl>
                                        <p:attrNameLst>
                                          <p:attrName>style.visibility</p:attrName>
                                        </p:attrNameLst>
                                      </p:cBhvr>
                                      <p:to>
                                        <p:strVal val="visible"/>
                                      </p:to>
                                    </p:set>
                                    <p:animEffect filter="fade" transition="in">
                                      <p:cBhvr>
                                        <p:cTn dur="500"/>
                                        <p:tgtEl>
                                          <p:spTgt spid="71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5">
                                            <p:txEl>
                                              <p:pRg end="2" st="2"/>
                                            </p:txEl>
                                          </p:spTgt>
                                        </p:tgtEl>
                                        <p:attrNameLst>
                                          <p:attrName>style.visibility</p:attrName>
                                        </p:attrNameLst>
                                      </p:cBhvr>
                                      <p:to>
                                        <p:strVal val="visible"/>
                                      </p:to>
                                    </p:set>
                                    <p:animEffect filter="fade" transition="in">
                                      <p:cBhvr>
                                        <p:cTn dur="500"/>
                                        <p:tgtEl>
                                          <p:spTgt spid="71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5">
                                            <p:txEl>
                                              <p:pRg end="3" st="3"/>
                                            </p:txEl>
                                          </p:spTgt>
                                        </p:tgtEl>
                                        <p:attrNameLst>
                                          <p:attrName>style.visibility</p:attrName>
                                        </p:attrNameLst>
                                      </p:cBhvr>
                                      <p:to>
                                        <p:strVal val="visible"/>
                                      </p:to>
                                    </p:set>
                                    <p:animEffect filter="fade" transition="in">
                                      <p:cBhvr>
                                        <p:cTn dur="500"/>
                                        <p:tgtEl>
                                          <p:spTgt spid="71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5">
                                            <p:txEl>
                                              <p:pRg end="4" st="4"/>
                                            </p:txEl>
                                          </p:spTgt>
                                        </p:tgtEl>
                                        <p:attrNameLst>
                                          <p:attrName>style.visibility</p:attrName>
                                        </p:attrNameLst>
                                      </p:cBhvr>
                                      <p:to>
                                        <p:strVal val="visible"/>
                                      </p:to>
                                    </p:set>
                                    <p:animEffect filter="fade" transition="in">
                                      <p:cBhvr>
                                        <p:cTn dur="500"/>
                                        <p:tgtEl>
                                          <p:spTgt spid="71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5">
                                            <p:txEl>
                                              <p:pRg end="5" st="5"/>
                                            </p:txEl>
                                          </p:spTgt>
                                        </p:tgtEl>
                                        <p:attrNameLst>
                                          <p:attrName>style.visibility</p:attrName>
                                        </p:attrNameLst>
                                      </p:cBhvr>
                                      <p:to>
                                        <p:strVal val="visible"/>
                                      </p:to>
                                    </p:set>
                                    <p:animEffect filter="fade" transition="in">
                                      <p:cBhvr>
                                        <p:cTn dur="500"/>
                                        <p:tgtEl>
                                          <p:spTgt spid="71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15">
                                            <p:txEl>
                                              <p:pRg end="6" st="6"/>
                                            </p:txEl>
                                          </p:spTgt>
                                        </p:tgtEl>
                                        <p:attrNameLst>
                                          <p:attrName>style.visibility</p:attrName>
                                        </p:attrNameLst>
                                      </p:cBhvr>
                                      <p:to>
                                        <p:strVal val="visible"/>
                                      </p:to>
                                    </p:set>
                                    <p:animEffect filter="fade" transition="in">
                                      <p:cBhvr>
                                        <p:cTn dur="500"/>
                                        <p:tgtEl>
                                          <p:spTgt spid="715">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55"/>
          <p:cNvSpPr txBox="1"/>
          <p:nvPr>
            <p:ph idx="1" type="body"/>
          </p:nvPr>
        </p:nvSpPr>
        <p:spPr>
          <a:xfrm>
            <a:off x="0" y="762000"/>
            <a:ext cx="9296400" cy="1143000"/>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90000"/>
              </a:lnSpc>
              <a:spcBef>
                <a:spcPts val="0"/>
              </a:spcBef>
              <a:spcAft>
                <a:spcPts val="0"/>
              </a:spcAft>
              <a:buClr>
                <a:schemeClr val="dk2"/>
              </a:buClr>
              <a:buSzPts val="2400"/>
              <a:buFont typeface="Noto Sans Symbols"/>
              <a:buChar char="▪"/>
            </a:pPr>
            <a:r>
              <a:rPr b="0" i="0" lang="en-US" sz="2400" u="none">
                <a:solidFill>
                  <a:schemeClr val="dk2"/>
                </a:solidFill>
                <a:latin typeface="Times New Roman"/>
                <a:ea typeface="Times New Roman"/>
                <a:cs typeface="Times New Roman"/>
                <a:sym typeface="Times New Roman"/>
              </a:rPr>
              <a:t>Quá trình kiểm tra và nạp trang:</a:t>
            </a:r>
            <a:endParaRPr/>
          </a:p>
          <a:p>
            <a:pPr indent="-285750" lvl="1" marL="742950" marR="0" rtl="0" algn="l">
              <a:lnSpc>
                <a:spcPct val="90000"/>
              </a:lnSpc>
              <a:spcBef>
                <a:spcPts val="440"/>
              </a:spcBef>
              <a:spcAft>
                <a:spcPts val="0"/>
              </a:spcAft>
              <a:buClr>
                <a:schemeClr val="accent1"/>
              </a:buClr>
              <a:buSzPts val="2200"/>
              <a:buFont typeface="Noto Sans Symbols"/>
              <a:buChar char="▪"/>
            </a:pPr>
            <a:r>
              <a:rPr b="0" i="0" lang="en-US" sz="2200" u="none" cap="none" strike="noStrike">
                <a:solidFill>
                  <a:schemeClr val="dk2"/>
                </a:solidFill>
                <a:latin typeface="Times New Roman"/>
                <a:ea typeface="Times New Roman"/>
                <a:cs typeface="Times New Roman"/>
                <a:sym typeface="Times New Roman"/>
              </a:rPr>
              <a:t>Tiến trình truy cập tới 1 trang, kiểm tra bit P. Nếu P=1, truy  cập diễn ra bình thường. Nếu P=0, xảy ra sự kiện thiếu trang</a:t>
            </a:r>
            <a:endParaRPr/>
          </a:p>
          <a:p>
            <a:pPr indent="-133350" lvl="2" marL="1143000" marR="0" rtl="0" algn="l">
              <a:lnSpc>
                <a:spcPct val="90000"/>
              </a:lnSpc>
              <a:spcBef>
                <a:spcPts val="300"/>
              </a:spcBef>
              <a:spcAft>
                <a:spcPts val="0"/>
              </a:spcAft>
              <a:buClr>
                <a:schemeClr val="accent2"/>
              </a:buClr>
              <a:buSzPts val="1500"/>
              <a:buFont typeface="Noto Sans Symbols"/>
              <a:buNone/>
            </a:pPr>
            <a:r>
              <a:t/>
            </a:r>
            <a:endParaRPr b="0" i="0" sz="1500" u="none" cap="none" strike="noStrike">
              <a:solidFill>
                <a:schemeClr val="dk2"/>
              </a:solidFill>
              <a:latin typeface="Times New Roman"/>
              <a:ea typeface="Times New Roman"/>
              <a:cs typeface="Times New Roman"/>
              <a:sym typeface="Times New Roman"/>
            </a:endParaRPr>
          </a:p>
          <a:p>
            <a:pPr indent="-203200" lvl="0" marL="342900" marR="0" rtl="0" algn="l">
              <a:lnSpc>
                <a:spcPct val="90000"/>
              </a:lnSpc>
              <a:spcBef>
                <a:spcPts val="440"/>
              </a:spcBef>
              <a:spcAft>
                <a:spcPts val="0"/>
              </a:spcAft>
              <a:buClr>
                <a:schemeClr val="dk2"/>
              </a:buClr>
              <a:buSzPts val="2200"/>
              <a:buFont typeface="Noto Sans Symbols"/>
              <a:buNone/>
            </a:pPr>
            <a:r>
              <a:t/>
            </a:r>
            <a:endParaRPr b="0" i="0" sz="2200" u="none">
              <a:solidFill>
                <a:schemeClr val="dk2"/>
              </a:solidFill>
              <a:latin typeface="Times New Roman"/>
              <a:ea typeface="Times New Roman"/>
              <a:cs typeface="Times New Roman"/>
              <a:sym typeface="Times New Roman"/>
            </a:endParaRPr>
          </a:p>
          <a:p>
            <a:pPr indent="-165100" lvl="1" marL="742950" marR="0" rtl="0" algn="l">
              <a:lnSpc>
                <a:spcPct val="90000"/>
              </a:lnSpc>
              <a:spcBef>
                <a:spcPts val="380"/>
              </a:spcBef>
              <a:spcAft>
                <a:spcPts val="0"/>
              </a:spcAft>
              <a:buClr>
                <a:schemeClr val="accent1"/>
              </a:buClr>
              <a:buSzPts val="1900"/>
              <a:buFont typeface="Noto Sans Symbols"/>
              <a:buNone/>
            </a:pPr>
            <a:r>
              <a:t/>
            </a:r>
            <a:endParaRPr b="0" i="0" sz="1900" u="none" cap="none" strike="noStrike">
              <a:solidFill>
                <a:schemeClr val="dk2"/>
              </a:solidFill>
              <a:latin typeface="Times New Roman"/>
              <a:ea typeface="Times New Roman"/>
              <a:cs typeface="Times New Roman"/>
              <a:sym typeface="Times New Roman"/>
            </a:endParaRPr>
          </a:p>
          <a:p>
            <a:pPr indent="-146050" lvl="1" marL="742950" marR="0" rtl="0" algn="l">
              <a:lnSpc>
                <a:spcPct val="9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203200" lvl="0" marL="342900" marR="0" rtl="0" algn="l">
              <a:spcBef>
                <a:spcPts val="440"/>
              </a:spcBef>
              <a:spcAft>
                <a:spcPts val="0"/>
              </a:spcAft>
              <a:buClr>
                <a:schemeClr val="dk2"/>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p:txBody>
      </p:sp>
      <p:sp>
        <p:nvSpPr>
          <p:cNvPr id="729" name="Google Shape;729;p55"/>
          <p:cNvSpPr txBox="1"/>
          <p:nvPr>
            <p:ph type="title"/>
          </p:nvPr>
        </p:nvSpPr>
        <p:spPr>
          <a:xfrm>
            <a:off x="457200" y="-76200"/>
            <a:ext cx="8686800" cy="1219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Nạp trang theo nhu cầu</a:t>
            </a:r>
            <a:endParaRPr/>
          </a:p>
        </p:txBody>
      </p:sp>
      <p:sp>
        <p:nvSpPr>
          <p:cNvPr id="730" name="Google Shape;730;p5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31" name="Google Shape;731;p5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32" name="Google Shape;732;p5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33" name="Google Shape;733;p55"/>
          <p:cNvSpPr txBox="1"/>
          <p:nvPr/>
        </p:nvSpPr>
        <p:spPr>
          <a:xfrm>
            <a:off x="-381000" y="1905000"/>
            <a:ext cx="4114800" cy="4572000"/>
          </a:xfrm>
          <a:prstGeom prst="rect">
            <a:avLst/>
          </a:prstGeom>
          <a:noFill/>
          <a:ln>
            <a:noFill/>
          </a:ln>
        </p:spPr>
        <p:txBody>
          <a:bodyPr anchorCtr="0" anchor="t" bIns="45700" lIns="91425" spcFirstLastPara="1" rIns="91425" wrap="square" tIns="45700">
            <a:normAutofit/>
          </a:bodyPr>
          <a:lstStyle/>
          <a:p>
            <a:pPr indent="-285750" lvl="1" marL="742950" marR="0" rtl="0" algn="l">
              <a:lnSpc>
                <a:spcPct val="100000"/>
              </a:lnSpc>
              <a:spcBef>
                <a:spcPts val="0"/>
              </a:spcBef>
              <a:spcAft>
                <a:spcPts val="0"/>
              </a:spcAft>
              <a:buClr>
                <a:schemeClr val="accent1"/>
              </a:buClr>
              <a:buSzPts val="1680"/>
              <a:buFont typeface="Arial"/>
              <a:buChar char="•"/>
            </a:pPr>
            <a:r>
              <a:rPr b="0" i="0" lang="en-US" sz="2400" u="none" cap="none" strike="noStrike">
                <a:solidFill>
                  <a:schemeClr val="dk2"/>
                </a:solidFill>
                <a:latin typeface="Times New Roman"/>
                <a:ea typeface="Times New Roman"/>
                <a:cs typeface="Times New Roman"/>
                <a:sym typeface="Times New Roman"/>
              </a:rPr>
              <a:t>Ngắt xử lý thiếu trang:</a:t>
            </a:r>
            <a:endParaRPr b="0" i="0" sz="2000" u="none" cap="none" strike="noStrike">
              <a:solidFill>
                <a:schemeClr val="dk2"/>
              </a:solidFill>
              <a:latin typeface="Times New Roman"/>
              <a:ea typeface="Times New Roman"/>
              <a:cs typeface="Times New Roman"/>
              <a:sym typeface="Times New Roman"/>
            </a:endParaRPr>
          </a:p>
          <a:p>
            <a:pPr indent="-285750" lvl="2" marL="1200150" marR="0" rtl="0" algn="l">
              <a:lnSpc>
                <a:spcPct val="100000"/>
              </a:lnSpc>
              <a:spcBef>
                <a:spcPts val="400"/>
              </a:spcBef>
              <a:spcAft>
                <a:spcPts val="0"/>
              </a:spcAft>
              <a:buClr>
                <a:schemeClr val="accent1"/>
              </a:buClr>
              <a:buSzPts val="1400"/>
              <a:buFont typeface="Arial"/>
              <a:buChar char="•"/>
            </a:pPr>
            <a:r>
              <a:rPr b="0" i="0" lang="en-US" sz="2000" u="none" cap="none" strike="noStrike">
                <a:solidFill>
                  <a:schemeClr val="dk2"/>
                </a:solidFill>
                <a:latin typeface="Times New Roman"/>
                <a:ea typeface="Times New Roman"/>
                <a:cs typeface="Times New Roman"/>
                <a:sym typeface="Times New Roman"/>
              </a:rPr>
              <a:t>HDH tìm 1 khung trống trong MEM</a:t>
            </a:r>
            <a:endParaRPr/>
          </a:p>
          <a:p>
            <a:pPr indent="-285750" lvl="2" marL="1200150" marR="0" rtl="0" algn="l">
              <a:lnSpc>
                <a:spcPct val="100000"/>
              </a:lnSpc>
              <a:spcBef>
                <a:spcPts val="400"/>
              </a:spcBef>
              <a:spcAft>
                <a:spcPts val="0"/>
              </a:spcAft>
              <a:buClr>
                <a:schemeClr val="accent1"/>
              </a:buClr>
              <a:buSzPts val="1400"/>
              <a:buFont typeface="Noto Sans Symbols"/>
              <a:buChar char="▪"/>
            </a:pPr>
            <a:r>
              <a:rPr b="0" i="0" lang="en-US" sz="2000" u="none" cap="none" strike="noStrike">
                <a:solidFill>
                  <a:schemeClr val="dk2"/>
                </a:solidFill>
                <a:latin typeface="Times New Roman"/>
                <a:ea typeface="Times New Roman"/>
                <a:cs typeface="Times New Roman"/>
                <a:sym typeface="Times New Roman"/>
              </a:rPr>
              <a:t>Đọc trang bị thiếu vào khung trang vừa tìm được</a:t>
            </a:r>
            <a:endParaRPr/>
          </a:p>
          <a:p>
            <a:pPr indent="-285750" lvl="2" marL="1200150" marR="0" rtl="0" algn="l">
              <a:lnSpc>
                <a:spcPct val="100000"/>
              </a:lnSpc>
              <a:spcBef>
                <a:spcPts val="400"/>
              </a:spcBef>
              <a:spcAft>
                <a:spcPts val="0"/>
              </a:spcAft>
              <a:buClr>
                <a:schemeClr val="accent1"/>
              </a:buClr>
              <a:buSzPts val="1400"/>
              <a:buFont typeface="Noto Sans Symbols"/>
              <a:buChar char="▪"/>
            </a:pPr>
            <a:r>
              <a:rPr b="0" i="0" lang="en-US" sz="2000" u="none" cap="none" strike="noStrike">
                <a:solidFill>
                  <a:schemeClr val="dk2"/>
                </a:solidFill>
                <a:latin typeface="Times New Roman"/>
                <a:ea typeface="Times New Roman"/>
                <a:cs typeface="Times New Roman"/>
                <a:sym typeface="Times New Roman"/>
              </a:rPr>
              <a:t>Sửa lại khoản mục tương ứng trong bảng trang: đổi bit P=1 và số khung đã cấp cho trang</a:t>
            </a:r>
            <a:endParaRPr/>
          </a:p>
          <a:p>
            <a:pPr indent="-285750" lvl="2" marL="1200150" marR="0" rtl="0" algn="l">
              <a:lnSpc>
                <a:spcPct val="100000"/>
              </a:lnSpc>
              <a:spcBef>
                <a:spcPts val="400"/>
              </a:spcBef>
              <a:spcAft>
                <a:spcPts val="0"/>
              </a:spcAft>
              <a:buClr>
                <a:schemeClr val="accent1"/>
              </a:buClr>
              <a:buSzPts val="1400"/>
              <a:buFont typeface="Noto Sans Symbols"/>
              <a:buChar char="▪"/>
            </a:pPr>
            <a:r>
              <a:rPr b="0" i="0" lang="en-US" sz="2000" u="none" cap="none" strike="noStrike">
                <a:solidFill>
                  <a:schemeClr val="dk2"/>
                </a:solidFill>
                <a:latin typeface="Times New Roman"/>
                <a:ea typeface="Times New Roman"/>
                <a:cs typeface="Times New Roman"/>
                <a:sym typeface="Times New Roman"/>
              </a:rPr>
              <a:t>Khôi phục lại trạng thái tiến trình và thực hiện tiếp lệnh bị ngắt</a:t>
            </a:r>
            <a:endParaRPr/>
          </a:p>
        </p:txBody>
      </p:sp>
      <p:sp>
        <p:nvSpPr>
          <p:cNvPr id="734" name="Google Shape;734;p5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735" name="Google Shape;735;p55"/>
          <p:cNvGraphicFramePr/>
          <p:nvPr/>
        </p:nvGraphicFramePr>
        <p:xfrm>
          <a:off x="3657600" y="1600200"/>
          <a:ext cx="5305425" cy="4622800"/>
        </p:xfrm>
        <a:graphic>
          <a:graphicData uri="http://schemas.openxmlformats.org/presentationml/2006/ole">
            <mc:AlternateContent>
              <mc:Choice Requires="v">
                <p:oleObj r:id="rId4" imgH="4622800" imgW="5305425" progId="Visio.Drawing.11" spid="_x0000_s1">
                  <p:embed/>
                </p:oleObj>
              </mc:Choice>
              <mc:Fallback>
                <p:oleObj r:id="rId5" imgH="4622800" imgW="5305425" progId="Visio.Drawing.11">
                  <p:embed/>
                  <p:pic>
                    <p:nvPicPr>
                      <p:cNvPr id="735" name="Google Shape;735;p55"/>
                      <p:cNvPicPr preferRelativeResize="0"/>
                      <p:nvPr/>
                    </p:nvPicPr>
                    <p:blipFill rotWithShape="1">
                      <a:blip r:embed="rId6">
                        <a:alphaModFix/>
                      </a:blip>
                      <a:srcRect b="0" l="0" r="0" t="0"/>
                      <a:stretch/>
                    </p:blipFill>
                    <p:spPr>
                      <a:xfrm>
                        <a:off x="3657600" y="1600200"/>
                        <a:ext cx="5305425" cy="4622800"/>
                      </a:xfrm>
                      <a:prstGeom prst="rect">
                        <a:avLst/>
                      </a:prstGeom>
                      <a:noFill/>
                      <a:ln>
                        <a:noFill/>
                      </a:ln>
                    </p:spPr>
                  </p:pic>
                </p:oleObj>
              </mc:Fallback>
            </mc:AlternateContent>
          </a:graphicData>
        </a:graphic>
      </p:graphicFrame>
      <p:sp>
        <p:nvSpPr>
          <p:cNvPr id="736" name="Google Shape;736;p5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3">
                                            <p:txEl>
                                              <p:pRg end="0" st="0"/>
                                            </p:txEl>
                                          </p:spTgt>
                                        </p:tgtEl>
                                        <p:attrNameLst>
                                          <p:attrName>style.visibility</p:attrName>
                                        </p:attrNameLst>
                                      </p:cBhvr>
                                      <p:to>
                                        <p:strVal val="visible"/>
                                      </p:to>
                                    </p:set>
                                    <p:animEffect filter="fade" transition="in">
                                      <p:cBhvr>
                                        <p:cTn dur="500"/>
                                        <p:tgtEl>
                                          <p:spTgt spid="73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3">
                                            <p:txEl>
                                              <p:pRg end="1" st="1"/>
                                            </p:txEl>
                                          </p:spTgt>
                                        </p:tgtEl>
                                        <p:attrNameLst>
                                          <p:attrName>style.visibility</p:attrName>
                                        </p:attrNameLst>
                                      </p:cBhvr>
                                      <p:to>
                                        <p:strVal val="visible"/>
                                      </p:to>
                                    </p:set>
                                    <p:animEffect filter="fade" transition="in">
                                      <p:cBhvr>
                                        <p:cTn dur="500"/>
                                        <p:tgtEl>
                                          <p:spTgt spid="73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3">
                                            <p:txEl>
                                              <p:pRg end="2" st="2"/>
                                            </p:txEl>
                                          </p:spTgt>
                                        </p:tgtEl>
                                        <p:attrNameLst>
                                          <p:attrName>style.visibility</p:attrName>
                                        </p:attrNameLst>
                                      </p:cBhvr>
                                      <p:to>
                                        <p:strVal val="visible"/>
                                      </p:to>
                                    </p:set>
                                    <p:animEffect filter="fade" transition="in">
                                      <p:cBhvr>
                                        <p:cTn dur="500"/>
                                        <p:tgtEl>
                                          <p:spTgt spid="73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3">
                                            <p:txEl>
                                              <p:pRg end="3" st="3"/>
                                            </p:txEl>
                                          </p:spTgt>
                                        </p:tgtEl>
                                        <p:attrNameLst>
                                          <p:attrName>style.visibility</p:attrName>
                                        </p:attrNameLst>
                                      </p:cBhvr>
                                      <p:to>
                                        <p:strVal val="visible"/>
                                      </p:to>
                                    </p:set>
                                    <p:animEffect filter="fade" transition="in">
                                      <p:cBhvr>
                                        <p:cTn dur="500"/>
                                        <p:tgtEl>
                                          <p:spTgt spid="73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3">
                                            <p:txEl>
                                              <p:pRg end="4" st="4"/>
                                            </p:txEl>
                                          </p:spTgt>
                                        </p:tgtEl>
                                        <p:attrNameLst>
                                          <p:attrName>style.visibility</p:attrName>
                                        </p:attrNameLst>
                                      </p:cBhvr>
                                      <p:to>
                                        <p:strVal val="visible"/>
                                      </p:to>
                                    </p:set>
                                    <p:animEffect filter="fade" transition="in">
                                      <p:cBhvr>
                                        <p:cTn dur="500"/>
                                        <p:tgtEl>
                                          <p:spTgt spid="733">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56"/>
          <p:cNvSpPr txBox="1"/>
          <p:nvPr>
            <p:ph idx="1" type="body"/>
          </p:nvPr>
        </p:nvSpPr>
        <p:spPr>
          <a:xfrm>
            <a:off x="152400" y="1066800"/>
            <a:ext cx="89916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Nạp trang hoàn toàn theo nhu cầu: </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Bắt đầu một tiến trình mà không nạp bất kỳ trang nào vào bộ nhớ</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Khi con trỏ lệnh được HDH chuyển tới lệnh đầu tiên của tiến trình để thực hiện, sự kiện thiếu trang sẽ sinh ra và trang tương ứng được nạp vào</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Tiến trình sau đó thực hiện bình thường cho tới lần thiếu trang tiếp theo</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Nạp trang trước: khác với nạp trang theo nhu cầu</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Các trang chưa cần đến cũng được nạp vào bộ nhớ</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Không hiệu quả</a:t>
            </a:r>
            <a:endParaRPr/>
          </a:p>
          <a:p>
            <a:pPr indent="-127000" lvl="2" marL="1143000" marR="0" rtl="0" algn="l">
              <a:lnSpc>
                <a:spcPct val="100000"/>
              </a:lnSpc>
              <a:spcBef>
                <a:spcPts val="320"/>
              </a:spcBef>
              <a:spcAft>
                <a:spcPts val="0"/>
              </a:spcAft>
              <a:buClr>
                <a:schemeClr val="accent2"/>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43" name="Google Shape;743;p56"/>
          <p:cNvSpPr txBox="1"/>
          <p:nvPr>
            <p:ph type="title"/>
          </p:nvPr>
        </p:nvSpPr>
        <p:spPr>
          <a:xfrm>
            <a:off x="457200" y="-76200"/>
            <a:ext cx="8686800" cy="838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2. Nạp trang theo nhu cầu</a:t>
            </a:r>
            <a:endParaRPr/>
          </a:p>
        </p:txBody>
      </p:sp>
      <p:sp>
        <p:nvSpPr>
          <p:cNvPr id="744" name="Google Shape;744;p5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45" name="Google Shape;745;p5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46" name="Google Shape;746;p5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47" name="Google Shape;747;p5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57"/>
          <p:cNvSpPr txBox="1"/>
          <p:nvPr>
            <p:ph idx="1" type="body"/>
          </p:nvPr>
        </p:nvSpPr>
        <p:spPr>
          <a:xfrm>
            <a:off x="0" y="1143000"/>
            <a:ext cx="8839200" cy="5715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Khi xảy ra tình trạng thiếu trang =&gt; HDH phải tìm ra một khung trống trong bộ nhớ =&gt; đọc trang thiếu vào  khung và tiến trình sau đó hoạt động bình thường.</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Bộ nhớ ảo &gt; bộ nhớ thực và chế độ đa chương trình =&gt; có lúc không còn </a:t>
            </a:r>
            <a:r>
              <a:rPr b="1" i="0" lang="en-US" sz="2800" u="none">
                <a:solidFill>
                  <a:schemeClr val="dk2"/>
                </a:solidFill>
                <a:latin typeface="Times New Roman"/>
                <a:ea typeface="Times New Roman"/>
                <a:cs typeface="Times New Roman"/>
                <a:sym typeface="Times New Roman"/>
              </a:rPr>
              <a:t>khung</a:t>
            </a:r>
            <a:r>
              <a:rPr b="0" i="0" lang="en-US" sz="2800" u="none">
                <a:solidFill>
                  <a:schemeClr val="dk2"/>
                </a:solidFill>
                <a:latin typeface="Times New Roman"/>
                <a:ea typeface="Times New Roman"/>
                <a:cs typeface="Times New Roman"/>
                <a:sym typeface="Times New Roman"/>
              </a:rPr>
              <a:t> nào trống để nạp trang mới </a:t>
            </a:r>
            <a:endParaRPr/>
          </a:p>
          <a:p>
            <a:pPr indent="-342900" lvl="0" marL="342900" marR="0" rtl="0" algn="l">
              <a:lnSpc>
                <a:spcPct val="100000"/>
              </a:lnSpc>
              <a:spcBef>
                <a:spcPts val="560"/>
              </a:spcBef>
              <a:spcAft>
                <a:spcPts val="0"/>
              </a:spcAft>
              <a:buClr>
                <a:schemeClr val="dk2"/>
              </a:buClr>
              <a:buSzPts val="2800"/>
              <a:buFont typeface="Noto Sans Symbols"/>
              <a:buChar char="▪"/>
            </a:pPr>
            <a:r>
              <a:rPr b="1" i="0" lang="en-US" sz="2800" u="none">
                <a:solidFill>
                  <a:schemeClr val="dk2"/>
                </a:solidFill>
                <a:latin typeface="Times New Roman"/>
                <a:ea typeface="Times New Roman"/>
                <a:cs typeface="Times New Roman"/>
                <a:sym typeface="Times New Roman"/>
              </a:rPr>
              <a:t>Giải pháp:</a:t>
            </a:r>
            <a:endParaRPr b="1" i="0" sz="24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Kết thúc tiến trình do không thỏa mãn nhu cầu bộ nhớ</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Trao đổi tiến trình ra đĩa và chờ thời điểm thuận lợi hơn mới nạp lại tiến trình vào bộ nhớ để thực hiện tiếp</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Sử dụng kỹ thuật </a:t>
            </a:r>
            <a:r>
              <a:rPr b="1" i="0" lang="en-US" sz="2400" u="none" cap="none" strike="noStrike">
                <a:solidFill>
                  <a:schemeClr val="dk2"/>
                </a:solidFill>
                <a:latin typeface="Times New Roman"/>
                <a:ea typeface="Times New Roman"/>
                <a:cs typeface="Times New Roman"/>
                <a:sym typeface="Times New Roman"/>
              </a:rPr>
              <a:t>đổi trang</a:t>
            </a:r>
            <a:r>
              <a:rPr b="0" i="0" lang="en-US" sz="2000" u="none" cap="none" strike="noStrike">
                <a:solidFill>
                  <a:schemeClr val="dk2"/>
                </a:solidFill>
                <a:latin typeface="Times New Roman"/>
                <a:ea typeface="Times New Roman"/>
                <a:cs typeface="Times New Roman"/>
                <a:sym typeface="Times New Roman"/>
              </a:rPr>
              <a:t> </a:t>
            </a:r>
            <a:endParaRPr/>
          </a:p>
          <a:p>
            <a:pPr indent="-101600" lvl="2" marL="1143000" marR="0" rtl="0" algn="l">
              <a:lnSpc>
                <a:spcPct val="100000"/>
              </a:lnSpc>
              <a:spcBef>
                <a:spcPts val="400"/>
              </a:spcBef>
              <a:spcAft>
                <a:spcPts val="0"/>
              </a:spcAft>
              <a:buClr>
                <a:schemeClr val="accent2"/>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241300" lvl="0" marL="342900" marR="0" rtl="0" algn="l">
              <a:lnSpc>
                <a:spcPct val="100000"/>
              </a:lnSpc>
              <a:spcBef>
                <a:spcPts val="320"/>
              </a:spcBef>
              <a:spcAft>
                <a:spcPts val="0"/>
              </a:spcAft>
              <a:buClr>
                <a:schemeClr val="dk2"/>
              </a:buClr>
              <a:buSzPts val="1600"/>
              <a:buFont typeface="Noto Sans Symbols"/>
              <a:buNone/>
            </a:pPr>
            <a:r>
              <a:t/>
            </a:r>
            <a:endParaRPr b="0" i="0" sz="1600" u="none">
              <a:solidFill>
                <a:schemeClr val="dk2"/>
              </a:solidFill>
              <a:latin typeface="Times New Roman"/>
              <a:ea typeface="Times New Roman"/>
              <a:cs typeface="Times New Roman"/>
              <a:sym typeface="Times New Roman"/>
            </a:endParaRPr>
          </a:p>
          <a:p>
            <a:pPr indent="-127000" lvl="2" marL="1143000" marR="0" rtl="0" algn="l">
              <a:lnSpc>
                <a:spcPct val="100000"/>
              </a:lnSpc>
              <a:spcBef>
                <a:spcPts val="320"/>
              </a:spcBef>
              <a:spcAft>
                <a:spcPts val="0"/>
              </a:spcAft>
              <a:buClr>
                <a:schemeClr val="accent2"/>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54" name="Google Shape;754;p57"/>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 Đổi trang</a:t>
            </a:r>
            <a:endParaRPr/>
          </a:p>
        </p:txBody>
      </p:sp>
      <p:sp>
        <p:nvSpPr>
          <p:cNvPr id="755" name="Google Shape;755;p5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56" name="Google Shape;756;p5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57" name="Google Shape;757;p5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58"/>
          <p:cNvSpPr txBox="1"/>
          <p:nvPr>
            <p:ph idx="1" type="body"/>
          </p:nvPr>
        </p:nvSpPr>
        <p:spPr>
          <a:xfrm>
            <a:off x="381000" y="914400"/>
            <a:ext cx="8382000" cy="4876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Nếu không còn khung nào trống, HDH chọn 1 khung đã cấp phát nhưng hiện không dùng tới và giải phóng khung này.</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Nội dung của khung sẽ được trao đổi ra đĩa, trang nhớ chứa trong khung sẽ được đánh dấu không được nằm trong bộ nhớ (bằng cách thay đổi bit P ở bảng trang).</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Khung đã được giải phóng được cấp phát cho trang mới cần nạp vào. </a:t>
            </a:r>
            <a:endParaRPr b="0" i="0" sz="2400" u="non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p:txBody>
      </p:sp>
      <p:sp>
        <p:nvSpPr>
          <p:cNvPr id="764" name="Google Shape;764;p58"/>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3.1. Thao tác đổi trang</a:t>
            </a:r>
            <a:endParaRPr/>
          </a:p>
        </p:txBody>
      </p:sp>
      <p:sp>
        <p:nvSpPr>
          <p:cNvPr id="765" name="Google Shape;765;p5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66" name="Google Shape;766;p5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67" name="Google Shape;767;p5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59"/>
          <p:cNvSpPr txBox="1"/>
          <p:nvPr>
            <p:ph idx="1" type="body"/>
          </p:nvPr>
        </p:nvSpPr>
        <p:spPr>
          <a:xfrm>
            <a:off x="0" y="838200"/>
            <a:ext cx="89916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Quá trình đổi trang:</a:t>
            </a:r>
            <a:endParaRPr b="0" i="0" sz="2400" u="none">
              <a:solidFill>
                <a:schemeClr val="dk2"/>
              </a:solidFill>
              <a:latin typeface="Times New Roman"/>
              <a:ea typeface="Times New Roman"/>
              <a:cs typeface="Times New Roman"/>
              <a:sym typeface="Times New Roman"/>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B1: Xác định trang trên đĩa cần nạp vào MEM</a:t>
            </a:r>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B2: Nếu có khung trống trên MEM thì chuyển sang B4</a:t>
            </a:r>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B3: </a:t>
            </a:r>
            <a:endParaRPr/>
          </a:p>
          <a:p>
            <a:pPr indent="-228600" lvl="2" marL="1143000" marR="0" rtl="0" algn="just">
              <a:lnSpc>
                <a:spcPct val="100000"/>
              </a:lnSpc>
              <a:spcBef>
                <a:spcPts val="520"/>
              </a:spcBef>
              <a:spcAft>
                <a:spcPts val="0"/>
              </a:spcAft>
              <a:buClr>
                <a:schemeClr val="accent2"/>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Lựa chọn 1 khung trên MEM để giải phóng, theo 1 thuật toán nào đó</a:t>
            </a:r>
            <a:endParaRPr/>
          </a:p>
          <a:p>
            <a:pPr indent="-228600" lvl="2" marL="1143000" marR="0" rtl="0" algn="just">
              <a:lnSpc>
                <a:spcPct val="100000"/>
              </a:lnSpc>
              <a:spcBef>
                <a:spcPts val="520"/>
              </a:spcBef>
              <a:spcAft>
                <a:spcPts val="0"/>
              </a:spcAft>
              <a:buClr>
                <a:schemeClr val="accent2"/>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Ghi nội dung khung bị đổi ra đĩa (nếu cần), cập nhật bảng trang và bảng khung</a:t>
            </a:r>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B4: Đọc trang cần nạp vào khung vừa giải phóng; cập nhật bảng trang và bảng khung</a:t>
            </a:r>
            <a:endParaRPr/>
          </a:p>
          <a:p>
            <a:pPr indent="-285750" lvl="1" marL="742950" marR="0" rtl="0" algn="just">
              <a:lnSpc>
                <a:spcPct val="100000"/>
              </a:lnSpc>
              <a:spcBef>
                <a:spcPts val="520"/>
              </a:spcBef>
              <a:spcAft>
                <a:spcPts val="0"/>
              </a:spcAft>
              <a:buClr>
                <a:schemeClr val="accent1"/>
              </a:buClr>
              <a:buSzPts val="2600"/>
              <a:buFont typeface="Noto Sans Symbols"/>
              <a:buChar char="▪"/>
            </a:pPr>
            <a:r>
              <a:rPr b="0" i="0" lang="en-US" sz="2600" u="none" cap="none" strike="noStrike">
                <a:solidFill>
                  <a:schemeClr val="dk2"/>
                </a:solidFill>
                <a:latin typeface="Times New Roman"/>
                <a:ea typeface="Times New Roman"/>
                <a:cs typeface="Times New Roman"/>
                <a:sym typeface="Times New Roman"/>
              </a:rPr>
              <a:t>B5: Thực hiện tiếp tiến trình từ điểm bị dừng trước khi đổi trang</a:t>
            </a:r>
            <a:endParaRPr/>
          </a:p>
          <a:p>
            <a:pPr indent="-241300" lvl="0" marL="342900" marR="0" rtl="0" algn="l">
              <a:lnSpc>
                <a:spcPct val="100000"/>
              </a:lnSpc>
              <a:spcBef>
                <a:spcPts val="320"/>
              </a:spcBef>
              <a:spcAft>
                <a:spcPts val="0"/>
              </a:spcAft>
              <a:buClr>
                <a:schemeClr val="dk2"/>
              </a:buClr>
              <a:buSzPts val="1600"/>
              <a:buFont typeface="Noto Sans Symbols"/>
              <a:buNone/>
            </a:pPr>
            <a:r>
              <a:t/>
            </a:r>
            <a:endParaRPr b="0" i="0" sz="1600" u="none">
              <a:solidFill>
                <a:schemeClr val="dk2"/>
              </a:solidFill>
              <a:latin typeface="Times New Roman"/>
              <a:ea typeface="Times New Roman"/>
              <a:cs typeface="Times New Roman"/>
              <a:sym typeface="Times New Roman"/>
            </a:endParaRPr>
          </a:p>
          <a:p>
            <a:pPr indent="-127000" lvl="2" marL="1143000" marR="0" rtl="0" algn="l">
              <a:lnSpc>
                <a:spcPct val="100000"/>
              </a:lnSpc>
              <a:spcBef>
                <a:spcPts val="320"/>
              </a:spcBef>
              <a:spcAft>
                <a:spcPts val="0"/>
              </a:spcAft>
              <a:buClr>
                <a:schemeClr val="accent2"/>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74" name="Google Shape;774;p59"/>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3.1. Thao tác đổi trang</a:t>
            </a:r>
            <a:endParaRPr/>
          </a:p>
        </p:txBody>
      </p:sp>
      <p:sp>
        <p:nvSpPr>
          <p:cNvPr id="775" name="Google Shape;775;p5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76" name="Google Shape;776;p5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77" name="Google Shape;777;p5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xEl>
                                              <p:pRg end="0" st="0"/>
                                            </p:txEl>
                                          </p:spTgt>
                                        </p:tgtEl>
                                        <p:attrNameLst>
                                          <p:attrName>style.visibility</p:attrName>
                                        </p:attrNameLst>
                                      </p:cBhvr>
                                      <p:to>
                                        <p:strVal val="visible"/>
                                      </p:to>
                                    </p:set>
                                    <p:animEffect filter="fade" transition="in">
                                      <p:cBhvr>
                                        <p:cTn dur="500"/>
                                        <p:tgtEl>
                                          <p:spTgt spid="7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xEl>
                                              <p:pRg end="1" st="1"/>
                                            </p:txEl>
                                          </p:spTgt>
                                        </p:tgtEl>
                                        <p:attrNameLst>
                                          <p:attrName>style.visibility</p:attrName>
                                        </p:attrNameLst>
                                      </p:cBhvr>
                                      <p:to>
                                        <p:strVal val="visible"/>
                                      </p:to>
                                    </p:set>
                                    <p:animEffect filter="fade" transition="in">
                                      <p:cBhvr>
                                        <p:cTn dur="500"/>
                                        <p:tgtEl>
                                          <p:spTgt spid="7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xEl>
                                              <p:pRg end="2" st="2"/>
                                            </p:txEl>
                                          </p:spTgt>
                                        </p:tgtEl>
                                        <p:attrNameLst>
                                          <p:attrName>style.visibility</p:attrName>
                                        </p:attrNameLst>
                                      </p:cBhvr>
                                      <p:to>
                                        <p:strVal val="visible"/>
                                      </p:to>
                                    </p:set>
                                    <p:animEffect filter="fade" transition="in">
                                      <p:cBhvr>
                                        <p:cTn dur="500"/>
                                        <p:tgtEl>
                                          <p:spTgt spid="7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xEl>
                                              <p:pRg end="3" st="3"/>
                                            </p:txEl>
                                          </p:spTgt>
                                        </p:tgtEl>
                                        <p:attrNameLst>
                                          <p:attrName>style.visibility</p:attrName>
                                        </p:attrNameLst>
                                      </p:cBhvr>
                                      <p:to>
                                        <p:strVal val="visible"/>
                                      </p:to>
                                    </p:set>
                                    <p:animEffect filter="fade" transition="in">
                                      <p:cBhvr>
                                        <p:cTn dur="500"/>
                                        <p:tgtEl>
                                          <p:spTgt spid="7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xEl>
                                              <p:pRg end="4" st="4"/>
                                            </p:txEl>
                                          </p:spTgt>
                                        </p:tgtEl>
                                        <p:attrNameLst>
                                          <p:attrName>style.visibility</p:attrName>
                                        </p:attrNameLst>
                                      </p:cBhvr>
                                      <p:to>
                                        <p:strVal val="visible"/>
                                      </p:to>
                                    </p:set>
                                    <p:animEffect filter="fade" transition="in">
                                      <p:cBhvr>
                                        <p:cTn dur="500"/>
                                        <p:tgtEl>
                                          <p:spTgt spid="77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xEl>
                                              <p:pRg end="5" st="5"/>
                                            </p:txEl>
                                          </p:spTgt>
                                        </p:tgtEl>
                                        <p:attrNameLst>
                                          <p:attrName>style.visibility</p:attrName>
                                        </p:attrNameLst>
                                      </p:cBhvr>
                                      <p:to>
                                        <p:strVal val="visible"/>
                                      </p:to>
                                    </p:set>
                                    <p:animEffect filter="fade" transition="in">
                                      <p:cBhvr>
                                        <p:cTn dur="500"/>
                                        <p:tgtEl>
                                          <p:spTgt spid="77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xEl>
                                              <p:pRg end="6" st="6"/>
                                            </p:txEl>
                                          </p:spTgt>
                                        </p:tgtEl>
                                        <p:attrNameLst>
                                          <p:attrName>style.visibility</p:attrName>
                                        </p:attrNameLst>
                                      </p:cBhvr>
                                      <p:to>
                                        <p:strVal val="visible"/>
                                      </p:to>
                                    </p:set>
                                    <p:animEffect filter="fade" transition="in">
                                      <p:cBhvr>
                                        <p:cTn dur="500"/>
                                        <p:tgtEl>
                                          <p:spTgt spid="77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xEl>
                                              <p:pRg end="7" st="7"/>
                                            </p:txEl>
                                          </p:spTgt>
                                        </p:tgtEl>
                                        <p:attrNameLst>
                                          <p:attrName>style.visibility</p:attrName>
                                        </p:attrNameLst>
                                      </p:cBhvr>
                                      <p:to>
                                        <p:strVal val="visible"/>
                                      </p:to>
                                    </p:set>
                                    <p:animEffect filter="fade" transition="in">
                                      <p:cBhvr>
                                        <p:cTn dur="500"/>
                                        <p:tgtEl>
                                          <p:spTgt spid="77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xEl>
                                              <p:pRg end="8" st="8"/>
                                            </p:txEl>
                                          </p:spTgt>
                                        </p:tgtEl>
                                        <p:attrNameLst>
                                          <p:attrName>style.visibility</p:attrName>
                                        </p:attrNameLst>
                                      </p:cBhvr>
                                      <p:to>
                                        <p:strVal val="visible"/>
                                      </p:to>
                                    </p:set>
                                    <p:animEffect filter="fade" transition="in">
                                      <p:cBhvr>
                                        <p:cTn dur="500"/>
                                        <p:tgtEl>
                                          <p:spTgt spid="77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xEl>
                                              <p:pRg end="9" st="9"/>
                                            </p:txEl>
                                          </p:spTgt>
                                        </p:tgtEl>
                                        <p:attrNameLst>
                                          <p:attrName>style.visibility</p:attrName>
                                        </p:attrNameLst>
                                      </p:cBhvr>
                                      <p:to>
                                        <p:strVal val="visible"/>
                                      </p:to>
                                    </p:set>
                                    <p:animEffect filter="fade" transition="in">
                                      <p:cBhvr>
                                        <p:cTn dur="500"/>
                                        <p:tgtEl>
                                          <p:spTgt spid="77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xEl>
                                              <p:pRg end="10" st="10"/>
                                            </p:txEl>
                                          </p:spTgt>
                                        </p:tgtEl>
                                        <p:attrNameLst>
                                          <p:attrName>style.visibility</p:attrName>
                                        </p:attrNameLst>
                                      </p:cBhvr>
                                      <p:to>
                                        <p:strVal val="visible"/>
                                      </p:to>
                                    </p:set>
                                    <p:animEffect filter="fade" transition="in">
                                      <p:cBhvr>
                                        <p:cTn dur="500"/>
                                        <p:tgtEl>
                                          <p:spTgt spid="77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xEl>
                                              <p:pRg end="11" st="11"/>
                                            </p:txEl>
                                          </p:spTgt>
                                        </p:tgtEl>
                                        <p:attrNameLst>
                                          <p:attrName>style.visibility</p:attrName>
                                        </p:attrNameLst>
                                      </p:cBhvr>
                                      <p:to>
                                        <p:strVal val="visible"/>
                                      </p:to>
                                    </p:set>
                                    <p:animEffect filter="fade" transition="in">
                                      <p:cBhvr>
                                        <p:cTn dur="500"/>
                                        <p:tgtEl>
                                          <p:spTgt spid="77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xEl>
                                              <p:pRg end="12" st="12"/>
                                            </p:txEl>
                                          </p:spTgt>
                                        </p:tgtEl>
                                        <p:attrNameLst>
                                          <p:attrName>style.visibility</p:attrName>
                                        </p:attrNameLst>
                                      </p:cBhvr>
                                      <p:to>
                                        <p:strVal val="visible"/>
                                      </p:to>
                                    </p:set>
                                    <p:animEffect filter="fade" transition="in">
                                      <p:cBhvr>
                                        <p:cTn dur="500"/>
                                        <p:tgtEl>
                                          <p:spTgt spid="773">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3">
                                            <p:txEl>
                                              <p:pRg end="13" st="13"/>
                                            </p:txEl>
                                          </p:spTgt>
                                        </p:tgtEl>
                                        <p:attrNameLst>
                                          <p:attrName>style.visibility</p:attrName>
                                        </p:attrNameLst>
                                      </p:cBhvr>
                                      <p:to>
                                        <p:strVal val="visible"/>
                                      </p:to>
                                    </p:set>
                                    <p:animEffect filter="fade" transition="in">
                                      <p:cBhvr>
                                        <p:cTn dur="500"/>
                                        <p:tgtEl>
                                          <p:spTgt spid="773">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2" name="Shape 782"/>
        <p:cNvGrpSpPr/>
        <p:nvPr/>
      </p:nvGrpSpPr>
      <p:grpSpPr>
        <a:xfrm>
          <a:off x="0" y="0"/>
          <a:ext cx="0" cy="0"/>
          <a:chOff x="0" y="0"/>
          <a:chExt cx="0" cy="0"/>
        </a:xfrm>
      </p:grpSpPr>
      <p:sp>
        <p:nvSpPr>
          <p:cNvPr id="783" name="Google Shape;783;p60"/>
          <p:cNvSpPr txBox="1"/>
          <p:nvPr>
            <p:ph idx="1" type="body"/>
          </p:nvPr>
        </p:nvSpPr>
        <p:spPr>
          <a:xfrm>
            <a:off x="0" y="838200"/>
            <a:ext cx="8763000" cy="51054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Đổi trang có ghi và đổi trang không ghi:</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Nếu nhu cầu đổi trang xuất hiện khi nạp trang mới, thời gian nạp trang sẽ tăng đáng kể do xuất hiện thêm nhu cầu ghi trạng bị đổi ra đĩa.</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=&gt; nhận biết các trang không thay đổi từ lúc nạp và không ghi ngược ra đĩa</a:t>
            </a:r>
            <a:endParaRPr/>
          </a:p>
          <a:p>
            <a:pPr indent="-285750" lvl="1" marL="742950" marR="0" rtl="0" algn="just">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Sử dụng thêm bit sửa đổi M trong khoản mục trang  để đánh dấu trang đã bị sửa đổi (1) hay chưa (0)</a:t>
            </a:r>
            <a:endParaRPr/>
          </a:p>
          <a:p>
            <a:pPr indent="0" lvl="2" marL="914400" marR="0" rtl="0" algn="just">
              <a:lnSpc>
                <a:spcPct val="100000"/>
              </a:lnSpc>
              <a:spcBef>
                <a:spcPts val="320"/>
              </a:spcBef>
              <a:spcAft>
                <a:spcPts val="0"/>
              </a:spcAft>
              <a:buClr>
                <a:schemeClr val="accent2"/>
              </a:buClr>
              <a:buSzPts val="1600"/>
              <a:buFont typeface="Arial"/>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just">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just">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just">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84" name="Google Shape;784;p60"/>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3.1. Thao tác đổi trang</a:t>
            </a:r>
            <a:endParaRPr/>
          </a:p>
        </p:txBody>
      </p:sp>
      <p:sp>
        <p:nvSpPr>
          <p:cNvPr id="785" name="Google Shape;785;p6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86" name="Google Shape;786;p6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87" name="Google Shape;787;p6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2" name="Shape 792"/>
        <p:cNvGrpSpPr/>
        <p:nvPr/>
      </p:nvGrpSpPr>
      <p:grpSpPr>
        <a:xfrm>
          <a:off x="0" y="0"/>
          <a:ext cx="0" cy="0"/>
          <a:chOff x="0" y="0"/>
          <a:chExt cx="0" cy="0"/>
        </a:xfrm>
      </p:grpSpPr>
      <p:sp>
        <p:nvSpPr>
          <p:cNvPr id="793" name="Google Shape;793;p61"/>
          <p:cNvSpPr txBox="1"/>
          <p:nvPr>
            <p:ph idx="1" type="body"/>
          </p:nvPr>
        </p:nvSpPr>
        <p:spPr>
          <a:xfrm>
            <a:off x="0" y="8382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Các khung bị khóa</a:t>
            </a:r>
            <a:endParaRPr b="0" i="0" sz="24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Khi tìm các trang để giải phóng và đổi trang, HDH sẽ trừ ra một số khung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Một số khung sẽ không bị giải phóng trong quá trình tìm kiếm khung để đổi trang =&gt; các khung bị khóa</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VD: Khung chứa tiến trình nhân của HDH, chứa các cấu trúc thông tin điều khiển quan trọng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Nhận biết bởi 1 bit riêng chứa trong khoản mục</a:t>
            </a:r>
            <a:endParaRPr/>
          </a:p>
          <a:p>
            <a:pPr indent="-127000" lvl="2" marL="1143000" marR="0" rtl="0" algn="l">
              <a:lnSpc>
                <a:spcPct val="100000"/>
              </a:lnSpc>
              <a:spcBef>
                <a:spcPts val="320"/>
              </a:spcBef>
              <a:spcAft>
                <a:spcPts val="0"/>
              </a:spcAft>
              <a:buClr>
                <a:schemeClr val="accent2"/>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794" name="Google Shape;794;p61"/>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3.1. Thao tác đổi trang</a:t>
            </a:r>
            <a:endParaRPr/>
          </a:p>
        </p:txBody>
      </p:sp>
      <p:sp>
        <p:nvSpPr>
          <p:cNvPr id="795" name="Google Shape;795;p6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96" name="Google Shape;796;p6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797" name="Google Shape;797;p6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3">
                                            <p:txEl>
                                              <p:pRg end="0" st="0"/>
                                            </p:txEl>
                                          </p:spTgt>
                                        </p:tgtEl>
                                        <p:attrNameLst>
                                          <p:attrName>style.visibility</p:attrName>
                                        </p:attrNameLst>
                                      </p:cBhvr>
                                      <p:to>
                                        <p:strVal val="visible"/>
                                      </p:to>
                                    </p:set>
                                    <p:animEffect filter="fade" transition="in">
                                      <p:cBhvr>
                                        <p:cTn dur="500"/>
                                        <p:tgtEl>
                                          <p:spTgt spid="79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3">
                                            <p:txEl>
                                              <p:pRg end="1" st="1"/>
                                            </p:txEl>
                                          </p:spTgt>
                                        </p:tgtEl>
                                        <p:attrNameLst>
                                          <p:attrName>style.visibility</p:attrName>
                                        </p:attrNameLst>
                                      </p:cBhvr>
                                      <p:to>
                                        <p:strVal val="visible"/>
                                      </p:to>
                                    </p:set>
                                    <p:animEffect filter="fade" transition="in">
                                      <p:cBhvr>
                                        <p:cTn dur="500"/>
                                        <p:tgtEl>
                                          <p:spTgt spid="79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3">
                                            <p:txEl>
                                              <p:pRg end="2" st="2"/>
                                            </p:txEl>
                                          </p:spTgt>
                                        </p:tgtEl>
                                        <p:attrNameLst>
                                          <p:attrName>style.visibility</p:attrName>
                                        </p:attrNameLst>
                                      </p:cBhvr>
                                      <p:to>
                                        <p:strVal val="visible"/>
                                      </p:to>
                                    </p:set>
                                    <p:animEffect filter="fade" transition="in">
                                      <p:cBhvr>
                                        <p:cTn dur="500"/>
                                        <p:tgtEl>
                                          <p:spTgt spid="79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3">
                                            <p:txEl>
                                              <p:pRg end="3" st="3"/>
                                            </p:txEl>
                                          </p:spTgt>
                                        </p:tgtEl>
                                        <p:attrNameLst>
                                          <p:attrName>style.visibility</p:attrName>
                                        </p:attrNameLst>
                                      </p:cBhvr>
                                      <p:to>
                                        <p:strVal val="visible"/>
                                      </p:to>
                                    </p:set>
                                    <p:animEffect filter="fade" transition="in">
                                      <p:cBhvr>
                                        <p:cTn dur="500"/>
                                        <p:tgtEl>
                                          <p:spTgt spid="79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3">
                                            <p:txEl>
                                              <p:pRg end="4" st="4"/>
                                            </p:txEl>
                                          </p:spTgt>
                                        </p:tgtEl>
                                        <p:attrNameLst>
                                          <p:attrName>style.visibility</p:attrName>
                                        </p:attrNameLst>
                                      </p:cBhvr>
                                      <p:to>
                                        <p:strVal val="visible"/>
                                      </p:to>
                                    </p:set>
                                    <p:animEffect filter="fade" transition="in">
                                      <p:cBhvr>
                                        <p:cTn dur="500"/>
                                        <p:tgtEl>
                                          <p:spTgt spid="79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3">
                                            <p:txEl>
                                              <p:pRg end="5" st="5"/>
                                            </p:txEl>
                                          </p:spTgt>
                                        </p:tgtEl>
                                        <p:attrNameLst>
                                          <p:attrName>style.visibility</p:attrName>
                                        </p:attrNameLst>
                                      </p:cBhvr>
                                      <p:to>
                                        <p:strVal val="visible"/>
                                      </p:to>
                                    </p:set>
                                    <p:animEffect filter="fade" transition="in">
                                      <p:cBhvr>
                                        <p:cTn dur="500"/>
                                        <p:tgtEl>
                                          <p:spTgt spid="79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3">
                                            <p:txEl>
                                              <p:pRg end="6" st="6"/>
                                            </p:txEl>
                                          </p:spTgt>
                                        </p:tgtEl>
                                        <p:attrNameLst>
                                          <p:attrName>style.visibility</p:attrName>
                                        </p:attrNameLst>
                                      </p:cBhvr>
                                      <p:to>
                                        <p:strVal val="visible"/>
                                      </p:to>
                                    </p:set>
                                    <p:animEffect filter="fade" transition="in">
                                      <p:cBhvr>
                                        <p:cTn dur="500"/>
                                        <p:tgtEl>
                                          <p:spTgt spid="79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3">
                                            <p:txEl>
                                              <p:pRg end="7" st="7"/>
                                            </p:txEl>
                                          </p:spTgt>
                                        </p:tgtEl>
                                        <p:attrNameLst>
                                          <p:attrName>style.visibility</p:attrName>
                                        </p:attrNameLst>
                                      </p:cBhvr>
                                      <p:to>
                                        <p:strVal val="visible"/>
                                      </p:to>
                                    </p:set>
                                    <p:animEffect filter="fade" transition="in">
                                      <p:cBhvr>
                                        <p:cTn dur="500"/>
                                        <p:tgtEl>
                                          <p:spTgt spid="79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3">
                                            <p:txEl>
                                              <p:pRg end="8" st="8"/>
                                            </p:txEl>
                                          </p:spTgt>
                                        </p:tgtEl>
                                        <p:attrNameLst>
                                          <p:attrName>style.visibility</p:attrName>
                                        </p:attrNameLst>
                                      </p:cBhvr>
                                      <p:to>
                                        <p:strVal val="visible"/>
                                      </p:to>
                                    </p:set>
                                    <p:animEffect filter="fade" transition="in">
                                      <p:cBhvr>
                                        <p:cTn dur="500"/>
                                        <p:tgtEl>
                                          <p:spTgt spid="79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3">
                                            <p:txEl>
                                              <p:pRg end="9" st="9"/>
                                            </p:txEl>
                                          </p:spTgt>
                                        </p:tgtEl>
                                        <p:attrNameLst>
                                          <p:attrName>style.visibility</p:attrName>
                                        </p:attrNameLst>
                                      </p:cBhvr>
                                      <p:to>
                                        <p:strVal val="visible"/>
                                      </p:to>
                                    </p:set>
                                    <p:animEffect filter="fade" transition="in">
                                      <p:cBhvr>
                                        <p:cTn dur="500"/>
                                        <p:tgtEl>
                                          <p:spTgt spid="793">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2" name="Shape 802"/>
        <p:cNvGrpSpPr/>
        <p:nvPr/>
      </p:nvGrpSpPr>
      <p:grpSpPr>
        <a:xfrm>
          <a:off x="0" y="0"/>
          <a:ext cx="0" cy="0"/>
          <a:chOff x="0" y="0"/>
          <a:chExt cx="0" cy="0"/>
        </a:xfrm>
      </p:grpSpPr>
      <p:sp>
        <p:nvSpPr>
          <p:cNvPr id="803" name="Google Shape;803;p62"/>
          <p:cNvSpPr txBox="1"/>
          <p:nvPr>
            <p:ph idx="1" type="body"/>
          </p:nvPr>
        </p:nvSpPr>
        <p:spPr>
          <a:xfrm>
            <a:off x="0" y="8382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Đổi trang tối ưu (OPT):</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Chọn trang sẽ không được dùng tới trong khoảng thời gian lâu nhất trong tương lai để đổi</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Cho phép giảm tối thiểu sự kiện thiếu trang và do đó là tối ưu theo tiêu chuẩn này</a:t>
            </a:r>
            <a:endParaRPr/>
          </a:p>
          <a:p>
            <a:pPr indent="-285750" lvl="1" marL="742950" marR="0" rtl="0" algn="l">
              <a:lnSpc>
                <a:spcPct val="100000"/>
              </a:lnSpc>
              <a:spcBef>
                <a:spcPts val="480"/>
              </a:spcBef>
              <a:spcAft>
                <a:spcPts val="0"/>
              </a:spcAft>
              <a:buClr>
                <a:schemeClr val="accent1"/>
              </a:buClr>
              <a:buSzPts val="2400"/>
              <a:buFont typeface="Noto Sans Symbols"/>
              <a:buNone/>
            </a:pPr>
            <a:r>
              <a:rPr b="0" i="0" lang="en-US" sz="2400" u="none" cap="none" strike="noStrike">
                <a:solidFill>
                  <a:schemeClr val="dk2"/>
                </a:solidFill>
                <a:latin typeface="Times New Roman"/>
                <a:ea typeface="Times New Roman"/>
                <a:cs typeface="Times New Roman"/>
                <a:sym typeface="Times New Roman"/>
              </a:rPr>
              <a:t>=&gt; HDH cần đoán trước được nhu cầu sử dụng các trang trong tương lai </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=&gt; không áp dụng trong thực tế mà chỉ để so sánh với các chiến lược khác</a:t>
            </a:r>
            <a:endParaRPr b="0" i="0" sz="2200" u="none" cap="none" strike="noStrike">
              <a:solidFill>
                <a:schemeClr val="dk2"/>
              </a:solidFill>
              <a:latin typeface="Times New Roman"/>
              <a:ea typeface="Times New Roman"/>
              <a:cs typeface="Times New Roman"/>
              <a:sym typeface="Times New Roman"/>
            </a:endParaRPr>
          </a:p>
          <a:p>
            <a:pPr indent="-241300" lvl="0" marL="342900" marR="0" rtl="0" algn="l">
              <a:lnSpc>
                <a:spcPct val="100000"/>
              </a:lnSpc>
              <a:spcBef>
                <a:spcPts val="320"/>
              </a:spcBef>
              <a:spcAft>
                <a:spcPts val="0"/>
              </a:spcAft>
              <a:buClr>
                <a:schemeClr val="dk2"/>
              </a:buClr>
              <a:buSzPts val="1600"/>
              <a:buFont typeface="Noto Sans Symbols"/>
              <a:buNone/>
            </a:pPr>
            <a:r>
              <a:t/>
            </a:r>
            <a:endParaRPr b="0" i="0" sz="1600" u="none">
              <a:solidFill>
                <a:schemeClr val="dk2"/>
              </a:solidFill>
              <a:latin typeface="Times New Roman"/>
              <a:ea typeface="Times New Roman"/>
              <a:cs typeface="Times New Roman"/>
              <a:sym typeface="Times New Roman"/>
            </a:endParaRPr>
          </a:p>
          <a:p>
            <a:pPr indent="-127000" lvl="2" marL="1143000" marR="0" rtl="0" algn="l">
              <a:lnSpc>
                <a:spcPct val="100000"/>
              </a:lnSpc>
              <a:spcBef>
                <a:spcPts val="320"/>
              </a:spcBef>
              <a:spcAft>
                <a:spcPts val="0"/>
              </a:spcAft>
              <a:buClr>
                <a:schemeClr val="accent2"/>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04" name="Google Shape;804;p62"/>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3.2 Các chiến lược đổi trang</a:t>
            </a:r>
            <a:endParaRPr/>
          </a:p>
        </p:txBody>
      </p:sp>
      <p:sp>
        <p:nvSpPr>
          <p:cNvPr id="805" name="Google Shape;805;p6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06" name="Google Shape;806;p6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07" name="Google Shape;807;p6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808" name="Google Shape;808;p62"/>
          <p:cNvGraphicFramePr/>
          <p:nvPr/>
        </p:nvGraphicFramePr>
        <p:xfrm>
          <a:off x="422275" y="4495800"/>
          <a:ext cx="8559800" cy="1457325"/>
        </p:xfrm>
        <a:graphic>
          <a:graphicData uri="http://schemas.openxmlformats.org/presentationml/2006/ole">
            <mc:AlternateContent>
              <mc:Choice Requires="v">
                <p:oleObj r:id="rId4" imgH="1457325" imgW="8559800" progId="Visio.Drawing.11" spid="_x0000_s1">
                  <p:embed/>
                </p:oleObj>
              </mc:Choice>
              <mc:Fallback>
                <p:oleObj r:id="rId5" imgH="1457325" imgW="8559800" progId="Visio.Drawing.11">
                  <p:embed/>
                  <p:pic>
                    <p:nvPicPr>
                      <p:cNvPr id="808" name="Google Shape;808;p62"/>
                      <p:cNvPicPr preferRelativeResize="0"/>
                      <p:nvPr/>
                    </p:nvPicPr>
                    <p:blipFill rotWithShape="1">
                      <a:blip r:embed="rId6">
                        <a:alphaModFix/>
                      </a:blip>
                      <a:srcRect b="0" l="0" r="0" t="0"/>
                      <a:stretch/>
                    </p:blipFill>
                    <p:spPr>
                      <a:xfrm>
                        <a:off x="422275" y="4495800"/>
                        <a:ext cx="8559800" cy="1457325"/>
                      </a:xfrm>
                      <a:prstGeom prst="rect">
                        <a:avLst/>
                      </a:prstGeom>
                      <a:noFill/>
                      <a:ln>
                        <a:noFill/>
                      </a:ln>
                    </p:spPr>
                  </p:pic>
                </p:oleObj>
              </mc:Fallback>
            </mc:AlternateContent>
          </a:graphicData>
        </a:graphic>
      </p:graphicFrame>
      <p:sp>
        <p:nvSpPr>
          <p:cNvPr id="809" name="Google Shape;809;p6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p63"/>
          <p:cNvSpPr txBox="1"/>
          <p:nvPr>
            <p:ph idx="1" type="body"/>
          </p:nvPr>
        </p:nvSpPr>
        <p:spPr>
          <a:xfrm>
            <a:off x="0" y="8382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Ví dụ: Đổi trang tối ưu (OPT):</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Giả sử tiến trình được cấp 3 khung, không gian nhớ của tiến trình có 5 trang và các trang của tiến trình được truy cập theo thứ tự như sau: 2, 3, 2, 1, 5, 2, 4, 5, 3, 2, 5, 2 </a:t>
            </a:r>
            <a:br>
              <a:rPr b="0" i="0" lang="en-US" sz="1600" u="none" cap="none" strike="noStrike">
                <a:solidFill>
                  <a:schemeClr val="dk2"/>
                </a:solidFill>
                <a:latin typeface="Arial"/>
                <a:ea typeface="Arial"/>
                <a:cs typeface="Arial"/>
                <a:sym typeface="Arial"/>
              </a:rPr>
            </a:br>
            <a:endParaRPr b="0" i="0" sz="1600" u="none" cap="none" strike="noStrike">
              <a:solidFill>
                <a:schemeClr val="dk2"/>
              </a:solidFill>
              <a:latin typeface="Times New Roman"/>
              <a:ea typeface="Times New Roman"/>
              <a:cs typeface="Times New Roman"/>
              <a:sym typeface="Times New Roman"/>
            </a:endParaRPr>
          </a:p>
          <a:p>
            <a:pPr indent="-127000" lvl="2" marL="1143000" marR="0" rtl="0" algn="l">
              <a:lnSpc>
                <a:spcPct val="100000"/>
              </a:lnSpc>
              <a:spcBef>
                <a:spcPts val="320"/>
              </a:spcBef>
              <a:spcAft>
                <a:spcPts val="0"/>
              </a:spcAft>
              <a:buClr>
                <a:schemeClr val="accent2"/>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16" name="Google Shape;816;p63"/>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3.2 Các chiến lược đổi trang</a:t>
            </a:r>
            <a:endParaRPr/>
          </a:p>
        </p:txBody>
      </p:sp>
      <p:sp>
        <p:nvSpPr>
          <p:cNvPr id="817" name="Google Shape;817;p6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18" name="Google Shape;818;p6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19" name="Google Shape;819;p6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820" name="Google Shape;820;p63"/>
          <p:cNvGraphicFramePr/>
          <p:nvPr/>
        </p:nvGraphicFramePr>
        <p:xfrm>
          <a:off x="330200" y="3124200"/>
          <a:ext cx="8559800" cy="1457325"/>
        </p:xfrm>
        <a:graphic>
          <a:graphicData uri="http://schemas.openxmlformats.org/presentationml/2006/ole">
            <mc:AlternateContent>
              <mc:Choice Requires="v">
                <p:oleObj r:id="rId4" imgH="1457325" imgW="8559800" progId="Visio.Drawing.11" spid="_x0000_s1">
                  <p:embed/>
                </p:oleObj>
              </mc:Choice>
              <mc:Fallback>
                <p:oleObj r:id="rId5" imgH="1457325" imgW="8559800" progId="Visio.Drawing.11">
                  <p:embed/>
                  <p:pic>
                    <p:nvPicPr>
                      <p:cNvPr id="820" name="Google Shape;820;p63"/>
                      <p:cNvPicPr preferRelativeResize="0"/>
                      <p:nvPr/>
                    </p:nvPicPr>
                    <p:blipFill rotWithShape="1">
                      <a:blip r:embed="rId6">
                        <a:alphaModFix/>
                      </a:blip>
                      <a:srcRect b="0" l="0" r="0" t="0"/>
                      <a:stretch/>
                    </p:blipFill>
                    <p:spPr>
                      <a:xfrm>
                        <a:off x="330200" y="3124200"/>
                        <a:ext cx="8559800" cy="1457325"/>
                      </a:xfrm>
                      <a:prstGeom prst="rect">
                        <a:avLst/>
                      </a:prstGeom>
                      <a:noFill/>
                      <a:ln>
                        <a:noFill/>
                      </a:ln>
                    </p:spPr>
                  </p:pic>
                </p:oleObj>
              </mc:Fallback>
            </mc:AlternateContent>
          </a:graphicData>
        </a:graphic>
      </p:graphicFrame>
      <p:sp>
        <p:nvSpPr>
          <p:cNvPr id="821" name="Google Shape;821;p6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64"/>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Vào trước ra trước (FIFO):</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Trang nào được nạp vào trước thì bị đổi ra trước</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Đơn giản nhất</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Trang bị trao đổi là trang nằm lâu nhất trong bộ nhớ</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Ví dụ: Giả sử tiến trình được cấp 3 khung, không gian nhớ của tiến trình có 5 trang và các trang của tiến trình được truy cập theo thứ tự như sau: 2, 3, 2, 1, 5, 2, 4, 5, 3, 2, 5, 2 </a:t>
            </a:r>
            <a:br>
              <a:rPr b="0" i="0" lang="en-US" sz="1600" u="none" cap="none" strike="noStrike">
                <a:solidFill>
                  <a:schemeClr val="dk2"/>
                </a:solidFill>
                <a:latin typeface="Arial"/>
                <a:ea typeface="Arial"/>
                <a:cs typeface="Arial"/>
                <a:sym typeface="Arial"/>
              </a:rPr>
            </a:br>
            <a:endParaRPr b="0" i="0" sz="16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241300" lvl="0" marL="342900" marR="0" rtl="0" algn="l">
              <a:lnSpc>
                <a:spcPct val="100000"/>
              </a:lnSpc>
              <a:spcBef>
                <a:spcPts val="320"/>
              </a:spcBef>
              <a:spcAft>
                <a:spcPts val="0"/>
              </a:spcAft>
              <a:buClr>
                <a:schemeClr val="dk2"/>
              </a:buClr>
              <a:buSzPts val="1600"/>
              <a:buFont typeface="Noto Sans Symbols"/>
              <a:buNone/>
            </a:pPr>
            <a:r>
              <a:t/>
            </a:r>
            <a:endParaRPr b="0" i="0" sz="1600" u="none">
              <a:solidFill>
                <a:schemeClr val="dk2"/>
              </a:solidFill>
              <a:latin typeface="Times New Roman"/>
              <a:ea typeface="Times New Roman"/>
              <a:cs typeface="Times New Roman"/>
              <a:sym typeface="Times New Roman"/>
            </a:endParaRPr>
          </a:p>
          <a:p>
            <a:pPr indent="-127000" lvl="2" marL="1143000" marR="0" rtl="0" algn="l">
              <a:lnSpc>
                <a:spcPct val="100000"/>
              </a:lnSpc>
              <a:spcBef>
                <a:spcPts val="320"/>
              </a:spcBef>
              <a:spcAft>
                <a:spcPts val="0"/>
              </a:spcAft>
              <a:buClr>
                <a:schemeClr val="accent2"/>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28" name="Google Shape;828;p64"/>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3.2 Các chiến lược đổi trang</a:t>
            </a:r>
            <a:endParaRPr/>
          </a:p>
        </p:txBody>
      </p:sp>
      <p:sp>
        <p:nvSpPr>
          <p:cNvPr id="829" name="Google Shape;829;p6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30" name="Google Shape;830;p6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31" name="Google Shape;831;p6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32" name="Google Shape;832;p6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833" name="Google Shape;833;p64"/>
          <p:cNvGraphicFramePr/>
          <p:nvPr/>
        </p:nvGraphicFramePr>
        <p:xfrm>
          <a:off x="298450" y="4343400"/>
          <a:ext cx="8545512" cy="1457325"/>
        </p:xfrm>
        <a:graphic>
          <a:graphicData uri="http://schemas.openxmlformats.org/presentationml/2006/ole">
            <mc:AlternateContent>
              <mc:Choice Requires="v">
                <p:oleObj r:id="rId4" imgH="1457325" imgW="8545512" progId="Visio.Drawing.11" spid="_x0000_s1">
                  <p:embed/>
                </p:oleObj>
              </mc:Choice>
              <mc:Fallback>
                <p:oleObj r:id="rId5" imgH="1457325" imgW="8545512" progId="Visio.Drawing.11">
                  <p:embed/>
                  <p:pic>
                    <p:nvPicPr>
                      <p:cNvPr id="833" name="Google Shape;833;p64"/>
                      <p:cNvPicPr preferRelativeResize="0"/>
                      <p:nvPr/>
                    </p:nvPicPr>
                    <p:blipFill rotWithShape="1">
                      <a:blip r:embed="rId6">
                        <a:alphaModFix/>
                      </a:blip>
                      <a:srcRect b="0" l="0" r="0" t="0"/>
                      <a:stretch/>
                    </p:blipFill>
                    <p:spPr>
                      <a:xfrm>
                        <a:off x="298450" y="4343400"/>
                        <a:ext cx="8545512" cy="1457325"/>
                      </a:xfrm>
                      <a:prstGeom prst="rect">
                        <a:avLst/>
                      </a:prstGeom>
                      <a:noFill/>
                      <a:ln>
                        <a:noFill/>
                      </a:ln>
                    </p:spPr>
                  </p:pic>
                </p:oleObj>
              </mc:Fallback>
            </mc:AlternateContent>
          </a:graphicData>
        </a:graphic>
      </p:graphicFrame>
      <p:sp>
        <p:nvSpPr>
          <p:cNvPr id="834" name="Google Shape;834;p6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65"/>
          <p:cNvSpPr txBox="1"/>
          <p:nvPr>
            <p:ph idx="1" type="body"/>
          </p:nvPr>
        </p:nvSpPr>
        <p:spPr>
          <a:xfrm>
            <a:off x="0" y="9144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Đổi trang ít sử dụng nhất trong thời gian cuối (LRU):</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Trang bị đổi là trang mà thời gian từ lần truy cập cuối cùng đến thời điểm hiện tại là lâu nhất (lâu rồi không truy cập thì thay thế)</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Theo nguyên tắc cục bộ về thời gian, đó chính là trang ít có khả năng sử dụng tới nhất trong tương lai</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Thực tế LRU cho kết quả tốt gần như phương pháp đổi trang tối ưu</a:t>
            </a:r>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41" name="Google Shape;841;p65"/>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3.2 Các chiến lược đổi trang</a:t>
            </a:r>
            <a:endParaRPr/>
          </a:p>
        </p:txBody>
      </p:sp>
      <p:sp>
        <p:nvSpPr>
          <p:cNvPr id="842" name="Google Shape;842;p6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43" name="Google Shape;843;p6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44" name="Google Shape;844;p6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45" name="Google Shape;845;p6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46" name="Google Shape;846;p6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847" name="Google Shape;847;p65"/>
          <p:cNvGraphicFramePr/>
          <p:nvPr/>
        </p:nvGraphicFramePr>
        <p:xfrm>
          <a:off x="190500" y="3810000"/>
          <a:ext cx="8801100" cy="1500187"/>
        </p:xfrm>
        <a:graphic>
          <a:graphicData uri="http://schemas.openxmlformats.org/presentationml/2006/ole">
            <mc:AlternateContent>
              <mc:Choice Requires="v">
                <p:oleObj r:id="rId4" imgH="1500187" imgW="8801100" progId="Visio.Drawing.11" spid="_x0000_s1">
                  <p:embed/>
                </p:oleObj>
              </mc:Choice>
              <mc:Fallback>
                <p:oleObj r:id="rId5" imgH="1500187" imgW="8801100" progId="Visio.Drawing.11">
                  <p:embed/>
                  <p:pic>
                    <p:nvPicPr>
                      <p:cNvPr id="847" name="Google Shape;847;p65"/>
                      <p:cNvPicPr preferRelativeResize="0"/>
                      <p:nvPr/>
                    </p:nvPicPr>
                    <p:blipFill rotWithShape="1">
                      <a:blip r:embed="rId6">
                        <a:alphaModFix/>
                      </a:blip>
                      <a:srcRect b="0" l="0" r="0" t="0"/>
                      <a:stretch/>
                    </p:blipFill>
                    <p:spPr>
                      <a:xfrm>
                        <a:off x="190500" y="3810000"/>
                        <a:ext cx="8801100" cy="1500187"/>
                      </a:xfrm>
                      <a:prstGeom prst="rect">
                        <a:avLst/>
                      </a:prstGeom>
                      <a:noFill/>
                      <a:ln>
                        <a:noFill/>
                      </a:ln>
                    </p:spPr>
                  </p:pic>
                </p:oleObj>
              </mc:Fallback>
            </mc:AlternateContent>
          </a:graphicData>
        </a:graphic>
      </p:graphicFrame>
      <p:sp>
        <p:nvSpPr>
          <p:cNvPr id="848" name="Google Shape;848;p6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66"/>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Đổi trang ít sử dụng nhất trong thời gian cuối (LRU):</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Xác định được trang có lần truy cập cuối diễn ra cách thời điểm hiện tại lâu nhất?</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Sử dụng biến đếm:</a:t>
            </a:r>
            <a:endParaRPr b="0" i="0" sz="1800" u="none" cap="none" strike="noStrike">
              <a:solidFill>
                <a:schemeClr val="dk2"/>
              </a:solidFill>
              <a:latin typeface="Times New Roman"/>
              <a:ea typeface="Times New Roman"/>
              <a:cs typeface="Times New Roman"/>
              <a:sym typeface="Times New Roman"/>
            </a:endParaRPr>
          </a:p>
          <a:p>
            <a:pPr indent="-228600" lvl="3" marL="1600200" marR="0" rtl="0" algn="l">
              <a:lnSpc>
                <a:spcPct val="100000"/>
              </a:lnSpc>
              <a:spcBef>
                <a:spcPts val="360"/>
              </a:spcBef>
              <a:spcAft>
                <a:spcPts val="0"/>
              </a:spcAft>
              <a:buClr>
                <a:schemeClr val="dk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Mỗi khoản mục của bảng phân trang sẽ có thêm một trường chứa thời gian truy cập trang lần cuối - Là thời gian logic</a:t>
            </a:r>
            <a:endParaRPr/>
          </a:p>
          <a:p>
            <a:pPr indent="-228600" lvl="3" marL="1600200" marR="0" rtl="0" algn="l">
              <a:lnSpc>
                <a:spcPct val="100000"/>
              </a:lnSpc>
              <a:spcBef>
                <a:spcPts val="360"/>
              </a:spcBef>
              <a:spcAft>
                <a:spcPts val="0"/>
              </a:spcAft>
              <a:buClr>
                <a:schemeClr val="dk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CPU cũng được thêm một bộ đếm thời gian lôgic này</a:t>
            </a:r>
            <a:endParaRPr/>
          </a:p>
          <a:p>
            <a:pPr indent="-228600" lvl="3" marL="1600200" marR="0" rtl="0" algn="l">
              <a:lnSpc>
                <a:spcPct val="100000"/>
              </a:lnSpc>
              <a:spcBef>
                <a:spcPts val="360"/>
              </a:spcBef>
              <a:spcAft>
                <a:spcPts val="0"/>
              </a:spcAft>
              <a:buClr>
                <a:schemeClr val="dk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Chỉ số của bộ đếm tăng mỗi khi xảy ra truy cập bộ nhớ</a:t>
            </a:r>
            <a:endParaRPr/>
          </a:p>
          <a:p>
            <a:pPr indent="-228600" lvl="3" marL="1600200" marR="0" rtl="0" algn="l">
              <a:lnSpc>
                <a:spcPct val="100000"/>
              </a:lnSpc>
              <a:spcBef>
                <a:spcPts val="360"/>
              </a:spcBef>
              <a:spcAft>
                <a:spcPts val="0"/>
              </a:spcAft>
              <a:buClr>
                <a:schemeClr val="dk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Mỗi khi một trang nhớ được truy cập, chỉ số của bộ đếm sẽ được ghi vào trường thời gian truy cập trong khoản mục của trang đó</a:t>
            </a:r>
            <a:endParaRPr/>
          </a:p>
          <a:p>
            <a:pPr indent="-228600" lvl="3" marL="1600200" marR="0" rtl="0" algn="l">
              <a:lnSpc>
                <a:spcPct val="100000"/>
              </a:lnSpc>
              <a:spcBef>
                <a:spcPts val="360"/>
              </a:spcBef>
              <a:spcAft>
                <a:spcPts val="0"/>
              </a:spcAft>
              <a:buClr>
                <a:schemeClr val="dk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=&gt; trường thời gian luôn chứa thời gian truy cập trang lần cuối</a:t>
            </a:r>
            <a:endParaRPr/>
          </a:p>
          <a:p>
            <a:pPr indent="-228600" lvl="3" marL="1600200" marR="0" rtl="0" algn="l">
              <a:lnSpc>
                <a:spcPct val="100000"/>
              </a:lnSpc>
              <a:spcBef>
                <a:spcPts val="360"/>
              </a:spcBef>
              <a:spcAft>
                <a:spcPts val="0"/>
              </a:spcAft>
              <a:buClr>
                <a:schemeClr val="dk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=&gt; trang bị đổi là trang có giá trị thời gian nhỏ nhất</a:t>
            </a:r>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55" name="Google Shape;855;p66"/>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3.2 Các chiến lược đổi trang</a:t>
            </a:r>
            <a:endParaRPr/>
          </a:p>
        </p:txBody>
      </p:sp>
      <p:sp>
        <p:nvSpPr>
          <p:cNvPr id="856" name="Google Shape;856;p6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57" name="Google Shape;857;p6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58" name="Google Shape;858;p6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59" name="Google Shape;859;p6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60" name="Google Shape;860;p6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61" name="Google Shape;861;p6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67"/>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Đổi trang ít sử dụng nhất trong thời gian cuối (LRU):</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Sử dụng ngăn xếp:</a:t>
            </a:r>
            <a:endParaRPr/>
          </a:p>
          <a:p>
            <a:pPr indent="-228600" lvl="3" marL="1600200" marR="0" rtl="0" algn="l">
              <a:lnSpc>
                <a:spcPct val="100000"/>
              </a:lnSpc>
              <a:spcBef>
                <a:spcPts val="360"/>
              </a:spcBef>
              <a:spcAft>
                <a:spcPts val="0"/>
              </a:spcAft>
              <a:buClr>
                <a:schemeClr val="dk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Ngăn xếp đặc biệt được sử dụng để chứa các số trang</a:t>
            </a:r>
            <a:endParaRPr/>
          </a:p>
          <a:p>
            <a:pPr indent="-228600" lvl="3" marL="1600200" marR="0" rtl="0" algn="l">
              <a:lnSpc>
                <a:spcPct val="100000"/>
              </a:lnSpc>
              <a:spcBef>
                <a:spcPts val="360"/>
              </a:spcBef>
              <a:spcAft>
                <a:spcPts val="0"/>
              </a:spcAft>
              <a:buClr>
                <a:schemeClr val="dk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Mỗi khi một trang nhớ được truy cập, số trang sẽ được chuyển lên đỉnh ngăn xếp</a:t>
            </a:r>
            <a:endParaRPr/>
          </a:p>
          <a:p>
            <a:pPr indent="-228600" lvl="3" marL="1600200" marR="0" rtl="0" algn="l">
              <a:lnSpc>
                <a:spcPct val="100000"/>
              </a:lnSpc>
              <a:spcBef>
                <a:spcPts val="360"/>
              </a:spcBef>
              <a:spcAft>
                <a:spcPts val="0"/>
              </a:spcAft>
              <a:buClr>
                <a:schemeClr val="dk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Đỉnh ngăn xếp sẽ chứa trang được truy cập gần đây nhất</a:t>
            </a:r>
            <a:endParaRPr/>
          </a:p>
          <a:p>
            <a:pPr indent="-228600" lvl="3" marL="1600200" marR="0" rtl="0" algn="l">
              <a:lnSpc>
                <a:spcPct val="100000"/>
              </a:lnSpc>
              <a:spcBef>
                <a:spcPts val="360"/>
              </a:spcBef>
              <a:spcAft>
                <a:spcPts val="0"/>
              </a:spcAft>
              <a:buClr>
                <a:schemeClr val="dk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Đáy ngăn xếp chính là trang LRU, tức là trang cần trao đổi</a:t>
            </a:r>
            <a:endParaRPr/>
          </a:p>
          <a:p>
            <a:pPr indent="-228600" lvl="3" marL="1600200" marR="0" rtl="0" algn="l">
              <a:lnSpc>
                <a:spcPct val="100000"/>
              </a:lnSpc>
              <a:spcBef>
                <a:spcPts val="360"/>
              </a:spcBef>
              <a:spcAft>
                <a:spcPts val="0"/>
              </a:spcAft>
              <a:buClr>
                <a:schemeClr val="dk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Tránh tìm kiếm trong bảng phân trang</a:t>
            </a:r>
            <a:endParaRPr/>
          </a:p>
          <a:p>
            <a:pPr indent="-228600" lvl="3" marL="1600200" marR="0" rtl="0" algn="l">
              <a:lnSpc>
                <a:spcPct val="100000"/>
              </a:lnSpc>
              <a:spcBef>
                <a:spcPts val="360"/>
              </a:spcBef>
              <a:spcAft>
                <a:spcPts val="0"/>
              </a:spcAft>
              <a:buClr>
                <a:schemeClr val="dk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Thích hợp thực hiện bằng phần mềm</a:t>
            </a:r>
            <a:endParaRPr/>
          </a:p>
          <a:p>
            <a:pPr indent="-127000" lvl="3" marL="1600200" marR="0" rtl="0" algn="l">
              <a:lnSpc>
                <a:spcPct val="100000"/>
              </a:lnSpc>
              <a:spcBef>
                <a:spcPts val="320"/>
              </a:spcBef>
              <a:spcAft>
                <a:spcPts val="0"/>
              </a:spcAft>
              <a:buClr>
                <a:schemeClr val="dk2"/>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68" name="Google Shape;868;p67"/>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3.2 Các chiến lược đổi trang</a:t>
            </a:r>
            <a:endParaRPr/>
          </a:p>
        </p:txBody>
      </p:sp>
      <p:sp>
        <p:nvSpPr>
          <p:cNvPr id="869" name="Google Shape;869;p6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70" name="Google Shape;870;p6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71" name="Google Shape;871;p6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72" name="Google Shape;872;p6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73" name="Google Shape;873;p6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74" name="Google Shape;874;p6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p68"/>
          <p:cNvSpPr txBox="1"/>
          <p:nvPr>
            <p:ph idx="1" type="body"/>
          </p:nvPr>
        </p:nvSpPr>
        <p:spPr>
          <a:xfrm>
            <a:off x="0" y="990600"/>
            <a:ext cx="9144000" cy="5867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Thuật toán đồng hồ (CLOCK):</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Cải tiến FIFO nhằm tránh thay những trang mặc dù đã được nạp vào lâu nhưng vẫn có khả năng sử dụng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Mỗi trang được gắn thêm 1 bit sử dụng U</a:t>
            </a:r>
            <a:endParaRPr b="0" i="0" sz="2200" u="none" cap="none" strike="noStrike">
              <a:solidFill>
                <a:schemeClr val="dk2"/>
              </a:solidFill>
              <a:latin typeface="Times New Roman"/>
              <a:ea typeface="Times New Roman"/>
              <a:cs typeface="Times New Roman"/>
              <a:sym typeface="Times New Roman"/>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Khi trang được truy cập đọc/ ghi: U = 1</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=&gt; ngay khi trang được đọc vào bộ nhớ: U =1</a:t>
            </a:r>
            <a:endParaRPr b="0" i="0" sz="1800" u="none" cap="none" strike="noStrik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Các khung có thể bị đổi (các trang tương ứng) được liên kết vào 1 danh sách vòng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Khi một trang nào đó bị đổi, con trỏ được dịch chuyển để trỏ vào trang tiếp theo trong danh sách</a:t>
            </a:r>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27000" lvl="3" marL="1600200" marR="0" rtl="0" algn="l">
              <a:lnSpc>
                <a:spcPct val="100000"/>
              </a:lnSpc>
              <a:spcBef>
                <a:spcPts val="320"/>
              </a:spcBef>
              <a:spcAft>
                <a:spcPts val="0"/>
              </a:spcAft>
              <a:buClr>
                <a:schemeClr val="dk2"/>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81" name="Google Shape;881;p68"/>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3.2 Các chiến lược đổi trang</a:t>
            </a:r>
            <a:endParaRPr/>
          </a:p>
        </p:txBody>
      </p:sp>
      <p:sp>
        <p:nvSpPr>
          <p:cNvPr id="882" name="Google Shape;882;p6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83" name="Google Shape;883;p6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84" name="Google Shape;884;p6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85" name="Google Shape;885;p6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86" name="Google Shape;886;p6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87" name="Google Shape;887;p6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69"/>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Thuật toán đồng hồ (CLOCK):</a:t>
            </a:r>
            <a:endParaRPr b="0" i="0" sz="24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Khi có nhu cầu đổi trang, HDH kiểm tra trang đang bị trỏ tới</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Nếu U=0: trang sẽ bị đổi ngay</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Nếu U=1: đặt U=0 và trỏ sang trang tiếp theo, lặp lại quá trình</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Nếu U của tất cả các trang trong danh sách =1 thì con trỏ sẽ quay đúng 1 vòng, đặt U của tất cả các trang =0 và trang hiện thời đang bị trỏ sẽ bị đổi</a:t>
            </a:r>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27000" lvl="3" marL="1600200" marR="0" rtl="0" algn="l">
              <a:lnSpc>
                <a:spcPct val="100000"/>
              </a:lnSpc>
              <a:spcBef>
                <a:spcPts val="320"/>
              </a:spcBef>
              <a:spcAft>
                <a:spcPts val="0"/>
              </a:spcAft>
              <a:buClr>
                <a:schemeClr val="dk2"/>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894" name="Google Shape;894;p69"/>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3.2 Các chiến lược đổi trang</a:t>
            </a:r>
            <a:endParaRPr/>
          </a:p>
        </p:txBody>
      </p:sp>
      <p:sp>
        <p:nvSpPr>
          <p:cNvPr id="895" name="Google Shape;895;p6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96" name="Google Shape;896;p6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97" name="Google Shape;897;p6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98" name="Google Shape;898;p6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899" name="Google Shape;899;p6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00" name="Google Shape;900;p6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70"/>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Thuật toán đồng hồ (CLOCK):</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Cần nạp trang 727</a:t>
            </a:r>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27000" lvl="3" marL="1600200" marR="0" rtl="0" algn="l">
              <a:lnSpc>
                <a:spcPct val="100000"/>
              </a:lnSpc>
              <a:spcBef>
                <a:spcPts val="320"/>
              </a:spcBef>
              <a:spcAft>
                <a:spcPts val="0"/>
              </a:spcAft>
              <a:buClr>
                <a:schemeClr val="dk2"/>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07" name="Google Shape;907;p70"/>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3.2 Các chiến lược đổi trang</a:t>
            </a:r>
            <a:endParaRPr/>
          </a:p>
        </p:txBody>
      </p:sp>
      <p:sp>
        <p:nvSpPr>
          <p:cNvPr id="908" name="Google Shape;908;p7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09" name="Google Shape;909;p7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10" name="Google Shape;910;p7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11" name="Google Shape;911;p7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12" name="Google Shape;912;p7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13" name="Google Shape;913;p7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14" name="Google Shape;914;p7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15" name="Google Shape;915;p7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916" name="Google Shape;916;p70"/>
          <p:cNvGraphicFramePr/>
          <p:nvPr/>
        </p:nvGraphicFramePr>
        <p:xfrm>
          <a:off x="-152400" y="4648200"/>
          <a:ext cx="9164637" cy="1577975"/>
        </p:xfrm>
        <a:graphic>
          <a:graphicData uri="http://schemas.openxmlformats.org/presentationml/2006/ole">
            <mc:AlternateContent>
              <mc:Choice Requires="v">
                <p:oleObj r:id="rId4" imgH="1577975" imgW="9164637" progId="Visio.Drawing.11" spid="_x0000_s1">
                  <p:embed/>
                </p:oleObj>
              </mc:Choice>
              <mc:Fallback>
                <p:oleObj r:id="rId5" imgH="1577975" imgW="9164637" progId="Visio.Drawing.11">
                  <p:embed/>
                  <p:pic>
                    <p:nvPicPr>
                      <p:cNvPr id="916" name="Google Shape;916;p70"/>
                      <p:cNvPicPr preferRelativeResize="0"/>
                      <p:nvPr/>
                    </p:nvPicPr>
                    <p:blipFill rotWithShape="1">
                      <a:blip r:embed="rId6">
                        <a:alphaModFix/>
                      </a:blip>
                      <a:srcRect b="0" l="0" r="0" t="0"/>
                      <a:stretch/>
                    </p:blipFill>
                    <p:spPr>
                      <a:xfrm>
                        <a:off x="-152400" y="4648200"/>
                        <a:ext cx="9164637" cy="1577975"/>
                      </a:xfrm>
                      <a:prstGeom prst="rect">
                        <a:avLst/>
                      </a:prstGeom>
                      <a:noFill/>
                      <a:ln>
                        <a:noFill/>
                      </a:ln>
                    </p:spPr>
                  </p:pic>
                </p:oleObj>
              </mc:Fallback>
            </mc:AlternateContent>
          </a:graphicData>
        </a:graphic>
      </p:graphicFrame>
      <p:sp>
        <p:nvSpPr>
          <p:cNvPr id="917" name="Google Shape;917;p7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918" name="Google Shape;918;p70"/>
          <p:cNvGraphicFramePr/>
          <p:nvPr/>
        </p:nvGraphicFramePr>
        <p:xfrm>
          <a:off x="2016125" y="1219200"/>
          <a:ext cx="6823075" cy="3543300"/>
        </p:xfrm>
        <a:graphic>
          <a:graphicData uri="http://schemas.openxmlformats.org/presentationml/2006/ole">
            <mc:AlternateContent>
              <mc:Choice Requires="v">
                <p:oleObj r:id="rId7" imgH="3543300" imgW="6823075" progId="Visio.Drawing.11" spid="_x0000_s2">
                  <p:embed/>
                </p:oleObj>
              </mc:Choice>
              <mc:Fallback>
                <p:oleObj r:id="rId8" imgH="3543300" imgW="6823075" progId="Visio.Drawing.11">
                  <p:embed/>
                  <p:pic>
                    <p:nvPicPr>
                      <p:cNvPr id="918" name="Google Shape;918;p70"/>
                      <p:cNvPicPr preferRelativeResize="0"/>
                      <p:nvPr/>
                    </p:nvPicPr>
                    <p:blipFill rotWithShape="1">
                      <a:blip r:embed="rId9">
                        <a:alphaModFix/>
                      </a:blip>
                      <a:srcRect b="0" l="0" r="0" t="0"/>
                      <a:stretch/>
                    </p:blipFill>
                    <p:spPr>
                      <a:xfrm>
                        <a:off x="2016125" y="1219200"/>
                        <a:ext cx="6823075" cy="3543300"/>
                      </a:xfrm>
                      <a:prstGeom prst="rect">
                        <a:avLst/>
                      </a:prstGeom>
                      <a:noFill/>
                      <a:ln>
                        <a:noFill/>
                      </a:ln>
                    </p:spPr>
                  </p:pic>
                </p:oleObj>
              </mc:Fallback>
            </mc:AlternateContent>
          </a:graphicData>
        </a:graphic>
      </p:graphicFrame>
      <p:sp>
        <p:nvSpPr>
          <p:cNvPr id="919" name="Google Shape;919;p7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20" name="Google Shape;920;p70"/>
          <p:cNvSpPr txBox="1"/>
          <p:nvPr/>
        </p:nvSpPr>
        <p:spPr>
          <a:xfrm>
            <a:off x="6629400" y="5192712"/>
            <a:ext cx="762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71"/>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Thuật toán đồng hồ (CLOCK):</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Căn cứ vào 2 thông tin để đưa ra quyết định đổi trang:</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Thời gian trang được tải vào, thể hiện qua vị trí trang trong danh sách giống như FIFO</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Gần đây trang có được sử dụng hay không, thể hiện qua bit U</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Việc kiểm tra thêm bit U tương tự việc cho trang thêm khả năng được giữ trong bộ nhớ</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=&gt; thuật toán cơ hội thứ 2</a:t>
            </a:r>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27000" lvl="3" marL="1600200" marR="0" rtl="0" algn="l">
              <a:lnSpc>
                <a:spcPct val="100000"/>
              </a:lnSpc>
              <a:spcBef>
                <a:spcPts val="320"/>
              </a:spcBef>
              <a:spcAft>
                <a:spcPts val="0"/>
              </a:spcAft>
              <a:buClr>
                <a:schemeClr val="dk2"/>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27" name="Google Shape;927;p71"/>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3.2 Các chiến lược đổi trang</a:t>
            </a:r>
            <a:endParaRPr/>
          </a:p>
        </p:txBody>
      </p:sp>
      <p:sp>
        <p:nvSpPr>
          <p:cNvPr id="928" name="Google Shape;928;p7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29" name="Google Shape;929;p7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30" name="Google Shape;930;p7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31" name="Google Shape;931;p7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32" name="Google Shape;932;p7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33" name="Google Shape;933;p7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72"/>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Thuật toán đồng hồ cải tiến:</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Sử dụng thêm thông tin về việc nội dung trang có bị thay đổi hay không bằng bit M</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Kết hợp bit U và M, có 4 khả năng:</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U=0, M=0: trang gần đây không được truy cập và nội dung cũng không bị thay đổi, rất thích hợp để bị đổi ra ngoài</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U=0, M=1: trang có nội dung thay đổi nhưng gần đây không được truy cập, cũng là ứng viên để đổi ra ngoài</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U=1, M=0: trang mới được truy cập gần đây và do vậy  theo nguyên lý cục bộ về thời gian có thể sắp được truy cập tiếp</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U=1, M=1: trang có nội dung bị thay đổi và mới được truy cập gần đây, chưa thật thích hợp để đổi</a:t>
            </a:r>
            <a:endParaRPr b="0" i="0" sz="1800" u="none" cap="none" strike="noStrik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27000" lvl="3" marL="1600200" marR="0" rtl="0" algn="l">
              <a:lnSpc>
                <a:spcPct val="100000"/>
              </a:lnSpc>
              <a:spcBef>
                <a:spcPts val="320"/>
              </a:spcBef>
              <a:spcAft>
                <a:spcPts val="0"/>
              </a:spcAft>
              <a:buClr>
                <a:schemeClr val="dk2"/>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40" name="Google Shape;940;p72"/>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3.2 Các chiến lược đổi trang</a:t>
            </a:r>
            <a:endParaRPr/>
          </a:p>
        </p:txBody>
      </p:sp>
      <p:sp>
        <p:nvSpPr>
          <p:cNvPr id="941" name="Google Shape;941;p7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42" name="Google Shape;942;p7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43" name="Google Shape;943;p7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44" name="Google Shape;944;p7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45" name="Google Shape;945;p7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46" name="Google Shape;946;p7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73"/>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Thuật toán đồng hồ cải tiến:</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Các bước thực hiện đổi trang:</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Bước 1:</a:t>
            </a:r>
            <a:endParaRPr/>
          </a:p>
          <a:p>
            <a:pPr indent="-228600" lvl="3" marL="1600200" marR="0" rtl="0" algn="l">
              <a:lnSpc>
                <a:spcPct val="100000"/>
              </a:lnSpc>
              <a:spcBef>
                <a:spcPts val="360"/>
              </a:spcBef>
              <a:spcAft>
                <a:spcPts val="0"/>
              </a:spcAft>
              <a:buClr>
                <a:schemeClr val="dk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Bắt đầu từ vị trí hiện tại của con trỏ, kiểm tra các trang</a:t>
            </a:r>
            <a:endParaRPr/>
          </a:p>
          <a:p>
            <a:pPr indent="-228600" lvl="3" marL="1600200" marR="0" rtl="0" algn="l">
              <a:lnSpc>
                <a:spcPct val="100000"/>
              </a:lnSpc>
              <a:spcBef>
                <a:spcPts val="360"/>
              </a:spcBef>
              <a:spcAft>
                <a:spcPts val="0"/>
              </a:spcAft>
              <a:buClr>
                <a:schemeClr val="dk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Trang đầu tiên có U=0 và M=0 sẽ bị đổi</a:t>
            </a:r>
            <a:endParaRPr/>
          </a:p>
          <a:p>
            <a:pPr indent="-228600" lvl="3" marL="1600200" marR="0" rtl="0" algn="l">
              <a:lnSpc>
                <a:spcPct val="100000"/>
              </a:lnSpc>
              <a:spcBef>
                <a:spcPts val="360"/>
              </a:spcBef>
              <a:spcAft>
                <a:spcPts val="0"/>
              </a:spcAft>
              <a:buClr>
                <a:schemeClr val="dk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Chỉ kiểm tra mà không thay đổi nội dung bit U, bit M</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Bước 2:</a:t>
            </a:r>
            <a:endParaRPr/>
          </a:p>
          <a:p>
            <a:pPr indent="-228600" lvl="3" marL="1600200" marR="0" rtl="0" algn="l">
              <a:lnSpc>
                <a:spcPct val="100000"/>
              </a:lnSpc>
              <a:spcBef>
                <a:spcPts val="360"/>
              </a:spcBef>
              <a:spcAft>
                <a:spcPts val="0"/>
              </a:spcAft>
              <a:buClr>
                <a:schemeClr val="dk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Nếu quay hết 1 vòng mà không tìm được trang có U và M bằng 0 thì quét lại danh sách lần 2</a:t>
            </a:r>
            <a:endParaRPr/>
          </a:p>
          <a:p>
            <a:pPr indent="-228600" lvl="3" marL="1600200" marR="0" rtl="0" algn="l">
              <a:lnSpc>
                <a:spcPct val="100000"/>
              </a:lnSpc>
              <a:spcBef>
                <a:spcPts val="360"/>
              </a:spcBef>
              <a:spcAft>
                <a:spcPts val="0"/>
              </a:spcAft>
              <a:buClr>
                <a:schemeClr val="dk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Trang đầu tiên có U=0, M=1 sẽ bị đổi</a:t>
            </a:r>
            <a:endParaRPr/>
          </a:p>
          <a:p>
            <a:pPr indent="-228600" lvl="3" marL="1600200" marR="0" rtl="0" algn="l">
              <a:lnSpc>
                <a:spcPct val="100000"/>
              </a:lnSpc>
              <a:spcBef>
                <a:spcPts val="360"/>
              </a:spcBef>
              <a:spcAft>
                <a:spcPts val="0"/>
              </a:spcAft>
              <a:buClr>
                <a:schemeClr val="dk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Đặt bit U của những trang đã quét đến nhưng được bỏ qua là 0</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Nếu chưa tìm được thì lặp lại bước 1 và cả bước 2 nếu cần</a:t>
            </a:r>
            <a:endParaRPr b="0" i="0" sz="1800" u="none" cap="none" strike="noStrik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27000" lvl="3" marL="1600200" marR="0" rtl="0" algn="l">
              <a:lnSpc>
                <a:spcPct val="100000"/>
              </a:lnSpc>
              <a:spcBef>
                <a:spcPts val="320"/>
              </a:spcBef>
              <a:spcAft>
                <a:spcPts val="0"/>
              </a:spcAft>
              <a:buClr>
                <a:schemeClr val="dk2"/>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53" name="Google Shape;953;p73"/>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3.2 Các chiến lược đổi trang</a:t>
            </a:r>
            <a:endParaRPr/>
          </a:p>
        </p:txBody>
      </p:sp>
      <p:sp>
        <p:nvSpPr>
          <p:cNvPr id="954" name="Google Shape;954;p7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55" name="Google Shape;955;p7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56" name="Google Shape;956;p7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57" name="Google Shape;957;p7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58" name="Google Shape;958;p7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59" name="Google Shape;959;p7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4" name="Shape 964"/>
        <p:cNvGrpSpPr/>
        <p:nvPr/>
      </p:nvGrpSpPr>
      <p:grpSpPr>
        <a:xfrm>
          <a:off x="0" y="0"/>
          <a:ext cx="0" cy="0"/>
          <a:chOff x="0" y="0"/>
          <a:chExt cx="0" cy="0"/>
        </a:xfrm>
      </p:grpSpPr>
      <p:sp>
        <p:nvSpPr>
          <p:cNvPr id="965" name="Google Shape;965;p74"/>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HDH dành ra một số khung trống được kết nối thành danh sách liên kết gọi là các trang đệm</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Trang bị đổi như bình thường nhưng nội dung trang này không bị xóa ngay khỏi bộ nhớ</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Khung chứa trang được đánh dấu là khung trống và thêm vào cuối danh sách trang đệm</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Trang mới sẽ được nạp vào khung đứng đầu trong danh sách trang đệm</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Tới thời điểm thích hợp, hệ thống sẽ ghi nội dung các trang trong danh sách đệm ra đĩa</a:t>
            </a:r>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50800" lvl="2" marL="1143000"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50800" lvl="3" marL="1600200" marR="0" rtl="0" algn="l">
              <a:lnSpc>
                <a:spcPct val="100000"/>
              </a:lnSpc>
              <a:spcBef>
                <a:spcPts val="560"/>
              </a:spcBef>
              <a:spcAft>
                <a:spcPts val="0"/>
              </a:spcAft>
              <a:buClr>
                <a:schemeClr val="dk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66" name="Google Shape;966;p74"/>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3.3 Sử dụng đệm trang</a:t>
            </a:r>
            <a:endParaRPr/>
          </a:p>
        </p:txBody>
      </p:sp>
      <p:sp>
        <p:nvSpPr>
          <p:cNvPr id="967" name="Google Shape;967;p7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68" name="Google Shape;968;p7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69" name="Google Shape;969;p7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70" name="Google Shape;970;p7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71" name="Google Shape;971;p7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72" name="Google Shape;972;p7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5">
                                            <p:txEl>
                                              <p:pRg end="0" st="0"/>
                                            </p:txEl>
                                          </p:spTgt>
                                        </p:tgtEl>
                                        <p:attrNameLst>
                                          <p:attrName>style.visibility</p:attrName>
                                        </p:attrNameLst>
                                      </p:cBhvr>
                                      <p:to>
                                        <p:strVal val="visible"/>
                                      </p:to>
                                    </p:set>
                                    <p:animEffect filter="fade" transition="in">
                                      <p:cBhvr>
                                        <p:cTn dur="500"/>
                                        <p:tgtEl>
                                          <p:spTgt spid="96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5">
                                            <p:txEl>
                                              <p:pRg end="1" st="1"/>
                                            </p:txEl>
                                          </p:spTgt>
                                        </p:tgtEl>
                                        <p:attrNameLst>
                                          <p:attrName>style.visibility</p:attrName>
                                        </p:attrNameLst>
                                      </p:cBhvr>
                                      <p:to>
                                        <p:strVal val="visible"/>
                                      </p:to>
                                    </p:set>
                                    <p:animEffect filter="fade" transition="in">
                                      <p:cBhvr>
                                        <p:cTn dur="500"/>
                                        <p:tgtEl>
                                          <p:spTgt spid="96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5">
                                            <p:txEl>
                                              <p:pRg end="2" st="2"/>
                                            </p:txEl>
                                          </p:spTgt>
                                        </p:tgtEl>
                                        <p:attrNameLst>
                                          <p:attrName>style.visibility</p:attrName>
                                        </p:attrNameLst>
                                      </p:cBhvr>
                                      <p:to>
                                        <p:strVal val="visible"/>
                                      </p:to>
                                    </p:set>
                                    <p:animEffect filter="fade" transition="in">
                                      <p:cBhvr>
                                        <p:cTn dur="500"/>
                                        <p:tgtEl>
                                          <p:spTgt spid="96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5">
                                            <p:txEl>
                                              <p:pRg end="3" st="3"/>
                                            </p:txEl>
                                          </p:spTgt>
                                        </p:tgtEl>
                                        <p:attrNameLst>
                                          <p:attrName>style.visibility</p:attrName>
                                        </p:attrNameLst>
                                      </p:cBhvr>
                                      <p:to>
                                        <p:strVal val="visible"/>
                                      </p:to>
                                    </p:set>
                                    <p:animEffect filter="fade" transition="in">
                                      <p:cBhvr>
                                        <p:cTn dur="500"/>
                                        <p:tgtEl>
                                          <p:spTgt spid="96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5">
                                            <p:txEl>
                                              <p:pRg end="4" st="4"/>
                                            </p:txEl>
                                          </p:spTgt>
                                        </p:tgtEl>
                                        <p:attrNameLst>
                                          <p:attrName>style.visibility</p:attrName>
                                        </p:attrNameLst>
                                      </p:cBhvr>
                                      <p:to>
                                        <p:strVal val="visible"/>
                                      </p:to>
                                    </p:set>
                                    <p:animEffect filter="fade" transition="in">
                                      <p:cBhvr>
                                        <p:cTn dur="500"/>
                                        <p:tgtEl>
                                          <p:spTgt spid="96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5">
                                            <p:txEl>
                                              <p:pRg end="5" st="5"/>
                                            </p:txEl>
                                          </p:spTgt>
                                        </p:tgtEl>
                                        <p:attrNameLst>
                                          <p:attrName>style.visibility</p:attrName>
                                        </p:attrNameLst>
                                      </p:cBhvr>
                                      <p:to>
                                        <p:strVal val="visible"/>
                                      </p:to>
                                    </p:set>
                                    <p:animEffect filter="fade" transition="in">
                                      <p:cBhvr>
                                        <p:cTn dur="500"/>
                                        <p:tgtEl>
                                          <p:spTgt spid="96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5">
                                            <p:txEl>
                                              <p:pRg end="6" st="6"/>
                                            </p:txEl>
                                          </p:spTgt>
                                        </p:tgtEl>
                                        <p:attrNameLst>
                                          <p:attrName>style.visibility</p:attrName>
                                        </p:attrNameLst>
                                      </p:cBhvr>
                                      <p:to>
                                        <p:strVal val="visible"/>
                                      </p:to>
                                    </p:set>
                                    <p:animEffect filter="fade" transition="in">
                                      <p:cBhvr>
                                        <p:cTn dur="500"/>
                                        <p:tgtEl>
                                          <p:spTgt spid="96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5">
                                            <p:txEl>
                                              <p:pRg end="7" st="7"/>
                                            </p:txEl>
                                          </p:spTgt>
                                        </p:tgtEl>
                                        <p:attrNameLst>
                                          <p:attrName>style.visibility</p:attrName>
                                        </p:attrNameLst>
                                      </p:cBhvr>
                                      <p:to>
                                        <p:strVal val="visible"/>
                                      </p:to>
                                    </p:set>
                                    <p:animEffect filter="fade" transition="in">
                                      <p:cBhvr>
                                        <p:cTn dur="500"/>
                                        <p:tgtEl>
                                          <p:spTgt spid="96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5">
                                            <p:txEl>
                                              <p:pRg end="8" st="8"/>
                                            </p:txEl>
                                          </p:spTgt>
                                        </p:tgtEl>
                                        <p:attrNameLst>
                                          <p:attrName>style.visibility</p:attrName>
                                        </p:attrNameLst>
                                      </p:cBhvr>
                                      <p:to>
                                        <p:strVal val="visible"/>
                                      </p:to>
                                    </p:set>
                                    <p:animEffect filter="fade" transition="in">
                                      <p:cBhvr>
                                        <p:cTn dur="500"/>
                                        <p:tgtEl>
                                          <p:spTgt spid="96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5">
                                            <p:txEl>
                                              <p:pRg end="9" st="9"/>
                                            </p:txEl>
                                          </p:spTgt>
                                        </p:tgtEl>
                                        <p:attrNameLst>
                                          <p:attrName>style.visibility</p:attrName>
                                        </p:attrNameLst>
                                      </p:cBhvr>
                                      <p:to>
                                        <p:strVal val="visible"/>
                                      </p:to>
                                    </p:set>
                                    <p:animEffect filter="fade" transition="in">
                                      <p:cBhvr>
                                        <p:cTn dur="500"/>
                                        <p:tgtEl>
                                          <p:spTgt spid="96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5">
                                            <p:txEl>
                                              <p:pRg end="10" st="10"/>
                                            </p:txEl>
                                          </p:spTgt>
                                        </p:tgtEl>
                                        <p:attrNameLst>
                                          <p:attrName>style.visibility</p:attrName>
                                        </p:attrNameLst>
                                      </p:cBhvr>
                                      <p:to>
                                        <p:strVal val="visible"/>
                                      </p:to>
                                    </p:set>
                                    <p:animEffect filter="fade" transition="in">
                                      <p:cBhvr>
                                        <p:cTn dur="500"/>
                                        <p:tgtEl>
                                          <p:spTgt spid="96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5">
                                            <p:txEl>
                                              <p:pRg end="11" st="11"/>
                                            </p:txEl>
                                          </p:spTgt>
                                        </p:tgtEl>
                                        <p:attrNameLst>
                                          <p:attrName>style.visibility</p:attrName>
                                        </p:attrNameLst>
                                      </p:cBhvr>
                                      <p:to>
                                        <p:strVal val="visible"/>
                                      </p:to>
                                    </p:set>
                                    <p:animEffect filter="fade" transition="in">
                                      <p:cBhvr>
                                        <p:cTn dur="500"/>
                                        <p:tgtEl>
                                          <p:spTgt spid="96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5">
                                            <p:txEl>
                                              <p:pRg end="12" st="12"/>
                                            </p:txEl>
                                          </p:spTgt>
                                        </p:tgtEl>
                                        <p:attrNameLst>
                                          <p:attrName>style.visibility</p:attrName>
                                        </p:attrNameLst>
                                      </p:cBhvr>
                                      <p:to>
                                        <p:strVal val="visible"/>
                                      </p:to>
                                    </p:set>
                                    <p:animEffect filter="fade" transition="in">
                                      <p:cBhvr>
                                        <p:cTn dur="500"/>
                                        <p:tgtEl>
                                          <p:spTgt spid="96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5">
                                            <p:txEl>
                                              <p:pRg end="13" st="13"/>
                                            </p:txEl>
                                          </p:spTgt>
                                        </p:tgtEl>
                                        <p:attrNameLst>
                                          <p:attrName>style.visibility</p:attrName>
                                        </p:attrNameLst>
                                      </p:cBhvr>
                                      <p:to>
                                        <p:strVal val="visible"/>
                                      </p:to>
                                    </p:set>
                                    <p:animEffect filter="fade" transition="in">
                                      <p:cBhvr>
                                        <p:cTn dur="500"/>
                                        <p:tgtEl>
                                          <p:spTgt spid="965">
                                            <p:txEl>
                                              <p:pRg end="13" st="1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sp>
        <p:nvSpPr>
          <p:cNvPr id="978" name="Google Shape;978;p75"/>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Kỹ thuật đệm trang cho phép cải tiến tốc độ:</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Nếu trang bị đổi có nội dung cần ghi ra đĩa, HDH vẫn có thể nạp trang mới vào ngay</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Việc ghi ra đĩa sẽ được lùi lại tới một thời điểm sau</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Thao tác ghi ra đĩa có thể thực hiện đồng thời với nhiều trang nằm trong danh sách được đánh dấu trống.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Trang bị đổi vẫn được giữ trong bộ nhớ một thời gian:</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Nếu có yêu cầu truy cập trong thời gian này, trang sẽ được lấy ra từ danh sách đệm và sử dụng ngay mà không cần nạp lại từ đĩa</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=&gt; Vùng đệm đóng vai trò giống như bộ nhớ cache</a:t>
            </a:r>
            <a:endParaRPr b="0" i="0" sz="18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50800" lvl="2" marL="1143000"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50800" lvl="3" marL="1600200" marR="0" rtl="0" algn="l">
              <a:lnSpc>
                <a:spcPct val="100000"/>
              </a:lnSpc>
              <a:spcBef>
                <a:spcPts val="560"/>
              </a:spcBef>
              <a:spcAft>
                <a:spcPts val="0"/>
              </a:spcAft>
              <a:buClr>
                <a:schemeClr val="dk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979" name="Google Shape;979;p75"/>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 BỘ NHỚ ẢO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3.3 Sử dụng đệm trang</a:t>
            </a:r>
            <a:endParaRPr/>
          </a:p>
        </p:txBody>
      </p:sp>
      <p:sp>
        <p:nvSpPr>
          <p:cNvPr id="980" name="Google Shape;980;p7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81" name="Google Shape;981;p7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82" name="Google Shape;982;p7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83" name="Google Shape;983;p7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84" name="Google Shape;984;p7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85" name="Google Shape;985;p7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0" name="Shape 990"/>
        <p:cNvGrpSpPr/>
        <p:nvPr/>
      </p:nvGrpSpPr>
      <p:grpSpPr>
        <a:xfrm>
          <a:off x="0" y="0"/>
          <a:ext cx="0" cy="0"/>
          <a:chOff x="0" y="0"/>
          <a:chExt cx="0" cy="0"/>
        </a:xfrm>
      </p:grpSpPr>
      <p:sp>
        <p:nvSpPr>
          <p:cNvPr id="991" name="Google Shape;991;p76"/>
          <p:cNvSpPr txBox="1"/>
          <p:nvPr>
            <p:ph idx="1" type="body"/>
          </p:nvPr>
        </p:nvSpPr>
        <p:spPr>
          <a:xfrm>
            <a:off x="0" y="838200"/>
            <a:ext cx="8915400" cy="5715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Với bộ nhớ ảo, tiến trình không nhất thiết phải nằm hoàn toàn trong bộ nhớ máy tính. Một số trang của tiến trình được cấp phát khung nhớ trong khi một số trang khác nằm tạm trên đĩa.</a:t>
            </a:r>
            <a:endParaRPr/>
          </a:p>
          <a:p>
            <a:pPr indent="-342900" lvl="0" marL="342900" marR="0" rtl="0" algn="just">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HDH cấp phát bao nhiêu khung cho mỗi tiến trình?</a:t>
            </a:r>
            <a:endParaRPr/>
          </a:p>
          <a:p>
            <a:pPr indent="-342900" lvl="0" marL="342900" marR="0" rtl="0" algn="just">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Khi số lượng khung tối đa cấp cho tiến trình </a:t>
            </a:r>
            <a:r>
              <a:rPr b="1" i="0" lang="en-US" sz="2600" u="none">
                <a:solidFill>
                  <a:schemeClr val="dk2"/>
                </a:solidFill>
                <a:latin typeface="Times New Roman"/>
                <a:ea typeface="Times New Roman"/>
                <a:cs typeface="Times New Roman"/>
                <a:sym typeface="Times New Roman"/>
              </a:rPr>
              <a:t>giảm</a:t>
            </a:r>
            <a:r>
              <a:rPr b="0" i="0" lang="en-US" sz="2600" u="none">
                <a:solidFill>
                  <a:schemeClr val="dk2"/>
                </a:solidFill>
                <a:latin typeface="Times New Roman"/>
                <a:ea typeface="Times New Roman"/>
                <a:cs typeface="Times New Roman"/>
                <a:sym typeface="Times New Roman"/>
              </a:rPr>
              <a:t> tới mức nào đó, lỗi thiếu trang diễn ra thường xuyên</a:t>
            </a:r>
            <a:endParaRPr/>
          </a:p>
          <a:p>
            <a:pPr indent="-342900" lvl="0" marL="342900" marR="0" rtl="0" algn="just">
              <a:lnSpc>
                <a:spcPct val="100000"/>
              </a:lnSpc>
              <a:spcBef>
                <a:spcPts val="520"/>
              </a:spcBef>
              <a:spcAft>
                <a:spcPts val="0"/>
              </a:spcAft>
              <a:buClr>
                <a:schemeClr val="dk2"/>
              </a:buClr>
              <a:buSzPts val="2600"/>
              <a:buFont typeface="Noto Sans Symbols"/>
              <a:buNone/>
            </a:pPr>
            <a:r>
              <a:rPr b="0" i="0" lang="en-US" sz="2600" u="none">
                <a:solidFill>
                  <a:schemeClr val="dk2"/>
                </a:solidFill>
                <a:latin typeface="Times New Roman"/>
                <a:ea typeface="Times New Roman"/>
                <a:cs typeface="Times New Roman"/>
                <a:sym typeface="Times New Roman"/>
              </a:rPr>
              <a:t>    =&gt; Đặt giới hạn tối thiểu các khung cấp phát cho tiến trình</a:t>
            </a:r>
            <a:endParaRPr/>
          </a:p>
          <a:p>
            <a:pPr indent="-342900" lvl="0" marL="342900" marR="0" rtl="0" algn="just">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Khi số lượng khung cấp cho tiến trình </a:t>
            </a:r>
            <a:r>
              <a:rPr b="1" i="0" lang="en-US" sz="2600" u="none">
                <a:solidFill>
                  <a:schemeClr val="dk2"/>
                </a:solidFill>
                <a:latin typeface="Times New Roman"/>
                <a:ea typeface="Times New Roman"/>
                <a:cs typeface="Times New Roman"/>
                <a:sym typeface="Times New Roman"/>
              </a:rPr>
              <a:t>tăng</a:t>
            </a:r>
            <a:r>
              <a:rPr b="0" i="0" lang="en-US" sz="2600" u="none">
                <a:solidFill>
                  <a:schemeClr val="dk2"/>
                </a:solidFill>
                <a:latin typeface="Times New Roman"/>
                <a:ea typeface="Times New Roman"/>
                <a:cs typeface="Times New Roman"/>
                <a:sym typeface="Times New Roman"/>
              </a:rPr>
              <a:t> tới mức nào đó thì việc tăng thêm khung cho tiến trình không làm giảm đáng kể tần suất thiếu trang nữa</a:t>
            </a:r>
            <a:endParaRPr/>
          </a:p>
          <a:p>
            <a:pPr indent="-342900" lvl="0" marL="342900" marR="0" rtl="0" algn="just">
              <a:lnSpc>
                <a:spcPct val="100000"/>
              </a:lnSpc>
              <a:spcBef>
                <a:spcPts val="52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=&gt; Cấp phát số lượng khung cố định và số lượng khung thay đổi.</a:t>
            </a:r>
            <a:endParaRPr/>
          </a:p>
          <a:p>
            <a:pPr indent="-177800" lvl="0" marL="342900" marR="0" rtl="0" algn="l">
              <a:spcBef>
                <a:spcPts val="520"/>
              </a:spcBef>
              <a:spcAft>
                <a:spcPts val="0"/>
              </a:spcAft>
              <a:buClr>
                <a:schemeClr val="dk2"/>
              </a:buClr>
              <a:buSzPts val="2600"/>
              <a:buFont typeface="Noto Sans Symbols"/>
              <a:buNone/>
            </a:pPr>
            <a:r>
              <a:t/>
            </a:r>
            <a:endParaRPr b="0" i="0" sz="2600" u="none">
              <a:solidFill>
                <a:schemeClr val="dk2"/>
              </a:solidFill>
              <a:latin typeface="Times New Roman"/>
              <a:ea typeface="Times New Roman"/>
              <a:cs typeface="Times New Roman"/>
              <a:sym typeface="Times New Roman"/>
            </a:endParaRPr>
          </a:p>
        </p:txBody>
      </p:sp>
      <p:sp>
        <p:nvSpPr>
          <p:cNvPr id="992" name="Google Shape;992;p76"/>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 CẤP PHÁT KHUNG TRANG</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1. Giới hạn khung</a:t>
            </a:r>
            <a:endParaRPr/>
          </a:p>
        </p:txBody>
      </p:sp>
      <p:sp>
        <p:nvSpPr>
          <p:cNvPr id="993" name="Google Shape;993;p7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94" name="Google Shape;994;p7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95" name="Google Shape;995;p7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96" name="Google Shape;996;p7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97" name="Google Shape;997;p7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98" name="Google Shape;998;p7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1">
                                            <p:txEl>
                                              <p:pRg end="0" st="0"/>
                                            </p:txEl>
                                          </p:spTgt>
                                        </p:tgtEl>
                                        <p:attrNameLst>
                                          <p:attrName>style.visibility</p:attrName>
                                        </p:attrNameLst>
                                      </p:cBhvr>
                                      <p:to>
                                        <p:strVal val="visible"/>
                                      </p:to>
                                    </p:set>
                                    <p:animEffect filter="fade" transition="in">
                                      <p:cBhvr>
                                        <p:cTn dur="500"/>
                                        <p:tgtEl>
                                          <p:spTgt spid="9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1">
                                            <p:txEl>
                                              <p:pRg end="1" st="1"/>
                                            </p:txEl>
                                          </p:spTgt>
                                        </p:tgtEl>
                                        <p:attrNameLst>
                                          <p:attrName>style.visibility</p:attrName>
                                        </p:attrNameLst>
                                      </p:cBhvr>
                                      <p:to>
                                        <p:strVal val="visible"/>
                                      </p:to>
                                    </p:set>
                                    <p:animEffect filter="fade" transition="in">
                                      <p:cBhvr>
                                        <p:cTn dur="500"/>
                                        <p:tgtEl>
                                          <p:spTgt spid="9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1">
                                            <p:txEl>
                                              <p:pRg end="2" st="2"/>
                                            </p:txEl>
                                          </p:spTgt>
                                        </p:tgtEl>
                                        <p:attrNameLst>
                                          <p:attrName>style.visibility</p:attrName>
                                        </p:attrNameLst>
                                      </p:cBhvr>
                                      <p:to>
                                        <p:strVal val="visible"/>
                                      </p:to>
                                    </p:set>
                                    <p:animEffect filter="fade" transition="in">
                                      <p:cBhvr>
                                        <p:cTn dur="500"/>
                                        <p:tgtEl>
                                          <p:spTgt spid="9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1">
                                            <p:txEl>
                                              <p:pRg end="3" st="3"/>
                                            </p:txEl>
                                          </p:spTgt>
                                        </p:tgtEl>
                                        <p:attrNameLst>
                                          <p:attrName>style.visibility</p:attrName>
                                        </p:attrNameLst>
                                      </p:cBhvr>
                                      <p:to>
                                        <p:strVal val="visible"/>
                                      </p:to>
                                    </p:set>
                                    <p:animEffect filter="fade" transition="in">
                                      <p:cBhvr>
                                        <p:cTn dur="500"/>
                                        <p:tgtEl>
                                          <p:spTgt spid="99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1">
                                            <p:txEl>
                                              <p:pRg end="4" st="4"/>
                                            </p:txEl>
                                          </p:spTgt>
                                        </p:tgtEl>
                                        <p:attrNameLst>
                                          <p:attrName>style.visibility</p:attrName>
                                        </p:attrNameLst>
                                      </p:cBhvr>
                                      <p:to>
                                        <p:strVal val="visible"/>
                                      </p:to>
                                    </p:set>
                                    <p:animEffect filter="fade" transition="in">
                                      <p:cBhvr>
                                        <p:cTn dur="500"/>
                                        <p:tgtEl>
                                          <p:spTgt spid="99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1">
                                            <p:txEl>
                                              <p:pRg end="5" st="5"/>
                                            </p:txEl>
                                          </p:spTgt>
                                        </p:tgtEl>
                                        <p:attrNameLst>
                                          <p:attrName>style.visibility</p:attrName>
                                        </p:attrNameLst>
                                      </p:cBhvr>
                                      <p:to>
                                        <p:strVal val="visible"/>
                                      </p:to>
                                    </p:set>
                                    <p:animEffect filter="fade" transition="in">
                                      <p:cBhvr>
                                        <p:cTn dur="500"/>
                                        <p:tgtEl>
                                          <p:spTgt spid="99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1">
                                            <p:txEl>
                                              <p:pRg end="6" st="6"/>
                                            </p:txEl>
                                          </p:spTgt>
                                        </p:tgtEl>
                                        <p:attrNameLst>
                                          <p:attrName>style.visibility</p:attrName>
                                        </p:attrNameLst>
                                      </p:cBhvr>
                                      <p:to>
                                        <p:strVal val="visible"/>
                                      </p:to>
                                    </p:set>
                                    <p:animEffect filter="fade" transition="in">
                                      <p:cBhvr>
                                        <p:cTn dur="500"/>
                                        <p:tgtEl>
                                          <p:spTgt spid="991">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sp>
        <p:nvSpPr>
          <p:cNvPr id="1004" name="Google Shape;1004;p77"/>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Cấp cho tiến trình một số lượng cố định khung để chứa các trang nhớ</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Số lượng được xác định vào thời điểm tạo mới tiến trình và không thay đổi trong quá trình tiến trình tồn tại</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Cấp phát bằng nhau:</a:t>
            </a:r>
            <a:endParaRPr b="0" i="0" sz="24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Các tiến trình được cấp số khung tối đa bằng nhau</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Số lượng được xác định dựa vào kích thước MEM và mức độ đa chương trình mong muốn</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Cấp phát không bằng nhau:</a:t>
            </a:r>
            <a:endParaRPr b="0" i="0" sz="24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Các tiến trình được cấp số khung tối đa khác nhau</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Cấp số khung tỉ lệ thuận với kích thước tiến trình</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Có mức ưu tiên</a:t>
            </a:r>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50800" lvl="2" marL="1143000"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50800" lvl="3" marL="1600200" marR="0" rtl="0" algn="l">
              <a:lnSpc>
                <a:spcPct val="100000"/>
              </a:lnSpc>
              <a:spcBef>
                <a:spcPts val="560"/>
              </a:spcBef>
              <a:spcAft>
                <a:spcPts val="0"/>
              </a:spcAft>
              <a:buClr>
                <a:schemeClr val="dk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05" name="Google Shape;1005;p77"/>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 CẤP PHÁT KHUNG TRANG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1.1. Cấp phát số lượng khung cố định</a:t>
            </a:r>
            <a:endParaRPr/>
          </a:p>
        </p:txBody>
      </p:sp>
      <p:sp>
        <p:nvSpPr>
          <p:cNvPr id="1006" name="Google Shape;1006;p7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07" name="Google Shape;1007;p7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08" name="Google Shape;1008;p7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09" name="Google Shape;1009;p7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10" name="Google Shape;1010;p7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11" name="Google Shape;1011;p7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0" st="0"/>
                                            </p:txEl>
                                          </p:spTgt>
                                        </p:tgtEl>
                                        <p:attrNameLst>
                                          <p:attrName>style.visibility</p:attrName>
                                        </p:attrNameLst>
                                      </p:cBhvr>
                                      <p:to>
                                        <p:strVal val="visible"/>
                                      </p:to>
                                    </p:set>
                                    <p:animEffect filter="fade" transition="in">
                                      <p:cBhvr>
                                        <p:cTn dur="500"/>
                                        <p:tgtEl>
                                          <p:spTgt spid="100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1" st="1"/>
                                            </p:txEl>
                                          </p:spTgt>
                                        </p:tgtEl>
                                        <p:attrNameLst>
                                          <p:attrName>style.visibility</p:attrName>
                                        </p:attrNameLst>
                                      </p:cBhvr>
                                      <p:to>
                                        <p:strVal val="visible"/>
                                      </p:to>
                                    </p:set>
                                    <p:animEffect filter="fade" transition="in">
                                      <p:cBhvr>
                                        <p:cTn dur="500"/>
                                        <p:tgtEl>
                                          <p:spTgt spid="100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2" st="2"/>
                                            </p:txEl>
                                          </p:spTgt>
                                        </p:tgtEl>
                                        <p:attrNameLst>
                                          <p:attrName>style.visibility</p:attrName>
                                        </p:attrNameLst>
                                      </p:cBhvr>
                                      <p:to>
                                        <p:strVal val="visible"/>
                                      </p:to>
                                    </p:set>
                                    <p:animEffect filter="fade" transition="in">
                                      <p:cBhvr>
                                        <p:cTn dur="500"/>
                                        <p:tgtEl>
                                          <p:spTgt spid="100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3" st="3"/>
                                            </p:txEl>
                                          </p:spTgt>
                                        </p:tgtEl>
                                        <p:attrNameLst>
                                          <p:attrName>style.visibility</p:attrName>
                                        </p:attrNameLst>
                                      </p:cBhvr>
                                      <p:to>
                                        <p:strVal val="visible"/>
                                      </p:to>
                                    </p:set>
                                    <p:animEffect filter="fade" transition="in">
                                      <p:cBhvr>
                                        <p:cTn dur="500"/>
                                        <p:tgtEl>
                                          <p:spTgt spid="100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4" st="4"/>
                                            </p:txEl>
                                          </p:spTgt>
                                        </p:tgtEl>
                                        <p:attrNameLst>
                                          <p:attrName>style.visibility</p:attrName>
                                        </p:attrNameLst>
                                      </p:cBhvr>
                                      <p:to>
                                        <p:strVal val="visible"/>
                                      </p:to>
                                    </p:set>
                                    <p:animEffect filter="fade" transition="in">
                                      <p:cBhvr>
                                        <p:cTn dur="500"/>
                                        <p:tgtEl>
                                          <p:spTgt spid="100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5" st="5"/>
                                            </p:txEl>
                                          </p:spTgt>
                                        </p:tgtEl>
                                        <p:attrNameLst>
                                          <p:attrName>style.visibility</p:attrName>
                                        </p:attrNameLst>
                                      </p:cBhvr>
                                      <p:to>
                                        <p:strVal val="visible"/>
                                      </p:to>
                                    </p:set>
                                    <p:animEffect filter="fade" transition="in">
                                      <p:cBhvr>
                                        <p:cTn dur="500"/>
                                        <p:tgtEl>
                                          <p:spTgt spid="100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6" st="6"/>
                                            </p:txEl>
                                          </p:spTgt>
                                        </p:tgtEl>
                                        <p:attrNameLst>
                                          <p:attrName>style.visibility</p:attrName>
                                        </p:attrNameLst>
                                      </p:cBhvr>
                                      <p:to>
                                        <p:strVal val="visible"/>
                                      </p:to>
                                    </p:set>
                                    <p:animEffect filter="fade" transition="in">
                                      <p:cBhvr>
                                        <p:cTn dur="500"/>
                                        <p:tgtEl>
                                          <p:spTgt spid="100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7" st="7"/>
                                            </p:txEl>
                                          </p:spTgt>
                                        </p:tgtEl>
                                        <p:attrNameLst>
                                          <p:attrName>style.visibility</p:attrName>
                                        </p:attrNameLst>
                                      </p:cBhvr>
                                      <p:to>
                                        <p:strVal val="visible"/>
                                      </p:to>
                                    </p:set>
                                    <p:animEffect filter="fade" transition="in">
                                      <p:cBhvr>
                                        <p:cTn dur="500"/>
                                        <p:tgtEl>
                                          <p:spTgt spid="100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8" st="8"/>
                                            </p:txEl>
                                          </p:spTgt>
                                        </p:tgtEl>
                                        <p:attrNameLst>
                                          <p:attrName>style.visibility</p:attrName>
                                        </p:attrNameLst>
                                      </p:cBhvr>
                                      <p:to>
                                        <p:strVal val="visible"/>
                                      </p:to>
                                    </p:set>
                                    <p:animEffect filter="fade" transition="in">
                                      <p:cBhvr>
                                        <p:cTn dur="500"/>
                                        <p:tgtEl>
                                          <p:spTgt spid="100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9" st="9"/>
                                            </p:txEl>
                                          </p:spTgt>
                                        </p:tgtEl>
                                        <p:attrNameLst>
                                          <p:attrName>style.visibility</p:attrName>
                                        </p:attrNameLst>
                                      </p:cBhvr>
                                      <p:to>
                                        <p:strVal val="visible"/>
                                      </p:to>
                                    </p:set>
                                    <p:animEffect filter="fade" transition="in">
                                      <p:cBhvr>
                                        <p:cTn dur="500"/>
                                        <p:tgtEl>
                                          <p:spTgt spid="100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10" st="10"/>
                                            </p:txEl>
                                          </p:spTgt>
                                        </p:tgtEl>
                                        <p:attrNameLst>
                                          <p:attrName>style.visibility</p:attrName>
                                        </p:attrNameLst>
                                      </p:cBhvr>
                                      <p:to>
                                        <p:strVal val="visible"/>
                                      </p:to>
                                    </p:set>
                                    <p:animEffect filter="fade" transition="in">
                                      <p:cBhvr>
                                        <p:cTn dur="500"/>
                                        <p:tgtEl>
                                          <p:spTgt spid="100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11" st="11"/>
                                            </p:txEl>
                                          </p:spTgt>
                                        </p:tgtEl>
                                        <p:attrNameLst>
                                          <p:attrName>style.visibility</p:attrName>
                                        </p:attrNameLst>
                                      </p:cBhvr>
                                      <p:to>
                                        <p:strVal val="visible"/>
                                      </p:to>
                                    </p:set>
                                    <p:animEffect filter="fade" transition="in">
                                      <p:cBhvr>
                                        <p:cTn dur="500"/>
                                        <p:tgtEl>
                                          <p:spTgt spid="1004">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12" st="12"/>
                                            </p:txEl>
                                          </p:spTgt>
                                        </p:tgtEl>
                                        <p:attrNameLst>
                                          <p:attrName>style.visibility</p:attrName>
                                        </p:attrNameLst>
                                      </p:cBhvr>
                                      <p:to>
                                        <p:strVal val="visible"/>
                                      </p:to>
                                    </p:set>
                                    <p:animEffect filter="fade" transition="in">
                                      <p:cBhvr>
                                        <p:cTn dur="500"/>
                                        <p:tgtEl>
                                          <p:spTgt spid="1004">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13" st="13"/>
                                            </p:txEl>
                                          </p:spTgt>
                                        </p:tgtEl>
                                        <p:attrNameLst>
                                          <p:attrName>style.visibility</p:attrName>
                                        </p:attrNameLst>
                                      </p:cBhvr>
                                      <p:to>
                                        <p:strVal val="visible"/>
                                      </p:to>
                                    </p:set>
                                    <p:animEffect filter="fade" transition="in">
                                      <p:cBhvr>
                                        <p:cTn dur="500"/>
                                        <p:tgtEl>
                                          <p:spTgt spid="1004">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14" st="14"/>
                                            </p:txEl>
                                          </p:spTgt>
                                        </p:tgtEl>
                                        <p:attrNameLst>
                                          <p:attrName>style.visibility</p:attrName>
                                        </p:attrNameLst>
                                      </p:cBhvr>
                                      <p:to>
                                        <p:strVal val="visible"/>
                                      </p:to>
                                    </p:set>
                                    <p:animEffect filter="fade" transition="in">
                                      <p:cBhvr>
                                        <p:cTn dur="500"/>
                                        <p:tgtEl>
                                          <p:spTgt spid="1004">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15" st="15"/>
                                            </p:txEl>
                                          </p:spTgt>
                                        </p:tgtEl>
                                        <p:attrNameLst>
                                          <p:attrName>style.visibility</p:attrName>
                                        </p:attrNameLst>
                                      </p:cBhvr>
                                      <p:to>
                                        <p:strVal val="visible"/>
                                      </p:to>
                                    </p:set>
                                    <p:animEffect filter="fade" transition="in">
                                      <p:cBhvr>
                                        <p:cTn dur="500"/>
                                        <p:tgtEl>
                                          <p:spTgt spid="1004">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16" st="16"/>
                                            </p:txEl>
                                          </p:spTgt>
                                        </p:tgtEl>
                                        <p:attrNameLst>
                                          <p:attrName>style.visibility</p:attrName>
                                        </p:attrNameLst>
                                      </p:cBhvr>
                                      <p:to>
                                        <p:strVal val="visible"/>
                                      </p:to>
                                    </p:set>
                                    <p:animEffect filter="fade" transition="in">
                                      <p:cBhvr>
                                        <p:cTn dur="500"/>
                                        <p:tgtEl>
                                          <p:spTgt spid="1004">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17" st="17"/>
                                            </p:txEl>
                                          </p:spTgt>
                                        </p:tgtEl>
                                        <p:attrNameLst>
                                          <p:attrName>style.visibility</p:attrName>
                                        </p:attrNameLst>
                                      </p:cBhvr>
                                      <p:to>
                                        <p:strVal val="visible"/>
                                      </p:to>
                                    </p:set>
                                    <p:animEffect filter="fade" transition="in">
                                      <p:cBhvr>
                                        <p:cTn dur="500"/>
                                        <p:tgtEl>
                                          <p:spTgt spid="1004">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04">
                                            <p:txEl>
                                              <p:pRg end="18" st="18"/>
                                            </p:txEl>
                                          </p:spTgt>
                                        </p:tgtEl>
                                        <p:attrNameLst>
                                          <p:attrName>style.visibility</p:attrName>
                                        </p:attrNameLst>
                                      </p:cBhvr>
                                      <p:to>
                                        <p:strVal val="visible"/>
                                      </p:to>
                                    </p:set>
                                    <p:animEffect filter="fade" transition="in">
                                      <p:cBhvr>
                                        <p:cTn dur="500"/>
                                        <p:tgtEl>
                                          <p:spTgt spid="1004">
                                            <p:txEl>
                                              <p:pRg end="18" st="1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78"/>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Số lượng khung tối đa cấp cho mỗi tiến trình có thể thay đổi trong quá trình thực hiện</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Việc thay đổi phụ thuộc vào tình hình thực hiện của tiến trình</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Cho phép sử dụng bộ nhớ hiệu quả hơn phương pháp cố định</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=&gt; Cần theo dõi và xử lý thông tin về tình hình sử dụng bộ nhớ của tiến trình</a:t>
            </a:r>
            <a:endParaRPr/>
          </a:p>
          <a:p>
            <a:pPr indent="-215900" lvl="0" marL="342900" marR="0" rtl="0" algn="l">
              <a:lnSpc>
                <a:spcPct val="100000"/>
              </a:lnSpc>
              <a:spcBef>
                <a:spcPts val="400"/>
              </a:spcBef>
              <a:spcAft>
                <a:spcPts val="0"/>
              </a:spcAft>
              <a:buClr>
                <a:schemeClr val="dk2"/>
              </a:buClr>
              <a:buSzPts val="2000"/>
              <a:buFont typeface="Noto Sans Symbols"/>
              <a:buNone/>
            </a:pPr>
            <a:r>
              <a:t/>
            </a:r>
            <a:endParaRPr b="0" i="0" sz="2000" u="non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50800" lvl="2" marL="1143000"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50800" lvl="3" marL="1600200" marR="0" rtl="0" algn="l">
              <a:lnSpc>
                <a:spcPct val="100000"/>
              </a:lnSpc>
              <a:spcBef>
                <a:spcPts val="560"/>
              </a:spcBef>
              <a:spcAft>
                <a:spcPts val="0"/>
              </a:spcAft>
              <a:buClr>
                <a:schemeClr val="dk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18" name="Google Shape;1018;p78"/>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 CẤP PHÁT KHUNG TRANG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1.2. Cấp phát số lượng khung thay đổi</a:t>
            </a:r>
            <a:endParaRPr/>
          </a:p>
        </p:txBody>
      </p:sp>
      <p:sp>
        <p:nvSpPr>
          <p:cNvPr id="1019" name="Google Shape;1019;p7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20" name="Google Shape;1020;p7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21" name="Google Shape;1021;p7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22" name="Google Shape;1022;p7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23" name="Google Shape;1023;p7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24" name="Google Shape;1024;p7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7">
                                            <p:txEl>
                                              <p:pRg end="0" st="0"/>
                                            </p:txEl>
                                          </p:spTgt>
                                        </p:tgtEl>
                                        <p:attrNameLst>
                                          <p:attrName>style.visibility</p:attrName>
                                        </p:attrNameLst>
                                      </p:cBhvr>
                                      <p:to>
                                        <p:strVal val="visible"/>
                                      </p:to>
                                    </p:set>
                                    <p:animEffect filter="fade" transition="in">
                                      <p:cBhvr>
                                        <p:cTn dur="500"/>
                                        <p:tgtEl>
                                          <p:spTgt spid="10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7">
                                            <p:txEl>
                                              <p:pRg end="1" st="1"/>
                                            </p:txEl>
                                          </p:spTgt>
                                        </p:tgtEl>
                                        <p:attrNameLst>
                                          <p:attrName>style.visibility</p:attrName>
                                        </p:attrNameLst>
                                      </p:cBhvr>
                                      <p:to>
                                        <p:strVal val="visible"/>
                                      </p:to>
                                    </p:set>
                                    <p:animEffect filter="fade" transition="in">
                                      <p:cBhvr>
                                        <p:cTn dur="500"/>
                                        <p:tgtEl>
                                          <p:spTgt spid="101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7">
                                            <p:txEl>
                                              <p:pRg end="2" st="2"/>
                                            </p:txEl>
                                          </p:spTgt>
                                        </p:tgtEl>
                                        <p:attrNameLst>
                                          <p:attrName>style.visibility</p:attrName>
                                        </p:attrNameLst>
                                      </p:cBhvr>
                                      <p:to>
                                        <p:strVal val="visible"/>
                                      </p:to>
                                    </p:set>
                                    <p:animEffect filter="fade" transition="in">
                                      <p:cBhvr>
                                        <p:cTn dur="500"/>
                                        <p:tgtEl>
                                          <p:spTgt spid="101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7">
                                            <p:txEl>
                                              <p:pRg end="3" st="3"/>
                                            </p:txEl>
                                          </p:spTgt>
                                        </p:tgtEl>
                                        <p:attrNameLst>
                                          <p:attrName>style.visibility</p:attrName>
                                        </p:attrNameLst>
                                      </p:cBhvr>
                                      <p:to>
                                        <p:strVal val="visible"/>
                                      </p:to>
                                    </p:set>
                                    <p:animEffect filter="fade" transition="in">
                                      <p:cBhvr>
                                        <p:cTn dur="500"/>
                                        <p:tgtEl>
                                          <p:spTgt spid="101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7">
                                            <p:txEl>
                                              <p:pRg end="4" st="4"/>
                                            </p:txEl>
                                          </p:spTgt>
                                        </p:tgtEl>
                                        <p:attrNameLst>
                                          <p:attrName>style.visibility</p:attrName>
                                        </p:attrNameLst>
                                      </p:cBhvr>
                                      <p:to>
                                        <p:strVal val="visible"/>
                                      </p:to>
                                    </p:set>
                                    <p:animEffect filter="fade" transition="in">
                                      <p:cBhvr>
                                        <p:cTn dur="500"/>
                                        <p:tgtEl>
                                          <p:spTgt spid="101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7">
                                            <p:txEl>
                                              <p:pRg end="5" st="5"/>
                                            </p:txEl>
                                          </p:spTgt>
                                        </p:tgtEl>
                                        <p:attrNameLst>
                                          <p:attrName>style.visibility</p:attrName>
                                        </p:attrNameLst>
                                      </p:cBhvr>
                                      <p:to>
                                        <p:strVal val="visible"/>
                                      </p:to>
                                    </p:set>
                                    <p:animEffect filter="fade" transition="in">
                                      <p:cBhvr>
                                        <p:cTn dur="500"/>
                                        <p:tgtEl>
                                          <p:spTgt spid="101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7">
                                            <p:txEl>
                                              <p:pRg end="6" st="6"/>
                                            </p:txEl>
                                          </p:spTgt>
                                        </p:tgtEl>
                                        <p:attrNameLst>
                                          <p:attrName>style.visibility</p:attrName>
                                        </p:attrNameLst>
                                      </p:cBhvr>
                                      <p:to>
                                        <p:strVal val="visible"/>
                                      </p:to>
                                    </p:set>
                                    <p:animEffect filter="fade" transition="in">
                                      <p:cBhvr>
                                        <p:cTn dur="500"/>
                                        <p:tgtEl>
                                          <p:spTgt spid="101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7">
                                            <p:txEl>
                                              <p:pRg end="7" st="7"/>
                                            </p:txEl>
                                          </p:spTgt>
                                        </p:tgtEl>
                                        <p:attrNameLst>
                                          <p:attrName>style.visibility</p:attrName>
                                        </p:attrNameLst>
                                      </p:cBhvr>
                                      <p:to>
                                        <p:strVal val="visible"/>
                                      </p:to>
                                    </p:set>
                                    <p:animEffect filter="fade" transition="in">
                                      <p:cBhvr>
                                        <p:cTn dur="500"/>
                                        <p:tgtEl>
                                          <p:spTgt spid="101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7">
                                            <p:txEl>
                                              <p:pRg end="8" st="8"/>
                                            </p:txEl>
                                          </p:spTgt>
                                        </p:tgtEl>
                                        <p:attrNameLst>
                                          <p:attrName>style.visibility</p:attrName>
                                        </p:attrNameLst>
                                      </p:cBhvr>
                                      <p:to>
                                        <p:strVal val="visible"/>
                                      </p:to>
                                    </p:set>
                                    <p:animEffect filter="fade" transition="in">
                                      <p:cBhvr>
                                        <p:cTn dur="500"/>
                                        <p:tgtEl>
                                          <p:spTgt spid="101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7">
                                            <p:txEl>
                                              <p:pRg end="9" st="9"/>
                                            </p:txEl>
                                          </p:spTgt>
                                        </p:tgtEl>
                                        <p:attrNameLst>
                                          <p:attrName>style.visibility</p:attrName>
                                        </p:attrNameLst>
                                      </p:cBhvr>
                                      <p:to>
                                        <p:strVal val="visible"/>
                                      </p:to>
                                    </p:set>
                                    <p:animEffect filter="fade" transition="in">
                                      <p:cBhvr>
                                        <p:cTn dur="500"/>
                                        <p:tgtEl>
                                          <p:spTgt spid="101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7">
                                            <p:txEl>
                                              <p:pRg end="10" st="10"/>
                                            </p:txEl>
                                          </p:spTgt>
                                        </p:tgtEl>
                                        <p:attrNameLst>
                                          <p:attrName>style.visibility</p:attrName>
                                        </p:attrNameLst>
                                      </p:cBhvr>
                                      <p:to>
                                        <p:strVal val="visible"/>
                                      </p:to>
                                    </p:set>
                                    <p:animEffect filter="fade" transition="in">
                                      <p:cBhvr>
                                        <p:cTn dur="500"/>
                                        <p:tgtEl>
                                          <p:spTgt spid="101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7">
                                            <p:txEl>
                                              <p:pRg end="11" st="11"/>
                                            </p:txEl>
                                          </p:spTgt>
                                        </p:tgtEl>
                                        <p:attrNameLst>
                                          <p:attrName>style.visibility</p:attrName>
                                        </p:attrNameLst>
                                      </p:cBhvr>
                                      <p:to>
                                        <p:strVal val="visible"/>
                                      </p:to>
                                    </p:set>
                                    <p:animEffect filter="fade" transition="in">
                                      <p:cBhvr>
                                        <p:cTn dur="500"/>
                                        <p:tgtEl>
                                          <p:spTgt spid="101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7">
                                            <p:txEl>
                                              <p:pRg end="12" st="12"/>
                                            </p:txEl>
                                          </p:spTgt>
                                        </p:tgtEl>
                                        <p:attrNameLst>
                                          <p:attrName>style.visibility</p:attrName>
                                        </p:attrNameLst>
                                      </p:cBhvr>
                                      <p:to>
                                        <p:strVal val="visible"/>
                                      </p:to>
                                    </p:set>
                                    <p:animEffect filter="fade" transition="in">
                                      <p:cBhvr>
                                        <p:cTn dur="500"/>
                                        <p:tgtEl>
                                          <p:spTgt spid="1017">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7">
                                            <p:txEl>
                                              <p:pRg end="13" st="13"/>
                                            </p:txEl>
                                          </p:spTgt>
                                        </p:tgtEl>
                                        <p:attrNameLst>
                                          <p:attrName>style.visibility</p:attrName>
                                        </p:attrNameLst>
                                      </p:cBhvr>
                                      <p:to>
                                        <p:strVal val="visible"/>
                                      </p:to>
                                    </p:set>
                                    <p:animEffect filter="fade" transition="in">
                                      <p:cBhvr>
                                        <p:cTn dur="500"/>
                                        <p:tgtEl>
                                          <p:spTgt spid="1017">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7">
                                            <p:txEl>
                                              <p:pRg end="14" st="14"/>
                                            </p:txEl>
                                          </p:spTgt>
                                        </p:tgtEl>
                                        <p:attrNameLst>
                                          <p:attrName>style.visibility</p:attrName>
                                        </p:attrNameLst>
                                      </p:cBhvr>
                                      <p:to>
                                        <p:strVal val="visible"/>
                                      </p:to>
                                    </p:set>
                                    <p:animEffect filter="fade" transition="in">
                                      <p:cBhvr>
                                        <p:cTn dur="500"/>
                                        <p:tgtEl>
                                          <p:spTgt spid="1017">
                                            <p:txEl>
                                              <p:pRg end="14" st="1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9" name="Shape 1029"/>
        <p:cNvGrpSpPr/>
        <p:nvPr/>
      </p:nvGrpSpPr>
      <p:grpSpPr>
        <a:xfrm>
          <a:off x="0" y="0"/>
          <a:ext cx="0" cy="0"/>
          <a:chOff x="0" y="0"/>
          <a:chExt cx="0" cy="0"/>
        </a:xfrm>
      </p:grpSpPr>
      <p:sp>
        <p:nvSpPr>
          <p:cNvPr id="1030" name="Google Shape;1030;p79"/>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Cấp phát toàn thể:</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Cho phép tiến trình đổi trang mới vào bất cứ khung nào (không bị khóa), kể cả khung đã được cấp phát cho tiến trình khác</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Cấp phát cục bộ:</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Trang chỉ được đổi vào khung đang được cấp cho chính tiến trình đó</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Phạm vi cấp phát có quan hệ mật thiết với số lượng khung tối đa:</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Số lượng khung cố định tương ứng với phạm vi cấp phát cục bộ</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Số lượng khung thay đổi tương ứng với phạm vi cấp phát toàn thể</a:t>
            </a:r>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50800" lvl="2" marL="1143000"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50800" lvl="3" marL="1600200" marR="0" rtl="0" algn="l">
              <a:lnSpc>
                <a:spcPct val="100000"/>
              </a:lnSpc>
              <a:spcBef>
                <a:spcPts val="560"/>
              </a:spcBef>
              <a:spcAft>
                <a:spcPts val="0"/>
              </a:spcAft>
              <a:buClr>
                <a:schemeClr val="dk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31" name="Google Shape;1031;p79"/>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 CẤP PHÁT KHUNG TRANG </a:t>
            </a:r>
            <a:br>
              <a:rPr b="1" i="0" lang="en-US" sz="32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2. Phạm vi cấp phát khung</a:t>
            </a:r>
            <a:endParaRPr/>
          </a:p>
        </p:txBody>
      </p:sp>
      <p:sp>
        <p:nvSpPr>
          <p:cNvPr id="1032" name="Google Shape;1032;p7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33" name="Google Shape;1033;p7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34" name="Google Shape;1034;p7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35" name="Google Shape;1035;p7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36" name="Google Shape;1036;p7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37" name="Google Shape;1037;p7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xEl>
                                              <p:pRg end="0" st="0"/>
                                            </p:txEl>
                                          </p:spTgt>
                                        </p:tgtEl>
                                        <p:attrNameLst>
                                          <p:attrName>style.visibility</p:attrName>
                                        </p:attrNameLst>
                                      </p:cBhvr>
                                      <p:to>
                                        <p:strVal val="visible"/>
                                      </p:to>
                                    </p:set>
                                    <p:animEffect filter="fade" transition="in">
                                      <p:cBhvr>
                                        <p:cTn dur="500"/>
                                        <p:tgtEl>
                                          <p:spTgt spid="10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xEl>
                                              <p:pRg end="1" st="1"/>
                                            </p:txEl>
                                          </p:spTgt>
                                        </p:tgtEl>
                                        <p:attrNameLst>
                                          <p:attrName>style.visibility</p:attrName>
                                        </p:attrNameLst>
                                      </p:cBhvr>
                                      <p:to>
                                        <p:strVal val="visible"/>
                                      </p:to>
                                    </p:set>
                                    <p:animEffect filter="fade" transition="in">
                                      <p:cBhvr>
                                        <p:cTn dur="500"/>
                                        <p:tgtEl>
                                          <p:spTgt spid="10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xEl>
                                              <p:pRg end="2" st="2"/>
                                            </p:txEl>
                                          </p:spTgt>
                                        </p:tgtEl>
                                        <p:attrNameLst>
                                          <p:attrName>style.visibility</p:attrName>
                                        </p:attrNameLst>
                                      </p:cBhvr>
                                      <p:to>
                                        <p:strVal val="visible"/>
                                      </p:to>
                                    </p:set>
                                    <p:animEffect filter="fade" transition="in">
                                      <p:cBhvr>
                                        <p:cTn dur="500"/>
                                        <p:tgtEl>
                                          <p:spTgt spid="10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xEl>
                                              <p:pRg end="3" st="3"/>
                                            </p:txEl>
                                          </p:spTgt>
                                        </p:tgtEl>
                                        <p:attrNameLst>
                                          <p:attrName>style.visibility</p:attrName>
                                        </p:attrNameLst>
                                      </p:cBhvr>
                                      <p:to>
                                        <p:strVal val="visible"/>
                                      </p:to>
                                    </p:set>
                                    <p:animEffect filter="fade" transition="in">
                                      <p:cBhvr>
                                        <p:cTn dur="500"/>
                                        <p:tgtEl>
                                          <p:spTgt spid="10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xEl>
                                              <p:pRg end="4" st="4"/>
                                            </p:txEl>
                                          </p:spTgt>
                                        </p:tgtEl>
                                        <p:attrNameLst>
                                          <p:attrName>style.visibility</p:attrName>
                                        </p:attrNameLst>
                                      </p:cBhvr>
                                      <p:to>
                                        <p:strVal val="visible"/>
                                      </p:to>
                                    </p:set>
                                    <p:animEffect filter="fade" transition="in">
                                      <p:cBhvr>
                                        <p:cTn dur="500"/>
                                        <p:tgtEl>
                                          <p:spTgt spid="103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xEl>
                                              <p:pRg end="5" st="5"/>
                                            </p:txEl>
                                          </p:spTgt>
                                        </p:tgtEl>
                                        <p:attrNameLst>
                                          <p:attrName>style.visibility</p:attrName>
                                        </p:attrNameLst>
                                      </p:cBhvr>
                                      <p:to>
                                        <p:strVal val="visible"/>
                                      </p:to>
                                    </p:set>
                                    <p:animEffect filter="fade" transition="in">
                                      <p:cBhvr>
                                        <p:cTn dur="500"/>
                                        <p:tgtEl>
                                          <p:spTgt spid="103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xEl>
                                              <p:pRg end="6" st="6"/>
                                            </p:txEl>
                                          </p:spTgt>
                                        </p:tgtEl>
                                        <p:attrNameLst>
                                          <p:attrName>style.visibility</p:attrName>
                                        </p:attrNameLst>
                                      </p:cBhvr>
                                      <p:to>
                                        <p:strVal val="visible"/>
                                      </p:to>
                                    </p:set>
                                    <p:animEffect filter="fade" transition="in">
                                      <p:cBhvr>
                                        <p:cTn dur="500"/>
                                        <p:tgtEl>
                                          <p:spTgt spid="103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xEl>
                                              <p:pRg end="7" st="7"/>
                                            </p:txEl>
                                          </p:spTgt>
                                        </p:tgtEl>
                                        <p:attrNameLst>
                                          <p:attrName>style.visibility</p:attrName>
                                        </p:attrNameLst>
                                      </p:cBhvr>
                                      <p:to>
                                        <p:strVal val="visible"/>
                                      </p:to>
                                    </p:set>
                                    <p:animEffect filter="fade" transition="in">
                                      <p:cBhvr>
                                        <p:cTn dur="500"/>
                                        <p:tgtEl>
                                          <p:spTgt spid="103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xEl>
                                              <p:pRg end="8" st="8"/>
                                            </p:txEl>
                                          </p:spTgt>
                                        </p:tgtEl>
                                        <p:attrNameLst>
                                          <p:attrName>style.visibility</p:attrName>
                                        </p:attrNameLst>
                                      </p:cBhvr>
                                      <p:to>
                                        <p:strVal val="visible"/>
                                      </p:to>
                                    </p:set>
                                    <p:animEffect filter="fade" transition="in">
                                      <p:cBhvr>
                                        <p:cTn dur="500"/>
                                        <p:tgtEl>
                                          <p:spTgt spid="103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xEl>
                                              <p:pRg end="9" st="9"/>
                                            </p:txEl>
                                          </p:spTgt>
                                        </p:tgtEl>
                                        <p:attrNameLst>
                                          <p:attrName>style.visibility</p:attrName>
                                        </p:attrNameLst>
                                      </p:cBhvr>
                                      <p:to>
                                        <p:strVal val="visible"/>
                                      </p:to>
                                    </p:set>
                                    <p:animEffect filter="fade" transition="in">
                                      <p:cBhvr>
                                        <p:cTn dur="500"/>
                                        <p:tgtEl>
                                          <p:spTgt spid="1030">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xEl>
                                              <p:pRg end="10" st="10"/>
                                            </p:txEl>
                                          </p:spTgt>
                                        </p:tgtEl>
                                        <p:attrNameLst>
                                          <p:attrName>style.visibility</p:attrName>
                                        </p:attrNameLst>
                                      </p:cBhvr>
                                      <p:to>
                                        <p:strVal val="visible"/>
                                      </p:to>
                                    </p:set>
                                    <p:animEffect filter="fade" transition="in">
                                      <p:cBhvr>
                                        <p:cTn dur="500"/>
                                        <p:tgtEl>
                                          <p:spTgt spid="1030">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xEl>
                                              <p:pRg end="11" st="11"/>
                                            </p:txEl>
                                          </p:spTgt>
                                        </p:tgtEl>
                                        <p:attrNameLst>
                                          <p:attrName>style.visibility</p:attrName>
                                        </p:attrNameLst>
                                      </p:cBhvr>
                                      <p:to>
                                        <p:strVal val="visible"/>
                                      </p:to>
                                    </p:set>
                                    <p:animEffect filter="fade" transition="in">
                                      <p:cBhvr>
                                        <p:cTn dur="500"/>
                                        <p:tgtEl>
                                          <p:spTgt spid="1030">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xEl>
                                              <p:pRg end="12" st="12"/>
                                            </p:txEl>
                                          </p:spTgt>
                                        </p:tgtEl>
                                        <p:attrNameLst>
                                          <p:attrName>style.visibility</p:attrName>
                                        </p:attrNameLst>
                                      </p:cBhvr>
                                      <p:to>
                                        <p:strVal val="visible"/>
                                      </p:to>
                                    </p:set>
                                    <p:animEffect filter="fade" transition="in">
                                      <p:cBhvr>
                                        <p:cTn dur="500"/>
                                        <p:tgtEl>
                                          <p:spTgt spid="1030">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xEl>
                                              <p:pRg end="13" st="13"/>
                                            </p:txEl>
                                          </p:spTgt>
                                        </p:tgtEl>
                                        <p:attrNameLst>
                                          <p:attrName>style.visibility</p:attrName>
                                        </p:attrNameLst>
                                      </p:cBhvr>
                                      <p:to>
                                        <p:strVal val="visible"/>
                                      </p:to>
                                    </p:set>
                                    <p:animEffect filter="fade" transition="in">
                                      <p:cBhvr>
                                        <p:cTn dur="500"/>
                                        <p:tgtEl>
                                          <p:spTgt spid="1030">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xEl>
                                              <p:pRg end="14" st="14"/>
                                            </p:txEl>
                                          </p:spTgt>
                                        </p:tgtEl>
                                        <p:attrNameLst>
                                          <p:attrName>style.visibility</p:attrName>
                                        </p:attrNameLst>
                                      </p:cBhvr>
                                      <p:to>
                                        <p:strVal val="visible"/>
                                      </p:to>
                                    </p:set>
                                    <p:animEffect filter="fade" transition="in">
                                      <p:cBhvr>
                                        <p:cTn dur="500"/>
                                        <p:tgtEl>
                                          <p:spTgt spid="1030">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xEl>
                                              <p:pRg end="15" st="15"/>
                                            </p:txEl>
                                          </p:spTgt>
                                        </p:tgtEl>
                                        <p:attrNameLst>
                                          <p:attrName>style.visibility</p:attrName>
                                        </p:attrNameLst>
                                      </p:cBhvr>
                                      <p:to>
                                        <p:strVal val="visible"/>
                                      </p:to>
                                    </p:set>
                                    <p:animEffect filter="fade" transition="in">
                                      <p:cBhvr>
                                        <p:cTn dur="500"/>
                                        <p:tgtEl>
                                          <p:spTgt spid="1030">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xEl>
                                              <p:pRg end="16" st="16"/>
                                            </p:txEl>
                                          </p:spTgt>
                                        </p:tgtEl>
                                        <p:attrNameLst>
                                          <p:attrName>style.visibility</p:attrName>
                                        </p:attrNameLst>
                                      </p:cBhvr>
                                      <p:to>
                                        <p:strVal val="visible"/>
                                      </p:to>
                                    </p:set>
                                    <p:animEffect filter="fade" transition="in">
                                      <p:cBhvr>
                                        <p:cTn dur="500"/>
                                        <p:tgtEl>
                                          <p:spTgt spid="1030">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xEl>
                                              <p:pRg end="17" st="17"/>
                                            </p:txEl>
                                          </p:spTgt>
                                        </p:tgtEl>
                                        <p:attrNameLst>
                                          <p:attrName>style.visibility</p:attrName>
                                        </p:attrNameLst>
                                      </p:cBhvr>
                                      <p:to>
                                        <p:strVal val="visible"/>
                                      </p:to>
                                    </p:set>
                                    <p:animEffect filter="fade" transition="in">
                                      <p:cBhvr>
                                        <p:cTn dur="500"/>
                                        <p:tgtEl>
                                          <p:spTgt spid="1030">
                                            <p:txEl>
                                              <p:pRg end="17" st="17"/>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2" name="Shape 1042"/>
        <p:cNvGrpSpPr/>
        <p:nvPr/>
      </p:nvGrpSpPr>
      <p:grpSpPr>
        <a:xfrm>
          <a:off x="0" y="0"/>
          <a:ext cx="0" cy="0"/>
          <a:chOff x="0" y="0"/>
          <a:chExt cx="0" cy="0"/>
        </a:xfrm>
      </p:grpSpPr>
      <p:sp>
        <p:nvSpPr>
          <p:cNvPr id="1043" name="Google Shape;1043;p80"/>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165100" lvl="0" marL="342900" marR="0" rtl="0" algn="l">
              <a:lnSpc>
                <a:spcPct val="100000"/>
              </a:lnSpc>
              <a:spcBef>
                <a:spcPts val="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Là tình trạng đổi trang liên tục do không đủ bộ nhớ</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Thời gian đổi trang của tiến trình lớn hơn thời gian thực hiện</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Xảy ra khi:</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Kích thước bộ nhớ hạn chế</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Tiến trình đòi hỏi truy cập đồng thời nhiều trang nhớ </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Hệ thống có mức độ đa chương trình cao</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50800" lvl="2" marL="1143000"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50800" lvl="3" marL="1600200" marR="0" rtl="0" algn="l">
              <a:lnSpc>
                <a:spcPct val="100000"/>
              </a:lnSpc>
              <a:spcBef>
                <a:spcPts val="560"/>
              </a:spcBef>
              <a:spcAft>
                <a:spcPts val="0"/>
              </a:spcAft>
              <a:buClr>
                <a:schemeClr val="dk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44" name="Google Shape;1044;p80"/>
          <p:cNvSpPr txBox="1"/>
          <p:nvPr>
            <p:ph type="title"/>
          </p:nvPr>
        </p:nvSpPr>
        <p:spPr>
          <a:xfrm>
            <a:off x="457200" y="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VII. TÌNH TRẠNG TRÌ TRỆ (thrashing)</a:t>
            </a:r>
            <a:endParaRPr/>
          </a:p>
        </p:txBody>
      </p:sp>
      <p:sp>
        <p:nvSpPr>
          <p:cNvPr id="1045" name="Google Shape;1045;p8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46" name="Google Shape;1046;p8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47" name="Google Shape;1047;p8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48" name="Google Shape;1048;p8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49" name="Google Shape;1049;p8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50" name="Google Shape;1050;p8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81"/>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Khi tiến trình rơi vào tình trạng trì trệ, tần suất thiếu trang tăng đáng kể</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=&gt; sử dụng để phát hiện và giải quyết vấn đề trì trệ</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Theo dõi và ghi lại tần suất thiếu trang</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Có thể đặt ra giới hạn trên và giới hạn dưới cho tần suất thiếu trang của tiến trình</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Tần suất vượt giới hạn trên: </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Cấp thêm cho tiến trình khung mới</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Nếu không thể tìm khung để cấp thêm, tiến trình sẽ bị treo hoặc bị kết thúc</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Tần suất thiếu trang thấp hơn giới hạn dưới: thu hồi một số khung của tiến trình</a:t>
            </a:r>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50800" lvl="2" marL="1143000"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50800" lvl="3" marL="1600200" marR="0" rtl="0" algn="l">
              <a:lnSpc>
                <a:spcPct val="100000"/>
              </a:lnSpc>
              <a:spcBef>
                <a:spcPts val="560"/>
              </a:spcBef>
              <a:spcAft>
                <a:spcPts val="0"/>
              </a:spcAft>
              <a:buClr>
                <a:schemeClr val="dk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57" name="Google Shape;1057;p81"/>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VII. TÌNH TRẠNG TRÌ TRỆ (thrashing)</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Kiểm soát tần suất thiếu trang</a:t>
            </a:r>
            <a:endParaRPr/>
          </a:p>
        </p:txBody>
      </p:sp>
      <p:sp>
        <p:nvSpPr>
          <p:cNvPr id="1058" name="Google Shape;1058;p8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59" name="Google Shape;1059;p8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60" name="Google Shape;1060;p8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61" name="Google Shape;1061;p8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62" name="Google Shape;1062;p8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63" name="Google Shape;1063;p8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0" st="0"/>
                                            </p:txEl>
                                          </p:spTgt>
                                        </p:tgtEl>
                                        <p:attrNameLst>
                                          <p:attrName>style.visibility</p:attrName>
                                        </p:attrNameLst>
                                      </p:cBhvr>
                                      <p:to>
                                        <p:strVal val="visible"/>
                                      </p:to>
                                    </p:set>
                                    <p:animEffect filter="fade" transition="in">
                                      <p:cBhvr>
                                        <p:cTn dur="500"/>
                                        <p:tgtEl>
                                          <p:spTgt spid="10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1" st="1"/>
                                            </p:txEl>
                                          </p:spTgt>
                                        </p:tgtEl>
                                        <p:attrNameLst>
                                          <p:attrName>style.visibility</p:attrName>
                                        </p:attrNameLst>
                                      </p:cBhvr>
                                      <p:to>
                                        <p:strVal val="visible"/>
                                      </p:to>
                                    </p:set>
                                    <p:animEffect filter="fade" transition="in">
                                      <p:cBhvr>
                                        <p:cTn dur="500"/>
                                        <p:tgtEl>
                                          <p:spTgt spid="10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2" st="2"/>
                                            </p:txEl>
                                          </p:spTgt>
                                        </p:tgtEl>
                                        <p:attrNameLst>
                                          <p:attrName>style.visibility</p:attrName>
                                        </p:attrNameLst>
                                      </p:cBhvr>
                                      <p:to>
                                        <p:strVal val="visible"/>
                                      </p:to>
                                    </p:set>
                                    <p:animEffect filter="fade" transition="in">
                                      <p:cBhvr>
                                        <p:cTn dur="500"/>
                                        <p:tgtEl>
                                          <p:spTgt spid="105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3" st="3"/>
                                            </p:txEl>
                                          </p:spTgt>
                                        </p:tgtEl>
                                        <p:attrNameLst>
                                          <p:attrName>style.visibility</p:attrName>
                                        </p:attrNameLst>
                                      </p:cBhvr>
                                      <p:to>
                                        <p:strVal val="visible"/>
                                      </p:to>
                                    </p:set>
                                    <p:animEffect filter="fade" transition="in">
                                      <p:cBhvr>
                                        <p:cTn dur="500"/>
                                        <p:tgtEl>
                                          <p:spTgt spid="105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4" st="4"/>
                                            </p:txEl>
                                          </p:spTgt>
                                        </p:tgtEl>
                                        <p:attrNameLst>
                                          <p:attrName>style.visibility</p:attrName>
                                        </p:attrNameLst>
                                      </p:cBhvr>
                                      <p:to>
                                        <p:strVal val="visible"/>
                                      </p:to>
                                    </p:set>
                                    <p:animEffect filter="fade" transition="in">
                                      <p:cBhvr>
                                        <p:cTn dur="500"/>
                                        <p:tgtEl>
                                          <p:spTgt spid="105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5" st="5"/>
                                            </p:txEl>
                                          </p:spTgt>
                                        </p:tgtEl>
                                        <p:attrNameLst>
                                          <p:attrName>style.visibility</p:attrName>
                                        </p:attrNameLst>
                                      </p:cBhvr>
                                      <p:to>
                                        <p:strVal val="visible"/>
                                      </p:to>
                                    </p:set>
                                    <p:animEffect filter="fade" transition="in">
                                      <p:cBhvr>
                                        <p:cTn dur="500"/>
                                        <p:tgtEl>
                                          <p:spTgt spid="105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6" st="6"/>
                                            </p:txEl>
                                          </p:spTgt>
                                        </p:tgtEl>
                                        <p:attrNameLst>
                                          <p:attrName>style.visibility</p:attrName>
                                        </p:attrNameLst>
                                      </p:cBhvr>
                                      <p:to>
                                        <p:strVal val="visible"/>
                                      </p:to>
                                    </p:set>
                                    <p:animEffect filter="fade" transition="in">
                                      <p:cBhvr>
                                        <p:cTn dur="500"/>
                                        <p:tgtEl>
                                          <p:spTgt spid="105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7" st="7"/>
                                            </p:txEl>
                                          </p:spTgt>
                                        </p:tgtEl>
                                        <p:attrNameLst>
                                          <p:attrName>style.visibility</p:attrName>
                                        </p:attrNameLst>
                                      </p:cBhvr>
                                      <p:to>
                                        <p:strVal val="visible"/>
                                      </p:to>
                                    </p:set>
                                    <p:animEffect filter="fade" transition="in">
                                      <p:cBhvr>
                                        <p:cTn dur="500"/>
                                        <p:tgtEl>
                                          <p:spTgt spid="1056">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8" st="8"/>
                                            </p:txEl>
                                          </p:spTgt>
                                        </p:tgtEl>
                                        <p:attrNameLst>
                                          <p:attrName>style.visibility</p:attrName>
                                        </p:attrNameLst>
                                      </p:cBhvr>
                                      <p:to>
                                        <p:strVal val="visible"/>
                                      </p:to>
                                    </p:set>
                                    <p:animEffect filter="fade" transition="in">
                                      <p:cBhvr>
                                        <p:cTn dur="500"/>
                                        <p:tgtEl>
                                          <p:spTgt spid="1056">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9" st="9"/>
                                            </p:txEl>
                                          </p:spTgt>
                                        </p:tgtEl>
                                        <p:attrNameLst>
                                          <p:attrName>style.visibility</p:attrName>
                                        </p:attrNameLst>
                                      </p:cBhvr>
                                      <p:to>
                                        <p:strVal val="visible"/>
                                      </p:to>
                                    </p:set>
                                    <p:animEffect filter="fade" transition="in">
                                      <p:cBhvr>
                                        <p:cTn dur="500"/>
                                        <p:tgtEl>
                                          <p:spTgt spid="1056">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10" st="10"/>
                                            </p:txEl>
                                          </p:spTgt>
                                        </p:tgtEl>
                                        <p:attrNameLst>
                                          <p:attrName>style.visibility</p:attrName>
                                        </p:attrNameLst>
                                      </p:cBhvr>
                                      <p:to>
                                        <p:strVal val="visible"/>
                                      </p:to>
                                    </p:set>
                                    <p:animEffect filter="fade" transition="in">
                                      <p:cBhvr>
                                        <p:cTn dur="500"/>
                                        <p:tgtEl>
                                          <p:spTgt spid="1056">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11" st="11"/>
                                            </p:txEl>
                                          </p:spTgt>
                                        </p:tgtEl>
                                        <p:attrNameLst>
                                          <p:attrName>style.visibility</p:attrName>
                                        </p:attrNameLst>
                                      </p:cBhvr>
                                      <p:to>
                                        <p:strVal val="visible"/>
                                      </p:to>
                                    </p:set>
                                    <p:animEffect filter="fade" transition="in">
                                      <p:cBhvr>
                                        <p:cTn dur="500"/>
                                        <p:tgtEl>
                                          <p:spTgt spid="1056">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12" st="12"/>
                                            </p:txEl>
                                          </p:spTgt>
                                        </p:tgtEl>
                                        <p:attrNameLst>
                                          <p:attrName>style.visibility</p:attrName>
                                        </p:attrNameLst>
                                      </p:cBhvr>
                                      <p:to>
                                        <p:strVal val="visible"/>
                                      </p:to>
                                    </p:set>
                                    <p:animEffect filter="fade" transition="in">
                                      <p:cBhvr>
                                        <p:cTn dur="500"/>
                                        <p:tgtEl>
                                          <p:spTgt spid="1056">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13" st="13"/>
                                            </p:txEl>
                                          </p:spTgt>
                                        </p:tgtEl>
                                        <p:attrNameLst>
                                          <p:attrName>style.visibility</p:attrName>
                                        </p:attrNameLst>
                                      </p:cBhvr>
                                      <p:to>
                                        <p:strVal val="visible"/>
                                      </p:to>
                                    </p:set>
                                    <p:animEffect filter="fade" transition="in">
                                      <p:cBhvr>
                                        <p:cTn dur="500"/>
                                        <p:tgtEl>
                                          <p:spTgt spid="1056">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14" st="14"/>
                                            </p:txEl>
                                          </p:spTgt>
                                        </p:tgtEl>
                                        <p:attrNameLst>
                                          <p:attrName>style.visibility</p:attrName>
                                        </p:attrNameLst>
                                      </p:cBhvr>
                                      <p:to>
                                        <p:strVal val="visible"/>
                                      </p:to>
                                    </p:set>
                                    <p:animEffect filter="fade" transition="in">
                                      <p:cBhvr>
                                        <p:cTn dur="500"/>
                                        <p:tgtEl>
                                          <p:spTgt spid="1056">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15" st="15"/>
                                            </p:txEl>
                                          </p:spTgt>
                                        </p:tgtEl>
                                        <p:attrNameLst>
                                          <p:attrName>style.visibility</p:attrName>
                                        </p:attrNameLst>
                                      </p:cBhvr>
                                      <p:to>
                                        <p:strVal val="visible"/>
                                      </p:to>
                                    </p:set>
                                    <p:animEffect filter="fade" transition="in">
                                      <p:cBhvr>
                                        <p:cTn dur="500"/>
                                        <p:tgtEl>
                                          <p:spTgt spid="1056">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16" st="16"/>
                                            </p:txEl>
                                          </p:spTgt>
                                        </p:tgtEl>
                                        <p:attrNameLst>
                                          <p:attrName>style.visibility</p:attrName>
                                        </p:attrNameLst>
                                      </p:cBhvr>
                                      <p:to>
                                        <p:strVal val="visible"/>
                                      </p:to>
                                    </p:set>
                                    <p:animEffect filter="fade" transition="in">
                                      <p:cBhvr>
                                        <p:cTn dur="500"/>
                                        <p:tgtEl>
                                          <p:spTgt spid="1056">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17" st="17"/>
                                            </p:txEl>
                                          </p:spTgt>
                                        </p:tgtEl>
                                        <p:attrNameLst>
                                          <p:attrName>style.visibility</p:attrName>
                                        </p:attrNameLst>
                                      </p:cBhvr>
                                      <p:to>
                                        <p:strVal val="visible"/>
                                      </p:to>
                                    </p:set>
                                    <p:animEffect filter="fade" transition="in">
                                      <p:cBhvr>
                                        <p:cTn dur="500"/>
                                        <p:tgtEl>
                                          <p:spTgt spid="1056">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18" st="18"/>
                                            </p:txEl>
                                          </p:spTgt>
                                        </p:tgtEl>
                                        <p:attrNameLst>
                                          <p:attrName>style.visibility</p:attrName>
                                        </p:attrNameLst>
                                      </p:cBhvr>
                                      <p:to>
                                        <p:strVal val="visible"/>
                                      </p:to>
                                    </p:set>
                                    <p:animEffect filter="fade" transition="in">
                                      <p:cBhvr>
                                        <p:cTn dur="500"/>
                                        <p:tgtEl>
                                          <p:spTgt spid="1056">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19" st="19"/>
                                            </p:txEl>
                                          </p:spTgt>
                                        </p:tgtEl>
                                        <p:attrNameLst>
                                          <p:attrName>style.visibility</p:attrName>
                                        </p:attrNameLst>
                                      </p:cBhvr>
                                      <p:to>
                                        <p:strVal val="visible"/>
                                      </p:to>
                                    </p:set>
                                    <p:animEffect filter="fade" transition="in">
                                      <p:cBhvr>
                                        <p:cTn dur="500"/>
                                        <p:tgtEl>
                                          <p:spTgt spid="1056">
                                            <p:txEl>
                                              <p:pRg end="19" st="1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20" st="20"/>
                                            </p:txEl>
                                          </p:spTgt>
                                        </p:tgtEl>
                                        <p:attrNameLst>
                                          <p:attrName>style.visibility</p:attrName>
                                        </p:attrNameLst>
                                      </p:cBhvr>
                                      <p:to>
                                        <p:strVal val="visible"/>
                                      </p:to>
                                    </p:set>
                                    <p:animEffect filter="fade" transition="in">
                                      <p:cBhvr>
                                        <p:cTn dur="500"/>
                                        <p:tgtEl>
                                          <p:spTgt spid="1056">
                                            <p:txEl>
                                              <p:pRg end="20" st="2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21" st="21"/>
                                            </p:txEl>
                                          </p:spTgt>
                                        </p:tgtEl>
                                        <p:attrNameLst>
                                          <p:attrName>style.visibility</p:attrName>
                                        </p:attrNameLst>
                                      </p:cBhvr>
                                      <p:to>
                                        <p:strVal val="visible"/>
                                      </p:to>
                                    </p:set>
                                    <p:animEffect filter="fade" transition="in">
                                      <p:cBhvr>
                                        <p:cTn dur="500"/>
                                        <p:tgtEl>
                                          <p:spTgt spid="1056">
                                            <p:txEl>
                                              <p:pRg end="21" st="2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6">
                                            <p:txEl>
                                              <p:pRg end="22" st="22"/>
                                            </p:txEl>
                                          </p:spTgt>
                                        </p:tgtEl>
                                        <p:attrNameLst>
                                          <p:attrName>style.visibility</p:attrName>
                                        </p:attrNameLst>
                                      </p:cBhvr>
                                      <p:to>
                                        <p:strVal val="visible"/>
                                      </p:to>
                                    </p:set>
                                    <p:animEffect filter="fade" transition="in">
                                      <p:cBhvr>
                                        <p:cTn dur="500"/>
                                        <p:tgtEl>
                                          <p:spTgt spid="1056">
                                            <p:txEl>
                                              <p:pRg end="22" st="2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82"/>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Vi xử lý Pentium của Intel hỗ trợ cơ chế quản lý bộ nhớ: phân đoạn được kết hợp với phân trang</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Không gian nhớ của tiến trình bao gồm nhiều đoạn, mỗi đoạn có thể có kích thước khác nhau và được phân trang trước khi đặt vào bộ nhớ.</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Ánh xạ địa chỉ: 2 giai đoạn</a:t>
            </a:r>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215900" lvl="0" marL="342900" marR="0" rtl="0" algn="l">
              <a:lnSpc>
                <a:spcPct val="100000"/>
              </a:lnSpc>
              <a:spcBef>
                <a:spcPts val="400"/>
              </a:spcBef>
              <a:spcAft>
                <a:spcPts val="0"/>
              </a:spcAft>
              <a:buClr>
                <a:schemeClr val="dk2"/>
              </a:buClr>
              <a:buSzPts val="2000"/>
              <a:buFont typeface="Noto Sans Symbols"/>
              <a:buNone/>
            </a:pPr>
            <a:r>
              <a:t/>
            </a:r>
            <a:endParaRPr b="0" i="0" sz="20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50800" lvl="2" marL="1143000"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50800" lvl="3" marL="1600200" marR="0" rtl="0" algn="l">
              <a:lnSpc>
                <a:spcPct val="100000"/>
              </a:lnSpc>
              <a:spcBef>
                <a:spcPts val="560"/>
              </a:spcBef>
              <a:spcAft>
                <a:spcPts val="0"/>
              </a:spcAft>
              <a:buClr>
                <a:schemeClr val="dk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70" name="Google Shape;1070;p82"/>
          <p:cNvSpPr txBox="1"/>
          <p:nvPr>
            <p:ph type="title"/>
          </p:nvPr>
        </p:nvSpPr>
        <p:spPr>
          <a:xfrm>
            <a:off x="457200" y="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VIII. QUẢN LÝ BỘ NHỚ TRONG INTEL PENTIUM</a:t>
            </a:r>
            <a:endParaRPr/>
          </a:p>
        </p:txBody>
      </p:sp>
      <p:sp>
        <p:nvSpPr>
          <p:cNvPr id="1071" name="Google Shape;1071;p8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72" name="Google Shape;1072;p8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73" name="Google Shape;1073;p8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74" name="Google Shape;1074;p8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75" name="Google Shape;1075;p8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76" name="Google Shape;1076;p8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1077" name="Google Shape;1077;p82"/>
          <p:cNvGrpSpPr/>
          <p:nvPr/>
        </p:nvGrpSpPr>
        <p:grpSpPr>
          <a:xfrm>
            <a:off x="746125" y="3962400"/>
            <a:ext cx="7967662" cy="2181225"/>
            <a:chOff x="1702" y="1879"/>
            <a:chExt cx="8177" cy="1514"/>
          </a:xfrm>
        </p:grpSpPr>
        <p:sp>
          <p:nvSpPr>
            <p:cNvPr id="1078" name="Google Shape;1078;p82"/>
            <p:cNvSpPr/>
            <p:nvPr/>
          </p:nvSpPr>
          <p:spPr>
            <a:xfrm>
              <a:off x="1702" y="1879"/>
              <a:ext cx="8177" cy="151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79" name="Google Shape;1079;p82"/>
            <p:cNvSpPr txBox="1"/>
            <p:nvPr/>
          </p:nvSpPr>
          <p:spPr>
            <a:xfrm>
              <a:off x="1850" y="2331"/>
              <a:ext cx="901" cy="687"/>
            </a:xfrm>
            <a:prstGeom prst="rect">
              <a:avLst/>
            </a:prstGeom>
            <a:noFill/>
            <a:ln>
              <a:noFill/>
            </a:ln>
          </p:spPr>
          <p:txBody>
            <a:bodyPr anchorCtr="0" anchor="t" bIns="0" lIns="18000" spcFirstLastPara="1" rIns="1800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Địa chỉ </a:t>
              </a:r>
              <a:endParaRPr b="0" i="0" sz="11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lô gic</a:t>
              </a:r>
              <a:endParaRPr/>
            </a:p>
          </p:txBody>
        </p:sp>
        <p:sp>
          <p:nvSpPr>
            <p:cNvPr id="1080" name="Google Shape;1080;p82"/>
            <p:cNvSpPr txBox="1"/>
            <p:nvPr/>
          </p:nvSpPr>
          <p:spPr>
            <a:xfrm>
              <a:off x="3351" y="2331"/>
              <a:ext cx="1389" cy="687"/>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Khối </a:t>
              </a:r>
              <a:endParaRPr b="0" i="0" sz="11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phân đoạn</a:t>
              </a:r>
              <a:endParaRPr/>
            </a:p>
          </p:txBody>
        </p:sp>
        <p:sp>
          <p:nvSpPr>
            <p:cNvPr id="1081" name="Google Shape;1081;p82"/>
            <p:cNvSpPr txBox="1"/>
            <p:nvPr/>
          </p:nvSpPr>
          <p:spPr>
            <a:xfrm>
              <a:off x="5210" y="2331"/>
              <a:ext cx="1125" cy="686"/>
            </a:xfrm>
            <a:prstGeom prst="rect">
              <a:avLst/>
            </a:prstGeom>
            <a:noFill/>
            <a:ln>
              <a:noFill/>
            </a:ln>
          </p:spPr>
          <p:txBody>
            <a:bodyPr anchorCtr="0" anchor="t" bIns="0" lIns="18000" spcFirstLastPara="1" rIns="18000" wrap="square" tIns="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Địa chỉ tuyến tính</a:t>
              </a:r>
              <a:endParaRPr/>
            </a:p>
          </p:txBody>
        </p:sp>
        <p:sp>
          <p:nvSpPr>
            <p:cNvPr id="1082" name="Google Shape;1082;p82"/>
            <p:cNvSpPr txBox="1"/>
            <p:nvPr/>
          </p:nvSpPr>
          <p:spPr>
            <a:xfrm>
              <a:off x="6786" y="2330"/>
              <a:ext cx="1389" cy="687"/>
            </a:xfrm>
            <a:prstGeom prst="rect">
              <a:avLst/>
            </a:prstGeom>
            <a:solidFill>
              <a:srgbClr val="FFFFFF"/>
            </a:solidFill>
            <a:ln cap="flat" cmpd="sng" w="9525">
              <a:solidFill>
                <a:srgbClr val="00000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Khối </a:t>
              </a:r>
              <a:endParaRPr b="0" i="0" sz="1100" u="none">
                <a:solidFill>
                  <a:schemeClr val="dk1"/>
                </a:solidFill>
                <a:latin typeface="Arial"/>
                <a:ea typeface="Arial"/>
                <a:cs typeface="Arial"/>
                <a:sym typeface="Arial"/>
              </a:endParaRPr>
            </a:p>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phân trang</a:t>
              </a:r>
              <a:endParaRPr/>
            </a:p>
          </p:txBody>
        </p:sp>
        <p:sp>
          <p:nvSpPr>
            <p:cNvPr id="1083" name="Google Shape;1083;p82"/>
            <p:cNvSpPr txBox="1"/>
            <p:nvPr/>
          </p:nvSpPr>
          <p:spPr>
            <a:xfrm>
              <a:off x="8739" y="2330"/>
              <a:ext cx="952" cy="686"/>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000"/>
                <a:buFont typeface="Arial"/>
                <a:buNone/>
              </a:pPr>
              <a:r>
                <a:rPr b="0" i="0" lang="en-US" sz="1000" u="none">
                  <a:solidFill>
                    <a:schemeClr val="dk1"/>
                  </a:solidFill>
                  <a:latin typeface="Arial"/>
                  <a:ea typeface="Arial"/>
                  <a:cs typeface="Arial"/>
                  <a:sym typeface="Arial"/>
                </a:rPr>
                <a:t>Địa chỉ vật lý</a:t>
              </a:r>
              <a:endParaRPr/>
            </a:p>
          </p:txBody>
        </p:sp>
        <p:cxnSp>
          <p:nvCxnSpPr>
            <p:cNvPr id="1084" name="Google Shape;1084;p82"/>
            <p:cNvCxnSpPr/>
            <p:nvPr/>
          </p:nvCxnSpPr>
          <p:spPr>
            <a:xfrm>
              <a:off x="2751" y="2675"/>
              <a:ext cx="600" cy="1"/>
            </a:xfrm>
            <a:prstGeom prst="straightConnector1">
              <a:avLst/>
            </a:prstGeom>
            <a:noFill/>
            <a:ln cap="flat" cmpd="sng" w="9525">
              <a:solidFill>
                <a:srgbClr val="000000"/>
              </a:solidFill>
              <a:prstDash val="solid"/>
              <a:miter lim="800000"/>
              <a:headEnd len="med" w="med" type="none"/>
              <a:tailEnd len="med" w="med" type="triangle"/>
            </a:ln>
          </p:spPr>
        </p:cxnSp>
        <p:cxnSp>
          <p:nvCxnSpPr>
            <p:cNvPr id="1085" name="Google Shape;1085;p82"/>
            <p:cNvCxnSpPr/>
            <p:nvPr/>
          </p:nvCxnSpPr>
          <p:spPr>
            <a:xfrm flipH="1" rot="10800000">
              <a:off x="4740" y="2674"/>
              <a:ext cx="470" cy="1"/>
            </a:xfrm>
            <a:prstGeom prst="straightConnector1">
              <a:avLst/>
            </a:prstGeom>
            <a:noFill/>
            <a:ln cap="flat" cmpd="sng" w="9525">
              <a:solidFill>
                <a:srgbClr val="000000"/>
              </a:solidFill>
              <a:prstDash val="solid"/>
              <a:miter lim="800000"/>
              <a:headEnd len="med" w="med" type="none"/>
              <a:tailEnd len="med" w="med" type="triangle"/>
            </a:ln>
          </p:spPr>
        </p:cxnSp>
        <p:cxnSp>
          <p:nvCxnSpPr>
            <p:cNvPr id="1086" name="Google Shape;1086;p82"/>
            <p:cNvCxnSpPr/>
            <p:nvPr/>
          </p:nvCxnSpPr>
          <p:spPr>
            <a:xfrm>
              <a:off x="6335" y="2674"/>
              <a:ext cx="451" cy="1"/>
            </a:xfrm>
            <a:prstGeom prst="straightConnector1">
              <a:avLst/>
            </a:prstGeom>
            <a:noFill/>
            <a:ln cap="flat" cmpd="sng" w="9525">
              <a:solidFill>
                <a:srgbClr val="000000"/>
              </a:solidFill>
              <a:prstDash val="solid"/>
              <a:miter lim="800000"/>
              <a:headEnd len="med" w="med" type="none"/>
              <a:tailEnd len="med" w="med" type="triangle"/>
            </a:ln>
          </p:spPr>
        </p:cxnSp>
        <p:cxnSp>
          <p:nvCxnSpPr>
            <p:cNvPr id="1087" name="Google Shape;1087;p82"/>
            <p:cNvCxnSpPr/>
            <p:nvPr/>
          </p:nvCxnSpPr>
          <p:spPr>
            <a:xfrm flipH="1" rot="10800000">
              <a:off x="8175" y="2673"/>
              <a:ext cx="564" cy="1"/>
            </a:xfrm>
            <a:prstGeom prst="straightConnector1">
              <a:avLst/>
            </a:prstGeom>
            <a:noFill/>
            <a:ln cap="flat" cmpd="sng" w="9525">
              <a:solidFill>
                <a:srgbClr val="000000"/>
              </a:solidFill>
              <a:prstDash val="solid"/>
              <a:miter lim="800000"/>
              <a:headEnd len="med" w="med" type="none"/>
              <a:tailEnd len="med" w="med" type="triangle"/>
            </a:ln>
          </p:spPr>
        </p:cxnSp>
      </p:grpSp>
      <p:sp>
        <p:nvSpPr>
          <p:cNvPr id="1088" name="Google Shape;1088;p8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0" st="0"/>
                                            </p:txEl>
                                          </p:spTgt>
                                        </p:tgtEl>
                                        <p:attrNameLst>
                                          <p:attrName>style.visibility</p:attrName>
                                        </p:attrNameLst>
                                      </p:cBhvr>
                                      <p:to>
                                        <p:strVal val="visible"/>
                                      </p:to>
                                    </p:set>
                                    <p:animEffect filter="fade" transition="in">
                                      <p:cBhvr>
                                        <p:cTn dur="500"/>
                                        <p:tgtEl>
                                          <p:spTgt spid="106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1" st="1"/>
                                            </p:txEl>
                                          </p:spTgt>
                                        </p:tgtEl>
                                        <p:attrNameLst>
                                          <p:attrName>style.visibility</p:attrName>
                                        </p:attrNameLst>
                                      </p:cBhvr>
                                      <p:to>
                                        <p:strVal val="visible"/>
                                      </p:to>
                                    </p:set>
                                    <p:animEffect filter="fade" transition="in">
                                      <p:cBhvr>
                                        <p:cTn dur="500"/>
                                        <p:tgtEl>
                                          <p:spTgt spid="106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2" st="2"/>
                                            </p:txEl>
                                          </p:spTgt>
                                        </p:tgtEl>
                                        <p:attrNameLst>
                                          <p:attrName>style.visibility</p:attrName>
                                        </p:attrNameLst>
                                      </p:cBhvr>
                                      <p:to>
                                        <p:strVal val="visible"/>
                                      </p:to>
                                    </p:set>
                                    <p:animEffect filter="fade" transition="in">
                                      <p:cBhvr>
                                        <p:cTn dur="500"/>
                                        <p:tgtEl>
                                          <p:spTgt spid="106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3" st="3"/>
                                            </p:txEl>
                                          </p:spTgt>
                                        </p:tgtEl>
                                        <p:attrNameLst>
                                          <p:attrName>style.visibility</p:attrName>
                                        </p:attrNameLst>
                                      </p:cBhvr>
                                      <p:to>
                                        <p:strVal val="visible"/>
                                      </p:to>
                                    </p:set>
                                    <p:animEffect filter="fade" transition="in">
                                      <p:cBhvr>
                                        <p:cTn dur="500"/>
                                        <p:tgtEl>
                                          <p:spTgt spid="106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4" st="4"/>
                                            </p:txEl>
                                          </p:spTgt>
                                        </p:tgtEl>
                                        <p:attrNameLst>
                                          <p:attrName>style.visibility</p:attrName>
                                        </p:attrNameLst>
                                      </p:cBhvr>
                                      <p:to>
                                        <p:strVal val="visible"/>
                                      </p:to>
                                    </p:set>
                                    <p:animEffect filter="fade" transition="in">
                                      <p:cBhvr>
                                        <p:cTn dur="500"/>
                                        <p:tgtEl>
                                          <p:spTgt spid="106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5" st="5"/>
                                            </p:txEl>
                                          </p:spTgt>
                                        </p:tgtEl>
                                        <p:attrNameLst>
                                          <p:attrName>style.visibility</p:attrName>
                                        </p:attrNameLst>
                                      </p:cBhvr>
                                      <p:to>
                                        <p:strVal val="visible"/>
                                      </p:to>
                                    </p:set>
                                    <p:animEffect filter="fade" transition="in">
                                      <p:cBhvr>
                                        <p:cTn dur="500"/>
                                        <p:tgtEl>
                                          <p:spTgt spid="106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6" st="6"/>
                                            </p:txEl>
                                          </p:spTgt>
                                        </p:tgtEl>
                                        <p:attrNameLst>
                                          <p:attrName>style.visibility</p:attrName>
                                        </p:attrNameLst>
                                      </p:cBhvr>
                                      <p:to>
                                        <p:strVal val="visible"/>
                                      </p:to>
                                    </p:set>
                                    <p:animEffect filter="fade" transition="in">
                                      <p:cBhvr>
                                        <p:cTn dur="500"/>
                                        <p:tgtEl>
                                          <p:spTgt spid="106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7" st="7"/>
                                            </p:txEl>
                                          </p:spTgt>
                                        </p:tgtEl>
                                        <p:attrNameLst>
                                          <p:attrName>style.visibility</p:attrName>
                                        </p:attrNameLst>
                                      </p:cBhvr>
                                      <p:to>
                                        <p:strVal val="visible"/>
                                      </p:to>
                                    </p:set>
                                    <p:animEffect filter="fade" transition="in">
                                      <p:cBhvr>
                                        <p:cTn dur="500"/>
                                        <p:tgtEl>
                                          <p:spTgt spid="106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8" st="8"/>
                                            </p:txEl>
                                          </p:spTgt>
                                        </p:tgtEl>
                                        <p:attrNameLst>
                                          <p:attrName>style.visibility</p:attrName>
                                        </p:attrNameLst>
                                      </p:cBhvr>
                                      <p:to>
                                        <p:strVal val="visible"/>
                                      </p:to>
                                    </p:set>
                                    <p:animEffect filter="fade" transition="in">
                                      <p:cBhvr>
                                        <p:cTn dur="500"/>
                                        <p:tgtEl>
                                          <p:spTgt spid="106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9" st="9"/>
                                            </p:txEl>
                                          </p:spTgt>
                                        </p:tgtEl>
                                        <p:attrNameLst>
                                          <p:attrName>style.visibility</p:attrName>
                                        </p:attrNameLst>
                                      </p:cBhvr>
                                      <p:to>
                                        <p:strVal val="visible"/>
                                      </p:to>
                                    </p:set>
                                    <p:animEffect filter="fade" transition="in">
                                      <p:cBhvr>
                                        <p:cTn dur="500"/>
                                        <p:tgtEl>
                                          <p:spTgt spid="106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10" st="10"/>
                                            </p:txEl>
                                          </p:spTgt>
                                        </p:tgtEl>
                                        <p:attrNameLst>
                                          <p:attrName>style.visibility</p:attrName>
                                        </p:attrNameLst>
                                      </p:cBhvr>
                                      <p:to>
                                        <p:strVal val="visible"/>
                                      </p:to>
                                    </p:set>
                                    <p:animEffect filter="fade" transition="in">
                                      <p:cBhvr>
                                        <p:cTn dur="500"/>
                                        <p:tgtEl>
                                          <p:spTgt spid="106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11" st="11"/>
                                            </p:txEl>
                                          </p:spTgt>
                                        </p:tgtEl>
                                        <p:attrNameLst>
                                          <p:attrName>style.visibility</p:attrName>
                                        </p:attrNameLst>
                                      </p:cBhvr>
                                      <p:to>
                                        <p:strVal val="visible"/>
                                      </p:to>
                                    </p:set>
                                    <p:animEffect filter="fade" transition="in">
                                      <p:cBhvr>
                                        <p:cTn dur="500"/>
                                        <p:tgtEl>
                                          <p:spTgt spid="106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12" st="12"/>
                                            </p:txEl>
                                          </p:spTgt>
                                        </p:tgtEl>
                                        <p:attrNameLst>
                                          <p:attrName>style.visibility</p:attrName>
                                        </p:attrNameLst>
                                      </p:cBhvr>
                                      <p:to>
                                        <p:strVal val="visible"/>
                                      </p:to>
                                    </p:set>
                                    <p:animEffect filter="fade" transition="in">
                                      <p:cBhvr>
                                        <p:cTn dur="500"/>
                                        <p:tgtEl>
                                          <p:spTgt spid="106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13" st="13"/>
                                            </p:txEl>
                                          </p:spTgt>
                                        </p:tgtEl>
                                        <p:attrNameLst>
                                          <p:attrName>style.visibility</p:attrName>
                                        </p:attrNameLst>
                                      </p:cBhvr>
                                      <p:to>
                                        <p:strVal val="visible"/>
                                      </p:to>
                                    </p:set>
                                    <p:animEffect filter="fade" transition="in">
                                      <p:cBhvr>
                                        <p:cTn dur="500"/>
                                        <p:tgtEl>
                                          <p:spTgt spid="1069">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14" st="14"/>
                                            </p:txEl>
                                          </p:spTgt>
                                        </p:tgtEl>
                                        <p:attrNameLst>
                                          <p:attrName>style.visibility</p:attrName>
                                        </p:attrNameLst>
                                      </p:cBhvr>
                                      <p:to>
                                        <p:strVal val="visible"/>
                                      </p:to>
                                    </p:set>
                                    <p:animEffect filter="fade" transition="in">
                                      <p:cBhvr>
                                        <p:cTn dur="500"/>
                                        <p:tgtEl>
                                          <p:spTgt spid="1069">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15" st="15"/>
                                            </p:txEl>
                                          </p:spTgt>
                                        </p:tgtEl>
                                        <p:attrNameLst>
                                          <p:attrName>style.visibility</p:attrName>
                                        </p:attrNameLst>
                                      </p:cBhvr>
                                      <p:to>
                                        <p:strVal val="visible"/>
                                      </p:to>
                                    </p:set>
                                    <p:animEffect filter="fade" transition="in">
                                      <p:cBhvr>
                                        <p:cTn dur="500"/>
                                        <p:tgtEl>
                                          <p:spTgt spid="1069">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16" st="16"/>
                                            </p:txEl>
                                          </p:spTgt>
                                        </p:tgtEl>
                                        <p:attrNameLst>
                                          <p:attrName>style.visibility</p:attrName>
                                        </p:attrNameLst>
                                      </p:cBhvr>
                                      <p:to>
                                        <p:strVal val="visible"/>
                                      </p:to>
                                    </p:set>
                                    <p:animEffect filter="fade" transition="in">
                                      <p:cBhvr>
                                        <p:cTn dur="500"/>
                                        <p:tgtEl>
                                          <p:spTgt spid="1069">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17" st="17"/>
                                            </p:txEl>
                                          </p:spTgt>
                                        </p:tgtEl>
                                        <p:attrNameLst>
                                          <p:attrName>style.visibility</p:attrName>
                                        </p:attrNameLst>
                                      </p:cBhvr>
                                      <p:to>
                                        <p:strVal val="visible"/>
                                      </p:to>
                                    </p:set>
                                    <p:animEffect filter="fade" transition="in">
                                      <p:cBhvr>
                                        <p:cTn dur="500"/>
                                        <p:tgtEl>
                                          <p:spTgt spid="1069">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18" st="18"/>
                                            </p:txEl>
                                          </p:spTgt>
                                        </p:tgtEl>
                                        <p:attrNameLst>
                                          <p:attrName>style.visibility</p:attrName>
                                        </p:attrNameLst>
                                      </p:cBhvr>
                                      <p:to>
                                        <p:strVal val="visible"/>
                                      </p:to>
                                    </p:set>
                                    <p:animEffect filter="fade" transition="in">
                                      <p:cBhvr>
                                        <p:cTn dur="500"/>
                                        <p:tgtEl>
                                          <p:spTgt spid="1069">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69">
                                            <p:txEl>
                                              <p:pRg end="19" st="19"/>
                                            </p:txEl>
                                          </p:spTgt>
                                        </p:tgtEl>
                                        <p:attrNameLst>
                                          <p:attrName>style.visibility</p:attrName>
                                        </p:attrNameLst>
                                      </p:cBhvr>
                                      <p:to>
                                        <p:strVal val="visible"/>
                                      </p:to>
                                    </p:set>
                                    <p:animEffect filter="fade" transition="in">
                                      <p:cBhvr>
                                        <p:cTn dur="500"/>
                                        <p:tgtEl>
                                          <p:spTgt spid="1069">
                                            <p:txEl>
                                              <p:pRg end="19" st="1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83"/>
          <p:cNvSpPr txBox="1"/>
          <p:nvPr>
            <p:ph idx="1" type="body"/>
          </p:nvPr>
        </p:nvSpPr>
        <p:spPr>
          <a:xfrm>
            <a:off x="0" y="9144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Cho phép tiến trình có tối đa 16KB (hơn 16000) đoạn, mỗi đoạn có kích thước tối đa 4GB</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Không gian nhớ lô gic được chia thành hai phần:</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Phần 1: dành riêng cho tiến trình, bao gồm tối đa 8KB đoạn</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Phần 2: dùng chung cho tất cả tiến trình, bao gồm cả HDH, và cũng gồm tối đa 8KB đoạn</a:t>
            </a:r>
            <a:endParaRPr/>
          </a:p>
          <a:p>
            <a:pPr indent="-342900" lvl="0" marL="342900" marR="0" rtl="0" algn="just">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Thông tin quản lý tiến trình thuộc phần thứ nhất và phần thứ hai năm trong bảng LDT(Local Descriptor Table) &amp; GDT (Global Descriptor Table): chứa thông tin quản lý :</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Mỗi ô có kích thước 8 byte: chứa địa chỉ cơ sở và giới hạn của đoạn tương ứng</a:t>
            </a:r>
            <a:endParaRPr b="0" i="0" sz="22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50800" lvl="2" marL="1143000"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50800" lvl="3" marL="1600200" marR="0" rtl="0" algn="l">
              <a:lnSpc>
                <a:spcPct val="100000"/>
              </a:lnSpc>
              <a:spcBef>
                <a:spcPts val="560"/>
              </a:spcBef>
              <a:spcAft>
                <a:spcPts val="0"/>
              </a:spcAft>
              <a:buClr>
                <a:schemeClr val="dk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095" name="Google Shape;1095;p83"/>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VIII. QUẢN LÝ BỘ NHỚ TRONG INTEL PENTIUM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Phân đoạn</a:t>
            </a:r>
            <a:endParaRPr/>
          </a:p>
        </p:txBody>
      </p:sp>
      <p:sp>
        <p:nvSpPr>
          <p:cNvPr id="1096" name="Google Shape;1096;p8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97" name="Google Shape;1097;p8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98" name="Google Shape;1098;p8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099" name="Google Shape;1099;p8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00" name="Google Shape;1100;p83"/>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01" name="Google Shape;1101;p83"/>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xEl>
                                              <p:pRg end="0" st="0"/>
                                            </p:txEl>
                                          </p:spTgt>
                                        </p:tgtEl>
                                        <p:attrNameLst>
                                          <p:attrName>style.visibility</p:attrName>
                                        </p:attrNameLst>
                                      </p:cBhvr>
                                      <p:to>
                                        <p:strVal val="visible"/>
                                      </p:to>
                                    </p:set>
                                    <p:animEffect filter="fade" transition="in">
                                      <p:cBhvr>
                                        <p:cTn dur="500"/>
                                        <p:tgtEl>
                                          <p:spTgt spid="10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xEl>
                                              <p:pRg end="1" st="1"/>
                                            </p:txEl>
                                          </p:spTgt>
                                        </p:tgtEl>
                                        <p:attrNameLst>
                                          <p:attrName>style.visibility</p:attrName>
                                        </p:attrNameLst>
                                      </p:cBhvr>
                                      <p:to>
                                        <p:strVal val="visible"/>
                                      </p:to>
                                    </p:set>
                                    <p:animEffect filter="fade" transition="in">
                                      <p:cBhvr>
                                        <p:cTn dur="500"/>
                                        <p:tgtEl>
                                          <p:spTgt spid="109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xEl>
                                              <p:pRg end="2" st="2"/>
                                            </p:txEl>
                                          </p:spTgt>
                                        </p:tgtEl>
                                        <p:attrNameLst>
                                          <p:attrName>style.visibility</p:attrName>
                                        </p:attrNameLst>
                                      </p:cBhvr>
                                      <p:to>
                                        <p:strVal val="visible"/>
                                      </p:to>
                                    </p:set>
                                    <p:animEffect filter="fade" transition="in">
                                      <p:cBhvr>
                                        <p:cTn dur="500"/>
                                        <p:tgtEl>
                                          <p:spTgt spid="109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xEl>
                                              <p:pRg end="3" st="3"/>
                                            </p:txEl>
                                          </p:spTgt>
                                        </p:tgtEl>
                                        <p:attrNameLst>
                                          <p:attrName>style.visibility</p:attrName>
                                        </p:attrNameLst>
                                      </p:cBhvr>
                                      <p:to>
                                        <p:strVal val="visible"/>
                                      </p:to>
                                    </p:set>
                                    <p:animEffect filter="fade" transition="in">
                                      <p:cBhvr>
                                        <p:cTn dur="500"/>
                                        <p:tgtEl>
                                          <p:spTgt spid="109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xEl>
                                              <p:pRg end="4" st="4"/>
                                            </p:txEl>
                                          </p:spTgt>
                                        </p:tgtEl>
                                        <p:attrNameLst>
                                          <p:attrName>style.visibility</p:attrName>
                                        </p:attrNameLst>
                                      </p:cBhvr>
                                      <p:to>
                                        <p:strVal val="visible"/>
                                      </p:to>
                                    </p:set>
                                    <p:animEffect filter="fade" transition="in">
                                      <p:cBhvr>
                                        <p:cTn dur="500"/>
                                        <p:tgtEl>
                                          <p:spTgt spid="109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xEl>
                                              <p:pRg end="5" st="5"/>
                                            </p:txEl>
                                          </p:spTgt>
                                        </p:tgtEl>
                                        <p:attrNameLst>
                                          <p:attrName>style.visibility</p:attrName>
                                        </p:attrNameLst>
                                      </p:cBhvr>
                                      <p:to>
                                        <p:strVal val="visible"/>
                                      </p:to>
                                    </p:set>
                                    <p:animEffect filter="fade" transition="in">
                                      <p:cBhvr>
                                        <p:cTn dur="500"/>
                                        <p:tgtEl>
                                          <p:spTgt spid="109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xEl>
                                              <p:pRg end="6" st="6"/>
                                            </p:txEl>
                                          </p:spTgt>
                                        </p:tgtEl>
                                        <p:attrNameLst>
                                          <p:attrName>style.visibility</p:attrName>
                                        </p:attrNameLst>
                                      </p:cBhvr>
                                      <p:to>
                                        <p:strVal val="visible"/>
                                      </p:to>
                                    </p:set>
                                    <p:animEffect filter="fade" transition="in">
                                      <p:cBhvr>
                                        <p:cTn dur="500"/>
                                        <p:tgtEl>
                                          <p:spTgt spid="109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xEl>
                                              <p:pRg end="7" st="7"/>
                                            </p:txEl>
                                          </p:spTgt>
                                        </p:tgtEl>
                                        <p:attrNameLst>
                                          <p:attrName>style.visibility</p:attrName>
                                        </p:attrNameLst>
                                      </p:cBhvr>
                                      <p:to>
                                        <p:strVal val="visible"/>
                                      </p:to>
                                    </p:set>
                                    <p:animEffect filter="fade" transition="in">
                                      <p:cBhvr>
                                        <p:cTn dur="500"/>
                                        <p:tgtEl>
                                          <p:spTgt spid="109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xEl>
                                              <p:pRg end="8" st="8"/>
                                            </p:txEl>
                                          </p:spTgt>
                                        </p:tgtEl>
                                        <p:attrNameLst>
                                          <p:attrName>style.visibility</p:attrName>
                                        </p:attrNameLst>
                                      </p:cBhvr>
                                      <p:to>
                                        <p:strVal val="visible"/>
                                      </p:to>
                                    </p:set>
                                    <p:animEffect filter="fade" transition="in">
                                      <p:cBhvr>
                                        <p:cTn dur="500"/>
                                        <p:tgtEl>
                                          <p:spTgt spid="109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xEl>
                                              <p:pRg end="9" st="9"/>
                                            </p:txEl>
                                          </p:spTgt>
                                        </p:tgtEl>
                                        <p:attrNameLst>
                                          <p:attrName>style.visibility</p:attrName>
                                        </p:attrNameLst>
                                      </p:cBhvr>
                                      <p:to>
                                        <p:strVal val="visible"/>
                                      </p:to>
                                    </p:set>
                                    <p:animEffect filter="fade" transition="in">
                                      <p:cBhvr>
                                        <p:cTn dur="500"/>
                                        <p:tgtEl>
                                          <p:spTgt spid="109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xEl>
                                              <p:pRg end="10" st="10"/>
                                            </p:txEl>
                                          </p:spTgt>
                                        </p:tgtEl>
                                        <p:attrNameLst>
                                          <p:attrName>style.visibility</p:attrName>
                                        </p:attrNameLst>
                                      </p:cBhvr>
                                      <p:to>
                                        <p:strVal val="visible"/>
                                      </p:to>
                                    </p:set>
                                    <p:animEffect filter="fade" transition="in">
                                      <p:cBhvr>
                                        <p:cTn dur="500"/>
                                        <p:tgtEl>
                                          <p:spTgt spid="109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xEl>
                                              <p:pRg end="11" st="11"/>
                                            </p:txEl>
                                          </p:spTgt>
                                        </p:tgtEl>
                                        <p:attrNameLst>
                                          <p:attrName>style.visibility</p:attrName>
                                        </p:attrNameLst>
                                      </p:cBhvr>
                                      <p:to>
                                        <p:strVal val="visible"/>
                                      </p:to>
                                    </p:set>
                                    <p:animEffect filter="fade" transition="in">
                                      <p:cBhvr>
                                        <p:cTn dur="500"/>
                                        <p:tgtEl>
                                          <p:spTgt spid="1094">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xEl>
                                              <p:pRg end="12" st="12"/>
                                            </p:txEl>
                                          </p:spTgt>
                                        </p:tgtEl>
                                        <p:attrNameLst>
                                          <p:attrName>style.visibility</p:attrName>
                                        </p:attrNameLst>
                                      </p:cBhvr>
                                      <p:to>
                                        <p:strVal val="visible"/>
                                      </p:to>
                                    </p:set>
                                    <p:animEffect filter="fade" transition="in">
                                      <p:cBhvr>
                                        <p:cTn dur="500"/>
                                        <p:tgtEl>
                                          <p:spTgt spid="1094">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xEl>
                                              <p:pRg end="13" st="13"/>
                                            </p:txEl>
                                          </p:spTgt>
                                        </p:tgtEl>
                                        <p:attrNameLst>
                                          <p:attrName>style.visibility</p:attrName>
                                        </p:attrNameLst>
                                      </p:cBhvr>
                                      <p:to>
                                        <p:strVal val="visible"/>
                                      </p:to>
                                    </p:set>
                                    <p:animEffect filter="fade" transition="in">
                                      <p:cBhvr>
                                        <p:cTn dur="500"/>
                                        <p:tgtEl>
                                          <p:spTgt spid="1094">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xEl>
                                              <p:pRg end="14" st="14"/>
                                            </p:txEl>
                                          </p:spTgt>
                                        </p:tgtEl>
                                        <p:attrNameLst>
                                          <p:attrName>style.visibility</p:attrName>
                                        </p:attrNameLst>
                                      </p:cBhvr>
                                      <p:to>
                                        <p:strVal val="visible"/>
                                      </p:to>
                                    </p:set>
                                    <p:animEffect filter="fade" transition="in">
                                      <p:cBhvr>
                                        <p:cTn dur="500"/>
                                        <p:tgtEl>
                                          <p:spTgt spid="1094">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xEl>
                                              <p:pRg end="15" st="15"/>
                                            </p:txEl>
                                          </p:spTgt>
                                        </p:tgtEl>
                                        <p:attrNameLst>
                                          <p:attrName>style.visibility</p:attrName>
                                        </p:attrNameLst>
                                      </p:cBhvr>
                                      <p:to>
                                        <p:strVal val="visible"/>
                                      </p:to>
                                    </p:set>
                                    <p:animEffect filter="fade" transition="in">
                                      <p:cBhvr>
                                        <p:cTn dur="500"/>
                                        <p:tgtEl>
                                          <p:spTgt spid="1094">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xEl>
                                              <p:pRg end="16" st="16"/>
                                            </p:txEl>
                                          </p:spTgt>
                                        </p:tgtEl>
                                        <p:attrNameLst>
                                          <p:attrName>style.visibility</p:attrName>
                                        </p:attrNameLst>
                                      </p:cBhvr>
                                      <p:to>
                                        <p:strVal val="visible"/>
                                      </p:to>
                                    </p:set>
                                    <p:animEffect filter="fade" transition="in">
                                      <p:cBhvr>
                                        <p:cTn dur="500"/>
                                        <p:tgtEl>
                                          <p:spTgt spid="1094">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xEl>
                                              <p:pRg end="17" st="17"/>
                                            </p:txEl>
                                          </p:spTgt>
                                        </p:tgtEl>
                                        <p:attrNameLst>
                                          <p:attrName>style.visibility</p:attrName>
                                        </p:attrNameLst>
                                      </p:cBhvr>
                                      <p:to>
                                        <p:strVal val="visible"/>
                                      </p:to>
                                    </p:set>
                                    <p:animEffect filter="fade" transition="in">
                                      <p:cBhvr>
                                        <p:cTn dur="500"/>
                                        <p:tgtEl>
                                          <p:spTgt spid="1094">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xEl>
                                              <p:pRg end="18" st="18"/>
                                            </p:txEl>
                                          </p:spTgt>
                                        </p:tgtEl>
                                        <p:attrNameLst>
                                          <p:attrName>style.visibility</p:attrName>
                                        </p:attrNameLst>
                                      </p:cBhvr>
                                      <p:to>
                                        <p:strVal val="visible"/>
                                      </p:to>
                                    </p:set>
                                    <p:animEffect filter="fade" transition="in">
                                      <p:cBhvr>
                                        <p:cTn dur="500"/>
                                        <p:tgtEl>
                                          <p:spTgt spid="1094">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xEl>
                                              <p:pRg end="19" st="19"/>
                                            </p:txEl>
                                          </p:spTgt>
                                        </p:tgtEl>
                                        <p:attrNameLst>
                                          <p:attrName>style.visibility</p:attrName>
                                        </p:attrNameLst>
                                      </p:cBhvr>
                                      <p:to>
                                        <p:strVal val="visible"/>
                                      </p:to>
                                    </p:set>
                                    <p:animEffect filter="fade" transition="in">
                                      <p:cBhvr>
                                        <p:cTn dur="500"/>
                                        <p:tgtEl>
                                          <p:spTgt spid="1094">
                                            <p:txEl>
                                              <p:pRg end="19" st="1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xEl>
                                              <p:pRg end="20" st="20"/>
                                            </p:txEl>
                                          </p:spTgt>
                                        </p:tgtEl>
                                        <p:attrNameLst>
                                          <p:attrName>style.visibility</p:attrName>
                                        </p:attrNameLst>
                                      </p:cBhvr>
                                      <p:to>
                                        <p:strVal val="visible"/>
                                      </p:to>
                                    </p:set>
                                    <p:animEffect filter="fade" transition="in">
                                      <p:cBhvr>
                                        <p:cTn dur="500"/>
                                        <p:tgtEl>
                                          <p:spTgt spid="1094">
                                            <p:txEl>
                                              <p:pRg end="20" st="2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p84"/>
          <p:cNvSpPr txBox="1"/>
          <p:nvPr>
            <p:ph idx="1" type="body"/>
          </p:nvPr>
        </p:nvSpPr>
        <p:spPr>
          <a:xfrm>
            <a:off x="0" y="10668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Để tăng tốc ánh xạ địa chỉ, Petinum có 6 thanh ghi đoạn: cho phép tiến trình truy cập đồng thời 6 đoạn.</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Thông tin về đoạn được chứa trong 6 thanh ghi 8 byte</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Địa chỉ logic gồm (selector, offset):</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Selector: chọn ô tương ứng từ hai bảng mô tả LDT, GDT</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01600" lvl="2" marL="1143000" marR="0" rtl="0" algn="l">
              <a:lnSpc>
                <a:spcPct val="100000"/>
              </a:lnSpc>
              <a:spcBef>
                <a:spcPts val="400"/>
              </a:spcBef>
              <a:spcAft>
                <a:spcPts val="0"/>
              </a:spcAft>
              <a:buClr>
                <a:schemeClr val="accent2"/>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S:  là số thứ tự đoạn</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G: cho biết đoạn thuộc GDT (g=0) hay LDT(g=1)</a:t>
            </a:r>
            <a:endParaRPr/>
          </a:p>
          <a:p>
            <a:pPr indent="-228600" lvl="2" marL="1143000" marR="0" rtl="0" algn="l">
              <a:lnSpc>
                <a:spcPct val="100000"/>
              </a:lnSpc>
              <a:spcBef>
                <a:spcPts val="400"/>
              </a:spcBef>
              <a:spcAft>
                <a:spcPts val="0"/>
              </a:spcAft>
              <a:buClr>
                <a:schemeClr val="accent2"/>
              </a:buClr>
              <a:buSzPts val="2000"/>
              <a:buFont typeface="Noto Sans Symbols"/>
              <a:buChar char="▪"/>
            </a:pPr>
            <a:r>
              <a:rPr b="0" i="0" lang="en-US" sz="2000" u="none" cap="none" strike="noStrike">
                <a:solidFill>
                  <a:schemeClr val="dk2"/>
                </a:solidFill>
                <a:latin typeface="Times New Roman"/>
                <a:ea typeface="Times New Roman"/>
                <a:cs typeface="Times New Roman"/>
                <a:sym typeface="Times New Roman"/>
              </a:rPr>
              <a:t>P: cho biết chế độ bảo vệ (p=0 là chế độ nhân, p=3 là chế độ người dùng)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Offset: độ dịch trong đoạn, kích thước 32bit</a:t>
            </a:r>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50800" lvl="2" marL="1143000"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50800" lvl="3" marL="1600200" marR="0" rtl="0" algn="l">
              <a:lnSpc>
                <a:spcPct val="100000"/>
              </a:lnSpc>
              <a:spcBef>
                <a:spcPts val="560"/>
              </a:spcBef>
              <a:spcAft>
                <a:spcPts val="0"/>
              </a:spcAft>
              <a:buClr>
                <a:schemeClr val="dk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108" name="Google Shape;1108;p84"/>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VIII. QUẢN LÝ BỘ NHỚ TRONG INTEL PENTIUM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Phân đoạn</a:t>
            </a:r>
            <a:endParaRPr/>
          </a:p>
        </p:txBody>
      </p:sp>
      <p:sp>
        <p:nvSpPr>
          <p:cNvPr id="1109" name="Google Shape;1109;p8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10" name="Google Shape;1110;p8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11" name="Google Shape;1111;p8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12" name="Google Shape;1112;p8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13" name="Google Shape;1113;p84"/>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1114" name="Google Shape;1114;p84"/>
          <p:cNvGraphicFramePr/>
          <p:nvPr/>
        </p:nvGraphicFramePr>
        <p:xfrm>
          <a:off x="3040062" y="3733800"/>
          <a:ext cx="3000000" cy="3000000"/>
        </p:xfrm>
        <a:graphic>
          <a:graphicData uri="http://schemas.openxmlformats.org/drawingml/2006/table">
            <a:tbl>
              <a:tblPr>
                <a:noFill/>
                <a:tableStyleId>{71EE02FC-BA3E-45F9-B2DA-8AEF37A3CA9D}</a:tableStyleId>
              </a:tblPr>
              <a:tblGrid>
                <a:gridCol w="1506525"/>
                <a:gridCol w="752475"/>
                <a:gridCol w="644525"/>
              </a:tblGrid>
              <a:tr h="350825">
                <a:tc>
                  <a:txBody>
                    <a:bodyPr/>
                    <a:lstStyle/>
                    <a:p>
                      <a:pPr indent="0" lvl="0" marL="0" marR="0" rtl="0" algn="ctr">
                        <a:lnSpc>
                          <a:spcPct val="100000"/>
                        </a:lnSpc>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s</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g</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p</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50825">
                <a:tc>
                  <a:txBody>
                    <a:bodyPr/>
                    <a:lstStyle/>
                    <a:p>
                      <a:pPr indent="0" lvl="0" marL="0" marR="0" rtl="0" algn="ctr">
                        <a:lnSpc>
                          <a:spcPct val="100000"/>
                        </a:lnSpc>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13 bit</a:t>
                      </a:r>
                      <a:endParaRPr/>
                    </a:p>
                  </a:txBody>
                  <a:tcPr marT="0" marB="0" marR="68575" marL="68575">
                    <a:lnT cap="flat" cmpd="sng" w="12700">
                      <a:solidFill>
                        <a:srgbClr val="000000"/>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1 bit</a:t>
                      </a:r>
                      <a:endParaRPr/>
                    </a:p>
                  </a:txBody>
                  <a:tcPr marT="0" marB="0" marR="68575" marL="68575">
                    <a:lnT cap="flat" cmpd="sng" w="12700">
                      <a:solidFill>
                        <a:srgbClr val="000000"/>
                      </a:solidFill>
                      <a:prstDash val="solid"/>
                      <a:round/>
                      <a:headEnd len="sm" w="sm" type="none"/>
                      <a:tailEnd len="sm" w="sm" type="none"/>
                    </a:lnT>
                  </a:tcPr>
                </a:tc>
                <a:tc>
                  <a:txBody>
                    <a:bodyPr/>
                    <a:lstStyle/>
                    <a:p>
                      <a:pPr indent="0" lvl="0" marL="0" marR="0" rtl="0" algn="ctr">
                        <a:lnSpc>
                          <a:spcPct val="100000"/>
                        </a:lnSpc>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2 bit</a:t>
                      </a:r>
                      <a:endParaRPr/>
                    </a:p>
                  </a:txBody>
                  <a:tcPr marT="0" marB="0" marR="68575" marL="68575">
                    <a:lnT cap="flat" cmpd="sng" w="12700">
                      <a:solidFill>
                        <a:srgbClr val="000000"/>
                      </a:solidFill>
                      <a:prstDash val="solid"/>
                      <a:round/>
                      <a:headEnd len="sm" w="sm" type="none"/>
                      <a:tailEnd len="sm" w="sm" type="none"/>
                    </a:lnT>
                  </a:tcPr>
                </a:tc>
              </a:tr>
            </a:tbl>
          </a:graphicData>
        </a:graphic>
      </p:graphicFrame>
      <p:sp>
        <p:nvSpPr>
          <p:cNvPr id="1115" name="Google Shape;1115;p84"/>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0" st="0"/>
                                            </p:txEl>
                                          </p:spTgt>
                                        </p:tgtEl>
                                        <p:attrNameLst>
                                          <p:attrName>style.visibility</p:attrName>
                                        </p:attrNameLst>
                                      </p:cBhvr>
                                      <p:to>
                                        <p:strVal val="visible"/>
                                      </p:to>
                                    </p:set>
                                    <p:animEffect filter="fade" transition="in">
                                      <p:cBhvr>
                                        <p:cTn dur="500"/>
                                        <p:tgtEl>
                                          <p:spTgt spid="110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1" st="1"/>
                                            </p:txEl>
                                          </p:spTgt>
                                        </p:tgtEl>
                                        <p:attrNameLst>
                                          <p:attrName>style.visibility</p:attrName>
                                        </p:attrNameLst>
                                      </p:cBhvr>
                                      <p:to>
                                        <p:strVal val="visible"/>
                                      </p:to>
                                    </p:set>
                                    <p:animEffect filter="fade" transition="in">
                                      <p:cBhvr>
                                        <p:cTn dur="500"/>
                                        <p:tgtEl>
                                          <p:spTgt spid="110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2" st="2"/>
                                            </p:txEl>
                                          </p:spTgt>
                                        </p:tgtEl>
                                        <p:attrNameLst>
                                          <p:attrName>style.visibility</p:attrName>
                                        </p:attrNameLst>
                                      </p:cBhvr>
                                      <p:to>
                                        <p:strVal val="visible"/>
                                      </p:to>
                                    </p:set>
                                    <p:animEffect filter="fade" transition="in">
                                      <p:cBhvr>
                                        <p:cTn dur="500"/>
                                        <p:tgtEl>
                                          <p:spTgt spid="110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3" st="3"/>
                                            </p:txEl>
                                          </p:spTgt>
                                        </p:tgtEl>
                                        <p:attrNameLst>
                                          <p:attrName>style.visibility</p:attrName>
                                        </p:attrNameLst>
                                      </p:cBhvr>
                                      <p:to>
                                        <p:strVal val="visible"/>
                                      </p:to>
                                    </p:set>
                                    <p:animEffect filter="fade" transition="in">
                                      <p:cBhvr>
                                        <p:cTn dur="500"/>
                                        <p:tgtEl>
                                          <p:spTgt spid="110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4" st="4"/>
                                            </p:txEl>
                                          </p:spTgt>
                                        </p:tgtEl>
                                        <p:attrNameLst>
                                          <p:attrName>style.visibility</p:attrName>
                                        </p:attrNameLst>
                                      </p:cBhvr>
                                      <p:to>
                                        <p:strVal val="visible"/>
                                      </p:to>
                                    </p:set>
                                    <p:animEffect filter="fade" transition="in">
                                      <p:cBhvr>
                                        <p:cTn dur="500"/>
                                        <p:tgtEl>
                                          <p:spTgt spid="110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5" st="5"/>
                                            </p:txEl>
                                          </p:spTgt>
                                        </p:tgtEl>
                                        <p:attrNameLst>
                                          <p:attrName>style.visibility</p:attrName>
                                        </p:attrNameLst>
                                      </p:cBhvr>
                                      <p:to>
                                        <p:strVal val="visible"/>
                                      </p:to>
                                    </p:set>
                                    <p:animEffect filter="fade" transition="in">
                                      <p:cBhvr>
                                        <p:cTn dur="500"/>
                                        <p:tgtEl>
                                          <p:spTgt spid="110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6" st="6"/>
                                            </p:txEl>
                                          </p:spTgt>
                                        </p:tgtEl>
                                        <p:attrNameLst>
                                          <p:attrName>style.visibility</p:attrName>
                                        </p:attrNameLst>
                                      </p:cBhvr>
                                      <p:to>
                                        <p:strVal val="visible"/>
                                      </p:to>
                                    </p:set>
                                    <p:animEffect filter="fade" transition="in">
                                      <p:cBhvr>
                                        <p:cTn dur="500"/>
                                        <p:tgtEl>
                                          <p:spTgt spid="110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7" st="7"/>
                                            </p:txEl>
                                          </p:spTgt>
                                        </p:tgtEl>
                                        <p:attrNameLst>
                                          <p:attrName>style.visibility</p:attrName>
                                        </p:attrNameLst>
                                      </p:cBhvr>
                                      <p:to>
                                        <p:strVal val="visible"/>
                                      </p:to>
                                    </p:set>
                                    <p:animEffect filter="fade" transition="in">
                                      <p:cBhvr>
                                        <p:cTn dur="500"/>
                                        <p:tgtEl>
                                          <p:spTgt spid="1107">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8" st="8"/>
                                            </p:txEl>
                                          </p:spTgt>
                                        </p:tgtEl>
                                        <p:attrNameLst>
                                          <p:attrName>style.visibility</p:attrName>
                                        </p:attrNameLst>
                                      </p:cBhvr>
                                      <p:to>
                                        <p:strVal val="visible"/>
                                      </p:to>
                                    </p:set>
                                    <p:animEffect filter="fade" transition="in">
                                      <p:cBhvr>
                                        <p:cTn dur="500"/>
                                        <p:tgtEl>
                                          <p:spTgt spid="1107">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9" st="9"/>
                                            </p:txEl>
                                          </p:spTgt>
                                        </p:tgtEl>
                                        <p:attrNameLst>
                                          <p:attrName>style.visibility</p:attrName>
                                        </p:attrNameLst>
                                      </p:cBhvr>
                                      <p:to>
                                        <p:strVal val="visible"/>
                                      </p:to>
                                    </p:set>
                                    <p:animEffect filter="fade" transition="in">
                                      <p:cBhvr>
                                        <p:cTn dur="500"/>
                                        <p:tgtEl>
                                          <p:spTgt spid="1107">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10" st="10"/>
                                            </p:txEl>
                                          </p:spTgt>
                                        </p:tgtEl>
                                        <p:attrNameLst>
                                          <p:attrName>style.visibility</p:attrName>
                                        </p:attrNameLst>
                                      </p:cBhvr>
                                      <p:to>
                                        <p:strVal val="visible"/>
                                      </p:to>
                                    </p:set>
                                    <p:animEffect filter="fade" transition="in">
                                      <p:cBhvr>
                                        <p:cTn dur="500"/>
                                        <p:tgtEl>
                                          <p:spTgt spid="1107">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11" st="11"/>
                                            </p:txEl>
                                          </p:spTgt>
                                        </p:tgtEl>
                                        <p:attrNameLst>
                                          <p:attrName>style.visibility</p:attrName>
                                        </p:attrNameLst>
                                      </p:cBhvr>
                                      <p:to>
                                        <p:strVal val="visible"/>
                                      </p:to>
                                    </p:set>
                                    <p:animEffect filter="fade" transition="in">
                                      <p:cBhvr>
                                        <p:cTn dur="500"/>
                                        <p:tgtEl>
                                          <p:spTgt spid="1107">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12" st="12"/>
                                            </p:txEl>
                                          </p:spTgt>
                                        </p:tgtEl>
                                        <p:attrNameLst>
                                          <p:attrName>style.visibility</p:attrName>
                                        </p:attrNameLst>
                                      </p:cBhvr>
                                      <p:to>
                                        <p:strVal val="visible"/>
                                      </p:to>
                                    </p:set>
                                    <p:animEffect filter="fade" transition="in">
                                      <p:cBhvr>
                                        <p:cTn dur="500"/>
                                        <p:tgtEl>
                                          <p:spTgt spid="1107">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13" st="13"/>
                                            </p:txEl>
                                          </p:spTgt>
                                        </p:tgtEl>
                                        <p:attrNameLst>
                                          <p:attrName>style.visibility</p:attrName>
                                        </p:attrNameLst>
                                      </p:cBhvr>
                                      <p:to>
                                        <p:strVal val="visible"/>
                                      </p:to>
                                    </p:set>
                                    <p:animEffect filter="fade" transition="in">
                                      <p:cBhvr>
                                        <p:cTn dur="500"/>
                                        <p:tgtEl>
                                          <p:spTgt spid="1107">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14" st="14"/>
                                            </p:txEl>
                                          </p:spTgt>
                                        </p:tgtEl>
                                        <p:attrNameLst>
                                          <p:attrName>style.visibility</p:attrName>
                                        </p:attrNameLst>
                                      </p:cBhvr>
                                      <p:to>
                                        <p:strVal val="visible"/>
                                      </p:to>
                                    </p:set>
                                    <p:animEffect filter="fade" transition="in">
                                      <p:cBhvr>
                                        <p:cTn dur="500"/>
                                        <p:tgtEl>
                                          <p:spTgt spid="1107">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15" st="15"/>
                                            </p:txEl>
                                          </p:spTgt>
                                        </p:tgtEl>
                                        <p:attrNameLst>
                                          <p:attrName>style.visibility</p:attrName>
                                        </p:attrNameLst>
                                      </p:cBhvr>
                                      <p:to>
                                        <p:strVal val="visible"/>
                                      </p:to>
                                    </p:set>
                                    <p:animEffect filter="fade" transition="in">
                                      <p:cBhvr>
                                        <p:cTn dur="500"/>
                                        <p:tgtEl>
                                          <p:spTgt spid="1107">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16" st="16"/>
                                            </p:txEl>
                                          </p:spTgt>
                                        </p:tgtEl>
                                        <p:attrNameLst>
                                          <p:attrName>style.visibility</p:attrName>
                                        </p:attrNameLst>
                                      </p:cBhvr>
                                      <p:to>
                                        <p:strVal val="visible"/>
                                      </p:to>
                                    </p:set>
                                    <p:animEffect filter="fade" transition="in">
                                      <p:cBhvr>
                                        <p:cTn dur="500"/>
                                        <p:tgtEl>
                                          <p:spTgt spid="1107">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17" st="17"/>
                                            </p:txEl>
                                          </p:spTgt>
                                        </p:tgtEl>
                                        <p:attrNameLst>
                                          <p:attrName>style.visibility</p:attrName>
                                        </p:attrNameLst>
                                      </p:cBhvr>
                                      <p:to>
                                        <p:strVal val="visible"/>
                                      </p:to>
                                    </p:set>
                                    <p:animEffect filter="fade" transition="in">
                                      <p:cBhvr>
                                        <p:cTn dur="500"/>
                                        <p:tgtEl>
                                          <p:spTgt spid="1107">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18" st="18"/>
                                            </p:txEl>
                                          </p:spTgt>
                                        </p:tgtEl>
                                        <p:attrNameLst>
                                          <p:attrName>style.visibility</p:attrName>
                                        </p:attrNameLst>
                                      </p:cBhvr>
                                      <p:to>
                                        <p:strVal val="visible"/>
                                      </p:to>
                                    </p:set>
                                    <p:animEffect filter="fade" transition="in">
                                      <p:cBhvr>
                                        <p:cTn dur="500"/>
                                        <p:tgtEl>
                                          <p:spTgt spid="1107">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19" st="19"/>
                                            </p:txEl>
                                          </p:spTgt>
                                        </p:tgtEl>
                                        <p:attrNameLst>
                                          <p:attrName>style.visibility</p:attrName>
                                        </p:attrNameLst>
                                      </p:cBhvr>
                                      <p:to>
                                        <p:strVal val="visible"/>
                                      </p:to>
                                    </p:set>
                                    <p:animEffect filter="fade" transition="in">
                                      <p:cBhvr>
                                        <p:cTn dur="500"/>
                                        <p:tgtEl>
                                          <p:spTgt spid="1107">
                                            <p:txEl>
                                              <p:pRg end="19" st="1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20" st="20"/>
                                            </p:txEl>
                                          </p:spTgt>
                                        </p:tgtEl>
                                        <p:attrNameLst>
                                          <p:attrName>style.visibility</p:attrName>
                                        </p:attrNameLst>
                                      </p:cBhvr>
                                      <p:to>
                                        <p:strVal val="visible"/>
                                      </p:to>
                                    </p:set>
                                    <p:animEffect filter="fade" transition="in">
                                      <p:cBhvr>
                                        <p:cTn dur="500"/>
                                        <p:tgtEl>
                                          <p:spTgt spid="1107">
                                            <p:txEl>
                                              <p:pRg end="20" st="2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21" st="21"/>
                                            </p:txEl>
                                          </p:spTgt>
                                        </p:tgtEl>
                                        <p:attrNameLst>
                                          <p:attrName>style.visibility</p:attrName>
                                        </p:attrNameLst>
                                      </p:cBhvr>
                                      <p:to>
                                        <p:strVal val="visible"/>
                                      </p:to>
                                    </p:set>
                                    <p:animEffect filter="fade" transition="in">
                                      <p:cBhvr>
                                        <p:cTn dur="500"/>
                                        <p:tgtEl>
                                          <p:spTgt spid="1107">
                                            <p:txEl>
                                              <p:pRg end="21" st="2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22" st="22"/>
                                            </p:txEl>
                                          </p:spTgt>
                                        </p:tgtEl>
                                        <p:attrNameLst>
                                          <p:attrName>style.visibility</p:attrName>
                                        </p:attrNameLst>
                                      </p:cBhvr>
                                      <p:to>
                                        <p:strVal val="visible"/>
                                      </p:to>
                                    </p:set>
                                    <p:animEffect filter="fade" transition="in">
                                      <p:cBhvr>
                                        <p:cTn dur="500"/>
                                        <p:tgtEl>
                                          <p:spTgt spid="1107">
                                            <p:txEl>
                                              <p:pRg end="22" st="2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23" st="23"/>
                                            </p:txEl>
                                          </p:spTgt>
                                        </p:tgtEl>
                                        <p:attrNameLst>
                                          <p:attrName>style.visibility</p:attrName>
                                        </p:attrNameLst>
                                      </p:cBhvr>
                                      <p:to>
                                        <p:strVal val="visible"/>
                                      </p:to>
                                    </p:set>
                                    <p:animEffect filter="fade" transition="in">
                                      <p:cBhvr>
                                        <p:cTn dur="500"/>
                                        <p:tgtEl>
                                          <p:spTgt spid="1107">
                                            <p:txEl>
                                              <p:pRg end="23" st="2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85"/>
          <p:cNvSpPr txBox="1"/>
          <p:nvPr>
            <p:ph idx="1" type="body"/>
          </p:nvPr>
        </p:nvSpPr>
        <p:spPr>
          <a:xfrm>
            <a:off x="0" y="838200"/>
            <a:ext cx="9144000" cy="60198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2"/>
              </a:buClr>
              <a:buSzPts val="2600"/>
              <a:buFont typeface="Noto Sans Symbols"/>
              <a:buChar char="▪"/>
            </a:pPr>
            <a:r>
              <a:rPr b="0" i="0" lang="en-US" sz="2600" u="none">
                <a:solidFill>
                  <a:schemeClr val="dk2"/>
                </a:solidFill>
                <a:latin typeface="Times New Roman"/>
                <a:ea typeface="Times New Roman"/>
                <a:cs typeface="Times New Roman"/>
                <a:sym typeface="Times New Roman"/>
              </a:rPr>
              <a:t>Biến đổi địa chỉ logic thành địa chỉ tuyến tính: trước hết phần selector được sử dụng để tìm ô tương ứng trong GDT, LDT chứa mô tả đoạn (a); phần mô tả đoạn sau đó được kết hợp với độ dịch để tạo ra địa chỉ tuyến tính (b)</a:t>
            </a:r>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50800" lvl="2" marL="1143000"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50800" lvl="3" marL="1600200" marR="0" rtl="0" algn="l">
              <a:lnSpc>
                <a:spcPct val="100000"/>
              </a:lnSpc>
              <a:spcBef>
                <a:spcPts val="560"/>
              </a:spcBef>
              <a:spcAft>
                <a:spcPts val="0"/>
              </a:spcAft>
              <a:buClr>
                <a:schemeClr val="dk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122" name="Google Shape;1122;p85"/>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VIII. QUẢN LÝ BỘ NHỚ TRONG INTEL PENTIUM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 Phân đoạn</a:t>
            </a:r>
            <a:endParaRPr/>
          </a:p>
        </p:txBody>
      </p:sp>
      <p:sp>
        <p:nvSpPr>
          <p:cNvPr id="1123" name="Google Shape;1123;p8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24" name="Google Shape;1124;p8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25" name="Google Shape;1125;p8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26" name="Google Shape;1126;p8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27" name="Google Shape;1127;p8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28" name="Google Shape;1128;p8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1129" name="Google Shape;1129;p85"/>
          <p:cNvGraphicFramePr/>
          <p:nvPr/>
        </p:nvGraphicFramePr>
        <p:xfrm>
          <a:off x="609600" y="2682875"/>
          <a:ext cx="4191000" cy="3489325"/>
        </p:xfrm>
        <a:graphic>
          <a:graphicData uri="http://schemas.openxmlformats.org/presentationml/2006/ole">
            <mc:AlternateContent>
              <mc:Choice Requires="v">
                <p:oleObj r:id="rId4" imgH="3489325" imgW="4191000" progId="Visio.Drawing.11" spid="_x0000_s1">
                  <p:embed/>
                </p:oleObj>
              </mc:Choice>
              <mc:Fallback>
                <p:oleObj r:id="rId5" imgH="3489325" imgW="4191000" progId="Visio.Drawing.11">
                  <p:embed/>
                  <p:pic>
                    <p:nvPicPr>
                      <p:cNvPr id="1129" name="Google Shape;1129;p85"/>
                      <p:cNvPicPr preferRelativeResize="0"/>
                      <p:nvPr/>
                    </p:nvPicPr>
                    <p:blipFill rotWithShape="1">
                      <a:blip r:embed="rId6">
                        <a:alphaModFix/>
                      </a:blip>
                      <a:srcRect b="0" l="0" r="0" t="0"/>
                      <a:stretch/>
                    </p:blipFill>
                    <p:spPr>
                      <a:xfrm>
                        <a:off x="609600" y="2682875"/>
                        <a:ext cx="4191000" cy="3489325"/>
                      </a:xfrm>
                      <a:prstGeom prst="rect">
                        <a:avLst/>
                      </a:prstGeom>
                      <a:noFill/>
                      <a:ln>
                        <a:noFill/>
                      </a:ln>
                    </p:spPr>
                  </p:pic>
                </p:oleObj>
              </mc:Fallback>
            </mc:AlternateContent>
          </a:graphicData>
        </a:graphic>
      </p:graphicFrame>
      <p:sp>
        <p:nvSpPr>
          <p:cNvPr id="1130" name="Google Shape;1130;p85"/>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1131" name="Google Shape;1131;p85"/>
          <p:cNvGraphicFramePr/>
          <p:nvPr/>
        </p:nvGraphicFramePr>
        <p:xfrm>
          <a:off x="4995862" y="3124200"/>
          <a:ext cx="4071937" cy="1704975"/>
        </p:xfrm>
        <a:graphic>
          <a:graphicData uri="http://schemas.openxmlformats.org/presentationml/2006/ole">
            <mc:AlternateContent>
              <mc:Choice Requires="v">
                <p:oleObj r:id="rId7" imgH="1704975" imgW="4071937" progId="Visio.Drawing.11" spid="_x0000_s2">
                  <p:embed/>
                </p:oleObj>
              </mc:Choice>
              <mc:Fallback>
                <p:oleObj r:id="rId8" imgH="1704975" imgW="4071937" progId="Visio.Drawing.11">
                  <p:embed/>
                  <p:pic>
                    <p:nvPicPr>
                      <p:cNvPr id="1131" name="Google Shape;1131;p85"/>
                      <p:cNvPicPr preferRelativeResize="0"/>
                      <p:nvPr/>
                    </p:nvPicPr>
                    <p:blipFill rotWithShape="1">
                      <a:blip r:embed="rId9">
                        <a:alphaModFix/>
                      </a:blip>
                      <a:srcRect b="0" l="0" r="0" t="0"/>
                      <a:stretch/>
                    </p:blipFill>
                    <p:spPr>
                      <a:xfrm>
                        <a:off x="4995862" y="3124200"/>
                        <a:ext cx="4071937" cy="1704975"/>
                      </a:xfrm>
                      <a:prstGeom prst="rect">
                        <a:avLst/>
                      </a:prstGeom>
                      <a:noFill/>
                      <a:ln>
                        <a:noFill/>
                      </a:ln>
                    </p:spPr>
                  </p:pic>
                </p:oleObj>
              </mc:Fallback>
            </mc:AlternateContent>
          </a:graphicData>
        </a:graphic>
      </p:graphicFrame>
      <p:sp>
        <p:nvSpPr>
          <p:cNvPr id="1132" name="Google Shape;1132;p85"/>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7" name="Shape 1137"/>
        <p:cNvGrpSpPr/>
        <p:nvPr/>
      </p:nvGrpSpPr>
      <p:grpSpPr>
        <a:xfrm>
          <a:off x="0" y="0"/>
          <a:ext cx="0" cy="0"/>
          <a:chOff x="0" y="0"/>
          <a:chExt cx="0" cy="0"/>
        </a:xfrm>
      </p:grpSpPr>
      <p:sp>
        <p:nvSpPr>
          <p:cNvPr id="1138" name="Google Shape;1138;p86"/>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Hỗ trợ kích thước trang 4KB hoặc 4MB, tùy thuộc vào giá trị cờ kích thước trang</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Trang kích thước 4KB: tổ chức bảng trang thành 2 mức</a:t>
            </a:r>
            <a:endParaRPr b="0" i="0" sz="2400" u="non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Địa chỉ tuyến tính có kích thước 32 bit</a:t>
            </a:r>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P1: cho phép tìm bảng trang mức 1</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P2: tìm ô tương ứng trong bảng trang mức 2 kết hợp với độ dịch o tạo ra địa chỉ vật lý</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Trang kích thước 4MB: Bảng trang chỉ có một mức</a:t>
            </a:r>
            <a:endParaRPr b="0" i="0" sz="2400" u="none">
              <a:solidFill>
                <a:schemeClr val="dk2"/>
              </a:solidFill>
              <a:latin typeface="Times New Roman"/>
              <a:ea typeface="Times New Roman"/>
              <a:cs typeface="Times New Roman"/>
              <a:sym typeface="Times New Roman"/>
            </a:endParaRPr>
          </a:p>
          <a:p>
            <a:pPr indent="-228600" lvl="2" marL="1143000" marR="0" rtl="0" algn="l">
              <a:lnSpc>
                <a:spcPct val="100000"/>
              </a:lnSpc>
              <a:spcBef>
                <a:spcPts val="360"/>
              </a:spcBef>
              <a:spcAft>
                <a:spcPts val="0"/>
              </a:spcAft>
              <a:buClr>
                <a:schemeClr val="accent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P :10bit </a:t>
            </a:r>
            <a:endParaRPr/>
          </a:p>
          <a:p>
            <a:pPr indent="-228600" lvl="2" marL="1143000" marR="0" rtl="0" algn="l">
              <a:lnSpc>
                <a:spcPct val="100000"/>
              </a:lnSpc>
              <a:spcBef>
                <a:spcPts val="360"/>
              </a:spcBef>
              <a:spcAft>
                <a:spcPts val="0"/>
              </a:spcAft>
              <a:buClr>
                <a:schemeClr val="accent2"/>
              </a:buClr>
              <a:buSzPts val="1800"/>
              <a:buFont typeface="Noto Sans Symbols"/>
              <a:buChar char="▪"/>
            </a:pPr>
            <a:r>
              <a:rPr b="0" i="0" lang="en-US" sz="1800" u="none" cap="none" strike="noStrike">
                <a:solidFill>
                  <a:schemeClr val="dk2"/>
                </a:solidFill>
                <a:latin typeface="Times New Roman"/>
                <a:ea typeface="Times New Roman"/>
                <a:cs typeface="Times New Roman"/>
                <a:sym typeface="Times New Roman"/>
              </a:rPr>
              <a:t>O: độ dịch, kích thước 22bit cho phép trỏ tới vị trí cụ thể trong trang nhớ 4MB</a:t>
            </a:r>
            <a:endParaRPr b="0" i="0" sz="20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50800" lvl="2" marL="1143000"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50800" lvl="3" marL="1600200" marR="0" rtl="0" algn="l">
              <a:lnSpc>
                <a:spcPct val="100000"/>
              </a:lnSpc>
              <a:spcBef>
                <a:spcPts val="560"/>
              </a:spcBef>
              <a:spcAft>
                <a:spcPts val="0"/>
              </a:spcAft>
              <a:buClr>
                <a:schemeClr val="dk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139" name="Google Shape;1139;p86"/>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VIII. QUẢN LÝ BỘ NHỚ TRONG INTEL PENTIUM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Phân trang</a:t>
            </a:r>
            <a:endParaRPr/>
          </a:p>
        </p:txBody>
      </p:sp>
      <p:sp>
        <p:nvSpPr>
          <p:cNvPr id="1140" name="Google Shape;1140;p8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41" name="Google Shape;1141;p8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42" name="Google Shape;1142;p8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43" name="Google Shape;1143;p8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44" name="Google Shape;1144;p86"/>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1145" name="Google Shape;1145;p86"/>
          <p:cNvGraphicFramePr/>
          <p:nvPr/>
        </p:nvGraphicFramePr>
        <p:xfrm>
          <a:off x="2973387" y="2782887"/>
          <a:ext cx="3000000" cy="3000000"/>
        </p:xfrm>
        <a:graphic>
          <a:graphicData uri="http://schemas.openxmlformats.org/drawingml/2006/table">
            <a:tbl>
              <a:tblPr>
                <a:noFill/>
                <a:tableStyleId>{71EE02FC-BA3E-45F9-B2DA-8AEF37A3CA9D}</a:tableStyleId>
              </a:tblPr>
              <a:tblGrid>
                <a:gridCol w="968375"/>
                <a:gridCol w="969950"/>
                <a:gridCol w="1260475"/>
              </a:tblGrid>
              <a:tr h="323850">
                <a:tc>
                  <a:txBody>
                    <a:bodyPr/>
                    <a:lstStyle/>
                    <a:p>
                      <a:pPr indent="0" lvl="0" marL="0" marR="0" rtl="0" algn="ctr">
                        <a:lnSpc>
                          <a:spcPct val="115000"/>
                        </a:lnSpc>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p1</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p2</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o</a:t>
                      </a:r>
                      <a:endParaRPr/>
                    </a:p>
                  </a:txBody>
                  <a:tcPr marT="0" marB="0" marR="68575" marL="68575">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322250">
                <a:tc>
                  <a:txBody>
                    <a:bodyPr/>
                    <a:lstStyle/>
                    <a:p>
                      <a:pPr indent="0" lvl="0" marL="0" marR="0" rtl="0" algn="ctr">
                        <a:lnSpc>
                          <a:spcPct val="115000"/>
                        </a:lnSpc>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10 bit</a:t>
                      </a:r>
                      <a:endParaRPr/>
                    </a:p>
                  </a:txBody>
                  <a:tcPr marT="0" marB="0" marR="68575" marL="68575">
                    <a:lnT cap="flat" cmpd="sng" w="12700">
                      <a:solidFill>
                        <a:srgbClr val="000000"/>
                      </a:solidFill>
                      <a:prstDash val="solid"/>
                      <a:round/>
                      <a:headEnd len="sm" w="sm" type="none"/>
                      <a:tailEnd len="sm" w="sm" type="none"/>
                    </a:lnT>
                  </a:tcPr>
                </a:tc>
                <a:tc>
                  <a:txBody>
                    <a:bodyPr/>
                    <a:lstStyle/>
                    <a:p>
                      <a:pPr indent="0" lvl="0" marL="0" marR="0" rtl="0" algn="ctr">
                        <a:lnSpc>
                          <a:spcPct val="115000"/>
                        </a:lnSpc>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10 bit</a:t>
                      </a:r>
                      <a:endParaRPr/>
                    </a:p>
                  </a:txBody>
                  <a:tcPr marT="0" marB="0" marR="68575" marL="68575">
                    <a:lnT cap="flat" cmpd="sng" w="12700">
                      <a:solidFill>
                        <a:srgbClr val="000000"/>
                      </a:solidFill>
                      <a:prstDash val="solid"/>
                      <a:round/>
                      <a:headEnd len="sm" w="sm" type="none"/>
                      <a:tailEnd len="sm" w="sm" type="none"/>
                    </a:lnT>
                  </a:tcPr>
                </a:tc>
                <a:tc>
                  <a:txBody>
                    <a:bodyPr/>
                    <a:lstStyle/>
                    <a:p>
                      <a:pPr indent="0" lvl="0" marL="0" marR="0" rtl="0" algn="ctr">
                        <a:lnSpc>
                          <a:spcPct val="115000"/>
                        </a:lnSpc>
                        <a:spcBef>
                          <a:spcPts val="0"/>
                        </a:spcBef>
                        <a:spcAft>
                          <a:spcPts val="0"/>
                        </a:spcAft>
                        <a:buClr>
                          <a:schemeClr val="dk1"/>
                        </a:buClr>
                        <a:buSzPts val="1600"/>
                        <a:buFont typeface="Times New Roman"/>
                        <a:buNone/>
                      </a:pPr>
                      <a:r>
                        <a:rPr b="0" i="0" lang="en-US" sz="1600" u="none" cap="none" strike="noStrike">
                          <a:solidFill>
                            <a:schemeClr val="dk1"/>
                          </a:solidFill>
                          <a:latin typeface="Times New Roman"/>
                          <a:ea typeface="Times New Roman"/>
                          <a:cs typeface="Times New Roman"/>
                          <a:sym typeface="Times New Roman"/>
                        </a:rPr>
                        <a:t>12 bit</a:t>
                      </a:r>
                      <a:endParaRPr/>
                    </a:p>
                  </a:txBody>
                  <a:tcPr marT="0" marB="0" marR="68575" marL="68575">
                    <a:lnT cap="flat" cmpd="sng" w="12700">
                      <a:solidFill>
                        <a:srgbClr val="000000"/>
                      </a:solidFill>
                      <a:prstDash val="solid"/>
                      <a:round/>
                      <a:headEnd len="sm" w="sm" type="none"/>
                      <a:tailEnd len="sm" w="sm" type="none"/>
                    </a:lnT>
                  </a:tcPr>
                </a:tc>
              </a:tr>
            </a:tbl>
          </a:graphicData>
        </a:graphic>
      </p:graphicFrame>
      <p:sp>
        <p:nvSpPr>
          <p:cNvPr id="1146" name="Google Shape;1146;p86"/>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0" st="0"/>
                                            </p:txEl>
                                          </p:spTgt>
                                        </p:tgtEl>
                                        <p:attrNameLst>
                                          <p:attrName>style.visibility</p:attrName>
                                        </p:attrNameLst>
                                      </p:cBhvr>
                                      <p:to>
                                        <p:strVal val="visible"/>
                                      </p:to>
                                    </p:set>
                                    <p:animEffect filter="fade" transition="in">
                                      <p:cBhvr>
                                        <p:cTn dur="500"/>
                                        <p:tgtEl>
                                          <p:spTgt spid="1138">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 st="1"/>
                                            </p:txEl>
                                          </p:spTgt>
                                        </p:tgtEl>
                                        <p:attrNameLst>
                                          <p:attrName>style.visibility</p:attrName>
                                        </p:attrNameLst>
                                      </p:cBhvr>
                                      <p:to>
                                        <p:strVal val="visible"/>
                                      </p:to>
                                    </p:set>
                                    <p:animEffect filter="fade" transition="in">
                                      <p:cBhvr>
                                        <p:cTn dur="500"/>
                                        <p:tgtEl>
                                          <p:spTgt spid="1138">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2" st="2"/>
                                            </p:txEl>
                                          </p:spTgt>
                                        </p:tgtEl>
                                        <p:attrNameLst>
                                          <p:attrName>style.visibility</p:attrName>
                                        </p:attrNameLst>
                                      </p:cBhvr>
                                      <p:to>
                                        <p:strVal val="visible"/>
                                      </p:to>
                                    </p:set>
                                    <p:animEffect filter="fade" transition="in">
                                      <p:cBhvr>
                                        <p:cTn dur="500"/>
                                        <p:tgtEl>
                                          <p:spTgt spid="1138">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3" st="3"/>
                                            </p:txEl>
                                          </p:spTgt>
                                        </p:tgtEl>
                                        <p:attrNameLst>
                                          <p:attrName>style.visibility</p:attrName>
                                        </p:attrNameLst>
                                      </p:cBhvr>
                                      <p:to>
                                        <p:strVal val="visible"/>
                                      </p:to>
                                    </p:set>
                                    <p:animEffect filter="fade" transition="in">
                                      <p:cBhvr>
                                        <p:cTn dur="500"/>
                                        <p:tgtEl>
                                          <p:spTgt spid="1138">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4" st="4"/>
                                            </p:txEl>
                                          </p:spTgt>
                                        </p:tgtEl>
                                        <p:attrNameLst>
                                          <p:attrName>style.visibility</p:attrName>
                                        </p:attrNameLst>
                                      </p:cBhvr>
                                      <p:to>
                                        <p:strVal val="visible"/>
                                      </p:to>
                                    </p:set>
                                    <p:animEffect filter="fade" transition="in">
                                      <p:cBhvr>
                                        <p:cTn dur="500"/>
                                        <p:tgtEl>
                                          <p:spTgt spid="1138">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5" st="5"/>
                                            </p:txEl>
                                          </p:spTgt>
                                        </p:tgtEl>
                                        <p:attrNameLst>
                                          <p:attrName>style.visibility</p:attrName>
                                        </p:attrNameLst>
                                      </p:cBhvr>
                                      <p:to>
                                        <p:strVal val="visible"/>
                                      </p:to>
                                    </p:set>
                                    <p:animEffect filter="fade" transition="in">
                                      <p:cBhvr>
                                        <p:cTn dur="500"/>
                                        <p:tgtEl>
                                          <p:spTgt spid="1138">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6" st="6"/>
                                            </p:txEl>
                                          </p:spTgt>
                                        </p:tgtEl>
                                        <p:attrNameLst>
                                          <p:attrName>style.visibility</p:attrName>
                                        </p:attrNameLst>
                                      </p:cBhvr>
                                      <p:to>
                                        <p:strVal val="visible"/>
                                      </p:to>
                                    </p:set>
                                    <p:animEffect filter="fade" transition="in">
                                      <p:cBhvr>
                                        <p:cTn dur="500"/>
                                        <p:tgtEl>
                                          <p:spTgt spid="1138">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7" st="7"/>
                                            </p:txEl>
                                          </p:spTgt>
                                        </p:tgtEl>
                                        <p:attrNameLst>
                                          <p:attrName>style.visibility</p:attrName>
                                        </p:attrNameLst>
                                      </p:cBhvr>
                                      <p:to>
                                        <p:strVal val="visible"/>
                                      </p:to>
                                    </p:set>
                                    <p:animEffect filter="fade" transition="in">
                                      <p:cBhvr>
                                        <p:cTn dur="500"/>
                                        <p:tgtEl>
                                          <p:spTgt spid="1138">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8" st="8"/>
                                            </p:txEl>
                                          </p:spTgt>
                                        </p:tgtEl>
                                        <p:attrNameLst>
                                          <p:attrName>style.visibility</p:attrName>
                                        </p:attrNameLst>
                                      </p:cBhvr>
                                      <p:to>
                                        <p:strVal val="visible"/>
                                      </p:to>
                                    </p:set>
                                    <p:animEffect filter="fade" transition="in">
                                      <p:cBhvr>
                                        <p:cTn dur="500"/>
                                        <p:tgtEl>
                                          <p:spTgt spid="1138">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9" st="9"/>
                                            </p:txEl>
                                          </p:spTgt>
                                        </p:tgtEl>
                                        <p:attrNameLst>
                                          <p:attrName>style.visibility</p:attrName>
                                        </p:attrNameLst>
                                      </p:cBhvr>
                                      <p:to>
                                        <p:strVal val="visible"/>
                                      </p:to>
                                    </p:set>
                                    <p:animEffect filter="fade" transition="in">
                                      <p:cBhvr>
                                        <p:cTn dur="500"/>
                                        <p:tgtEl>
                                          <p:spTgt spid="1138">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0" st="10"/>
                                            </p:txEl>
                                          </p:spTgt>
                                        </p:tgtEl>
                                        <p:attrNameLst>
                                          <p:attrName>style.visibility</p:attrName>
                                        </p:attrNameLst>
                                      </p:cBhvr>
                                      <p:to>
                                        <p:strVal val="visible"/>
                                      </p:to>
                                    </p:set>
                                    <p:animEffect filter="fade" transition="in">
                                      <p:cBhvr>
                                        <p:cTn dur="500"/>
                                        <p:tgtEl>
                                          <p:spTgt spid="1138">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1" st="11"/>
                                            </p:txEl>
                                          </p:spTgt>
                                        </p:tgtEl>
                                        <p:attrNameLst>
                                          <p:attrName>style.visibility</p:attrName>
                                        </p:attrNameLst>
                                      </p:cBhvr>
                                      <p:to>
                                        <p:strVal val="visible"/>
                                      </p:to>
                                    </p:set>
                                    <p:animEffect filter="fade" transition="in">
                                      <p:cBhvr>
                                        <p:cTn dur="500"/>
                                        <p:tgtEl>
                                          <p:spTgt spid="1138">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2" st="12"/>
                                            </p:txEl>
                                          </p:spTgt>
                                        </p:tgtEl>
                                        <p:attrNameLst>
                                          <p:attrName>style.visibility</p:attrName>
                                        </p:attrNameLst>
                                      </p:cBhvr>
                                      <p:to>
                                        <p:strVal val="visible"/>
                                      </p:to>
                                    </p:set>
                                    <p:animEffect filter="fade" transition="in">
                                      <p:cBhvr>
                                        <p:cTn dur="500"/>
                                        <p:tgtEl>
                                          <p:spTgt spid="1138">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3" st="13"/>
                                            </p:txEl>
                                          </p:spTgt>
                                        </p:tgtEl>
                                        <p:attrNameLst>
                                          <p:attrName>style.visibility</p:attrName>
                                        </p:attrNameLst>
                                      </p:cBhvr>
                                      <p:to>
                                        <p:strVal val="visible"/>
                                      </p:to>
                                    </p:set>
                                    <p:animEffect filter="fade" transition="in">
                                      <p:cBhvr>
                                        <p:cTn dur="500"/>
                                        <p:tgtEl>
                                          <p:spTgt spid="1138">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4" st="14"/>
                                            </p:txEl>
                                          </p:spTgt>
                                        </p:tgtEl>
                                        <p:attrNameLst>
                                          <p:attrName>style.visibility</p:attrName>
                                        </p:attrNameLst>
                                      </p:cBhvr>
                                      <p:to>
                                        <p:strVal val="visible"/>
                                      </p:to>
                                    </p:set>
                                    <p:animEffect filter="fade" transition="in">
                                      <p:cBhvr>
                                        <p:cTn dur="500"/>
                                        <p:tgtEl>
                                          <p:spTgt spid="1138">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5" st="15"/>
                                            </p:txEl>
                                          </p:spTgt>
                                        </p:tgtEl>
                                        <p:attrNameLst>
                                          <p:attrName>style.visibility</p:attrName>
                                        </p:attrNameLst>
                                      </p:cBhvr>
                                      <p:to>
                                        <p:strVal val="visible"/>
                                      </p:to>
                                    </p:set>
                                    <p:animEffect filter="fade" transition="in">
                                      <p:cBhvr>
                                        <p:cTn dur="500"/>
                                        <p:tgtEl>
                                          <p:spTgt spid="1138">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6" st="16"/>
                                            </p:txEl>
                                          </p:spTgt>
                                        </p:tgtEl>
                                        <p:attrNameLst>
                                          <p:attrName>style.visibility</p:attrName>
                                        </p:attrNameLst>
                                      </p:cBhvr>
                                      <p:to>
                                        <p:strVal val="visible"/>
                                      </p:to>
                                    </p:set>
                                    <p:animEffect filter="fade" transition="in">
                                      <p:cBhvr>
                                        <p:cTn dur="500"/>
                                        <p:tgtEl>
                                          <p:spTgt spid="1138">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7" st="17"/>
                                            </p:txEl>
                                          </p:spTgt>
                                        </p:tgtEl>
                                        <p:attrNameLst>
                                          <p:attrName>style.visibility</p:attrName>
                                        </p:attrNameLst>
                                      </p:cBhvr>
                                      <p:to>
                                        <p:strVal val="visible"/>
                                      </p:to>
                                    </p:set>
                                    <p:animEffect filter="fade" transition="in">
                                      <p:cBhvr>
                                        <p:cTn dur="500"/>
                                        <p:tgtEl>
                                          <p:spTgt spid="1138">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8" st="18"/>
                                            </p:txEl>
                                          </p:spTgt>
                                        </p:tgtEl>
                                        <p:attrNameLst>
                                          <p:attrName>style.visibility</p:attrName>
                                        </p:attrNameLst>
                                      </p:cBhvr>
                                      <p:to>
                                        <p:strVal val="visible"/>
                                      </p:to>
                                    </p:set>
                                    <p:animEffect filter="fade" transition="in">
                                      <p:cBhvr>
                                        <p:cTn dur="500"/>
                                        <p:tgtEl>
                                          <p:spTgt spid="1138">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19" st="19"/>
                                            </p:txEl>
                                          </p:spTgt>
                                        </p:tgtEl>
                                        <p:attrNameLst>
                                          <p:attrName>style.visibility</p:attrName>
                                        </p:attrNameLst>
                                      </p:cBhvr>
                                      <p:to>
                                        <p:strVal val="visible"/>
                                      </p:to>
                                    </p:set>
                                    <p:animEffect filter="fade" transition="in">
                                      <p:cBhvr>
                                        <p:cTn dur="500"/>
                                        <p:tgtEl>
                                          <p:spTgt spid="1138">
                                            <p:txEl>
                                              <p:pRg end="19" st="1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20" st="20"/>
                                            </p:txEl>
                                          </p:spTgt>
                                        </p:tgtEl>
                                        <p:attrNameLst>
                                          <p:attrName>style.visibility</p:attrName>
                                        </p:attrNameLst>
                                      </p:cBhvr>
                                      <p:to>
                                        <p:strVal val="visible"/>
                                      </p:to>
                                    </p:set>
                                    <p:animEffect filter="fade" transition="in">
                                      <p:cBhvr>
                                        <p:cTn dur="500"/>
                                        <p:tgtEl>
                                          <p:spTgt spid="1138">
                                            <p:txEl>
                                              <p:pRg end="20" st="2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21" st="21"/>
                                            </p:txEl>
                                          </p:spTgt>
                                        </p:tgtEl>
                                        <p:attrNameLst>
                                          <p:attrName>style.visibility</p:attrName>
                                        </p:attrNameLst>
                                      </p:cBhvr>
                                      <p:to>
                                        <p:strVal val="visible"/>
                                      </p:to>
                                    </p:set>
                                    <p:animEffect filter="fade" transition="in">
                                      <p:cBhvr>
                                        <p:cTn dur="500"/>
                                        <p:tgtEl>
                                          <p:spTgt spid="1138">
                                            <p:txEl>
                                              <p:pRg end="21" st="2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22" st="22"/>
                                            </p:txEl>
                                          </p:spTgt>
                                        </p:tgtEl>
                                        <p:attrNameLst>
                                          <p:attrName>style.visibility</p:attrName>
                                        </p:attrNameLst>
                                      </p:cBhvr>
                                      <p:to>
                                        <p:strVal val="visible"/>
                                      </p:to>
                                    </p:set>
                                    <p:animEffect filter="fade" transition="in">
                                      <p:cBhvr>
                                        <p:cTn dur="500"/>
                                        <p:tgtEl>
                                          <p:spTgt spid="1138">
                                            <p:txEl>
                                              <p:pRg end="22" st="2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23" st="23"/>
                                            </p:txEl>
                                          </p:spTgt>
                                        </p:tgtEl>
                                        <p:attrNameLst>
                                          <p:attrName>style.visibility</p:attrName>
                                        </p:attrNameLst>
                                      </p:cBhvr>
                                      <p:to>
                                        <p:strVal val="visible"/>
                                      </p:to>
                                    </p:set>
                                    <p:animEffect filter="fade" transition="in">
                                      <p:cBhvr>
                                        <p:cTn dur="500"/>
                                        <p:tgtEl>
                                          <p:spTgt spid="1138">
                                            <p:txEl>
                                              <p:pRg end="23" st="2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38">
                                            <p:txEl>
                                              <p:pRg end="24" st="24"/>
                                            </p:txEl>
                                          </p:spTgt>
                                        </p:tgtEl>
                                        <p:attrNameLst>
                                          <p:attrName>style.visibility</p:attrName>
                                        </p:attrNameLst>
                                      </p:cBhvr>
                                      <p:to>
                                        <p:strVal val="visible"/>
                                      </p:to>
                                    </p:set>
                                    <p:animEffect filter="fade" transition="in">
                                      <p:cBhvr>
                                        <p:cTn dur="500"/>
                                        <p:tgtEl>
                                          <p:spTgt spid="1138">
                                            <p:txEl>
                                              <p:pRg end="24" st="2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87"/>
          <p:cNvSpPr txBox="1"/>
          <p:nvPr>
            <p:ph idx="1" type="body"/>
          </p:nvPr>
        </p:nvSpPr>
        <p:spPr>
          <a:xfrm>
            <a:off x="0" y="8382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Biến đổi địa chỉ tuyến tính thành địa chỉ vật lý với kích thước trang 4KB</a:t>
            </a:r>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50800" lvl="2" marL="1143000"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50800" lvl="3" marL="1600200" marR="0" rtl="0" algn="l">
              <a:lnSpc>
                <a:spcPct val="100000"/>
              </a:lnSpc>
              <a:spcBef>
                <a:spcPts val="560"/>
              </a:spcBef>
              <a:spcAft>
                <a:spcPts val="0"/>
              </a:spcAft>
              <a:buClr>
                <a:schemeClr val="dk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153" name="Google Shape;1153;p87"/>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VIII. QUẢN LÝ BỘ NHỚ TRONG INTEL PENTIUM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Phân trang</a:t>
            </a:r>
            <a:endParaRPr/>
          </a:p>
        </p:txBody>
      </p:sp>
      <p:sp>
        <p:nvSpPr>
          <p:cNvPr id="1154" name="Google Shape;1154;p8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55" name="Google Shape;1155;p8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56" name="Google Shape;1156;p8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57" name="Google Shape;1157;p8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58" name="Google Shape;1158;p8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59" name="Google Shape;1159;p8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60" name="Google Shape;1160;p87"/>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1161" name="Google Shape;1161;p87"/>
          <p:cNvGraphicFramePr/>
          <p:nvPr/>
        </p:nvGraphicFramePr>
        <p:xfrm>
          <a:off x="1385887" y="1390650"/>
          <a:ext cx="6734175" cy="4705350"/>
        </p:xfrm>
        <a:graphic>
          <a:graphicData uri="http://schemas.openxmlformats.org/presentationml/2006/ole">
            <mc:AlternateContent>
              <mc:Choice Requires="v">
                <p:oleObj r:id="rId4" imgH="4705350" imgW="6734175" progId="Visio.Drawing.11" spid="_x0000_s1">
                  <p:embed/>
                </p:oleObj>
              </mc:Choice>
              <mc:Fallback>
                <p:oleObj r:id="rId5" imgH="4705350" imgW="6734175" progId="Visio.Drawing.11">
                  <p:embed/>
                  <p:pic>
                    <p:nvPicPr>
                      <p:cNvPr id="1161" name="Google Shape;1161;p87"/>
                      <p:cNvPicPr preferRelativeResize="0"/>
                      <p:nvPr/>
                    </p:nvPicPr>
                    <p:blipFill rotWithShape="1">
                      <a:blip r:embed="rId6">
                        <a:alphaModFix/>
                      </a:blip>
                      <a:srcRect b="0" l="0" r="0" t="0"/>
                      <a:stretch/>
                    </p:blipFill>
                    <p:spPr>
                      <a:xfrm>
                        <a:off x="1385887" y="1390650"/>
                        <a:ext cx="6734175" cy="4705350"/>
                      </a:xfrm>
                      <a:prstGeom prst="rect">
                        <a:avLst/>
                      </a:prstGeom>
                      <a:noFill/>
                      <a:ln>
                        <a:noFill/>
                      </a:ln>
                    </p:spPr>
                  </p:pic>
                </p:oleObj>
              </mc:Fallback>
            </mc:AlternateContent>
          </a:graphicData>
        </a:graphic>
      </p:graphicFrame>
      <p:sp>
        <p:nvSpPr>
          <p:cNvPr id="1162" name="Google Shape;1162;p87"/>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7" name="Shape 1167"/>
        <p:cNvGrpSpPr/>
        <p:nvPr/>
      </p:nvGrpSpPr>
      <p:grpSpPr>
        <a:xfrm>
          <a:off x="0" y="0"/>
          <a:ext cx="0" cy="0"/>
          <a:chOff x="0" y="0"/>
          <a:chExt cx="0" cy="0"/>
        </a:xfrm>
      </p:grpSpPr>
      <p:sp>
        <p:nvSpPr>
          <p:cNvPr id="1168" name="Google Shape;1168;p88"/>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114300" lvl="2" marL="1143000" marR="0" rtl="0" algn="l">
              <a:lnSpc>
                <a:spcPct val="100000"/>
              </a:lnSpc>
              <a:spcBef>
                <a:spcPts val="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50800" lvl="2" marL="1143000"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50800" lvl="3" marL="1600200" marR="0" rtl="0" algn="l">
              <a:lnSpc>
                <a:spcPct val="100000"/>
              </a:lnSpc>
              <a:spcBef>
                <a:spcPts val="560"/>
              </a:spcBef>
              <a:spcAft>
                <a:spcPts val="0"/>
              </a:spcAft>
              <a:buClr>
                <a:schemeClr val="dk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169" name="Google Shape;1169;p88"/>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VIII. QUẢN LÝ BỘ NHỚ TRONG INTEL PENTIUM </a:t>
            </a:r>
            <a:br>
              <a:rPr b="1" i="0" lang="en-US" sz="2800" u="none">
                <a:solidFill>
                  <a:srgbClr val="000066"/>
                </a:solidFill>
                <a:latin typeface="Times New Roman"/>
                <a:ea typeface="Times New Roman"/>
                <a:cs typeface="Times New Roman"/>
                <a:sym typeface="Times New Roman"/>
              </a:rPr>
            </a:br>
            <a:r>
              <a:rPr b="1" i="0" lang="en-US" sz="2400" u="none">
                <a:solidFill>
                  <a:srgbClr val="000066"/>
                </a:solidFill>
                <a:latin typeface="Times New Roman"/>
                <a:ea typeface="Times New Roman"/>
                <a:cs typeface="Times New Roman"/>
                <a:sym typeface="Times New Roman"/>
              </a:rPr>
              <a:t>Ánh xạ địa chỉ</a:t>
            </a:r>
            <a:endParaRPr/>
          </a:p>
        </p:txBody>
      </p:sp>
      <p:sp>
        <p:nvSpPr>
          <p:cNvPr id="1170" name="Google Shape;1170;p8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71" name="Google Shape;1171;p8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72" name="Google Shape;1172;p8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73" name="Google Shape;1173;p8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74" name="Google Shape;1174;p8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75" name="Google Shape;1175;p8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76" name="Google Shape;1176;p8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77" name="Google Shape;1177;p88"/>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1178" name="Google Shape;1178;p88"/>
          <p:cNvGraphicFramePr/>
          <p:nvPr/>
        </p:nvGraphicFramePr>
        <p:xfrm>
          <a:off x="1587" y="990600"/>
          <a:ext cx="9218612" cy="5067300"/>
        </p:xfrm>
        <a:graphic>
          <a:graphicData uri="http://schemas.openxmlformats.org/presentationml/2006/ole">
            <mc:AlternateContent>
              <mc:Choice Requires="v">
                <p:oleObj r:id="rId4" imgH="5067300" imgW="9218612" progId="Visio.Drawing.11" spid="_x0000_s1">
                  <p:embed/>
                </p:oleObj>
              </mc:Choice>
              <mc:Fallback>
                <p:oleObj r:id="rId5" imgH="5067300" imgW="9218612" progId="Visio.Drawing.11">
                  <p:embed/>
                  <p:pic>
                    <p:nvPicPr>
                      <p:cNvPr id="1178" name="Google Shape;1178;p88"/>
                      <p:cNvPicPr preferRelativeResize="0"/>
                      <p:nvPr/>
                    </p:nvPicPr>
                    <p:blipFill rotWithShape="1">
                      <a:blip r:embed="rId6">
                        <a:alphaModFix/>
                      </a:blip>
                      <a:srcRect b="0" l="0" r="0" t="0"/>
                      <a:stretch/>
                    </p:blipFill>
                    <p:spPr>
                      <a:xfrm>
                        <a:off x="1587" y="990600"/>
                        <a:ext cx="9218612" cy="5067300"/>
                      </a:xfrm>
                      <a:prstGeom prst="rect">
                        <a:avLst/>
                      </a:prstGeom>
                      <a:noFill/>
                      <a:ln>
                        <a:noFill/>
                      </a:ln>
                    </p:spPr>
                  </p:pic>
                </p:oleObj>
              </mc:Fallback>
            </mc:AlternateContent>
          </a:graphicData>
        </a:graphic>
      </p:graphicFrame>
      <p:sp>
        <p:nvSpPr>
          <p:cNvPr id="1179" name="Google Shape;1179;p88"/>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id="1185" name="Google Shape;1185;p89"/>
          <p:cNvSpPr txBox="1"/>
          <p:nvPr>
            <p:ph idx="1" type="body"/>
          </p:nvPr>
        </p:nvSpPr>
        <p:spPr>
          <a:xfrm>
            <a:off x="0" y="1143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Cho phép tiến trình sử dụng bộ nhớ ảo tới 4GB</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2GB được dùng riêng cho tiến trình </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2GB sau được dùng chung cho hệ thống</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Bộ nhớ ảo thực hiện bằng kỹ thuật nạp trang theo nhu cầu và đổi trang</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Kích thước trang nhớ 4KB</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Tổ chức bảng trang 2 mức</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Nạp trang theo cụm: </a:t>
            </a:r>
            <a:r>
              <a:rPr b="0" i="0" lang="en-US" sz="2400" u="none">
                <a:solidFill>
                  <a:schemeClr val="dk2"/>
                </a:solidFill>
                <a:latin typeface="Times New Roman"/>
                <a:ea typeface="Times New Roman"/>
                <a:cs typeface="Times New Roman"/>
                <a:sym typeface="Times New Roman"/>
              </a:rPr>
              <a:t>khi xảy ra thiếu trang, nạp cả cụm gồm 1 số trang nằm sau trang bị thiếu</a:t>
            </a:r>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215900" lvl="0" marL="342900" marR="0" rtl="0" algn="l">
              <a:lnSpc>
                <a:spcPct val="100000"/>
              </a:lnSpc>
              <a:spcBef>
                <a:spcPts val="400"/>
              </a:spcBef>
              <a:spcAft>
                <a:spcPts val="0"/>
              </a:spcAft>
              <a:buClr>
                <a:schemeClr val="dk2"/>
              </a:buClr>
              <a:buSzPts val="2000"/>
              <a:buFont typeface="Noto Sans Symbols"/>
              <a:buNone/>
            </a:pPr>
            <a:r>
              <a:t/>
            </a:r>
            <a:endParaRPr b="0" i="0" sz="20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50800" lvl="2" marL="1143000"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50800" lvl="3" marL="1600200" marR="0" rtl="0" algn="l">
              <a:lnSpc>
                <a:spcPct val="100000"/>
              </a:lnSpc>
              <a:spcBef>
                <a:spcPts val="560"/>
              </a:spcBef>
              <a:spcAft>
                <a:spcPts val="0"/>
              </a:spcAft>
              <a:buClr>
                <a:schemeClr val="dk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186" name="Google Shape;1186;p89"/>
          <p:cNvSpPr txBox="1"/>
          <p:nvPr>
            <p:ph type="title"/>
          </p:nvPr>
        </p:nvSpPr>
        <p:spPr>
          <a:xfrm>
            <a:off x="457200" y="0"/>
            <a:ext cx="8686800" cy="12192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IX. QUẢN LÝ BỘ NHỚ TRONG WINDOWS XP</a:t>
            </a:r>
            <a:endParaRPr/>
          </a:p>
        </p:txBody>
      </p:sp>
      <p:sp>
        <p:nvSpPr>
          <p:cNvPr id="1187" name="Google Shape;1187;p8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88" name="Google Shape;1188;p8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89" name="Google Shape;1189;p8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90" name="Google Shape;1190;p8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91" name="Google Shape;1191;p8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92" name="Google Shape;1192;p89"/>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193" name="Google Shape;1193;p89"/>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0" st="0"/>
                                            </p:txEl>
                                          </p:spTgt>
                                        </p:tgtEl>
                                        <p:attrNameLst>
                                          <p:attrName>style.visibility</p:attrName>
                                        </p:attrNameLst>
                                      </p:cBhvr>
                                      <p:to>
                                        <p:strVal val="visible"/>
                                      </p:to>
                                    </p:set>
                                    <p:animEffect filter="fade" transition="in">
                                      <p:cBhvr>
                                        <p:cTn dur="500"/>
                                        <p:tgtEl>
                                          <p:spTgt spid="118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1" st="1"/>
                                            </p:txEl>
                                          </p:spTgt>
                                        </p:tgtEl>
                                        <p:attrNameLst>
                                          <p:attrName>style.visibility</p:attrName>
                                        </p:attrNameLst>
                                      </p:cBhvr>
                                      <p:to>
                                        <p:strVal val="visible"/>
                                      </p:to>
                                    </p:set>
                                    <p:animEffect filter="fade" transition="in">
                                      <p:cBhvr>
                                        <p:cTn dur="500"/>
                                        <p:tgtEl>
                                          <p:spTgt spid="118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2" st="2"/>
                                            </p:txEl>
                                          </p:spTgt>
                                        </p:tgtEl>
                                        <p:attrNameLst>
                                          <p:attrName>style.visibility</p:attrName>
                                        </p:attrNameLst>
                                      </p:cBhvr>
                                      <p:to>
                                        <p:strVal val="visible"/>
                                      </p:to>
                                    </p:set>
                                    <p:animEffect filter="fade" transition="in">
                                      <p:cBhvr>
                                        <p:cTn dur="500"/>
                                        <p:tgtEl>
                                          <p:spTgt spid="118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3" st="3"/>
                                            </p:txEl>
                                          </p:spTgt>
                                        </p:tgtEl>
                                        <p:attrNameLst>
                                          <p:attrName>style.visibility</p:attrName>
                                        </p:attrNameLst>
                                      </p:cBhvr>
                                      <p:to>
                                        <p:strVal val="visible"/>
                                      </p:to>
                                    </p:set>
                                    <p:animEffect filter="fade" transition="in">
                                      <p:cBhvr>
                                        <p:cTn dur="500"/>
                                        <p:tgtEl>
                                          <p:spTgt spid="118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4" st="4"/>
                                            </p:txEl>
                                          </p:spTgt>
                                        </p:tgtEl>
                                        <p:attrNameLst>
                                          <p:attrName>style.visibility</p:attrName>
                                        </p:attrNameLst>
                                      </p:cBhvr>
                                      <p:to>
                                        <p:strVal val="visible"/>
                                      </p:to>
                                    </p:set>
                                    <p:animEffect filter="fade" transition="in">
                                      <p:cBhvr>
                                        <p:cTn dur="500"/>
                                        <p:tgtEl>
                                          <p:spTgt spid="118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5" st="5"/>
                                            </p:txEl>
                                          </p:spTgt>
                                        </p:tgtEl>
                                        <p:attrNameLst>
                                          <p:attrName>style.visibility</p:attrName>
                                        </p:attrNameLst>
                                      </p:cBhvr>
                                      <p:to>
                                        <p:strVal val="visible"/>
                                      </p:to>
                                    </p:set>
                                    <p:animEffect filter="fade" transition="in">
                                      <p:cBhvr>
                                        <p:cTn dur="500"/>
                                        <p:tgtEl>
                                          <p:spTgt spid="118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6" st="6"/>
                                            </p:txEl>
                                          </p:spTgt>
                                        </p:tgtEl>
                                        <p:attrNameLst>
                                          <p:attrName>style.visibility</p:attrName>
                                        </p:attrNameLst>
                                      </p:cBhvr>
                                      <p:to>
                                        <p:strVal val="visible"/>
                                      </p:to>
                                    </p:set>
                                    <p:animEffect filter="fade" transition="in">
                                      <p:cBhvr>
                                        <p:cTn dur="500"/>
                                        <p:tgtEl>
                                          <p:spTgt spid="1185">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7" st="7"/>
                                            </p:txEl>
                                          </p:spTgt>
                                        </p:tgtEl>
                                        <p:attrNameLst>
                                          <p:attrName>style.visibility</p:attrName>
                                        </p:attrNameLst>
                                      </p:cBhvr>
                                      <p:to>
                                        <p:strVal val="visible"/>
                                      </p:to>
                                    </p:set>
                                    <p:animEffect filter="fade" transition="in">
                                      <p:cBhvr>
                                        <p:cTn dur="500"/>
                                        <p:tgtEl>
                                          <p:spTgt spid="1185">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8" st="8"/>
                                            </p:txEl>
                                          </p:spTgt>
                                        </p:tgtEl>
                                        <p:attrNameLst>
                                          <p:attrName>style.visibility</p:attrName>
                                        </p:attrNameLst>
                                      </p:cBhvr>
                                      <p:to>
                                        <p:strVal val="visible"/>
                                      </p:to>
                                    </p:set>
                                    <p:animEffect filter="fade" transition="in">
                                      <p:cBhvr>
                                        <p:cTn dur="500"/>
                                        <p:tgtEl>
                                          <p:spTgt spid="1185">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9" st="9"/>
                                            </p:txEl>
                                          </p:spTgt>
                                        </p:tgtEl>
                                        <p:attrNameLst>
                                          <p:attrName>style.visibility</p:attrName>
                                        </p:attrNameLst>
                                      </p:cBhvr>
                                      <p:to>
                                        <p:strVal val="visible"/>
                                      </p:to>
                                    </p:set>
                                    <p:animEffect filter="fade" transition="in">
                                      <p:cBhvr>
                                        <p:cTn dur="500"/>
                                        <p:tgtEl>
                                          <p:spTgt spid="1185">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10" st="10"/>
                                            </p:txEl>
                                          </p:spTgt>
                                        </p:tgtEl>
                                        <p:attrNameLst>
                                          <p:attrName>style.visibility</p:attrName>
                                        </p:attrNameLst>
                                      </p:cBhvr>
                                      <p:to>
                                        <p:strVal val="visible"/>
                                      </p:to>
                                    </p:set>
                                    <p:animEffect filter="fade" transition="in">
                                      <p:cBhvr>
                                        <p:cTn dur="500"/>
                                        <p:tgtEl>
                                          <p:spTgt spid="1185">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11" st="11"/>
                                            </p:txEl>
                                          </p:spTgt>
                                        </p:tgtEl>
                                        <p:attrNameLst>
                                          <p:attrName>style.visibility</p:attrName>
                                        </p:attrNameLst>
                                      </p:cBhvr>
                                      <p:to>
                                        <p:strVal val="visible"/>
                                      </p:to>
                                    </p:set>
                                    <p:animEffect filter="fade" transition="in">
                                      <p:cBhvr>
                                        <p:cTn dur="500"/>
                                        <p:tgtEl>
                                          <p:spTgt spid="1185">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12" st="12"/>
                                            </p:txEl>
                                          </p:spTgt>
                                        </p:tgtEl>
                                        <p:attrNameLst>
                                          <p:attrName>style.visibility</p:attrName>
                                        </p:attrNameLst>
                                      </p:cBhvr>
                                      <p:to>
                                        <p:strVal val="visible"/>
                                      </p:to>
                                    </p:set>
                                    <p:animEffect filter="fade" transition="in">
                                      <p:cBhvr>
                                        <p:cTn dur="500"/>
                                        <p:tgtEl>
                                          <p:spTgt spid="1185">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13" st="13"/>
                                            </p:txEl>
                                          </p:spTgt>
                                        </p:tgtEl>
                                        <p:attrNameLst>
                                          <p:attrName>style.visibility</p:attrName>
                                        </p:attrNameLst>
                                      </p:cBhvr>
                                      <p:to>
                                        <p:strVal val="visible"/>
                                      </p:to>
                                    </p:set>
                                    <p:animEffect filter="fade" transition="in">
                                      <p:cBhvr>
                                        <p:cTn dur="500"/>
                                        <p:tgtEl>
                                          <p:spTgt spid="1185">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14" st="14"/>
                                            </p:txEl>
                                          </p:spTgt>
                                        </p:tgtEl>
                                        <p:attrNameLst>
                                          <p:attrName>style.visibility</p:attrName>
                                        </p:attrNameLst>
                                      </p:cBhvr>
                                      <p:to>
                                        <p:strVal val="visible"/>
                                      </p:to>
                                    </p:set>
                                    <p:animEffect filter="fade" transition="in">
                                      <p:cBhvr>
                                        <p:cTn dur="500"/>
                                        <p:tgtEl>
                                          <p:spTgt spid="1185">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15" st="15"/>
                                            </p:txEl>
                                          </p:spTgt>
                                        </p:tgtEl>
                                        <p:attrNameLst>
                                          <p:attrName>style.visibility</p:attrName>
                                        </p:attrNameLst>
                                      </p:cBhvr>
                                      <p:to>
                                        <p:strVal val="visible"/>
                                      </p:to>
                                    </p:set>
                                    <p:animEffect filter="fade" transition="in">
                                      <p:cBhvr>
                                        <p:cTn dur="500"/>
                                        <p:tgtEl>
                                          <p:spTgt spid="1185">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16" st="16"/>
                                            </p:txEl>
                                          </p:spTgt>
                                        </p:tgtEl>
                                        <p:attrNameLst>
                                          <p:attrName>style.visibility</p:attrName>
                                        </p:attrNameLst>
                                      </p:cBhvr>
                                      <p:to>
                                        <p:strVal val="visible"/>
                                      </p:to>
                                    </p:set>
                                    <p:animEffect filter="fade" transition="in">
                                      <p:cBhvr>
                                        <p:cTn dur="500"/>
                                        <p:tgtEl>
                                          <p:spTgt spid="1185">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17" st="17"/>
                                            </p:txEl>
                                          </p:spTgt>
                                        </p:tgtEl>
                                        <p:attrNameLst>
                                          <p:attrName>style.visibility</p:attrName>
                                        </p:attrNameLst>
                                      </p:cBhvr>
                                      <p:to>
                                        <p:strVal val="visible"/>
                                      </p:to>
                                    </p:set>
                                    <p:animEffect filter="fade" transition="in">
                                      <p:cBhvr>
                                        <p:cTn dur="500"/>
                                        <p:tgtEl>
                                          <p:spTgt spid="1185">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18" st="18"/>
                                            </p:txEl>
                                          </p:spTgt>
                                        </p:tgtEl>
                                        <p:attrNameLst>
                                          <p:attrName>style.visibility</p:attrName>
                                        </p:attrNameLst>
                                      </p:cBhvr>
                                      <p:to>
                                        <p:strVal val="visible"/>
                                      </p:to>
                                    </p:set>
                                    <p:animEffect filter="fade" transition="in">
                                      <p:cBhvr>
                                        <p:cTn dur="500"/>
                                        <p:tgtEl>
                                          <p:spTgt spid="1185">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19" st="19"/>
                                            </p:txEl>
                                          </p:spTgt>
                                        </p:tgtEl>
                                        <p:attrNameLst>
                                          <p:attrName>style.visibility</p:attrName>
                                        </p:attrNameLst>
                                      </p:cBhvr>
                                      <p:to>
                                        <p:strVal val="visible"/>
                                      </p:to>
                                    </p:set>
                                    <p:animEffect filter="fade" transition="in">
                                      <p:cBhvr>
                                        <p:cTn dur="500"/>
                                        <p:tgtEl>
                                          <p:spTgt spid="1185">
                                            <p:txEl>
                                              <p:pRg end="19" st="1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20" st="20"/>
                                            </p:txEl>
                                          </p:spTgt>
                                        </p:tgtEl>
                                        <p:attrNameLst>
                                          <p:attrName>style.visibility</p:attrName>
                                        </p:attrNameLst>
                                      </p:cBhvr>
                                      <p:to>
                                        <p:strVal val="visible"/>
                                      </p:to>
                                    </p:set>
                                    <p:animEffect filter="fade" transition="in">
                                      <p:cBhvr>
                                        <p:cTn dur="500"/>
                                        <p:tgtEl>
                                          <p:spTgt spid="1185">
                                            <p:txEl>
                                              <p:pRg end="20" st="2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21" st="21"/>
                                            </p:txEl>
                                          </p:spTgt>
                                        </p:tgtEl>
                                        <p:attrNameLst>
                                          <p:attrName>style.visibility</p:attrName>
                                        </p:attrNameLst>
                                      </p:cBhvr>
                                      <p:to>
                                        <p:strVal val="visible"/>
                                      </p:to>
                                    </p:set>
                                    <p:animEffect filter="fade" transition="in">
                                      <p:cBhvr>
                                        <p:cTn dur="500"/>
                                        <p:tgtEl>
                                          <p:spTgt spid="1185">
                                            <p:txEl>
                                              <p:pRg end="21" st="2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22" st="22"/>
                                            </p:txEl>
                                          </p:spTgt>
                                        </p:tgtEl>
                                        <p:attrNameLst>
                                          <p:attrName>style.visibility</p:attrName>
                                        </p:attrNameLst>
                                      </p:cBhvr>
                                      <p:to>
                                        <p:strVal val="visible"/>
                                      </p:to>
                                    </p:set>
                                    <p:animEffect filter="fade" transition="in">
                                      <p:cBhvr>
                                        <p:cTn dur="500"/>
                                        <p:tgtEl>
                                          <p:spTgt spid="1185">
                                            <p:txEl>
                                              <p:pRg end="22" st="2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23" st="23"/>
                                            </p:txEl>
                                          </p:spTgt>
                                        </p:tgtEl>
                                        <p:attrNameLst>
                                          <p:attrName>style.visibility</p:attrName>
                                        </p:attrNameLst>
                                      </p:cBhvr>
                                      <p:to>
                                        <p:strVal val="visible"/>
                                      </p:to>
                                    </p:set>
                                    <p:animEffect filter="fade" transition="in">
                                      <p:cBhvr>
                                        <p:cTn dur="500"/>
                                        <p:tgtEl>
                                          <p:spTgt spid="1185">
                                            <p:txEl>
                                              <p:pRg end="23" st="2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xEl>
                                              <p:pRg end="24" st="24"/>
                                            </p:txEl>
                                          </p:spTgt>
                                        </p:tgtEl>
                                        <p:attrNameLst>
                                          <p:attrName>style.visibility</p:attrName>
                                        </p:attrNameLst>
                                      </p:cBhvr>
                                      <p:to>
                                        <p:strVal val="visible"/>
                                      </p:to>
                                    </p:set>
                                    <p:animEffect filter="fade" transition="in">
                                      <p:cBhvr>
                                        <p:cTn dur="500"/>
                                        <p:tgtEl>
                                          <p:spTgt spid="1185">
                                            <p:txEl>
                                              <p:pRg end="24" st="2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8" name="Shape 1198"/>
        <p:cNvGrpSpPr/>
        <p:nvPr/>
      </p:nvGrpSpPr>
      <p:grpSpPr>
        <a:xfrm>
          <a:off x="0" y="0"/>
          <a:ext cx="0" cy="0"/>
          <a:chOff x="0" y="0"/>
          <a:chExt cx="0" cy="0"/>
        </a:xfrm>
      </p:grpSpPr>
      <p:sp>
        <p:nvSpPr>
          <p:cNvPr id="1199" name="Google Shape;1199;p90"/>
          <p:cNvSpPr txBox="1"/>
          <p:nvPr>
            <p:ph idx="1" type="body"/>
          </p:nvPr>
        </p:nvSpPr>
        <p:spPr>
          <a:xfrm>
            <a:off x="0" y="762000"/>
            <a:ext cx="9144000" cy="5715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Kiểm soát số lượng trang: </a:t>
            </a:r>
            <a:r>
              <a:rPr b="0" i="0" lang="en-US" sz="2400" u="none">
                <a:solidFill>
                  <a:schemeClr val="dk2"/>
                </a:solidFill>
                <a:latin typeface="Times New Roman"/>
                <a:ea typeface="Times New Roman"/>
                <a:cs typeface="Times New Roman"/>
                <a:sym typeface="Times New Roman"/>
              </a:rPr>
              <a:t>gán cho mỗi tiến trình số lượng trang tối đa và tối thiểu</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Số lượng trang tối đa và tối thiểu cấp cho tiến trình được thay đổi tùy vào tình trạng bộ nhớ trống</a:t>
            </a:r>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HDH lưu danh sách khung trống, và sử dụng một ngưỡng an toàn</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Số khung trống ít hơn ngưỡng: HDH xem xét các tiến trình đang thực hiện. </a:t>
            </a:r>
            <a:endParaRPr/>
          </a:p>
          <a:p>
            <a:pPr indent="-285750" lvl="1" marL="742950" marR="0" rtl="0" algn="l">
              <a:lnSpc>
                <a:spcPct val="100000"/>
              </a:lnSpc>
              <a:spcBef>
                <a:spcPts val="480"/>
              </a:spcBef>
              <a:spcAft>
                <a:spcPts val="0"/>
              </a:spcAft>
              <a:buClr>
                <a:schemeClr val="accent1"/>
              </a:buClr>
              <a:buSzPts val="2400"/>
              <a:buFont typeface="Noto Sans Symbols"/>
              <a:buChar char="▪"/>
            </a:pPr>
            <a:r>
              <a:rPr b="0" i="0" lang="en-US" sz="2400" u="none" cap="none" strike="noStrike">
                <a:solidFill>
                  <a:schemeClr val="dk2"/>
                </a:solidFill>
                <a:latin typeface="Times New Roman"/>
                <a:ea typeface="Times New Roman"/>
                <a:cs typeface="Times New Roman"/>
                <a:sym typeface="Times New Roman"/>
              </a:rPr>
              <a:t>Tiến trình có số trang lớn hơn số lượng tối thiểu sẽ bị giảm số trang cho tới khi đạt tới số lượng tối thiểu của mình.</a:t>
            </a:r>
            <a:endParaRPr b="0" i="0" sz="2000" u="none" cap="none" strike="noStrike">
              <a:solidFill>
                <a:schemeClr val="dk2"/>
              </a:solidFill>
              <a:latin typeface="Times New Roman"/>
              <a:ea typeface="Times New Roman"/>
              <a:cs typeface="Times New Roman"/>
              <a:sym typeface="Times New Roman"/>
            </a:endParaRPr>
          </a:p>
          <a:p>
            <a:pPr indent="-342900" lvl="0" marL="342900" marR="0" rtl="0" algn="l">
              <a:lnSpc>
                <a:spcPct val="100000"/>
              </a:lnSpc>
              <a:spcBef>
                <a:spcPts val="560"/>
              </a:spcBef>
              <a:spcAft>
                <a:spcPts val="0"/>
              </a:spcAft>
              <a:buClr>
                <a:schemeClr val="dk2"/>
              </a:buClr>
              <a:buSzPts val="2800"/>
              <a:buFont typeface="Noto Sans Symbols"/>
              <a:buChar char="▪"/>
            </a:pPr>
            <a:r>
              <a:rPr b="0" i="0" lang="en-US" sz="2800" u="none">
                <a:solidFill>
                  <a:schemeClr val="dk2"/>
                </a:solidFill>
                <a:latin typeface="Times New Roman"/>
                <a:ea typeface="Times New Roman"/>
                <a:cs typeface="Times New Roman"/>
                <a:sym typeface="Times New Roman"/>
              </a:rPr>
              <a:t>Tùy vào vi xử lý, Windows XP sử dụng thuật toán đổi trang khác nhau</a:t>
            </a:r>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215900" lvl="0" marL="342900" marR="0" rtl="0" algn="l">
              <a:lnSpc>
                <a:spcPct val="100000"/>
              </a:lnSpc>
              <a:spcBef>
                <a:spcPts val="400"/>
              </a:spcBef>
              <a:spcAft>
                <a:spcPts val="0"/>
              </a:spcAft>
              <a:buClr>
                <a:schemeClr val="dk2"/>
              </a:buClr>
              <a:buSzPts val="2000"/>
              <a:buFont typeface="Noto Sans Symbols"/>
              <a:buNone/>
            </a:pPr>
            <a:r>
              <a:t/>
            </a:r>
            <a:endParaRPr b="0" i="0" sz="20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165100" lvl="0" marL="34290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50800" lvl="2" marL="1143000"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50800" lvl="3" marL="1600200" marR="0" rtl="0" algn="l">
              <a:lnSpc>
                <a:spcPct val="100000"/>
              </a:lnSpc>
              <a:spcBef>
                <a:spcPts val="560"/>
              </a:spcBef>
              <a:spcAft>
                <a:spcPts val="0"/>
              </a:spcAft>
              <a:buClr>
                <a:schemeClr val="dk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200" name="Google Shape;1200;p90"/>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IX. QUẢN LÝ BỘ NHỚ TRONG WINDOWS XP</a:t>
            </a:r>
            <a:endParaRPr/>
          </a:p>
        </p:txBody>
      </p:sp>
      <p:sp>
        <p:nvSpPr>
          <p:cNvPr id="1201" name="Google Shape;1201;p9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02" name="Google Shape;1202;p9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03" name="Google Shape;1203;p9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04" name="Google Shape;1204;p9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05" name="Google Shape;1205;p9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06" name="Google Shape;1206;p90"/>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07" name="Google Shape;1207;p90"/>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0" st="0"/>
                                            </p:txEl>
                                          </p:spTgt>
                                        </p:tgtEl>
                                        <p:attrNameLst>
                                          <p:attrName>style.visibility</p:attrName>
                                        </p:attrNameLst>
                                      </p:cBhvr>
                                      <p:to>
                                        <p:strVal val="visible"/>
                                      </p:to>
                                    </p:set>
                                    <p:animEffect filter="fade" transition="in">
                                      <p:cBhvr>
                                        <p:cTn dur="500"/>
                                        <p:tgtEl>
                                          <p:spTgt spid="11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1" st="1"/>
                                            </p:txEl>
                                          </p:spTgt>
                                        </p:tgtEl>
                                        <p:attrNameLst>
                                          <p:attrName>style.visibility</p:attrName>
                                        </p:attrNameLst>
                                      </p:cBhvr>
                                      <p:to>
                                        <p:strVal val="visible"/>
                                      </p:to>
                                    </p:set>
                                    <p:animEffect filter="fade" transition="in">
                                      <p:cBhvr>
                                        <p:cTn dur="500"/>
                                        <p:tgtEl>
                                          <p:spTgt spid="11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2" st="2"/>
                                            </p:txEl>
                                          </p:spTgt>
                                        </p:tgtEl>
                                        <p:attrNameLst>
                                          <p:attrName>style.visibility</p:attrName>
                                        </p:attrNameLst>
                                      </p:cBhvr>
                                      <p:to>
                                        <p:strVal val="visible"/>
                                      </p:to>
                                    </p:set>
                                    <p:animEffect filter="fade" transition="in">
                                      <p:cBhvr>
                                        <p:cTn dur="500"/>
                                        <p:tgtEl>
                                          <p:spTgt spid="11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3" st="3"/>
                                            </p:txEl>
                                          </p:spTgt>
                                        </p:tgtEl>
                                        <p:attrNameLst>
                                          <p:attrName>style.visibility</p:attrName>
                                        </p:attrNameLst>
                                      </p:cBhvr>
                                      <p:to>
                                        <p:strVal val="visible"/>
                                      </p:to>
                                    </p:set>
                                    <p:animEffect filter="fade" transition="in">
                                      <p:cBhvr>
                                        <p:cTn dur="500"/>
                                        <p:tgtEl>
                                          <p:spTgt spid="119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4" st="4"/>
                                            </p:txEl>
                                          </p:spTgt>
                                        </p:tgtEl>
                                        <p:attrNameLst>
                                          <p:attrName>style.visibility</p:attrName>
                                        </p:attrNameLst>
                                      </p:cBhvr>
                                      <p:to>
                                        <p:strVal val="visible"/>
                                      </p:to>
                                    </p:set>
                                    <p:animEffect filter="fade" transition="in">
                                      <p:cBhvr>
                                        <p:cTn dur="500"/>
                                        <p:tgtEl>
                                          <p:spTgt spid="119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5" st="5"/>
                                            </p:txEl>
                                          </p:spTgt>
                                        </p:tgtEl>
                                        <p:attrNameLst>
                                          <p:attrName>style.visibility</p:attrName>
                                        </p:attrNameLst>
                                      </p:cBhvr>
                                      <p:to>
                                        <p:strVal val="visible"/>
                                      </p:to>
                                    </p:set>
                                    <p:animEffect filter="fade" transition="in">
                                      <p:cBhvr>
                                        <p:cTn dur="500"/>
                                        <p:tgtEl>
                                          <p:spTgt spid="119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6" st="6"/>
                                            </p:txEl>
                                          </p:spTgt>
                                        </p:tgtEl>
                                        <p:attrNameLst>
                                          <p:attrName>style.visibility</p:attrName>
                                        </p:attrNameLst>
                                      </p:cBhvr>
                                      <p:to>
                                        <p:strVal val="visible"/>
                                      </p:to>
                                    </p:set>
                                    <p:animEffect filter="fade" transition="in">
                                      <p:cBhvr>
                                        <p:cTn dur="500"/>
                                        <p:tgtEl>
                                          <p:spTgt spid="119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7" st="7"/>
                                            </p:txEl>
                                          </p:spTgt>
                                        </p:tgtEl>
                                        <p:attrNameLst>
                                          <p:attrName>style.visibility</p:attrName>
                                        </p:attrNameLst>
                                      </p:cBhvr>
                                      <p:to>
                                        <p:strVal val="visible"/>
                                      </p:to>
                                    </p:set>
                                    <p:animEffect filter="fade" transition="in">
                                      <p:cBhvr>
                                        <p:cTn dur="500"/>
                                        <p:tgtEl>
                                          <p:spTgt spid="119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8" st="8"/>
                                            </p:txEl>
                                          </p:spTgt>
                                        </p:tgtEl>
                                        <p:attrNameLst>
                                          <p:attrName>style.visibility</p:attrName>
                                        </p:attrNameLst>
                                      </p:cBhvr>
                                      <p:to>
                                        <p:strVal val="visible"/>
                                      </p:to>
                                    </p:set>
                                    <p:animEffect filter="fade" transition="in">
                                      <p:cBhvr>
                                        <p:cTn dur="500"/>
                                        <p:tgtEl>
                                          <p:spTgt spid="119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9" st="9"/>
                                            </p:txEl>
                                          </p:spTgt>
                                        </p:tgtEl>
                                        <p:attrNameLst>
                                          <p:attrName>style.visibility</p:attrName>
                                        </p:attrNameLst>
                                      </p:cBhvr>
                                      <p:to>
                                        <p:strVal val="visible"/>
                                      </p:to>
                                    </p:set>
                                    <p:animEffect filter="fade" transition="in">
                                      <p:cBhvr>
                                        <p:cTn dur="500"/>
                                        <p:tgtEl>
                                          <p:spTgt spid="1199">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10" st="10"/>
                                            </p:txEl>
                                          </p:spTgt>
                                        </p:tgtEl>
                                        <p:attrNameLst>
                                          <p:attrName>style.visibility</p:attrName>
                                        </p:attrNameLst>
                                      </p:cBhvr>
                                      <p:to>
                                        <p:strVal val="visible"/>
                                      </p:to>
                                    </p:set>
                                    <p:animEffect filter="fade" transition="in">
                                      <p:cBhvr>
                                        <p:cTn dur="500"/>
                                        <p:tgtEl>
                                          <p:spTgt spid="1199">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11" st="11"/>
                                            </p:txEl>
                                          </p:spTgt>
                                        </p:tgtEl>
                                        <p:attrNameLst>
                                          <p:attrName>style.visibility</p:attrName>
                                        </p:attrNameLst>
                                      </p:cBhvr>
                                      <p:to>
                                        <p:strVal val="visible"/>
                                      </p:to>
                                    </p:set>
                                    <p:animEffect filter="fade" transition="in">
                                      <p:cBhvr>
                                        <p:cTn dur="500"/>
                                        <p:tgtEl>
                                          <p:spTgt spid="1199">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12" st="12"/>
                                            </p:txEl>
                                          </p:spTgt>
                                        </p:tgtEl>
                                        <p:attrNameLst>
                                          <p:attrName>style.visibility</p:attrName>
                                        </p:attrNameLst>
                                      </p:cBhvr>
                                      <p:to>
                                        <p:strVal val="visible"/>
                                      </p:to>
                                    </p:set>
                                    <p:animEffect filter="fade" transition="in">
                                      <p:cBhvr>
                                        <p:cTn dur="500"/>
                                        <p:tgtEl>
                                          <p:spTgt spid="1199">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13" st="13"/>
                                            </p:txEl>
                                          </p:spTgt>
                                        </p:tgtEl>
                                        <p:attrNameLst>
                                          <p:attrName>style.visibility</p:attrName>
                                        </p:attrNameLst>
                                      </p:cBhvr>
                                      <p:to>
                                        <p:strVal val="visible"/>
                                      </p:to>
                                    </p:set>
                                    <p:animEffect filter="fade" transition="in">
                                      <p:cBhvr>
                                        <p:cTn dur="500"/>
                                        <p:tgtEl>
                                          <p:spTgt spid="1199">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14" st="14"/>
                                            </p:txEl>
                                          </p:spTgt>
                                        </p:tgtEl>
                                        <p:attrNameLst>
                                          <p:attrName>style.visibility</p:attrName>
                                        </p:attrNameLst>
                                      </p:cBhvr>
                                      <p:to>
                                        <p:strVal val="visible"/>
                                      </p:to>
                                    </p:set>
                                    <p:animEffect filter="fade" transition="in">
                                      <p:cBhvr>
                                        <p:cTn dur="500"/>
                                        <p:tgtEl>
                                          <p:spTgt spid="1199">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15" st="15"/>
                                            </p:txEl>
                                          </p:spTgt>
                                        </p:tgtEl>
                                        <p:attrNameLst>
                                          <p:attrName>style.visibility</p:attrName>
                                        </p:attrNameLst>
                                      </p:cBhvr>
                                      <p:to>
                                        <p:strVal val="visible"/>
                                      </p:to>
                                    </p:set>
                                    <p:animEffect filter="fade" transition="in">
                                      <p:cBhvr>
                                        <p:cTn dur="500"/>
                                        <p:tgtEl>
                                          <p:spTgt spid="1199">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16" st="16"/>
                                            </p:txEl>
                                          </p:spTgt>
                                        </p:tgtEl>
                                        <p:attrNameLst>
                                          <p:attrName>style.visibility</p:attrName>
                                        </p:attrNameLst>
                                      </p:cBhvr>
                                      <p:to>
                                        <p:strVal val="visible"/>
                                      </p:to>
                                    </p:set>
                                    <p:animEffect filter="fade" transition="in">
                                      <p:cBhvr>
                                        <p:cTn dur="500"/>
                                        <p:tgtEl>
                                          <p:spTgt spid="1199">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17" st="17"/>
                                            </p:txEl>
                                          </p:spTgt>
                                        </p:tgtEl>
                                        <p:attrNameLst>
                                          <p:attrName>style.visibility</p:attrName>
                                        </p:attrNameLst>
                                      </p:cBhvr>
                                      <p:to>
                                        <p:strVal val="visible"/>
                                      </p:to>
                                    </p:set>
                                    <p:animEffect filter="fade" transition="in">
                                      <p:cBhvr>
                                        <p:cTn dur="500"/>
                                        <p:tgtEl>
                                          <p:spTgt spid="1199">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18" st="18"/>
                                            </p:txEl>
                                          </p:spTgt>
                                        </p:tgtEl>
                                        <p:attrNameLst>
                                          <p:attrName>style.visibility</p:attrName>
                                        </p:attrNameLst>
                                      </p:cBhvr>
                                      <p:to>
                                        <p:strVal val="visible"/>
                                      </p:to>
                                    </p:set>
                                    <p:animEffect filter="fade" transition="in">
                                      <p:cBhvr>
                                        <p:cTn dur="500"/>
                                        <p:tgtEl>
                                          <p:spTgt spid="1199">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19" st="19"/>
                                            </p:txEl>
                                          </p:spTgt>
                                        </p:tgtEl>
                                        <p:attrNameLst>
                                          <p:attrName>style.visibility</p:attrName>
                                        </p:attrNameLst>
                                      </p:cBhvr>
                                      <p:to>
                                        <p:strVal val="visible"/>
                                      </p:to>
                                    </p:set>
                                    <p:animEffect filter="fade" transition="in">
                                      <p:cBhvr>
                                        <p:cTn dur="500"/>
                                        <p:tgtEl>
                                          <p:spTgt spid="1199">
                                            <p:txEl>
                                              <p:pRg end="19" st="1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20" st="20"/>
                                            </p:txEl>
                                          </p:spTgt>
                                        </p:tgtEl>
                                        <p:attrNameLst>
                                          <p:attrName>style.visibility</p:attrName>
                                        </p:attrNameLst>
                                      </p:cBhvr>
                                      <p:to>
                                        <p:strVal val="visible"/>
                                      </p:to>
                                    </p:set>
                                    <p:animEffect filter="fade" transition="in">
                                      <p:cBhvr>
                                        <p:cTn dur="500"/>
                                        <p:tgtEl>
                                          <p:spTgt spid="1199">
                                            <p:txEl>
                                              <p:pRg end="20" st="2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21" st="21"/>
                                            </p:txEl>
                                          </p:spTgt>
                                        </p:tgtEl>
                                        <p:attrNameLst>
                                          <p:attrName>style.visibility</p:attrName>
                                        </p:attrNameLst>
                                      </p:cBhvr>
                                      <p:to>
                                        <p:strVal val="visible"/>
                                      </p:to>
                                    </p:set>
                                    <p:animEffect filter="fade" transition="in">
                                      <p:cBhvr>
                                        <p:cTn dur="500"/>
                                        <p:tgtEl>
                                          <p:spTgt spid="1199">
                                            <p:txEl>
                                              <p:pRg end="21" st="2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9">
                                            <p:txEl>
                                              <p:pRg end="22" st="22"/>
                                            </p:txEl>
                                          </p:spTgt>
                                        </p:tgtEl>
                                        <p:attrNameLst>
                                          <p:attrName>style.visibility</p:attrName>
                                        </p:attrNameLst>
                                      </p:cBhvr>
                                      <p:to>
                                        <p:strVal val="visible"/>
                                      </p:to>
                                    </p:set>
                                    <p:animEffect filter="fade" transition="in">
                                      <p:cBhvr>
                                        <p:cTn dur="500"/>
                                        <p:tgtEl>
                                          <p:spTgt spid="1199">
                                            <p:txEl>
                                              <p:pRg end="22" st="2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91"/>
          <p:cNvSpPr txBox="1"/>
          <p:nvPr>
            <p:ph idx="1" type="body"/>
          </p:nvPr>
        </p:nvSpPr>
        <p:spPr>
          <a:xfrm>
            <a:off x="304800" y="762000"/>
            <a:ext cx="8839200" cy="5715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Bài 1: Kích thước khung bộ nhớ là 4096 bytes. Hãy chuyển địa chỉ logic 8207, 4300 sang địa chỉ vật lý biết rằng bảng trang như sau:</a:t>
            </a:r>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360"/>
              </a:spcBef>
              <a:spcAft>
                <a:spcPts val="0"/>
              </a:spcAft>
              <a:buClr>
                <a:schemeClr val="dk2"/>
              </a:buClr>
              <a:buSzPts val="1800"/>
              <a:buFont typeface="Noto Sans Symbols"/>
              <a:buNone/>
            </a:pPr>
            <a:r>
              <a:t/>
            </a:r>
            <a:endParaRPr b="0" i="0" sz="1800" u="none">
              <a:solidFill>
                <a:schemeClr val="dk2"/>
              </a:solidFill>
              <a:latin typeface="Times New Roman"/>
              <a:ea typeface="Times New Roman"/>
              <a:cs typeface="Times New Roman"/>
              <a:sym typeface="Times New Roman"/>
            </a:endParaRPr>
          </a:p>
          <a:p>
            <a:pPr indent="0" lvl="0" marL="0" marR="0" rtl="0" algn="l">
              <a:lnSpc>
                <a:spcPct val="100000"/>
              </a:lnSpc>
              <a:spcBef>
                <a:spcPts val="400"/>
              </a:spcBef>
              <a:spcAft>
                <a:spcPts val="0"/>
              </a:spcAft>
              <a:buClr>
                <a:schemeClr val="dk2"/>
              </a:buClr>
              <a:buSzPts val="2000"/>
              <a:buFont typeface="Noto Sans Symbols"/>
              <a:buNone/>
            </a:pPr>
            <a:r>
              <a:t/>
            </a:r>
            <a:endParaRPr b="0" i="0" sz="20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00"/>
              </a:spcBef>
              <a:spcAft>
                <a:spcPts val="0"/>
              </a:spcAft>
              <a:buClr>
                <a:schemeClr val="dk2"/>
              </a:buClr>
              <a:buSzPts val="2000"/>
              <a:buFont typeface="Noto Sans Symbols"/>
              <a:buNone/>
            </a:pPr>
            <a:r>
              <a:t/>
            </a:r>
            <a:endParaRPr b="0" i="0" sz="20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Bài 2: Không gian địa chi logic của tiến trình gồm 11 trang, mỗi trang có kích thước 2048B được ánh xạ vào bộ nhớ vật lý có 20 khung</a:t>
            </a:r>
            <a:endParaRPr/>
          </a:p>
          <a:p>
            <a:pPr indent="0" lvl="0" marL="0" marR="0" rtl="0" algn="l">
              <a:lnSpc>
                <a:spcPct val="100000"/>
              </a:lnSpc>
              <a:spcBef>
                <a:spcPts val="48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 a. Để biểu diễn địa chỉ logic cần tối thiểu bao nhiêu bit</a:t>
            </a:r>
            <a:endParaRPr/>
          </a:p>
          <a:p>
            <a:pPr indent="0" lvl="0" marL="0" marR="0" rtl="0" algn="l">
              <a:lnSpc>
                <a:spcPct val="100000"/>
              </a:lnSpc>
              <a:spcBef>
                <a:spcPts val="48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 b. Để biểu diễn địa chỉ vật lý cần bao nhiêu bit</a:t>
            </a:r>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50800" lvl="2" marL="1143000"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50800" lvl="3" marL="1600200" marR="0" rtl="0" algn="l">
              <a:lnSpc>
                <a:spcPct val="100000"/>
              </a:lnSpc>
              <a:spcBef>
                <a:spcPts val="560"/>
              </a:spcBef>
              <a:spcAft>
                <a:spcPts val="0"/>
              </a:spcAft>
              <a:buClr>
                <a:schemeClr val="dk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214" name="Google Shape;1214;p91"/>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800"/>
              <a:buFont typeface="Times New Roman"/>
              <a:buNone/>
            </a:pPr>
            <a:r>
              <a:rPr b="1" i="0" lang="en-US" sz="2800" u="none">
                <a:solidFill>
                  <a:srgbClr val="000066"/>
                </a:solidFill>
                <a:latin typeface="Times New Roman"/>
                <a:ea typeface="Times New Roman"/>
                <a:cs typeface="Times New Roman"/>
                <a:sym typeface="Times New Roman"/>
              </a:rPr>
              <a:t>BÀI TẬP</a:t>
            </a:r>
            <a:endParaRPr/>
          </a:p>
        </p:txBody>
      </p:sp>
      <p:sp>
        <p:nvSpPr>
          <p:cNvPr id="1215" name="Google Shape;1215;p9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16" name="Google Shape;1216;p9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17" name="Google Shape;1217;p9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18" name="Google Shape;1218;p9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19" name="Google Shape;1219;p9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20" name="Google Shape;1220;p91"/>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aphicFrame>
        <p:nvGraphicFramePr>
          <p:cNvPr id="1221" name="Google Shape;1221;p91"/>
          <p:cNvGraphicFramePr/>
          <p:nvPr/>
        </p:nvGraphicFramePr>
        <p:xfrm>
          <a:off x="2514600" y="1614487"/>
          <a:ext cx="3000000" cy="3000000"/>
        </p:xfrm>
        <a:graphic>
          <a:graphicData uri="http://schemas.openxmlformats.org/drawingml/2006/table">
            <a:tbl>
              <a:tblPr>
                <a:noFill/>
                <a:tableStyleId>{71EE02FC-BA3E-45F9-B2DA-8AEF37A3CA9D}</a:tableStyleId>
              </a:tblPr>
              <a:tblGrid>
                <a:gridCol w="990600"/>
                <a:gridCol w="990600"/>
              </a:tblGrid>
              <a:tr h="639750">
                <a:tc>
                  <a:txBody>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Page</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ctr">
                        <a:lnSpc>
                          <a:spcPct val="100000"/>
                        </a:lnSpc>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Frame</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366700">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F1"/>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F1"/>
                    </a:solidFill>
                  </a:tcPr>
                </a:tc>
              </a:tr>
              <a:tr h="365125">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EFF8"/>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EFF8"/>
                    </a:solidFill>
                  </a:tcPr>
                </a:tc>
              </a:tr>
              <a:tr h="366700">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F1"/>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4</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F1"/>
                    </a:solidFill>
                  </a:tcPr>
                </a:tc>
              </a:tr>
              <a:tr h="365125">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EFF8"/>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30</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EFF8"/>
                    </a:solidFill>
                  </a:tcPr>
                </a:tc>
              </a:tr>
              <a:tr h="366700">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4</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F1"/>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22</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D2DEF1"/>
                    </a:solidFill>
                  </a:tcPr>
                </a:tc>
              </a:tr>
              <a:tr h="365125">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5</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EFF8"/>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14</a:t>
                      </a:r>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AEFF8"/>
                    </a:solidFill>
                  </a:tcPr>
                </a:tc>
              </a:tr>
            </a:tbl>
          </a:graphicData>
        </a:graphic>
      </p:graphicFrame>
      <p:sp>
        <p:nvSpPr>
          <p:cNvPr id="1222" name="Google Shape;1222;p91"/>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xEl>
                                              <p:pRg end="0" st="0"/>
                                            </p:txEl>
                                          </p:spTgt>
                                        </p:tgtEl>
                                        <p:attrNameLst>
                                          <p:attrName>style.visibility</p:attrName>
                                        </p:attrNameLst>
                                      </p:cBhvr>
                                      <p:to>
                                        <p:strVal val="visible"/>
                                      </p:to>
                                    </p:set>
                                    <p:animEffect filter="fade" transition="in">
                                      <p:cBhvr>
                                        <p:cTn dur="500"/>
                                        <p:tgtEl>
                                          <p:spTgt spid="121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xEl>
                                              <p:pRg end="1" st="1"/>
                                            </p:txEl>
                                          </p:spTgt>
                                        </p:tgtEl>
                                        <p:attrNameLst>
                                          <p:attrName>style.visibility</p:attrName>
                                        </p:attrNameLst>
                                      </p:cBhvr>
                                      <p:to>
                                        <p:strVal val="visible"/>
                                      </p:to>
                                    </p:set>
                                    <p:animEffect filter="fade" transition="in">
                                      <p:cBhvr>
                                        <p:cTn dur="500"/>
                                        <p:tgtEl>
                                          <p:spTgt spid="121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xEl>
                                              <p:pRg end="2" st="2"/>
                                            </p:txEl>
                                          </p:spTgt>
                                        </p:tgtEl>
                                        <p:attrNameLst>
                                          <p:attrName>style.visibility</p:attrName>
                                        </p:attrNameLst>
                                      </p:cBhvr>
                                      <p:to>
                                        <p:strVal val="visible"/>
                                      </p:to>
                                    </p:set>
                                    <p:animEffect filter="fade" transition="in">
                                      <p:cBhvr>
                                        <p:cTn dur="500"/>
                                        <p:tgtEl>
                                          <p:spTgt spid="121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xEl>
                                              <p:pRg end="3" st="3"/>
                                            </p:txEl>
                                          </p:spTgt>
                                        </p:tgtEl>
                                        <p:attrNameLst>
                                          <p:attrName>style.visibility</p:attrName>
                                        </p:attrNameLst>
                                      </p:cBhvr>
                                      <p:to>
                                        <p:strVal val="visible"/>
                                      </p:to>
                                    </p:set>
                                    <p:animEffect filter="fade" transition="in">
                                      <p:cBhvr>
                                        <p:cTn dur="500"/>
                                        <p:tgtEl>
                                          <p:spTgt spid="121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xEl>
                                              <p:pRg end="4" st="4"/>
                                            </p:txEl>
                                          </p:spTgt>
                                        </p:tgtEl>
                                        <p:attrNameLst>
                                          <p:attrName>style.visibility</p:attrName>
                                        </p:attrNameLst>
                                      </p:cBhvr>
                                      <p:to>
                                        <p:strVal val="visible"/>
                                      </p:to>
                                    </p:set>
                                    <p:animEffect filter="fade" transition="in">
                                      <p:cBhvr>
                                        <p:cTn dur="500"/>
                                        <p:tgtEl>
                                          <p:spTgt spid="121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xEl>
                                              <p:pRg end="5" st="5"/>
                                            </p:txEl>
                                          </p:spTgt>
                                        </p:tgtEl>
                                        <p:attrNameLst>
                                          <p:attrName>style.visibility</p:attrName>
                                        </p:attrNameLst>
                                      </p:cBhvr>
                                      <p:to>
                                        <p:strVal val="visible"/>
                                      </p:to>
                                    </p:set>
                                    <p:animEffect filter="fade" transition="in">
                                      <p:cBhvr>
                                        <p:cTn dur="500"/>
                                        <p:tgtEl>
                                          <p:spTgt spid="121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xEl>
                                              <p:pRg end="6" st="6"/>
                                            </p:txEl>
                                          </p:spTgt>
                                        </p:tgtEl>
                                        <p:attrNameLst>
                                          <p:attrName>style.visibility</p:attrName>
                                        </p:attrNameLst>
                                      </p:cBhvr>
                                      <p:to>
                                        <p:strVal val="visible"/>
                                      </p:to>
                                    </p:set>
                                    <p:animEffect filter="fade" transition="in">
                                      <p:cBhvr>
                                        <p:cTn dur="500"/>
                                        <p:tgtEl>
                                          <p:spTgt spid="121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xEl>
                                              <p:pRg end="7" st="7"/>
                                            </p:txEl>
                                          </p:spTgt>
                                        </p:tgtEl>
                                        <p:attrNameLst>
                                          <p:attrName>style.visibility</p:attrName>
                                        </p:attrNameLst>
                                      </p:cBhvr>
                                      <p:to>
                                        <p:strVal val="visible"/>
                                      </p:to>
                                    </p:set>
                                    <p:animEffect filter="fade" transition="in">
                                      <p:cBhvr>
                                        <p:cTn dur="500"/>
                                        <p:tgtEl>
                                          <p:spTgt spid="121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xEl>
                                              <p:pRg end="8" st="8"/>
                                            </p:txEl>
                                          </p:spTgt>
                                        </p:tgtEl>
                                        <p:attrNameLst>
                                          <p:attrName>style.visibility</p:attrName>
                                        </p:attrNameLst>
                                      </p:cBhvr>
                                      <p:to>
                                        <p:strVal val="visible"/>
                                      </p:to>
                                    </p:set>
                                    <p:animEffect filter="fade" transition="in">
                                      <p:cBhvr>
                                        <p:cTn dur="500"/>
                                        <p:tgtEl>
                                          <p:spTgt spid="121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xEl>
                                              <p:pRg end="9" st="9"/>
                                            </p:txEl>
                                          </p:spTgt>
                                        </p:tgtEl>
                                        <p:attrNameLst>
                                          <p:attrName>style.visibility</p:attrName>
                                        </p:attrNameLst>
                                      </p:cBhvr>
                                      <p:to>
                                        <p:strVal val="visible"/>
                                      </p:to>
                                    </p:set>
                                    <p:animEffect filter="fade" transition="in">
                                      <p:cBhvr>
                                        <p:cTn dur="500"/>
                                        <p:tgtEl>
                                          <p:spTgt spid="121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xEl>
                                              <p:pRg end="10" st="10"/>
                                            </p:txEl>
                                          </p:spTgt>
                                        </p:tgtEl>
                                        <p:attrNameLst>
                                          <p:attrName>style.visibility</p:attrName>
                                        </p:attrNameLst>
                                      </p:cBhvr>
                                      <p:to>
                                        <p:strVal val="visible"/>
                                      </p:to>
                                    </p:set>
                                    <p:animEffect filter="fade" transition="in">
                                      <p:cBhvr>
                                        <p:cTn dur="500"/>
                                        <p:tgtEl>
                                          <p:spTgt spid="121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xEl>
                                              <p:pRg end="11" st="11"/>
                                            </p:txEl>
                                          </p:spTgt>
                                        </p:tgtEl>
                                        <p:attrNameLst>
                                          <p:attrName>style.visibility</p:attrName>
                                        </p:attrNameLst>
                                      </p:cBhvr>
                                      <p:to>
                                        <p:strVal val="visible"/>
                                      </p:to>
                                    </p:set>
                                    <p:animEffect filter="fade" transition="in">
                                      <p:cBhvr>
                                        <p:cTn dur="500"/>
                                        <p:tgtEl>
                                          <p:spTgt spid="1213">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xEl>
                                              <p:pRg end="12" st="12"/>
                                            </p:txEl>
                                          </p:spTgt>
                                        </p:tgtEl>
                                        <p:attrNameLst>
                                          <p:attrName>style.visibility</p:attrName>
                                        </p:attrNameLst>
                                      </p:cBhvr>
                                      <p:to>
                                        <p:strVal val="visible"/>
                                      </p:to>
                                    </p:set>
                                    <p:animEffect filter="fade" transition="in">
                                      <p:cBhvr>
                                        <p:cTn dur="500"/>
                                        <p:tgtEl>
                                          <p:spTgt spid="1213">
                                            <p:txEl>
                                              <p:pRg end="12" st="1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xEl>
                                              <p:pRg end="13" st="13"/>
                                            </p:txEl>
                                          </p:spTgt>
                                        </p:tgtEl>
                                        <p:attrNameLst>
                                          <p:attrName>style.visibility</p:attrName>
                                        </p:attrNameLst>
                                      </p:cBhvr>
                                      <p:to>
                                        <p:strVal val="visible"/>
                                      </p:to>
                                    </p:set>
                                    <p:animEffect filter="fade" transition="in">
                                      <p:cBhvr>
                                        <p:cTn dur="500"/>
                                        <p:tgtEl>
                                          <p:spTgt spid="1213">
                                            <p:txEl>
                                              <p:pRg end="13" st="1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xEl>
                                              <p:pRg end="14" st="14"/>
                                            </p:txEl>
                                          </p:spTgt>
                                        </p:tgtEl>
                                        <p:attrNameLst>
                                          <p:attrName>style.visibility</p:attrName>
                                        </p:attrNameLst>
                                      </p:cBhvr>
                                      <p:to>
                                        <p:strVal val="visible"/>
                                      </p:to>
                                    </p:set>
                                    <p:animEffect filter="fade" transition="in">
                                      <p:cBhvr>
                                        <p:cTn dur="500"/>
                                        <p:tgtEl>
                                          <p:spTgt spid="1213">
                                            <p:txEl>
                                              <p:pRg end="14" st="1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xEl>
                                              <p:pRg end="15" st="15"/>
                                            </p:txEl>
                                          </p:spTgt>
                                        </p:tgtEl>
                                        <p:attrNameLst>
                                          <p:attrName>style.visibility</p:attrName>
                                        </p:attrNameLst>
                                      </p:cBhvr>
                                      <p:to>
                                        <p:strVal val="visible"/>
                                      </p:to>
                                    </p:set>
                                    <p:animEffect filter="fade" transition="in">
                                      <p:cBhvr>
                                        <p:cTn dur="500"/>
                                        <p:tgtEl>
                                          <p:spTgt spid="1213">
                                            <p:txEl>
                                              <p:pRg end="15" st="1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xEl>
                                              <p:pRg end="16" st="16"/>
                                            </p:txEl>
                                          </p:spTgt>
                                        </p:tgtEl>
                                        <p:attrNameLst>
                                          <p:attrName>style.visibility</p:attrName>
                                        </p:attrNameLst>
                                      </p:cBhvr>
                                      <p:to>
                                        <p:strVal val="visible"/>
                                      </p:to>
                                    </p:set>
                                    <p:animEffect filter="fade" transition="in">
                                      <p:cBhvr>
                                        <p:cTn dur="500"/>
                                        <p:tgtEl>
                                          <p:spTgt spid="1213">
                                            <p:txEl>
                                              <p:pRg end="16" st="1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xEl>
                                              <p:pRg end="17" st="17"/>
                                            </p:txEl>
                                          </p:spTgt>
                                        </p:tgtEl>
                                        <p:attrNameLst>
                                          <p:attrName>style.visibility</p:attrName>
                                        </p:attrNameLst>
                                      </p:cBhvr>
                                      <p:to>
                                        <p:strVal val="visible"/>
                                      </p:to>
                                    </p:set>
                                    <p:animEffect filter="fade" transition="in">
                                      <p:cBhvr>
                                        <p:cTn dur="500"/>
                                        <p:tgtEl>
                                          <p:spTgt spid="1213">
                                            <p:txEl>
                                              <p:pRg end="17" st="1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xEl>
                                              <p:pRg end="18" st="18"/>
                                            </p:txEl>
                                          </p:spTgt>
                                        </p:tgtEl>
                                        <p:attrNameLst>
                                          <p:attrName>style.visibility</p:attrName>
                                        </p:attrNameLst>
                                      </p:cBhvr>
                                      <p:to>
                                        <p:strVal val="visible"/>
                                      </p:to>
                                    </p:set>
                                    <p:animEffect filter="fade" transition="in">
                                      <p:cBhvr>
                                        <p:cTn dur="500"/>
                                        <p:tgtEl>
                                          <p:spTgt spid="1213">
                                            <p:txEl>
                                              <p:pRg end="18" st="1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xEl>
                                              <p:pRg end="19" st="19"/>
                                            </p:txEl>
                                          </p:spTgt>
                                        </p:tgtEl>
                                        <p:attrNameLst>
                                          <p:attrName>style.visibility</p:attrName>
                                        </p:attrNameLst>
                                      </p:cBhvr>
                                      <p:to>
                                        <p:strVal val="visible"/>
                                      </p:to>
                                    </p:set>
                                    <p:animEffect filter="fade" transition="in">
                                      <p:cBhvr>
                                        <p:cTn dur="500"/>
                                        <p:tgtEl>
                                          <p:spTgt spid="1213">
                                            <p:txEl>
                                              <p:pRg end="19" st="1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3">
                                            <p:txEl>
                                              <p:pRg end="20" st="20"/>
                                            </p:txEl>
                                          </p:spTgt>
                                        </p:tgtEl>
                                        <p:attrNameLst>
                                          <p:attrName>style.visibility</p:attrName>
                                        </p:attrNameLst>
                                      </p:cBhvr>
                                      <p:to>
                                        <p:strVal val="visible"/>
                                      </p:to>
                                    </p:set>
                                    <p:animEffect filter="fade" transition="in">
                                      <p:cBhvr>
                                        <p:cTn dur="500"/>
                                        <p:tgtEl>
                                          <p:spTgt spid="1213">
                                            <p:txEl>
                                              <p:pRg end="20" st="2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p92"/>
          <p:cNvSpPr txBox="1"/>
          <p:nvPr>
            <p:ph idx="1" type="body"/>
          </p:nvPr>
        </p:nvSpPr>
        <p:spPr>
          <a:xfrm>
            <a:off x="304800" y="762000"/>
            <a:ext cx="8839200" cy="5715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Bài 3: Bộ nhớ vật lý có 3 khung. Thứ tự truy cập các trang là </a:t>
            </a:r>
            <a:endParaRPr/>
          </a:p>
          <a:p>
            <a:pPr indent="0" lvl="0" marL="0" marR="0" rtl="0" algn="l">
              <a:lnSpc>
                <a:spcPct val="100000"/>
              </a:lnSpc>
              <a:spcBef>
                <a:spcPts val="480"/>
              </a:spcBef>
              <a:spcAft>
                <a:spcPts val="0"/>
              </a:spcAft>
              <a:buClr>
                <a:schemeClr val="dk2"/>
              </a:buClr>
              <a:buSzPts val="2400"/>
              <a:buFont typeface="Noto Sans Symbols"/>
              <a:buNone/>
            </a:pPr>
            <a:r>
              <a:rPr b="1" i="0" lang="en-US" sz="2400" u="none">
                <a:solidFill>
                  <a:schemeClr val="dk2"/>
                </a:solidFill>
                <a:latin typeface="Times New Roman"/>
                <a:ea typeface="Times New Roman"/>
                <a:cs typeface="Times New Roman"/>
                <a:sym typeface="Times New Roman"/>
              </a:rPr>
              <a:t>1, 2, 3, 4, 2, 1, 5, 6, 2, 1, 2, 3, 7, 6, 3, 2, 1, 2, 3, 6. </a:t>
            </a:r>
            <a:r>
              <a:rPr b="0" i="0" lang="en-US" sz="2400" u="none">
                <a:solidFill>
                  <a:schemeClr val="dk2"/>
                </a:solidFill>
                <a:latin typeface="Times New Roman"/>
                <a:ea typeface="Times New Roman"/>
                <a:cs typeface="Times New Roman"/>
                <a:sym typeface="Times New Roman"/>
              </a:rPr>
              <a:t>Vẽ sơ đồ cấp phát bộ nhớ và Có bao nhiêu sự kiện thiếu trang xảy ra nếu sử dụng:</a:t>
            </a:r>
            <a:endParaRPr/>
          </a:p>
          <a:p>
            <a:pPr indent="0" lvl="0" marL="0" marR="0" rtl="0" algn="l">
              <a:lnSpc>
                <a:spcPct val="100000"/>
              </a:lnSpc>
              <a:spcBef>
                <a:spcPts val="48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   - Thuật toán tối ưu</a:t>
            </a:r>
            <a:endParaRPr/>
          </a:p>
          <a:p>
            <a:pPr indent="0" lvl="0" marL="0" marR="0" rtl="0" algn="l">
              <a:lnSpc>
                <a:spcPct val="100000"/>
              </a:lnSpc>
              <a:spcBef>
                <a:spcPts val="48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   - FIFO</a:t>
            </a:r>
            <a:endParaRPr/>
          </a:p>
          <a:p>
            <a:pPr indent="0" lvl="0" marL="0" marR="0" rtl="0" algn="l">
              <a:lnSpc>
                <a:spcPct val="100000"/>
              </a:lnSpc>
              <a:spcBef>
                <a:spcPts val="48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   - LRU</a:t>
            </a:r>
            <a:endParaRPr/>
          </a:p>
          <a:p>
            <a:pPr indent="0" lvl="0" marL="0" marR="0" rtl="0" algn="l">
              <a:lnSpc>
                <a:spcPct val="100000"/>
              </a:lnSpc>
              <a:spcBef>
                <a:spcPts val="48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   - Đồng hồ</a:t>
            </a:r>
            <a:endParaRPr/>
          </a:p>
          <a:p>
            <a:pPr indent="0" lvl="0" marL="0" marR="0" rtl="0" algn="l">
              <a:lnSpc>
                <a:spcPct val="100000"/>
              </a:lnSpc>
              <a:spcBef>
                <a:spcPts val="48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Bài 4:  Bộ nhớ có kích thước 1MB. Sử dụng phương pháp kề cận (buddy system) để cấp phát cho các tiến trình lần lượt với kích thước như sau: A: 112KB, B: 200KB, C: 150KB, D: 50KB</a:t>
            </a:r>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14300" lvl="2" marL="1143000" marR="0" rtl="0" algn="l">
              <a:lnSpc>
                <a:spcPct val="100000"/>
              </a:lnSpc>
              <a:spcBef>
                <a:spcPts val="360"/>
              </a:spcBef>
              <a:spcAft>
                <a:spcPts val="0"/>
              </a:spcAft>
              <a:buClr>
                <a:schemeClr val="accent2"/>
              </a:buClr>
              <a:buSzPts val="1800"/>
              <a:buFont typeface="Noto Sans Symbols"/>
              <a:buNone/>
            </a:pPr>
            <a:r>
              <a:t/>
            </a:r>
            <a:endParaRPr b="0" i="0" sz="18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560"/>
              </a:spcBef>
              <a:spcAft>
                <a:spcPts val="0"/>
              </a:spcAft>
              <a:buClr>
                <a:schemeClr val="dk2"/>
              </a:buClr>
              <a:buSzPts val="2800"/>
              <a:buFont typeface="Noto Sans Symbols"/>
              <a:buNone/>
            </a:pPr>
            <a:r>
              <a:t/>
            </a:r>
            <a:endParaRPr b="0" i="0" sz="2800" u="none">
              <a:solidFill>
                <a:schemeClr val="dk2"/>
              </a:solidFill>
              <a:latin typeface="Times New Roman"/>
              <a:ea typeface="Times New Roman"/>
              <a:cs typeface="Times New Roman"/>
              <a:sym typeface="Times New Roman"/>
            </a:endParaRPr>
          </a:p>
          <a:p>
            <a:pPr indent="-146050" lvl="1" marL="742950" marR="0" rtl="0" algn="l">
              <a:lnSpc>
                <a:spcPct val="100000"/>
              </a:lnSpc>
              <a:spcBef>
                <a:spcPts val="440"/>
              </a:spcBef>
              <a:spcAft>
                <a:spcPts val="0"/>
              </a:spcAft>
              <a:buClr>
                <a:schemeClr val="accent1"/>
              </a:buClr>
              <a:buSzPts val="2200"/>
              <a:buFont typeface="Noto Sans Symbols"/>
              <a:buNone/>
            </a:pPr>
            <a:r>
              <a:t/>
            </a:r>
            <a:endParaRPr b="0" i="0" sz="2200" u="none" cap="none" strike="noStrike">
              <a:solidFill>
                <a:schemeClr val="dk2"/>
              </a:solidFill>
              <a:latin typeface="Times New Roman"/>
              <a:ea typeface="Times New Roman"/>
              <a:cs typeface="Times New Roman"/>
              <a:sym typeface="Times New Roman"/>
            </a:endParaRPr>
          </a:p>
          <a:p>
            <a:pPr indent="-50800" lvl="2" marL="1143000" marR="0" rtl="0" algn="l">
              <a:lnSpc>
                <a:spcPct val="100000"/>
              </a:lnSpc>
              <a:spcBef>
                <a:spcPts val="560"/>
              </a:spcBef>
              <a:spcAft>
                <a:spcPts val="0"/>
              </a:spcAft>
              <a:buClr>
                <a:schemeClr val="accent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50800" lvl="3" marL="1600200" marR="0" rtl="0" algn="l">
              <a:lnSpc>
                <a:spcPct val="100000"/>
              </a:lnSpc>
              <a:spcBef>
                <a:spcPts val="560"/>
              </a:spcBef>
              <a:spcAft>
                <a:spcPts val="0"/>
              </a:spcAft>
              <a:buClr>
                <a:schemeClr val="dk2"/>
              </a:buClr>
              <a:buSzPts val="2800"/>
              <a:buFont typeface="Noto Sans Symbols"/>
              <a:buNone/>
            </a:pPr>
            <a:r>
              <a:t/>
            </a:r>
            <a:endParaRPr b="0" i="0" sz="2800" u="none" cap="none" strike="noStrike">
              <a:solidFill>
                <a:schemeClr val="dk2"/>
              </a:solidFill>
              <a:latin typeface="Times New Roman"/>
              <a:ea typeface="Times New Roman"/>
              <a:cs typeface="Times New Roman"/>
              <a:sym typeface="Times New Roman"/>
            </a:endParaRPr>
          </a:p>
          <a:p>
            <a:pPr indent="-184150" lvl="1" marL="742950" marR="0" rtl="0" algn="l">
              <a:lnSpc>
                <a:spcPct val="100000"/>
              </a:lnSpc>
              <a:spcBef>
                <a:spcPts val="320"/>
              </a:spcBef>
              <a:spcAft>
                <a:spcPts val="0"/>
              </a:spcAft>
              <a:buClr>
                <a:schemeClr val="accent1"/>
              </a:buClr>
              <a:buSzPts val="1600"/>
              <a:buFont typeface="Noto Sans Symbols"/>
              <a:buNone/>
            </a:pPr>
            <a:r>
              <a:t/>
            </a:r>
            <a:endParaRPr b="0" i="0" sz="1600" u="none" cap="none" strike="noStrike">
              <a:solidFill>
                <a:schemeClr val="dk2"/>
              </a:solidFill>
              <a:latin typeface="Times New Roman"/>
              <a:ea typeface="Times New Roman"/>
              <a:cs typeface="Times New Roman"/>
              <a:sym typeface="Times New Roman"/>
            </a:endParaRPr>
          </a:p>
          <a:p>
            <a:pPr indent="0" lvl="0" marL="0" marR="0" rtl="0" algn="l">
              <a:lnSpc>
                <a:spcPct val="100000"/>
              </a:lnSpc>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a:p>
            <a:pPr indent="-158750" lvl="1" marL="742950" marR="0" rtl="0" algn="l">
              <a:lnSpc>
                <a:spcPct val="100000"/>
              </a:lnSpc>
              <a:spcBef>
                <a:spcPts val="400"/>
              </a:spcBef>
              <a:spcAft>
                <a:spcPts val="0"/>
              </a:spcAft>
              <a:buClr>
                <a:schemeClr val="accent1"/>
              </a:buClr>
              <a:buSzPts val="2000"/>
              <a:buFont typeface="Noto Sans Symbols"/>
              <a:buNone/>
            </a:pPr>
            <a:r>
              <a:t/>
            </a:r>
            <a:endParaRPr b="0" i="0" sz="2000" u="none" cap="none" strike="noStrike">
              <a:solidFill>
                <a:schemeClr val="dk2"/>
              </a:solidFill>
              <a:latin typeface="Times New Roman"/>
              <a:ea typeface="Times New Roman"/>
              <a:cs typeface="Times New Roman"/>
              <a:sym typeface="Times New Roman"/>
            </a:endParaRPr>
          </a:p>
          <a:p>
            <a:pPr indent="-133350" lvl="1" marL="742950" marR="0" rtl="0" algn="l">
              <a:lnSpc>
                <a:spcPct val="100000"/>
              </a:lnSpc>
              <a:spcBef>
                <a:spcPts val="480"/>
              </a:spcBef>
              <a:spcAft>
                <a:spcPts val="0"/>
              </a:spcAft>
              <a:buClr>
                <a:schemeClr val="accent1"/>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a:p>
            <a:pPr indent="-190500" lvl="0" marL="342900" marR="0" rtl="0" algn="l">
              <a:spcBef>
                <a:spcPts val="480"/>
              </a:spcBef>
              <a:spcAft>
                <a:spcPts val="0"/>
              </a:spcAft>
              <a:buClr>
                <a:schemeClr val="dk2"/>
              </a:buClr>
              <a:buSzPts val="2400"/>
              <a:buFont typeface="Noto Sans Symbols"/>
              <a:buNone/>
            </a:pPr>
            <a:r>
              <a:t/>
            </a:r>
            <a:endParaRPr b="0" i="0" sz="2400" u="none" cap="none" strike="noStrike">
              <a:solidFill>
                <a:schemeClr val="dk2"/>
              </a:solidFill>
              <a:latin typeface="Times New Roman"/>
              <a:ea typeface="Times New Roman"/>
              <a:cs typeface="Times New Roman"/>
              <a:sym typeface="Times New Roman"/>
            </a:endParaRPr>
          </a:p>
        </p:txBody>
      </p:sp>
      <p:sp>
        <p:nvSpPr>
          <p:cNvPr id="1229" name="Google Shape;1229;p92"/>
          <p:cNvSpPr txBox="1"/>
          <p:nvPr>
            <p:ph type="title"/>
          </p:nvPr>
        </p:nvSpPr>
        <p:spPr>
          <a:xfrm>
            <a:off x="457200" y="76200"/>
            <a:ext cx="8686800" cy="7620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000066"/>
              </a:buClr>
              <a:buSzPts val="2400"/>
              <a:buFont typeface="Times New Roman"/>
              <a:buNone/>
            </a:pPr>
            <a:r>
              <a:rPr b="1" i="0" lang="en-US" sz="2400" u="none">
                <a:solidFill>
                  <a:srgbClr val="000066"/>
                </a:solidFill>
                <a:latin typeface="Times New Roman"/>
                <a:ea typeface="Times New Roman"/>
                <a:cs typeface="Times New Roman"/>
                <a:sym typeface="Times New Roman"/>
              </a:rPr>
              <a:t>BÀI TẬP</a:t>
            </a:r>
            <a:endParaRPr/>
          </a:p>
        </p:txBody>
      </p:sp>
      <p:sp>
        <p:nvSpPr>
          <p:cNvPr id="1230" name="Google Shape;1230;p9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31" name="Google Shape;1231;p9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32" name="Google Shape;1232;p9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33" name="Google Shape;1233;p9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34" name="Google Shape;1234;p9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35" name="Google Shape;1235;p92"/>
          <p:cNvSpPr txBox="1"/>
          <p:nvPr/>
        </p:nvSpPr>
        <p:spPr>
          <a:xfrm>
            <a:off x="0" y="0"/>
            <a:ext cx="9144000" cy="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1236" name="Google Shape;1236;p92"/>
          <p:cNvSpPr txBox="1"/>
          <p:nvPr/>
        </p:nvSpPr>
        <p:spPr>
          <a:xfrm>
            <a:off x="2743200" y="6248400"/>
            <a:ext cx="3733800" cy="304800"/>
          </a:xfrm>
          <a:prstGeom prst="rect">
            <a:avLst/>
          </a:prstGeom>
          <a:solidFill>
            <a:srgbClr val="9EC4E9"/>
          </a:solidFill>
          <a:ln cap="flat" cmpd="sng" w="25400">
            <a:solidFill>
              <a:srgbClr val="B6CBEA"/>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93"/>
          <p:cNvSpPr txBox="1"/>
          <p:nvPr>
            <p:ph idx="1" type="body"/>
          </p:nvPr>
        </p:nvSpPr>
        <p:spPr>
          <a:xfrm>
            <a:off x="457200" y="1295400"/>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2"/>
              </a:buClr>
              <a:buSzPts val="2400"/>
              <a:buFont typeface="Noto Sans Symbols"/>
              <a:buChar char="❖"/>
            </a:pPr>
            <a:r>
              <a:rPr b="0" i="0" lang="en-US" sz="2400" u="none">
                <a:solidFill>
                  <a:schemeClr val="dk2"/>
                </a:solidFill>
                <a:latin typeface="Arial"/>
                <a:ea typeface="Arial"/>
                <a:cs typeface="Arial"/>
                <a:sym typeface="Arial"/>
              </a:rPr>
              <a:t>Giả sử tiến trình được cấp 4 khung nhớ vật lý, các trang của tiến trình được truy cập theo thứ tự sau : 1,2,3,4,5,3,4,1,6,7,8,7,8,9,7,8,9,5. Hãy xác định thứ tự nạp và đổi trang nếu sử dụng</a:t>
            </a:r>
            <a:endParaRPr/>
          </a:p>
          <a:p>
            <a:pPr indent="-342900" lvl="0" marL="342900" marR="0" rtl="0" algn="l">
              <a:lnSpc>
                <a:spcPct val="100000"/>
              </a:lnSpc>
              <a:spcBef>
                <a:spcPts val="48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    -Thuật toán tối ưu</a:t>
            </a:r>
            <a:endParaRPr/>
          </a:p>
          <a:p>
            <a:pPr indent="-342900" lvl="0" marL="342900" marR="0" rtl="0" algn="l">
              <a:lnSpc>
                <a:spcPct val="100000"/>
              </a:lnSpc>
              <a:spcBef>
                <a:spcPts val="48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   - FIFO</a:t>
            </a:r>
            <a:endParaRPr/>
          </a:p>
          <a:p>
            <a:pPr indent="-342900" lvl="0" marL="342900" marR="0" rtl="0" algn="l">
              <a:lnSpc>
                <a:spcPct val="100000"/>
              </a:lnSpc>
              <a:spcBef>
                <a:spcPts val="48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   - LRU</a:t>
            </a:r>
            <a:endParaRPr/>
          </a:p>
          <a:p>
            <a:pPr indent="-342900" lvl="0" marL="342900" marR="0" rtl="0" algn="l">
              <a:lnSpc>
                <a:spcPct val="100000"/>
              </a:lnSpc>
              <a:spcBef>
                <a:spcPts val="480"/>
              </a:spcBef>
              <a:spcAft>
                <a:spcPts val="0"/>
              </a:spcAft>
              <a:buClr>
                <a:schemeClr val="dk2"/>
              </a:buClr>
              <a:buSzPts val="2400"/>
              <a:buFont typeface="Noto Sans Symbols"/>
              <a:buNone/>
            </a:pPr>
            <a:r>
              <a:rPr b="0" i="0" lang="en-US" sz="2400" u="none">
                <a:solidFill>
                  <a:schemeClr val="dk2"/>
                </a:solidFill>
                <a:latin typeface="Times New Roman"/>
                <a:ea typeface="Times New Roman"/>
                <a:cs typeface="Times New Roman"/>
                <a:sym typeface="Times New Roman"/>
              </a:rPr>
              <a:t>   - Đồng hồ</a:t>
            </a:r>
            <a:endParaRPr/>
          </a:p>
          <a:p>
            <a:pPr indent="-190500" lvl="0" marL="342900" marR="0" rtl="0" algn="l">
              <a:spcBef>
                <a:spcPts val="480"/>
              </a:spcBef>
              <a:spcAft>
                <a:spcPts val="0"/>
              </a:spcAft>
              <a:buClr>
                <a:schemeClr val="dk2"/>
              </a:buClr>
              <a:buSzPts val="2400"/>
              <a:buFont typeface="Noto Sans Symbols"/>
              <a:buNone/>
            </a:pPr>
            <a:r>
              <a:t/>
            </a:r>
            <a:endParaRPr b="0" i="0" sz="2400" u="none">
              <a:solidFill>
                <a:schemeClr val="dk2"/>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1_213TGp_natural_light_v2">
  <a:themeElements>
    <a:clrScheme name="213TGp_natural_light_v2 2">
      <a:dk1>
        <a:srgbClr val="000000"/>
      </a:dk1>
      <a:lt1>
        <a:srgbClr val="FFFFFF"/>
      </a:lt1>
      <a:dk2>
        <a:srgbClr val="003399"/>
      </a:dk2>
      <a:lt2>
        <a:srgbClr val="C0C0C0"/>
      </a:lt2>
      <a:accent1>
        <a:srgbClr val="5E9CDA"/>
      </a:accent1>
      <a:accent2>
        <a:srgbClr val="93C052"/>
      </a:accent2>
      <a:accent3>
        <a:srgbClr val="FFFFFF"/>
      </a:accent3>
      <a:accent4>
        <a:srgbClr val="000000"/>
      </a:accent4>
      <a:accent5>
        <a:srgbClr val="B6CBEA"/>
      </a:accent5>
      <a:accent6>
        <a:srgbClr val="85AE49"/>
      </a:accent6>
      <a:hlink>
        <a:srgbClr val="FF9933"/>
      </a:hlink>
      <a:folHlink>
        <a:srgbClr val="855AD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13TGp_natural_light_v2">
  <a:themeElements>
    <a:clrScheme name="213TGp_natural_light_v2 2">
      <a:dk1>
        <a:srgbClr val="000000"/>
      </a:dk1>
      <a:lt1>
        <a:srgbClr val="FFFFFF"/>
      </a:lt1>
      <a:dk2>
        <a:srgbClr val="003399"/>
      </a:dk2>
      <a:lt2>
        <a:srgbClr val="C0C0C0"/>
      </a:lt2>
      <a:accent1>
        <a:srgbClr val="5E9CDA"/>
      </a:accent1>
      <a:accent2>
        <a:srgbClr val="93C052"/>
      </a:accent2>
      <a:accent3>
        <a:srgbClr val="FFFFFF"/>
      </a:accent3>
      <a:accent4>
        <a:srgbClr val="000000"/>
      </a:accent4>
      <a:accent5>
        <a:srgbClr val="B6CBEA"/>
      </a:accent5>
      <a:accent6>
        <a:srgbClr val="85AE49"/>
      </a:accent6>
      <a:hlink>
        <a:srgbClr val="FF9933"/>
      </a:hlink>
      <a:folHlink>
        <a:srgbClr val="855AD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Nguyen Thi Ngoc Vinh</dc:creator>
</cp:coreProperties>
</file>

<file path=docProps/custom.xml><?xml version="1.0" encoding="utf-8"?>
<Properties xmlns="http://schemas.openxmlformats.org/officeDocument/2006/custom-properties" xmlns:vt="http://schemas.openxmlformats.org/officeDocument/2006/docPropsVTypes"/>
</file>
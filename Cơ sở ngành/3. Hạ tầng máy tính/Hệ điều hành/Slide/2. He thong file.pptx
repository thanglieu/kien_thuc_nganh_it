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Lst>
  <p:sldSz cy="6858000" cx="9144000"/>
  <p:notesSz cx="6858000" cy="9144000"/>
  <p:embeddedFontLst>
    <p:embeddedFont>
      <p:font typeface="Tahoma"/>
      <p:regular r:id="rId81"/>
      <p:bold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83" roundtripDataSignature="AMtx7mglWo62rj1yCg4snleVIgDdzwDu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A3F56E-7CED-415A-B550-721C6FEC8064}">
  <a:tblStyle styleId="{77A3F56E-7CED-415A-B550-721C6FEC806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3" Type="http://customschemas.google.com/relationships/presentationmetadata" Target="meta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font" Target="fonts/Tahoma-bold.fntdata"/><Relationship Id="rId81" Type="http://schemas.openxmlformats.org/officeDocument/2006/relationships/font" Target="fonts/Tahoma-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5" name="Google Shape;55;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lang="en-US"/>
              <a:t>Trong các thành phần của HĐH, hệ thống file là phần mà người dùng thường xuyên tiếp xúc và làm việc một cách trực quan nhất!</a:t>
            </a:r>
            <a:endParaRPr/>
          </a:p>
          <a:p>
            <a:pPr indent="0" lvl="0" marL="0" rtl="0" algn="l">
              <a:spcBef>
                <a:spcPts val="0"/>
              </a:spcBef>
              <a:spcAft>
                <a:spcPts val="0"/>
              </a:spcAft>
              <a:buSzPts val="1800"/>
              <a:buNone/>
            </a:pPr>
            <a:r>
              <a:rPr lang="en-US"/>
              <a:t>Có thể nhìn hệ thống file theo hai cách:</a:t>
            </a:r>
            <a:endParaRPr/>
          </a:p>
          <a:p>
            <a:pPr indent="-114300" lvl="0" marL="0" rtl="0" algn="l">
              <a:spcBef>
                <a:spcPts val="0"/>
              </a:spcBef>
              <a:spcAft>
                <a:spcPts val="0"/>
              </a:spcAft>
              <a:buSzPts val="1800"/>
              <a:buChar char="-"/>
            </a:pPr>
            <a:r>
              <a:rPr lang="en-US"/>
              <a:t>từ phía người dùng: hệ thống file gồm một hợp các file chứa dữ liệu hoặc chương trình và hệ thống thư mụccho hép tổ chức và lưu trữ file đó.</a:t>
            </a:r>
            <a:endParaRPr/>
          </a:p>
          <a:p>
            <a:pPr indent="-114300" lvl="0" marL="0" rtl="0" algn="l">
              <a:spcBef>
                <a:spcPts val="0"/>
              </a:spcBef>
              <a:spcAft>
                <a:spcPts val="0"/>
              </a:spcAft>
              <a:buSzPts val="1800"/>
              <a:buFont typeface="Arial"/>
              <a:buChar char="-"/>
            </a:pPr>
            <a:r>
              <a:rPr lang="en-US">
                <a:latin typeface="Arial"/>
                <a:ea typeface="Arial"/>
                <a:cs typeface="Arial"/>
                <a:sym typeface="Arial"/>
              </a:rPr>
              <a:t>từ</a:t>
            </a:r>
            <a:r>
              <a:rPr lang="en-US"/>
              <a:t> </a:t>
            </a:r>
            <a:r>
              <a:rPr lang="en-US">
                <a:latin typeface="Arial"/>
                <a:ea typeface="Arial"/>
                <a:cs typeface="Arial"/>
                <a:sym typeface="Arial"/>
              </a:rPr>
              <a:t>phía hệ ñiều hành, với vai trò quản lý file và thư mục, các vấn </a:t>
            </a:r>
            <a:r>
              <a:rPr lang="en-US"/>
              <a:t>đ</a:t>
            </a:r>
            <a:r>
              <a:rPr lang="en-US">
                <a:latin typeface="Arial"/>
                <a:ea typeface="Arial"/>
                <a:cs typeface="Arial"/>
                <a:sym typeface="Arial"/>
              </a:rPr>
              <a:t>ề </a:t>
            </a:r>
            <a:r>
              <a:rPr lang="en-US"/>
              <a:t>đ</a:t>
            </a:r>
            <a:r>
              <a:rPr lang="en-US">
                <a:latin typeface="Arial"/>
                <a:ea typeface="Arial"/>
                <a:cs typeface="Arial"/>
                <a:sym typeface="Arial"/>
              </a:rPr>
              <a:t>ược quan tâm là phương</a:t>
            </a:r>
            <a:r>
              <a:rPr lang="en-US"/>
              <a:t> </a:t>
            </a:r>
            <a:r>
              <a:rPr lang="en-US">
                <a:latin typeface="Arial"/>
                <a:ea typeface="Arial"/>
                <a:cs typeface="Arial"/>
                <a:sym typeface="Arial"/>
              </a:rPr>
              <a:t>pháp ánh xạ file lên các ñĩa, tổ chức bên trong của file và thư mục, cấu trúc dữ liệu dùng cho</a:t>
            </a:r>
            <a:r>
              <a:rPr lang="en-US"/>
              <a:t> </a:t>
            </a:r>
            <a:r>
              <a:rPr lang="en-US">
                <a:latin typeface="Arial"/>
                <a:ea typeface="Arial"/>
                <a:cs typeface="Arial"/>
                <a:sym typeface="Arial"/>
              </a:rPr>
              <a:t>biểu diễn file.</a:t>
            </a:r>
            <a:br>
              <a:rPr lang="en-US">
                <a:latin typeface="Arial"/>
                <a:ea typeface="Arial"/>
                <a:cs typeface="Arial"/>
                <a:sym typeface="Arial"/>
              </a:rPr>
            </a:br>
            <a:endParaRPr/>
          </a:p>
        </p:txBody>
      </p:sp>
      <p:sp>
        <p:nvSpPr>
          <p:cNvPr id="56" name="Google Shape;56;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2" name="Google Shape;6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Bộ nhớ ngoài: đãi từ, bằng từ, đĩa quang, đĩa quang từ, thẻ nhớ dùng cổng usb.</a:t>
            </a:r>
            <a:endParaRPr/>
          </a:p>
          <a:p>
            <a:pPr indent="0" lvl="0" marL="0" rtl="0" algn="l">
              <a:spcBef>
                <a:spcPts val="0"/>
              </a:spcBef>
              <a:spcAft>
                <a:spcPts val="0"/>
              </a:spcAft>
              <a:buSzPts val="1800"/>
              <a:buNone/>
            </a:pPr>
            <a:r>
              <a:rPr lang="en-US"/>
              <a:t>Uđ: </a:t>
            </a:r>
            <a:r>
              <a:rPr lang="en-US">
                <a:latin typeface="Arial"/>
                <a:ea typeface="Arial"/>
                <a:cs typeface="Arial"/>
                <a:sym typeface="Arial"/>
              </a:rPr>
              <a:t>dung lượng lớn, giá thành</a:t>
            </a:r>
            <a:r>
              <a:rPr lang="en-US"/>
              <a:t> </a:t>
            </a:r>
            <a:r>
              <a:rPr lang="en-US">
                <a:latin typeface="Arial"/>
                <a:ea typeface="Arial"/>
                <a:cs typeface="Arial"/>
                <a:sym typeface="Arial"/>
              </a:rPr>
              <a:t>rẻ hơn bộ nhớ trong, nội dung lưu trữ không bị mất ngay cả khi không </a:t>
            </a:r>
            <a:r>
              <a:rPr lang="en-US"/>
              <a:t>đ</a:t>
            </a:r>
            <a:r>
              <a:rPr lang="en-US">
                <a:latin typeface="Arial"/>
                <a:ea typeface="Arial"/>
                <a:cs typeface="Arial"/>
                <a:sym typeface="Arial"/>
              </a:rPr>
              <a:t>ược cấp </a:t>
            </a:r>
            <a:r>
              <a:rPr lang="en-US"/>
              <a:t>đ</a:t>
            </a:r>
            <a:r>
              <a:rPr lang="en-US">
                <a:latin typeface="Arial"/>
                <a:ea typeface="Arial"/>
                <a:cs typeface="Arial"/>
                <a:sym typeface="Arial"/>
              </a:rPr>
              <a:t>iện. </a:t>
            </a:r>
            <a:br>
              <a:rPr lang="en-US">
                <a:latin typeface="Arial"/>
                <a:ea typeface="Arial"/>
                <a:cs typeface="Arial"/>
                <a:sym typeface="Arial"/>
              </a:rPr>
            </a:br>
            <a:r>
              <a:rPr lang="en-US"/>
              <a:t>Ví dụ: Các thông tin liên quan tới nhau như: phần giới thiệu về môn hdh, các thành phần của hệ thống máy tính thì nó liên quan tới nhau thì người ta trong một cái tệp tin. Cái tệp đó được lưu trữ ở đâu? Có phải bộ nhớ trong không?Không</a:t>
            </a:r>
            <a:r>
              <a:rPr b="1" lang="en-US"/>
              <a:t>. Nó được lưu ở bộ nhớ ngoài,  ổ đĩa ứng, USB.</a:t>
            </a:r>
            <a:endParaRPr/>
          </a:p>
          <a:p>
            <a:pPr indent="0" lvl="0" marL="0" rtl="0" algn="l">
              <a:spcBef>
                <a:spcPts val="0"/>
              </a:spcBef>
              <a:spcAft>
                <a:spcPts val="0"/>
              </a:spcAft>
              <a:buSzPts val="1800"/>
              <a:buNone/>
            </a:pPr>
            <a:r>
              <a:rPr lang="en-US"/>
              <a:t> Bộ nhớ ngoài có ưu điểm là giá thành rẻ hơn bộ nhỡ trong, nội dung lưuu trữ không bị mất ngay cả khi không được cấp điện. </a:t>
            </a:r>
            <a:endParaRPr/>
          </a:p>
          <a:p>
            <a:pPr indent="0" lvl="0" marL="0" rtl="0" algn="l">
              <a:spcBef>
                <a:spcPts val="0"/>
              </a:spcBef>
              <a:spcAft>
                <a:spcPts val="0"/>
              </a:spcAft>
              <a:buSzPts val="1800"/>
              <a:buNone/>
            </a:pPr>
            <a:r>
              <a:rPr b="1" lang="en-US"/>
              <a:t>File có thể chứa chương trình (mã nguồn hoặc mã chạy được), hoặc dữ liệu.</a:t>
            </a:r>
            <a:endParaRPr/>
          </a:p>
          <a:p>
            <a:pPr indent="0" lvl="0" marL="0" rtl="0" algn="l">
              <a:spcBef>
                <a:spcPts val="0"/>
              </a:spcBef>
              <a:spcAft>
                <a:spcPts val="0"/>
              </a:spcAft>
              <a:buSzPts val="1800"/>
              <a:buNone/>
            </a:pPr>
            <a:r>
              <a:rPr lang="en-US"/>
              <a:t>Dữ liệu trong file có thể có dạng số, dạng kí tự hay dạng nhị phân, có thể có cấu trúc có  thể không,</a:t>
            </a:r>
            <a:endParaRPr/>
          </a:p>
          <a:p>
            <a:pPr indent="0" lvl="0" marL="0" rtl="0" algn="l">
              <a:spcBef>
                <a:spcPts val="0"/>
              </a:spcBef>
              <a:spcAft>
                <a:spcPts val="0"/>
              </a:spcAft>
              <a:buNone/>
            </a:pPr>
            <a:r>
              <a:t/>
            </a:r>
            <a:endParaRPr/>
          </a:p>
        </p:txBody>
      </p:sp>
      <p:sp>
        <p:nvSpPr>
          <p:cNvPr id="71" name="Google Shape;71;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9" name="Google Shape;7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9" name="Google Shape;89;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Các thông tin trong file có thể rất khác nhau: văn bản, chứa ngôn ngữ lập trình C, file thì chứa ngôn ngữ java, file thì chứa ảnh, có file exe,file jpg...., file txt, file chứa dữ liệu...= Do đó,....Ví dụ: file văn bản gồm các ký tự xếp liền nhau, file ảnh chứa một tập điểm ảnh...</a:t>
            </a:r>
            <a:endParaRPr/>
          </a:p>
          <a:p>
            <a:pPr indent="0" lvl="0" marL="0" rtl="0" algn="l">
              <a:spcBef>
                <a:spcPts val="0"/>
              </a:spcBef>
              <a:spcAft>
                <a:spcPts val="0"/>
              </a:spcAft>
              <a:buSzPts val="1800"/>
              <a:buNone/>
            </a:pPr>
            <a:r>
              <a:rPr lang="en-US"/>
              <a:t>Vậy, HDH có cần biết và hỗ trợ các kiểu cấu trúc file hay không?</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t/>
            </a:r>
            <a:endParaRPr/>
          </a:p>
        </p:txBody>
      </p:sp>
      <p:sp>
        <p:nvSpPr>
          <p:cNvPr id="90" name="Google Shape;90;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8" name="Google Shape;9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Dù văn bản hay ảnh,.. Cũng được mã hóa thành byte hết!!!! </a:t>
            </a:r>
            <a:r>
              <a:rPr b="1" lang="en-US"/>
              <a:t>Sau đó, muốn đọc file gì thì cần chương tình ứng dụng đọc được file đó!</a:t>
            </a:r>
            <a:endParaRPr/>
          </a:p>
          <a:p>
            <a:pPr indent="0" lvl="0" marL="0" rtl="0" algn="l">
              <a:spcBef>
                <a:spcPts val="0"/>
              </a:spcBef>
              <a:spcAft>
                <a:spcPts val="0"/>
              </a:spcAft>
              <a:buNone/>
            </a:pPr>
            <a:r>
              <a:t/>
            </a:r>
            <a:endParaRPr b="1"/>
          </a:p>
        </p:txBody>
      </p:sp>
      <p:sp>
        <p:nvSpPr>
          <p:cNvPr id="99" name="Google Shape;99;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7" name="Google Shape;10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800"/>
              <a:buNone/>
            </a:pPr>
            <a:r>
              <a:rPr lang="en-US"/>
              <a:t>Truy cập = có nghĩa Đọc/ghi file</a:t>
            </a:r>
            <a:endParaRPr/>
          </a:p>
          <a:p>
            <a:pPr indent="0" lvl="0" marL="0" rtl="0" algn="just">
              <a:spcBef>
                <a:spcPts val="0"/>
              </a:spcBef>
              <a:spcAft>
                <a:spcPts val="0"/>
              </a:spcAft>
              <a:buSzPts val="1800"/>
              <a:buNone/>
            </a:pPr>
            <a:r>
              <a:rPr lang="en-US"/>
              <a:t>Để đọc thông tin ra file hay ghi thông tin ra file hệ điều hành phải quy định cách thức truy cập tới nội dung file. Mỗi HDH có thể hỗ trợ một hoặc nhiều cách truy cập khác nhau. </a:t>
            </a:r>
            <a:endParaRPr/>
          </a:p>
          <a:p>
            <a:pPr indent="0" lvl="0" marL="0" rtl="0" algn="just">
              <a:spcBef>
                <a:spcPts val="0"/>
              </a:spcBef>
              <a:spcAft>
                <a:spcPts val="0"/>
              </a:spcAft>
              <a:buSzPts val="1800"/>
              <a:buNone/>
            </a:pPr>
            <a:r>
              <a:rPr b="1" lang="en-US"/>
              <a:t>Tuần tự: </a:t>
            </a:r>
            <a:r>
              <a:rPr lang="en-US"/>
              <a:t>từng bước 1, hết bước 2 rồi đến bước 2....</a:t>
            </a:r>
            <a:endParaRPr/>
          </a:p>
          <a:p>
            <a:pPr indent="0" lvl="0" marL="0" rtl="0" algn="just">
              <a:spcBef>
                <a:spcPts val="0"/>
              </a:spcBef>
              <a:spcAft>
                <a:spcPts val="0"/>
              </a:spcAft>
              <a:buSzPts val="1800"/>
              <a:buNone/>
            </a:pPr>
            <a:r>
              <a:rPr lang="en-US"/>
              <a:t>Và nó sử dụng 1 con trỏ để định vị vị trí hiện thời trong file. Ví dụ: 1 file có rất nhiều bit, khi vị trí hiện thời đang ở đâu thì sẽ có 1 con trỏ chỉ  tới đos, ví dụ nó đang đọc đến block thứ 5 thì vị trí con trỏ trỏ tới khối thứ 5.</a:t>
            </a:r>
            <a:endParaRPr/>
          </a:p>
          <a:p>
            <a:pPr indent="0" lvl="0" marL="0" rtl="0" algn="l">
              <a:spcBef>
                <a:spcPts val="0"/>
              </a:spcBef>
              <a:spcAft>
                <a:spcPts val="0"/>
              </a:spcAft>
              <a:buSzPts val="1800"/>
              <a:buNone/>
            </a:pPr>
            <a:r>
              <a:rPr b="1" lang="en-US"/>
              <a:t>Trực tiếp: </a:t>
            </a:r>
            <a:r>
              <a:rPr lang="en-US"/>
              <a:t>các khối được đánh số, ví dụ muốn truy cập tới block số 5 thì nó go tới số 5.</a:t>
            </a:r>
            <a:endParaRPr/>
          </a:p>
        </p:txBody>
      </p:sp>
      <p:sp>
        <p:nvSpPr>
          <p:cNvPr id="108" name="Google Shape;108;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6" name="Google Shape;11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800"/>
              <a:buNone/>
            </a:pPr>
            <a:r>
              <a:rPr lang="en-US"/>
              <a:t>Truy cập = có nghĩa Đọc/ghi file</a:t>
            </a:r>
            <a:endParaRPr/>
          </a:p>
          <a:p>
            <a:pPr indent="0" lvl="0" marL="0" rtl="0" algn="just">
              <a:spcBef>
                <a:spcPts val="0"/>
              </a:spcBef>
              <a:spcAft>
                <a:spcPts val="0"/>
              </a:spcAft>
              <a:buSzPts val="1800"/>
              <a:buNone/>
            </a:pPr>
            <a:r>
              <a:rPr lang="en-US"/>
              <a:t>Để đọc thông tin ra file hay ghi thông tin ra file hệ điều hành phải quy định cách thức truy cập tới nội dung file. Mỗi HDH có thể hỗ trợ một hoặc nhiều cách truy cập khác nhau. </a:t>
            </a:r>
            <a:endParaRPr/>
          </a:p>
          <a:p>
            <a:pPr indent="0" lvl="0" marL="0" rtl="0" algn="just">
              <a:spcBef>
                <a:spcPts val="0"/>
              </a:spcBef>
              <a:spcAft>
                <a:spcPts val="0"/>
              </a:spcAft>
              <a:buSzPts val="1800"/>
              <a:buNone/>
            </a:pPr>
            <a:r>
              <a:rPr b="1" lang="en-US"/>
              <a:t>Tuần tự: </a:t>
            </a:r>
            <a:r>
              <a:rPr lang="en-US"/>
              <a:t>từng bước 1, hết bước 2 rồi đến bước 2....</a:t>
            </a:r>
            <a:endParaRPr/>
          </a:p>
          <a:p>
            <a:pPr indent="0" lvl="0" marL="0" rtl="0" algn="just">
              <a:spcBef>
                <a:spcPts val="0"/>
              </a:spcBef>
              <a:spcAft>
                <a:spcPts val="0"/>
              </a:spcAft>
              <a:buSzPts val="1800"/>
              <a:buNone/>
            </a:pPr>
            <a:r>
              <a:rPr lang="en-US"/>
              <a:t>Và nó sử dụng 1 con trỏ để định vị vị trí hiện thời trong file. Ví dụ: 1 file có rất nhiều bit, khi vị trí hiện thời đang ở đâu thì sẽ có 1 con trỏ chỉ  tới đos, ví dụ nó đang đọc đến block thứ 5 thì vị trí con trỏ trỏ tới khối thứ 5.</a:t>
            </a:r>
            <a:endParaRPr/>
          </a:p>
          <a:p>
            <a:pPr indent="0" lvl="0" marL="0" rtl="0" algn="l">
              <a:spcBef>
                <a:spcPts val="0"/>
              </a:spcBef>
              <a:spcAft>
                <a:spcPts val="0"/>
              </a:spcAft>
              <a:buSzPts val="1800"/>
              <a:buNone/>
            </a:pPr>
            <a:r>
              <a:rPr b="1" lang="en-US"/>
              <a:t>Trực tiếp: </a:t>
            </a:r>
            <a:r>
              <a:rPr lang="en-US"/>
              <a:t>các khối được đánh số, ví dụ muốn truy cập tới block số 5 thì nó go tới số 5.</a:t>
            </a:r>
            <a:endParaRPr/>
          </a:p>
        </p:txBody>
      </p:sp>
      <p:sp>
        <p:nvSpPr>
          <p:cNvPr id="117" name="Google Shape;117;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5" name="Google Shape;125;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Arial"/>
              <a:buNone/>
            </a:pPr>
            <a:r>
              <a:rPr lang="en-US">
                <a:latin typeface="Arial"/>
                <a:ea typeface="Arial"/>
                <a:cs typeface="Arial"/>
                <a:sym typeface="Arial"/>
              </a:rPr>
              <a:t>Ví dụ, </a:t>
            </a:r>
            <a:r>
              <a:rPr lang="en-US"/>
              <a:t>Đ</a:t>
            </a:r>
            <a:r>
              <a:rPr lang="en-US">
                <a:latin typeface="Arial"/>
                <a:ea typeface="Arial"/>
                <a:cs typeface="Arial"/>
                <a:sym typeface="Arial"/>
              </a:rPr>
              <a:t>ể tìm kiếm bản ghi về một người trong cơ sở dữ liệu, ta có thể cung cấp cho hệ</a:t>
            </a:r>
            <a:r>
              <a:rPr lang="en-US"/>
              <a:t> </a:t>
            </a:r>
            <a:r>
              <a:rPr lang="en-US">
                <a:latin typeface="Arial"/>
                <a:ea typeface="Arial"/>
                <a:cs typeface="Arial"/>
                <a:sym typeface="Arial"/>
              </a:rPr>
              <a:t>thống tên của người </a:t>
            </a:r>
            <a:r>
              <a:rPr lang="en-US"/>
              <a:t>đ</a:t>
            </a:r>
            <a:r>
              <a:rPr lang="en-US">
                <a:latin typeface="Arial"/>
                <a:ea typeface="Arial"/>
                <a:cs typeface="Arial"/>
                <a:sym typeface="Arial"/>
              </a:rPr>
              <a:t>ó. Hệ thống sẽ duy trì chỉ số trong </a:t>
            </a:r>
            <a:r>
              <a:rPr lang="en-US"/>
              <a:t>đ</a:t>
            </a:r>
            <a:r>
              <a:rPr lang="en-US">
                <a:latin typeface="Arial"/>
                <a:ea typeface="Arial"/>
                <a:cs typeface="Arial"/>
                <a:sym typeface="Arial"/>
              </a:rPr>
              <a:t>ó tên </a:t>
            </a:r>
            <a:r>
              <a:rPr lang="en-US"/>
              <a:t>đ</a:t>
            </a:r>
            <a:r>
              <a:rPr lang="en-US">
                <a:latin typeface="Arial"/>
                <a:ea typeface="Arial"/>
                <a:cs typeface="Arial"/>
                <a:sym typeface="Arial"/>
              </a:rPr>
              <a:t>ược sử dụng làm khoá và</a:t>
            </a:r>
            <a:r>
              <a:rPr lang="en-US"/>
              <a:t> đ</a:t>
            </a:r>
            <a:r>
              <a:rPr lang="en-US">
                <a:latin typeface="Arial"/>
                <a:ea typeface="Arial"/>
                <a:cs typeface="Arial"/>
                <a:sym typeface="Arial"/>
              </a:rPr>
              <a:t>ược sắp xếp cho dễ tìm kiếm. Cùng với khoá này là số thứ tự bản ghi. Sau khi tìm </a:t>
            </a:r>
            <a:r>
              <a:rPr lang="en-US"/>
              <a:t>đ</a:t>
            </a:r>
            <a:r>
              <a:rPr lang="en-US">
                <a:latin typeface="Arial"/>
                <a:ea typeface="Arial"/>
                <a:cs typeface="Arial"/>
                <a:sym typeface="Arial"/>
              </a:rPr>
              <a:t>ược tên</a:t>
            </a:r>
            <a:r>
              <a:rPr lang="en-US"/>
              <a:t> </a:t>
            </a:r>
            <a:r>
              <a:rPr lang="en-US">
                <a:latin typeface="Arial"/>
                <a:ea typeface="Arial"/>
                <a:cs typeface="Arial"/>
                <a:sym typeface="Arial"/>
              </a:rPr>
              <a:t>cần thiết trong chỉ số, hệ thống có thể truy cập trực tiếp tới bản ghi theo số thứ tự bản ghi tìm</a:t>
            </a:r>
            <a:r>
              <a:rPr lang="en-US"/>
              <a:t> được cùng với khóa như vậy.</a:t>
            </a:r>
            <a:br>
              <a:rPr lang="en-US">
                <a:latin typeface="Arial"/>
                <a:ea typeface="Arial"/>
                <a:cs typeface="Arial"/>
                <a:sym typeface="Arial"/>
              </a:rPr>
            </a:br>
            <a:r>
              <a:rPr lang="en-US"/>
              <a:t>Một minh họa về việc Truy cập đựa trên chỉ số này: chính là việc đánh mục lục ở cuối sách. Có thể họ đánh bởi các từ khóa, mình sẽ có được số trang và di chuyển tới đó.</a:t>
            </a:r>
            <a:endParaRPr/>
          </a:p>
        </p:txBody>
      </p:sp>
      <p:sp>
        <p:nvSpPr>
          <p:cNvPr id="126" name="Google Shape;126;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5" name="Google Shape;135;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Những thao tá với file thường gặp trong cá hđh gồm:</a:t>
            </a:r>
            <a:endParaRPr/>
          </a:p>
        </p:txBody>
      </p:sp>
      <p:sp>
        <p:nvSpPr>
          <p:cNvPr id="136" name="Google Shape;136;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52" name="Google Shape;15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Ví dụ: trên máy tính của chúng ta chỉ có 1 ổ cứng thôi nhưng được chia làm các ổ C,D,E thì đó chính là đĩa logic.</a:t>
            </a:r>
            <a:endParaRPr/>
          </a:p>
        </p:txBody>
      </p:sp>
      <p:sp>
        <p:nvSpPr>
          <p:cNvPr id="153" name="Google Shape;153;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1" name="Google Shape;16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C1: File chứa dữ liệu còn toàn bộ thuộc tính của file thì thư mục sẽ lưu. </a:t>
            </a:r>
            <a:endParaRPr/>
          </a:p>
          <a:p>
            <a:pPr indent="0" lvl="0" marL="0" rtl="0" algn="l">
              <a:spcBef>
                <a:spcPts val="0"/>
              </a:spcBef>
              <a:spcAft>
                <a:spcPts val="0"/>
              </a:spcAft>
              <a:buNone/>
            </a:pPr>
            <a:r>
              <a:t/>
            </a:r>
            <a:endParaRPr/>
          </a:p>
        </p:txBody>
      </p:sp>
      <p:sp>
        <p:nvSpPr>
          <p:cNvPr id="162" name="Google Shape;162;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24" name="Google Shape;224;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Thư mục chứa các khoản mục biểu diễn cho file. Khi số lượng file trong hệ thống tăng lên thì kích thước của thư mục cũng tăng, dẫn đến việc tìm kiếm file trong thư mục cũng trở nên khó khăn. Có nhiều các tổ chức trong thư mục khác nhau, cta sẽ cùng tìm hiểu:</a:t>
            </a:r>
            <a:endParaRPr/>
          </a:p>
          <a:p>
            <a:pPr indent="0" lvl="0" marL="0" rtl="0" algn="l">
              <a:spcBef>
                <a:spcPts val="0"/>
              </a:spcBef>
              <a:spcAft>
                <a:spcPts val="0"/>
              </a:spcAft>
              <a:buSzPts val="1800"/>
              <a:buNone/>
            </a:pPr>
            <a:r>
              <a:rPr lang="en-US"/>
              <a:t>- 1 mức.</a:t>
            </a:r>
            <a:endParaRPr/>
          </a:p>
          <a:p>
            <a:pPr indent="0" lvl="0" marL="0" rtl="0" algn="l">
              <a:spcBef>
                <a:spcPts val="0"/>
              </a:spcBef>
              <a:spcAft>
                <a:spcPts val="0"/>
              </a:spcAft>
              <a:buSzPts val="1800"/>
              <a:buNone/>
            </a:pPr>
            <a:r>
              <a:rPr lang="en-US"/>
              <a:t>Do nhiều quá nên tên dễ bị trùng. </a:t>
            </a:r>
            <a:endParaRPr/>
          </a:p>
        </p:txBody>
      </p:sp>
      <p:sp>
        <p:nvSpPr>
          <p:cNvPr id="225" name="Google Shape;225;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49" name="Google Shape;249;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Phát triển lên từ cấu trúc hai mức. Thay vì mỗi thưmục chỉ chứa các file thì mỗi ........</a:t>
            </a:r>
            <a:endParaRPr/>
          </a:p>
        </p:txBody>
      </p:sp>
      <p:sp>
        <p:nvSpPr>
          <p:cNvPr id="250" name="Google Shape;250;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13" name="Google Shape;31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Bình thường 1 thư mục chỉ có các file thôi thì chỉ cần khoản mục file thôi là được.</a:t>
            </a:r>
            <a:endParaRPr/>
          </a:p>
          <a:p>
            <a:pPr indent="0" lvl="0" marL="0" rtl="0" algn="l">
              <a:spcBef>
                <a:spcPts val="0"/>
              </a:spcBef>
              <a:spcAft>
                <a:spcPts val="0"/>
              </a:spcAft>
              <a:buSzPts val="1800"/>
              <a:buNone/>
            </a:pPr>
            <a:r>
              <a:rPr lang="en-US"/>
              <a:t>Thế bây giờ trong thư mục lại có thư mục con thì để phân biệt người ta thêm bit đặc biệt.</a:t>
            </a:r>
            <a:endParaRPr/>
          </a:p>
          <a:p>
            <a:pPr indent="0" lvl="0" marL="0" rtl="0" algn="l">
              <a:spcBef>
                <a:spcPts val="0"/>
              </a:spcBef>
              <a:spcAft>
                <a:spcPts val="0"/>
              </a:spcAft>
              <a:buSzPts val="1800"/>
              <a:buNone/>
            </a:pPr>
            <a:r>
              <a:rPr lang="en-US"/>
              <a:t>‘khoản mục’ chính là 1 dòng mà dòng đó chứa thông tin của 1 file</a:t>
            </a:r>
            <a:endParaRPr/>
          </a:p>
          <a:p>
            <a:pPr indent="0" lvl="0" marL="0" rtl="0" algn="l">
              <a:spcBef>
                <a:spcPts val="0"/>
              </a:spcBef>
              <a:spcAft>
                <a:spcPts val="0"/>
              </a:spcAft>
              <a:buSzPts val="1800"/>
              <a:buNone/>
            </a:pPr>
            <a:r>
              <a:rPr lang="en-US"/>
              <a:t>Thì bây giờ có thêm 1 dòng nhưng chứa thông tin của thư mục.</a:t>
            </a:r>
            <a:endParaRPr/>
          </a:p>
        </p:txBody>
      </p:sp>
      <p:sp>
        <p:nvSpPr>
          <p:cNvPr id="314" name="Google Shape;314;p2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22" name="Google Shape;32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Ví dụ: 1 file dùng chung cho 1 dự án nào đó. Để thuận tiện cần làm sao cho file này có mặt trong cả 2 thư mục</a:t>
            </a:r>
            <a:endParaRPr/>
          </a:p>
        </p:txBody>
      </p:sp>
      <p:sp>
        <p:nvSpPr>
          <p:cNvPr id="323" name="Google Shape;323;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69" name="Google Shape;369;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81" name="Google Shape;381;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92" name="Google Shape;392;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Mỗi máy tính chỉ có 1 ổ cứng, nhưng được chia làm các đĩa logic,tức là đĩa C có cây thư mục riêng, D có cây thư mục riêng. Ví dụ: khi cài hđh win, nó hỏi bạn muốn chia làm mấy ổ. VD trả lời chia làm 2 là C và D; chính là ổ logic (ổ ảo).</a:t>
            </a:r>
            <a:endParaRPr/>
          </a:p>
          <a:p>
            <a:pPr indent="0" lvl="0" marL="0" rtl="0" algn="l">
              <a:spcBef>
                <a:spcPts val="0"/>
              </a:spcBef>
              <a:spcAft>
                <a:spcPts val="0"/>
              </a:spcAft>
              <a:buSzPts val="1800"/>
              <a:buNone/>
            </a:pPr>
            <a:r>
              <a:rPr lang="en-US"/>
              <a:t>Tức là: trong cấu trúc của ổ đĩa thì thư mục gốc được đặt ở phần đầu của đĩa, ngay sau sector khởi động</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t/>
            </a:r>
            <a:endParaRPr/>
          </a:p>
        </p:txBody>
      </p:sp>
      <p:sp>
        <p:nvSpPr>
          <p:cNvPr id="393" name="Google Shape;393;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17" name="Google Shape;417;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Tổ chức của đĩa cứng mình họa như trên. 1 Track là 1 vòng tròn; 1 sector</a:t>
            </a:r>
            <a:endParaRPr/>
          </a:p>
          <a:p>
            <a:pPr indent="0" lvl="0" marL="0" rtl="0" algn="l">
              <a:spcBef>
                <a:spcPts val="0"/>
              </a:spcBef>
              <a:spcAft>
                <a:spcPts val="0"/>
              </a:spcAft>
              <a:buSzPts val="1800"/>
              <a:buFont typeface="Arial"/>
              <a:buNone/>
            </a:pPr>
            <a:r>
              <a:rPr lang="en-US">
                <a:latin typeface="Arial"/>
                <a:ea typeface="Arial"/>
                <a:cs typeface="Arial"/>
                <a:sym typeface="Arial"/>
              </a:rPr>
              <a:t>Trên một mặt làm việc của đĩa từ chia ra nhiều vòng tròn đồng tâm thành các track.</a:t>
            </a:r>
            <a:endParaRPr/>
          </a:p>
          <a:p>
            <a:pPr indent="0" lvl="0" marL="0" rtl="0" algn="l">
              <a:spcBef>
                <a:spcPts val="0"/>
              </a:spcBef>
              <a:spcAft>
                <a:spcPts val="0"/>
              </a:spcAft>
              <a:buSzPts val="1800"/>
              <a:buNone/>
            </a:pPr>
            <a:r>
              <a:rPr lang="en-US"/>
              <a:t>Cluster: một số sector trên cùng 1 track</a:t>
            </a:r>
            <a:endParaRPr/>
          </a:p>
          <a:p>
            <a:pPr indent="0" lvl="0" marL="0" rtl="0" algn="l">
              <a:spcBef>
                <a:spcPts val="0"/>
              </a:spcBef>
              <a:spcAft>
                <a:spcPts val="0"/>
              </a:spcAft>
              <a:buSzPts val="1800"/>
              <a:buNone/>
            </a:pPr>
            <a:r>
              <a:rPr lang="en-US"/>
              <a:t>1 sector=512 byte</a:t>
            </a:r>
            <a:br>
              <a:rPr lang="en-US">
                <a:latin typeface="Arial"/>
                <a:ea typeface="Arial"/>
                <a:cs typeface="Arial"/>
                <a:sym typeface="Arial"/>
              </a:rPr>
            </a:br>
            <a:r>
              <a:rPr lang="en-US"/>
              <a:t>Phụ thuộc vào công nghệ cụ thể, chia bao nhiêu=&gt; do từng hđh</a:t>
            </a:r>
            <a:endParaRPr/>
          </a:p>
          <a:p>
            <a:pPr indent="0" lvl="0" marL="0" rtl="0" algn="l">
              <a:spcBef>
                <a:spcPts val="0"/>
              </a:spcBef>
              <a:spcAft>
                <a:spcPts val="0"/>
              </a:spcAft>
              <a:buSzPts val="1800"/>
              <a:buFont typeface="Arial"/>
              <a:buNone/>
            </a:pPr>
            <a:r>
              <a:rPr lang="en-US">
                <a:latin typeface="Arial"/>
                <a:ea typeface="Arial"/>
                <a:cs typeface="Arial"/>
                <a:sym typeface="Arial"/>
              </a:rPr>
              <a:t>Thông thường, kích thước</a:t>
            </a:r>
            <a:r>
              <a:rPr lang="en-US"/>
              <a:t> </a:t>
            </a:r>
            <a:r>
              <a:rPr lang="en-US">
                <a:latin typeface="Arial"/>
                <a:ea typeface="Arial"/>
                <a:cs typeface="Arial"/>
                <a:sym typeface="Arial"/>
              </a:rPr>
              <a:t>cluster nằm trong khoảng tự 2KB </a:t>
            </a:r>
            <a:r>
              <a:rPr lang="en-US"/>
              <a:t>đ</a:t>
            </a:r>
            <a:r>
              <a:rPr lang="en-US">
                <a:latin typeface="Arial"/>
                <a:ea typeface="Arial"/>
                <a:cs typeface="Arial"/>
                <a:sym typeface="Arial"/>
              </a:rPr>
              <a:t>ến 32KB </a:t>
            </a:r>
            <a:br>
              <a:rPr lang="en-US">
                <a:latin typeface="Arial"/>
                <a:ea typeface="Arial"/>
                <a:cs typeface="Arial"/>
                <a:sym typeface="Arial"/>
              </a:rPr>
            </a:br>
            <a:endParaRPr/>
          </a:p>
        </p:txBody>
      </p:sp>
      <p:sp>
        <p:nvSpPr>
          <p:cNvPr id="418" name="Google Shape;418;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30" name="Google Shape;430;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Setor: có chương trình quản lý đĩa làm</a:t>
            </a:r>
            <a:endParaRPr/>
          </a:p>
          <a:p>
            <a:pPr indent="0" lvl="0" marL="0" rtl="0" algn="l">
              <a:lnSpc>
                <a:spcPct val="90000"/>
              </a:lnSpc>
              <a:spcBef>
                <a:spcPts val="0"/>
              </a:spcBef>
              <a:spcAft>
                <a:spcPts val="0"/>
              </a:spcAft>
              <a:buSzPts val="1800"/>
              <a:buNone/>
            </a:pPr>
            <a:r>
              <a:rPr lang="en-US"/>
              <a:t>Cluster: hdh thì quan tâm tới cluster</a:t>
            </a:r>
            <a:endParaRPr/>
          </a:p>
          <a:p>
            <a:pPr indent="0" lvl="1" marL="0" rtl="0" algn="l">
              <a:lnSpc>
                <a:spcPct val="90000"/>
              </a:lnSpc>
              <a:spcBef>
                <a:spcPts val="0"/>
              </a:spcBef>
              <a:spcAft>
                <a:spcPts val="0"/>
              </a:spcAft>
              <a:buSzPts val="2400"/>
              <a:buFont typeface="Times New Roman"/>
              <a:buNone/>
            </a:pPr>
            <a:r>
              <a:rPr lang="en-US" sz="2400">
                <a:latin typeface="Times New Roman"/>
                <a:ea typeface="Times New Roman"/>
                <a:cs typeface="Times New Roman"/>
                <a:sym typeface="Times New Roman"/>
              </a:rPr>
              <a:t>Không gian tối đa yêu cầu cấp phát cho file 1 lần là bao nhiêu? Tùy thuộc vào hdh và công nghệ tại thời điểm ấy. Ví dụ: linux cấp 1 kiểu, window cấp 1 kiểu và công nghệ tại thời điểm đó là máy 32bit, 64 bit, 128 bit ...Tùy thuộc vào công nghệ tại cái thời điểm đó.</a:t>
            </a:r>
            <a:endParaRPr/>
          </a:p>
          <a:p>
            <a:pPr indent="0" lvl="1" marL="0" rtl="0" algn="l">
              <a:lnSpc>
                <a:spcPct val="90000"/>
              </a:lnSpc>
              <a:spcBef>
                <a:spcPts val="0"/>
              </a:spcBef>
              <a:spcAft>
                <a:spcPts val="0"/>
              </a:spcAft>
              <a:buSzPts val="2400"/>
              <a:buFont typeface="Times New Roman"/>
              <a:buNone/>
            </a:pPr>
            <a:r>
              <a:rPr lang="en-US" sz="2400">
                <a:latin typeface="Times New Roman"/>
                <a:ea typeface="Times New Roman"/>
                <a:cs typeface="Times New Roman"/>
                <a:sym typeface="Times New Roman"/>
              </a:rPr>
              <a:t>Không gian cấp phát cho file gọi là phần (partion). Kích thước phần ntn? Tùy thuộc vào thực tế.</a:t>
            </a:r>
            <a:endParaRPr/>
          </a:p>
          <a:p>
            <a:pPr indent="0" lvl="1" marL="0" rtl="0" algn="l">
              <a:lnSpc>
                <a:spcPct val="90000"/>
              </a:lnSpc>
              <a:spcBef>
                <a:spcPts val="0"/>
              </a:spcBef>
              <a:spcAft>
                <a:spcPts val="0"/>
              </a:spcAft>
              <a:buSzPts val="2400"/>
              <a:buNone/>
            </a:pPr>
            <a:r>
              <a:t/>
            </a:r>
            <a:endParaRPr sz="2400">
              <a:latin typeface="Times New Roman"/>
              <a:ea typeface="Times New Roman"/>
              <a:cs typeface="Times New Roman"/>
              <a:sym typeface="Times New Roman"/>
            </a:endParaRPr>
          </a:p>
          <a:p>
            <a:pPr indent="0" lvl="1" marL="0" rtl="0" algn="l">
              <a:lnSpc>
                <a:spcPct val="90000"/>
              </a:lnSpc>
              <a:spcBef>
                <a:spcPts val="0"/>
              </a:spcBef>
              <a:spcAft>
                <a:spcPts val="0"/>
              </a:spcAft>
              <a:buSzPts val="2400"/>
              <a:buNone/>
            </a:pPr>
            <a:r>
              <a:t/>
            </a:r>
            <a:endParaRPr sz="2400">
              <a:latin typeface="Times New Roman"/>
              <a:ea typeface="Times New Roman"/>
              <a:cs typeface="Times New Roman"/>
              <a:sym typeface="Times New Roman"/>
            </a:endParaRPr>
          </a:p>
          <a:p>
            <a:pPr indent="0" lvl="1" marL="0" rtl="0" algn="l">
              <a:lnSpc>
                <a:spcPct val="90000"/>
              </a:lnSpc>
              <a:spcBef>
                <a:spcPts val="0"/>
              </a:spcBef>
              <a:spcAft>
                <a:spcPts val="0"/>
              </a:spcAft>
              <a:buSzPts val="2400"/>
              <a:buNone/>
            </a:pPr>
            <a:r>
              <a:t/>
            </a:r>
            <a:endParaRPr sz="2400">
              <a:latin typeface="Times New Roman"/>
              <a:ea typeface="Times New Roman"/>
              <a:cs typeface="Times New Roman"/>
              <a:sym typeface="Times New Roman"/>
            </a:endParaRPr>
          </a:p>
          <a:p>
            <a:pPr indent="0" lvl="0" marL="0" rtl="0" algn="l">
              <a:spcBef>
                <a:spcPts val="0"/>
              </a:spcBef>
              <a:spcAft>
                <a:spcPts val="0"/>
              </a:spcAft>
              <a:buNone/>
            </a:pPr>
            <a:r>
              <a:t/>
            </a:r>
            <a:endParaRPr sz="2400">
              <a:latin typeface="Times New Roman"/>
              <a:ea typeface="Times New Roman"/>
              <a:cs typeface="Times New Roman"/>
              <a:sym typeface="Times New Roman"/>
            </a:endParaRPr>
          </a:p>
        </p:txBody>
      </p:sp>
      <p:sp>
        <p:nvSpPr>
          <p:cNvPr id="431" name="Google Shape;431;p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40" name="Google Shape;440;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Có nhiều cách cấp phát khác nhau. </a:t>
            </a:r>
            <a:endParaRPr/>
          </a:p>
          <a:p>
            <a:pPr indent="0" lvl="0" marL="0" rtl="0" algn="l">
              <a:spcBef>
                <a:spcPts val="0"/>
              </a:spcBef>
              <a:spcAft>
                <a:spcPts val="0"/>
              </a:spcAft>
              <a:buNone/>
            </a:pPr>
            <a:r>
              <a:t/>
            </a:r>
            <a:endParaRPr/>
          </a:p>
        </p:txBody>
      </p:sp>
      <p:sp>
        <p:nvSpPr>
          <p:cNvPr id="441" name="Google Shape;441;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50" name="Google Shape;450;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Ví dụ: vùng trống trước file a có kích thước 1 khối và không thể cấp phát cho file có kích thước lớn hơn. Những vùng trống như vậy bị bỏ phí. Tùy thuộc vào kích thước đĩa, độ dài khối mà hiện tượng phân mảnh ngoài sẽ gây lãng phí nhiều hay ít. Giải quyết: chuyển các file lại gần nhau để tập trung tất cả vùng trống về cuối đĩa =&gt; bởi lệnh remote.</a:t>
            </a:r>
            <a:endParaRPr/>
          </a:p>
        </p:txBody>
      </p:sp>
      <p:sp>
        <p:nvSpPr>
          <p:cNvPr id="451" name="Google Shape;451;p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62" name="Google Shape;462;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Phân mảnh ngoài: </a:t>
            </a:r>
            <a:r>
              <a:rPr b="1" lang="en-US"/>
              <a:t>đó là hiện tượng vùng trống còn  lại trên đĩa có kích thước quá nhỏ do vậy không thể cấp phát cho file có kích thước lơn hơn.</a:t>
            </a:r>
            <a:endParaRPr/>
          </a:p>
          <a:p>
            <a:pPr indent="0" lvl="0" marL="0" rtl="0" algn="l">
              <a:spcBef>
                <a:spcPts val="0"/>
              </a:spcBef>
              <a:spcAft>
                <a:spcPts val="0"/>
              </a:spcAft>
              <a:buNone/>
            </a:pPr>
            <a:r>
              <a:t/>
            </a:r>
            <a:endParaRPr b="1"/>
          </a:p>
        </p:txBody>
      </p:sp>
      <p:sp>
        <p:nvSpPr>
          <p:cNvPr id="463" name="Google Shape;463;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72" name="Google Shape;472;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Danh sách kết nối có thể giải quyét được:</a:t>
            </a:r>
            <a:endParaRPr/>
          </a:p>
          <a:p>
            <a:pPr indent="0" lvl="0" marL="0" rtl="0" algn="l">
              <a:spcBef>
                <a:spcPts val="0"/>
              </a:spcBef>
              <a:spcAft>
                <a:spcPts val="0"/>
              </a:spcAft>
              <a:buNone/>
            </a:pPr>
            <a:r>
              <a:t/>
            </a:r>
            <a:endParaRPr/>
          </a:p>
        </p:txBody>
      </p:sp>
      <p:sp>
        <p:nvSpPr>
          <p:cNvPr id="473" name="Google Shape;473;p3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10" name="Google Shape;510;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1 file được lưu bởi nhiều khối...</a:t>
            </a:r>
            <a:endParaRPr/>
          </a:p>
        </p:txBody>
      </p:sp>
      <p:sp>
        <p:nvSpPr>
          <p:cNvPr id="511" name="Google Shape;511;p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21" name="Google Shape;521;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 Mỗi đĩa logic có một bảng FAT </a:t>
            </a:r>
            <a:endParaRPr/>
          </a:p>
        </p:txBody>
      </p:sp>
      <p:sp>
        <p:nvSpPr>
          <p:cNvPr id="522" name="Google Shape;522;p3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31" name="Google Shape;531;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000"/>
              <a:buFont typeface="Times New Roman"/>
              <a:buNone/>
            </a:pPr>
            <a:r>
              <a:rPr lang="en-US" sz="1000">
                <a:latin typeface="Times New Roman"/>
                <a:ea typeface="Times New Roman"/>
                <a:cs typeface="Times New Roman"/>
                <a:sym typeface="Times New Roman"/>
              </a:rPr>
              <a:t>I-note chứa 1 mảng, mảng của file;</a:t>
            </a:r>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532" name="Google Shape;532;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41" name="Google Shape;541;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63500" lvl="0" marL="0" rtl="0" algn="l">
              <a:spcBef>
                <a:spcPts val="0"/>
              </a:spcBef>
              <a:spcAft>
                <a:spcPts val="0"/>
              </a:spcAft>
              <a:buSzPts val="1000"/>
              <a:buFont typeface="Times New Roman"/>
              <a:buChar char="-"/>
            </a:pPr>
            <a:r>
              <a:rPr lang="en-US" sz="1000">
                <a:latin typeface="Times New Roman"/>
                <a:ea typeface="Times New Roman"/>
                <a:cs typeface="Times New Roman"/>
                <a:sym typeface="Times New Roman"/>
              </a:rPr>
              <a:t> file A: </a:t>
            </a:r>
            <a:r>
              <a:rPr b="1" lang="en-US" sz="1000">
                <a:latin typeface="Times New Roman"/>
                <a:ea typeface="Times New Roman"/>
                <a:cs typeface="Times New Roman"/>
                <a:sym typeface="Times New Roman"/>
              </a:rPr>
              <a:t>19</a:t>
            </a:r>
            <a:r>
              <a:rPr lang="en-US" sz="1000">
                <a:latin typeface="Times New Roman"/>
                <a:ea typeface="Times New Roman"/>
                <a:cs typeface="Times New Roman"/>
                <a:sym typeface="Times New Roman"/>
              </a:rPr>
              <a:t> chứa 1 inote chứa thông tin các khối mà nó trỏ vào</a:t>
            </a:r>
            <a:endParaRPr/>
          </a:p>
          <a:p>
            <a:pPr indent="-63500" lvl="0" marL="0" rtl="0" algn="l">
              <a:spcBef>
                <a:spcPts val="0"/>
              </a:spcBef>
              <a:spcAft>
                <a:spcPts val="0"/>
              </a:spcAft>
              <a:buSzPts val="1000"/>
              <a:buFont typeface="Times New Roman"/>
              <a:buChar char="-"/>
            </a:pPr>
            <a:r>
              <a:rPr lang="en-US" sz="1000">
                <a:latin typeface="Times New Roman"/>
                <a:ea typeface="Times New Roman"/>
                <a:cs typeface="Times New Roman"/>
                <a:sym typeface="Times New Roman"/>
              </a:rPr>
              <a:t>19 trỏ tới 9,11,6,22,</a:t>
            </a:r>
            <a:r>
              <a:rPr b="1" lang="en-US" sz="1000">
                <a:latin typeface="Times New Roman"/>
                <a:ea typeface="Times New Roman"/>
                <a:cs typeface="Times New Roman"/>
                <a:sym typeface="Times New Roman"/>
              </a:rPr>
              <a:t>-1,-1 ý là chưa dùng đến. Cái file này còn có thể lưu tới 2 khối nữa.</a:t>
            </a:r>
            <a:endParaRPr/>
          </a:p>
        </p:txBody>
      </p:sp>
      <p:sp>
        <p:nvSpPr>
          <p:cNvPr id="542" name="Google Shape;542;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52" name="Google Shape;552;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4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61" name="Google Shape;561;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p4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78" name="Google Shape;578;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000"/>
              <a:buFont typeface="Times New Roman"/>
              <a:buNone/>
            </a:pPr>
            <a:r>
              <a:rPr b="1" lang="en-US" sz="1000">
                <a:latin typeface="Times New Roman"/>
                <a:ea typeface="Times New Roman"/>
                <a:cs typeface="Times New Roman"/>
                <a:sym typeface="Times New Roman"/>
              </a:rPr>
              <a:t>Defragment</a:t>
            </a:r>
            <a:endParaRPr/>
          </a:p>
          <a:p>
            <a:pPr indent="0" lvl="0" marL="0" rtl="0" algn="l">
              <a:spcBef>
                <a:spcPts val="0"/>
              </a:spcBef>
              <a:spcAft>
                <a:spcPts val="0"/>
              </a:spcAft>
              <a:buSzPts val="1000"/>
              <a:buFont typeface="Times New Roman"/>
              <a:buNone/>
            </a:pPr>
            <a:r>
              <a:rPr lang="en-US" sz="1000">
                <a:latin typeface="Times New Roman"/>
                <a:ea typeface="Times New Roman"/>
                <a:cs typeface="Times New Roman"/>
                <a:sym typeface="Times New Roman"/>
              </a:rPr>
              <a:t>Nhớ: cluster thuộc về HDH</a:t>
            </a:r>
            <a:endParaRPr/>
          </a:p>
          <a:p>
            <a:pPr indent="0" lvl="0" marL="0" rtl="0" algn="l">
              <a:spcBef>
                <a:spcPts val="0"/>
              </a:spcBef>
              <a:spcAft>
                <a:spcPts val="0"/>
              </a:spcAft>
              <a:buSzPts val="1000"/>
              <a:buFont typeface="Times New Roman"/>
              <a:buNone/>
            </a:pPr>
            <a:r>
              <a:rPr lang="en-US" sz="1000">
                <a:latin typeface="Times New Roman"/>
                <a:ea typeface="Times New Roman"/>
                <a:cs typeface="Times New Roman"/>
                <a:sym typeface="Times New Roman"/>
              </a:rPr>
              <a:t>Setor thuộc về đĩa cứng</a:t>
            </a:r>
            <a:endParaRPr/>
          </a:p>
          <a:p>
            <a:pPr indent="0" lvl="0" marL="0" rtl="0" algn="l">
              <a:spcBef>
                <a:spcPts val="0"/>
              </a:spcBef>
              <a:spcAft>
                <a:spcPts val="0"/>
              </a:spcAft>
              <a:buSzPts val="1000"/>
              <a:buFont typeface="Arial"/>
              <a:buNone/>
            </a:pPr>
            <a:r>
              <a:rPr lang="en-US" sz="1000">
                <a:latin typeface="Arial"/>
                <a:ea typeface="Arial"/>
                <a:cs typeface="Arial"/>
                <a:sym typeface="Arial"/>
              </a:rPr>
              <a:t>Trong trường hợp kích thước file không bằng bội số kích thước khối, khối cuối</a:t>
            </a:r>
            <a:br>
              <a:rPr lang="en-US" sz="1000">
                <a:latin typeface="Arial"/>
                <a:ea typeface="Arial"/>
                <a:cs typeface="Arial"/>
                <a:sym typeface="Arial"/>
              </a:rPr>
            </a:br>
            <a:r>
              <a:rPr lang="en-US" sz="1000">
                <a:latin typeface="Arial"/>
                <a:ea typeface="Arial"/>
                <a:cs typeface="Arial"/>
                <a:sym typeface="Arial"/>
              </a:rPr>
              <a:t>cùng của file sẽ không ñược sử dụng hết và bị bỏ phí. </a:t>
            </a:r>
            <a:br>
              <a:rPr lang="en-US" sz="1000">
                <a:latin typeface="Arial"/>
                <a:ea typeface="Arial"/>
                <a:cs typeface="Arial"/>
                <a:sym typeface="Arial"/>
              </a:rPr>
            </a:br>
            <a:endParaRPr/>
          </a:p>
        </p:txBody>
      </p:sp>
      <p:sp>
        <p:nvSpPr>
          <p:cNvPr id="579" name="Google Shape;579;p4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87" name="Google Shape;587;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000"/>
              <a:buFont typeface="Times New Roman"/>
              <a:buNone/>
            </a:pPr>
            <a:r>
              <a:rPr b="1" lang="en-US" sz="1000">
                <a:latin typeface="Times New Roman"/>
                <a:ea typeface="Times New Roman"/>
                <a:cs typeface="Times New Roman"/>
                <a:sym typeface="Times New Roman"/>
              </a:rPr>
              <a:t>Defragment</a:t>
            </a:r>
            <a:endParaRPr/>
          </a:p>
          <a:p>
            <a:pPr indent="0" lvl="0" marL="0" rtl="0" algn="l">
              <a:spcBef>
                <a:spcPts val="0"/>
              </a:spcBef>
              <a:spcAft>
                <a:spcPts val="0"/>
              </a:spcAft>
              <a:buSzPts val="1000"/>
              <a:buFont typeface="Times New Roman"/>
              <a:buNone/>
            </a:pPr>
            <a:r>
              <a:rPr lang="en-US" sz="1000">
                <a:latin typeface="Times New Roman"/>
                <a:ea typeface="Times New Roman"/>
                <a:cs typeface="Times New Roman"/>
                <a:sym typeface="Times New Roman"/>
              </a:rPr>
              <a:t>Nhớ: cluster thuộc về HDH</a:t>
            </a:r>
            <a:endParaRPr/>
          </a:p>
          <a:p>
            <a:pPr indent="0" lvl="0" marL="0" rtl="0" algn="l">
              <a:spcBef>
                <a:spcPts val="0"/>
              </a:spcBef>
              <a:spcAft>
                <a:spcPts val="0"/>
              </a:spcAft>
              <a:buSzPts val="1000"/>
              <a:buFont typeface="Times New Roman"/>
              <a:buNone/>
            </a:pPr>
            <a:r>
              <a:rPr lang="en-US" sz="1000">
                <a:latin typeface="Times New Roman"/>
                <a:ea typeface="Times New Roman"/>
                <a:cs typeface="Times New Roman"/>
                <a:sym typeface="Times New Roman"/>
              </a:rPr>
              <a:t>Setor thuộc về đĩa cứng</a:t>
            </a:r>
            <a:endParaRPr/>
          </a:p>
        </p:txBody>
      </p:sp>
      <p:sp>
        <p:nvSpPr>
          <p:cNvPr id="588" name="Google Shape;588;p4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97" name="Google Shape;597;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Khối này làsssss sector </a:t>
            </a:r>
            <a:endParaRPr/>
          </a:p>
        </p:txBody>
      </p:sp>
      <p:sp>
        <p:nvSpPr>
          <p:cNvPr id="598" name="Google Shape;598;p4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07" name="Google Shape;607;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Khối này làsssss sector </a:t>
            </a:r>
            <a:endParaRPr/>
          </a:p>
        </p:txBody>
      </p:sp>
      <p:sp>
        <p:nvSpPr>
          <p:cNvPr id="608" name="Google Shape;608;p4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17" name="Google Shape;617;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p4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27" name="Google Shape;627;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4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37" name="Google Shape;637;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 name="Google Shape;638;p4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46" name="Google Shape;646;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63500" lvl="0" marL="0" rtl="0" algn="l">
              <a:spcBef>
                <a:spcPts val="0"/>
              </a:spcBef>
              <a:spcAft>
                <a:spcPts val="0"/>
              </a:spcAft>
              <a:buSzPts val="1000"/>
              <a:buFont typeface="Times New Roman"/>
              <a:buChar char="-"/>
            </a:pPr>
            <a:r>
              <a:rPr lang="en-US" sz="1000">
                <a:latin typeface="Times New Roman"/>
                <a:ea typeface="Times New Roman"/>
                <a:cs typeface="Times New Roman"/>
                <a:sym typeface="Times New Roman"/>
              </a:rPr>
              <a:t>File là nơi lưu trữ thông tin rất quan trọng đối với ng dùng, thậm chí quan trọng với chính bản thân hệ thống tính toán. Hệ thống file phải có tính bền vững cao,nghĩa là phải đảm bảo lưu trữ thông tin sao cho thông tin được toàn vẹn và không bị mất mát.</a:t>
            </a:r>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647" name="Google Shape;647;p5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56" name="Google Shape;656;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000"/>
              <a:buFont typeface="Times New Roman"/>
              <a:buNone/>
            </a:pPr>
            <a:r>
              <a:rPr lang="en-US" sz="1000">
                <a:latin typeface="Times New Roman"/>
                <a:ea typeface="Times New Roman"/>
                <a:cs typeface="Times New Roman"/>
                <a:sym typeface="Times New Roman"/>
              </a:rPr>
              <a:t>Để tránh mất thông tin do các khối hỏng gây ra cần phát hiện khối hỏng và tránh ghi thông tin lên đó.</a:t>
            </a:r>
            <a:endParaRPr/>
          </a:p>
          <a:p>
            <a:pPr indent="0" lvl="0" marL="0" rtl="0" algn="l">
              <a:spcBef>
                <a:spcPts val="0"/>
              </a:spcBef>
              <a:spcAft>
                <a:spcPts val="0"/>
              </a:spcAft>
              <a:buNone/>
            </a:pPr>
            <a:r>
              <a:t/>
            </a:r>
            <a:endParaRPr sz="1000">
              <a:latin typeface="Times New Roman"/>
              <a:ea typeface="Times New Roman"/>
              <a:cs typeface="Times New Roman"/>
              <a:sym typeface="Times New Roman"/>
            </a:endParaRPr>
          </a:p>
        </p:txBody>
      </p:sp>
      <p:sp>
        <p:nvSpPr>
          <p:cNvPr id="657" name="Google Shape;657;p5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66" name="Google Shape;666;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 name="Google Shape;667;p5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76" name="Google Shape;676;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7" name="Google Shape;677;p5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86" name="Google Shape;686;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Arial"/>
              <a:buNone/>
            </a:pPr>
            <a:r>
              <a:rPr lang="en-US">
                <a:latin typeface="Arial"/>
                <a:ea typeface="Arial"/>
                <a:cs typeface="Arial"/>
                <a:sym typeface="Arial"/>
              </a:rPr>
              <a:t>Tổng số ñếm thứ nhất và thứ hai của khối bằng 1 như với các khối 1, 2: kết quả bình</a:t>
            </a:r>
            <a:r>
              <a:rPr lang="en-US"/>
              <a:t> t</a:t>
            </a:r>
            <a:r>
              <a:rPr lang="en-US">
                <a:latin typeface="Arial"/>
                <a:ea typeface="Arial"/>
                <a:cs typeface="Arial"/>
                <a:sym typeface="Arial"/>
              </a:rPr>
              <a:t>hường, cho thấy khối </a:t>
            </a:r>
            <a:r>
              <a:rPr lang="en-US"/>
              <a:t>đ</a:t>
            </a:r>
            <a:r>
              <a:rPr lang="en-US">
                <a:latin typeface="Arial"/>
                <a:ea typeface="Arial"/>
                <a:cs typeface="Arial"/>
                <a:sym typeface="Arial"/>
              </a:rPr>
              <a:t>ang trống hoặc </a:t>
            </a:r>
            <a:r>
              <a:rPr lang="en-US"/>
              <a:t>đã</a:t>
            </a:r>
            <a:r>
              <a:rPr lang="en-US">
                <a:latin typeface="Arial"/>
                <a:ea typeface="Arial"/>
                <a:cs typeface="Arial"/>
                <a:sym typeface="Arial"/>
              </a:rPr>
              <a:t> </a:t>
            </a:r>
            <a:r>
              <a:rPr lang="en-US"/>
              <a:t>đ</a:t>
            </a:r>
            <a:r>
              <a:rPr lang="en-US">
                <a:latin typeface="Arial"/>
                <a:ea typeface="Arial"/>
                <a:cs typeface="Arial"/>
                <a:sym typeface="Arial"/>
              </a:rPr>
              <a:t>ược cấp phát cho duy nhất 1 file.</a:t>
            </a:r>
            <a:br>
              <a:rPr lang="en-US">
                <a:latin typeface="Arial"/>
                <a:ea typeface="Arial"/>
                <a:cs typeface="Arial"/>
                <a:sym typeface="Arial"/>
              </a:rPr>
            </a:br>
            <a:r>
              <a:rPr lang="en-US">
                <a:latin typeface="Arial"/>
                <a:ea typeface="Arial"/>
                <a:cs typeface="Arial"/>
                <a:sym typeface="Arial"/>
              </a:rPr>
              <a:t>Tổng số </a:t>
            </a:r>
            <a:r>
              <a:rPr lang="en-US"/>
              <a:t>đ</a:t>
            </a:r>
            <a:r>
              <a:rPr lang="en-US">
                <a:latin typeface="Arial"/>
                <a:ea typeface="Arial"/>
                <a:cs typeface="Arial"/>
                <a:sym typeface="Arial"/>
              </a:rPr>
              <a:t>ếm thứ nhất và thứ hai của khối bằng 0 như với khối 0: kết quả lỗi, cho tkhối hiện không thuộc danh sách khối trống, ñồng thời cũng không thuộc file nào. </a:t>
            </a:r>
            <a:r>
              <a:rPr lang="en-US"/>
              <a:t>Có </a:t>
            </a:r>
            <a:r>
              <a:rPr lang="en-US">
                <a:latin typeface="Arial"/>
                <a:ea typeface="Arial"/>
                <a:cs typeface="Arial"/>
                <a:sym typeface="Arial"/>
              </a:rPr>
              <a:t>thể khắc phục lỗi này bằng cách thêm khối vào danh sách khối trống.</a:t>
            </a:r>
            <a:br>
              <a:rPr lang="en-US">
                <a:latin typeface="Arial"/>
                <a:ea typeface="Arial"/>
                <a:cs typeface="Arial"/>
                <a:sym typeface="Arial"/>
              </a:rPr>
            </a:br>
            <a:r>
              <a:rPr lang="en-US">
                <a:latin typeface="Arial"/>
                <a:ea typeface="Arial"/>
                <a:cs typeface="Arial"/>
                <a:sym typeface="Arial"/>
              </a:rPr>
              <a:t>- Tổng số </a:t>
            </a:r>
            <a:r>
              <a:rPr lang="en-US"/>
              <a:t>đ</a:t>
            </a:r>
            <a:r>
              <a:rPr lang="en-US">
                <a:latin typeface="Arial"/>
                <a:ea typeface="Arial"/>
                <a:cs typeface="Arial"/>
                <a:sym typeface="Arial"/>
              </a:rPr>
              <a:t>ếm thứ nhất và thứ hai của khối lớn hơn 1 như với khối 3, 4, 5: kết quả lỗi</a:t>
            </a:r>
            <a:r>
              <a:rPr lang="en-US"/>
              <a:t> c</a:t>
            </a:r>
            <a:r>
              <a:rPr lang="en-US">
                <a:latin typeface="Arial"/>
                <a:ea typeface="Arial"/>
                <a:cs typeface="Arial"/>
                <a:sym typeface="Arial"/>
              </a:rPr>
              <a:t>ho thấy file vừa </a:t>
            </a:r>
            <a:r>
              <a:rPr lang="en-US"/>
              <a:t>đ</a:t>
            </a:r>
            <a:r>
              <a:rPr lang="en-US">
                <a:latin typeface="Arial"/>
                <a:ea typeface="Arial"/>
                <a:cs typeface="Arial"/>
                <a:sym typeface="Arial"/>
              </a:rPr>
              <a:t>ược </a:t>
            </a:r>
            <a:r>
              <a:rPr lang="en-US"/>
              <a:t>đ</a:t>
            </a:r>
            <a:r>
              <a:rPr lang="en-US">
                <a:latin typeface="Arial"/>
                <a:ea typeface="Arial"/>
                <a:cs typeface="Arial"/>
                <a:sym typeface="Arial"/>
              </a:rPr>
              <a:t>ánh dấu còn trống, vừa </a:t>
            </a:r>
            <a:r>
              <a:rPr lang="en-US"/>
              <a:t>đ</a:t>
            </a:r>
            <a:r>
              <a:rPr lang="en-US">
                <a:latin typeface="Arial"/>
                <a:ea typeface="Arial"/>
                <a:cs typeface="Arial"/>
                <a:sym typeface="Arial"/>
              </a:rPr>
              <a:t>ược </a:t>
            </a:r>
            <a:r>
              <a:rPr lang="en-US"/>
              <a:t>đ</a:t>
            </a:r>
            <a:r>
              <a:rPr lang="en-US">
                <a:latin typeface="Arial"/>
                <a:ea typeface="Arial"/>
                <a:cs typeface="Arial"/>
                <a:sym typeface="Arial"/>
              </a:rPr>
              <a:t>ánh dấu </a:t>
            </a:r>
            <a:r>
              <a:rPr lang="en-US"/>
              <a:t>đ</a:t>
            </a:r>
            <a:r>
              <a:rPr lang="en-US">
                <a:latin typeface="Arial"/>
                <a:ea typeface="Arial"/>
                <a:cs typeface="Arial"/>
                <a:sym typeface="Arial"/>
              </a:rPr>
              <a:t>ã cấp phát cho file,</a:t>
            </a:r>
            <a:r>
              <a:rPr lang="en-US"/>
              <a:t> </a:t>
            </a:r>
            <a:r>
              <a:rPr lang="en-US">
                <a:latin typeface="Arial"/>
                <a:ea typeface="Arial"/>
                <a:cs typeface="Arial"/>
                <a:sym typeface="Arial"/>
              </a:rPr>
              <a:t>hoặc </a:t>
            </a:r>
            <a:r>
              <a:rPr lang="en-US"/>
              <a:t>đ</a:t>
            </a:r>
            <a:r>
              <a:rPr lang="en-US">
                <a:latin typeface="Arial"/>
                <a:ea typeface="Arial"/>
                <a:cs typeface="Arial"/>
                <a:sym typeface="Arial"/>
              </a:rPr>
              <a:t>ã </a:t>
            </a:r>
            <a:r>
              <a:rPr lang="en-US"/>
              <a:t>đ</a:t>
            </a:r>
            <a:r>
              <a:rPr lang="en-US">
                <a:latin typeface="Arial"/>
                <a:ea typeface="Arial"/>
                <a:cs typeface="Arial"/>
                <a:sym typeface="Arial"/>
              </a:rPr>
              <a:t>ược cấp cho nhiều hơn một file. Trong trường hợp này việc khắc phục có thể</a:t>
            </a:r>
            <a:r>
              <a:rPr lang="en-US"/>
              <a:t> </a:t>
            </a:r>
            <a:r>
              <a:rPr lang="en-US">
                <a:latin typeface="Arial"/>
                <a:ea typeface="Arial"/>
                <a:cs typeface="Arial"/>
                <a:sym typeface="Arial"/>
              </a:rPr>
              <a:t>gây mất dữ liệu nếu khối thuộc về nhiều file và ñã ñược ghi dữ liệu lên </a:t>
            </a:r>
            <a:r>
              <a:rPr lang="en-US"/>
              <a:t>đ</a:t>
            </a:r>
            <a:r>
              <a:rPr lang="en-US">
                <a:latin typeface="Arial"/>
                <a:ea typeface="Arial"/>
                <a:cs typeface="Arial"/>
                <a:sym typeface="Arial"/>
              </a:rPr>
              <a:t>ó.</a:t>
            </a:r>
            <a:r>
              <a:rPr lang="en-US" sz="1000">
                <a:latin typeface="Arial"/>
                <a:ea typeface="Arial"/>
                <a:cs typeface="Arial"/>
                <a:sym typeface="Arial"/>
              </a:rPr>
              <a:t> </a:t>
            </a:r>
            <a:br>
              <a:rPr lang="en-US" sz="1000">
                <a:latin typeface="Arial"/>
                <a:ea typeface="Arial"/>
                <a:cs typeface="Arial"/>
                <a:sym typeface="Arial"/>
              </a:rPr>
            </a:br>
            <a:endParaRPr/>
          </a:p>
        </p:txBody>
      </p:sp>
      <p:sp>
        <p:nvSpPr>
          <p:cNvPr id="687" name="Google Shape;687;p5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96" name="Google Shape;696;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63500" lvl="0" marL="0" rtl="0" algn="l">
              <a:spcBef>
                <a:spcPts val="0"/>
              </a:spcBef>
              <a:spcAft>
                <a:spcPts val="0"/>
              </a:spcAft>
              <a:buSzPts val="1000"/>
              <a:buFont typeface="Times New Roman"/>
              <a:buChar char="-"/>
            </a:pPr>
            <a:r>
              <a:rPr lang="en-US" sz="1000">
                <a:latin typeface="Times New Roman"/>
                <a:ea typeface="Times New Roman"/>
                <a:cs typeface="Times New Roman"/>
                <a:sym typeface="Times New Roman"/>
              </a:rPr>
              <a:t> Mặc dù </a:t>
            </a:r>
            <a:endParaRPr/>
          </a:p>
        </p:txBody>
      </p:sp>
      <p:sp>
        <p:nvSpPr>
          <p:cNvPr id="697" name="Google Shape;697;p5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06" name="Google Shape;706;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63500" lvl="0" marL="0" rtl="0" algn="l">
              <a:spcBef>
                <a:spcPts val="0"/>
              </a:spcBef>
              <a:spcAft>
                <a:spcPts val="0"/>
              </a:spcAft>
              <a:buSzPts val="1000"/>
              <a:buFont typeface="Times New Roman"/>
              <a:buChar char="-"/>
            </a:pPr>
            <a:r>
              <a:rPr lang="en-US" sz="1000">
                <a:latin typeface="Times New Roman"/>
                <a:ea typeface="Times New Roman"/>
                <a:cs typeface="Times New Roman"/>
                <a:sym typeface="Times New Roman"/>
              </a:rPr>
              <a:t> Mặc dù </a:t>
            </a:r>
            <a:endParaRPr/>
          </a:p>
        </p:txBody>
      </p:sp>
      <p:sp>
        <p:nvSpPr>
          <p:cNvPr id="707" name="Google Shape;707;p5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16" name="Google Shape;716;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7" name="Google Shape;717;p5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26" name="Google Shape;726;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 name="Google Shape;727;p5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36" name="Google Shape;736;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7" name="Google Shape;737;p5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47" name="Google Shape;747;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54" name="Google Shape;754;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Đĩa logic thường được đặt tên như A,B,C,...với một số quy ước như: A là ổ đĩa mềm, B là ổ đĩa cứng đầu tiên......</a:t>
            </a:r>
            <a:endParaRPr/>
          </a:p>
          <a:p>
            <a:pPr indent="0" lvl="0" marL="0" rtl="0" algn="l">
              <a:spcBef>
                <a:spcPts val="0"/>
              </a:spcBef>
              <a:spcAft>
                <a:spcPts val="0"/>
              </a:spcAft>
              <a:buSzPts val="1800"/>
              <a:buNone/>
            </a:pPr>
            <a:r>
              <a:rPr lang="en-US"/>
              <a:t>Lùy thừa của 2. Tùy thuộc vào phiên bản của FAT (12,16 hay 32).</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62" name="Google Shape;762;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70" name="Google Shape;770;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8" name="Google Shape;778;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6" name="Google Shape;786;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4" name="Google Shape;794;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 name="Google Shape;801;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9" name="Google Shape;809;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6" name="Google Shape;816;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3" name="Google Shape;823;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30" name="Google Shape;830;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GV sẽ cung cấp file chứa máy ảo Windows 98 và ổ đĩa FAT 16 </a:t>
            </a:r>
            <a:r>
              <a:rPr b="1" lang="en-US"/>
              <a:t>Windows 98 Fat16.vmx </a:t>
            </a:r>
            <a:r>
              <a:rPr lang="en-US"/>
              <a:t>GV cung cấp. Các em cần thực hiện các công việc sa.</a:t>
            </a:r>
            <a:endParaRPr/>
          </a:p>
          <a:p>
            <a:pPr indent="0" lvl="0" marL="0" rtl="0" algn="l">
              <a:spcBef>
                <a:spcPts val="0"/>
              </a:spcBef>
              <a:spcAft>
                <a:spcPts val="0"/>
              </a:spcAft>
              <a:buNone/>
            </a:pPr>
            <a:r>
              <a:t/>
            </a:r>
            <a:endParaRPr/>
          </a:p>
        </p:txBody>
      </p:sp>
      <p:sp>
        <p:nvSpPr>
          <p:cNvPr id="831" name="Google Shape;831;p7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38" name="Google Shape;838;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GV sẽ cung cấp file chứa máy ảo Windows 98 và ổ đĩa FAT 16 </a:t>
            </a:r>
            <a:r>
              <a:rPr b="1" lang="en-US"/>
              <a:t>Windows 98 Fat16.vmx </a:t>
            </a:r>
            <a:r>
              <a:rPr lang="en-US"/>
              <a:t>GV cung cấp. Các em cần thực hiện các công việc sa.</a:t>
            </a:r>
            <a:endParaRPr/>
          </a:p>
          <a:p>
            <a:pPr indent="0" lvl="0" marL="0" rtl="0" algn="l">
              <a:spcBef>
                <a:spcPts val="0"/>
              </a:spcBef>
              <a:spcAft>
                <a:spcPts val="0"/>
              </a:spcAft>
              <a:buNone/>
            </a:pPr>
            <a:r>
              <a:t/>
            </a:r>
            <a:endParaRPr/>
          </a:p>
        </p:txBody>
      </p:sp>
      <p:sp>
        <p:nvSpPr>
          <p:cNvPr id="839" name="Google Shape;839;p7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6" name="Google Shape;846;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3" name="Google Shape;853;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0" name="Google Shape;860;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78"/>
          <p:cNvSpPr txBox="1"/>
          <p:nvPr>
            <p:ph idx="1" type="body"/>
          </p:nvPr>
        </p:nvSpPr>
        <p:spPr>
          <a:xfrm>
            <a:off x="457200" y="1295400"/>
            <a:ext cx="8229600" cy="4525963"/>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b="0" i="0" sz="2400" u="none" cap="none" strike="noStrike">
                <a:solidFill>
                  <a:schemeClr val="dk2"/>
                </a:solidFill>
                <a:latin typeface="Arial"/>
                <a:ea typeface="Arial"/>
                <a:cs typeface="Arial"/>
                <a:sym typeface="Arial"/>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0" name="Google Shape;20;p78"/>
          <p:cNvSpPr txBox="1"/>
          <p:nvPr>
            <p:ph type="title"/>
          </p:nvPr>
        </p:nvSpPr>
        <p:spPr>
          <a:xfrm>
            <a:off x="457200" y="990600"/>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 name="Shape 21"/>
        <p:cNvGrpSpPr/>
        <p:nvPr/>
      </p:nvGrpSpPr>
      <p:grpSpPr>
        <a:xfrm>
          <a:off x="0" y="0"/>
          <a:ext cx="0" cy="0"/>
          <a:chOff x="0" y="0"/>
          <a:chExt cx="0" cy="0"/>
        </a:xfrm>
      </p:grpSpPr>
      <p:sp>
        <p:nvSpPr>
          <p:cNvPr id="22" name="Google Shape;22;p79"/>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23" name="Google Shape;23;p7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sz="2400">
                <a:solidFill>
                  <a:schemeClr val="dk2"/>
                </a:solidFill>
                <a:latin typeface="Arial"/>
                <a:ea typeface="Arial"/>
                <a:cs typeface="Arial"/>
                <a:sym typeface="Arial"/>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 name="Shape 24"/>
        <p:cNvGrpSpPr/>
        <p:nvPr/>
      </p:nvGrpSpPr>
      <p:grpSpPr>
        <a:xfrm>
          <a:off x="0" y="0"/>
          <a:ext cx="0" cy="0"/>
          <a:chOff x="0" y="0"/>
          <a:chExt cx="0" cy="0"/>
        </a:xfrm>
      </p:grpSpPr>
      <p:sp>
        <p:nvSpPr>
          <p:cNvPr id="25" name="Google Shape;25;p8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26" name="Google Shape;26;p8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sz="2400">
                <a:solidFill>
                  <a:schemeClr val="dk2"/>
                </a:solidFill>
                <a:latin typeface="Arial"/>
                <a:ea typeface="Arial"/>
                <a:cs typeface="Arial"/>
                <a:sym typeface="Arial"/>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7" name="Shape 27"/>
        <p:cNvGrpSpPr/>
        <p:nvPr/>
      </p:nvGrpSpPr>
      <p:grpSpPr>
        <a:xfrm>
          <a:off x="0" y="0"/>
          <a:ext cx="0" cy="0"/>
          <a:chOff x="0" y="0"/>
          <a:chExt cx="0" cy="0"/>
        </a:xfrm>
      </p:grpSpPr>
      <p:sp>
        <p:nvSpPr>
          <p:cNvPr id="28" name="Google Shape;28;p8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29" name="Google Shape;29;p81"/>
          <p:cNvSpPr/>
          <p:nvPr>
            <p:ph idx="2" type="pic"/>
          </p:nvPr>
        </p:nvSpPr>
        <p:spPr>
          <a:xfrm>
            <a:off x="1792288" y="612775"/>
            <a:ext cx="5486400" cy="4114800"/>
          </a:xfrm>
          <a:prstGeom prst="rect">
            <a:avLst/>
          </a:prstGeom>
          <a:noFill/>
          <a:ln>
            <a:noFill/>
          </a:ln>
        </p:spPr>
      </p:sp>
      <p:sp>
        <p:nvSpPr>
          <p:cNvPr id="30" name="Google Shape;30;p8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2"/>
              </a:buClr>
              <a:buSzPts val="1400"/>
              <a:buFont typeface="Noto Sans Symbols"/>
              <a:buNone/>
              <a:defRPr sz="1400">
                <a:solidFill>
                  <a:schemeClr val="dk2"/>
                </a:solidFill>
                <a:latin typeface="Arial"/>
                <a:ea typeface="Arial"/>
                <a:cs typeface="Arial"/>
                <a:sym typeface="Arial"/>
              </a:defRPr>
            </a:lvl1pPr>
            <a:lvl2pPr indent="-228600" lvl="1" marL="914400" marR="0" rtl="0" algn="l">
              <a:spcBef>
                <a:spcPts val="240"/>
              </a:spcBef>
              <a:spcAft>
                <a:spcPts val="0"/>
              </a:spcAft>
              <a:buClr>
                <a:schemeClr val="accent1"/>
              </a:buClr>
              <a:buSzPts val="1200"/>
              <a:buFont typeface="Noto Sans Symbols"/>
              <a:buNone/>
              <a:defRPr b="0" i="0" sz="1200" u="none" cap="none" strike="noStrike">
                <a:solidFill>
                  <a:schemeClr val="dk2"/>
                </a:solidFill>
                <a:latin typeface="Arial"/>
                <a:ea typeface="Arial"/>
                <a:cs typeface="Arial"/>
                <a:sym typeface="Arial"/>
              </a:defRPr>
            </a:lvl2pPr>
            <a:lvl3pPr indent="-228600" lvl="2" marL="1371600" marR="0" rtl="0" algn="l">
              <a:spcBef>
                <a:spcPts val="200"/>
              </a:spcBef>
              <a:spcAft>
                <a:spcPts val="0"/>
              </a:spcAft>
              <a:buClr>
                <a:schemeClr val="accent2"/>
              </a:buClr>
              <a:buSzPts val="1000"/>
              <a:buFont typeface="Arial"/>
              <a:buNone/>
              <a:defRPr b="0" i="0" sz="1000" u="none" cap="none" strike="noStrike">
                <a:solidFill>
                  <a:schemeClr val="dk2"/>
                </a:solidFill>
                <a:latin typeface="Arial"/>
                <a:ea typeface="Arial"/>
                <a:cs typeface="Arial"/>
                <a:sym typeface="Arial"/>
              </a:defRPr>
            </a:lvl3pPr>
            <a:lvl4pPr indent="-228600" lvl="3" marL="1828800" marR="0" rtl="0" algn="l">
              <a:spcBef>
                <a:spcPts val="180"/>
              </a:spcBef>
              <a:spcAft>
                <a:spcPts val="0"/>
              </a:spcAft>
              <a:buClr>
                <a:schemeClr val="dk2"/>
              </a:buClr>
              <a:buSzPts val="900"/>
              <a:buFont typeface="Arial"/>
              <a:buNone/>
              <a:defRPr b="0" i="0" sz="900" u="none" cap="none" strike="noStrike">
                <a:solidFill>
                  <a:schemeClr val="dk2"/>
                </a:solidFill>
                <a:latin typeface="Arial"/>
                <a:ea typeface="Arial"/>
                <a:cs typeface="Arial"/>
                <a:sym typeface="Arial"/>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1" name="Shape 31"/>
        <p:cNvGrpSpPr/>
        <p:nvPr/>
      </p:nvGrpSpPr>
      <p:grpSpPr>
        <a:xfrm>
          <a:off x="0" y="0"/>
          <a:ext cx="0" cy="0"/>
          <a:chOff x="0" y="0"/>
          <a:chExt cx="0" cy="0"/>
        </a:xfrm>
      </p:grpSpPr>
      <p:sp>
        <p:nvSpPr>
          <p:cNvPr id="32" name="Google Shape;32;p8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33" name="Google Shape;33;p8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2"/>
              </a:buClr>
              <a:buSzPts val="3200"/>
              <a:buFont typeface="Noto Sans Symbols"/>
              <a:buChar char="❖"/>
              <a:defRPr sz="3200">
                <a:solidFill>
                  <a:schemeClr val="dk2"/>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2"/>
                </a:solidFill>
                <a:latin typeface="Arial"/>
                <a:ea typeface="Arial"/>
                <a:cs typeface="Arial"/>
                <a:sym typeface="Arial"/>
              </a:defRPr>
            </a:lvl2pPr>
            <a:lvl3pPr indent="-381000" lvl="2" marL="1371600" marR="0" rtl="0" algn="l">
              <a:spcBef>
                <a:spcPts val="480"/>
              </a:spcBef>
              <a:spcAft>
                <a:spcPts val="0"/>
              </a:spcAft>
              <a:buClr>
                <a:schemeClr val="accent2"/>
              </a:buClr>
              <a:buSzPts val="2400"/>
              <a:buFont typeface="Arial"/>
              <a:buChar char="•"/>
              <a:defRPr b="0" i="0" sz="2400" u="none" cap="none" strike="noStrike">
                <a:solidFill>
                  <a:schemeClr val="dk2"/>
                </a:solidFill>
                <a:latin typeface="Arial"/>
                <a:ea typeface="Arial"/>
                <a:cs typeface="Arial"/>
                <a:sym typeface="Arial"/>
              </a:defRPr>
            </a:lvl3pPr>
            <a:lvl4pPr indent="-355600" lvl="3" marL="1828800" marR="0" rtl="0" algn="l">
              <a:spcBef>
                <a:spcPts val="400"/>
              </a:spcBef>
              <a:spcAft>
                <a:spcPts val="0"/>
              </a:spcAft>
              <a:buClr>
                <a:schemeClr val="dk2"/>
              </a:buClr>
              <a:buSzPts val="2000"/>
              <a:buFont typeface="Arial"/>
              <a:buChar char="–"/>
              <a:defRPr b="0" i="0" sz="2000" u="none" cap="none" strike="noStrike">
                <a:solidFill>
                  <a:schemeClr val="dk2"/>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4" name="Google Shape;34;p8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2"/>
              </a:buClr>
              <a:buSzPts val="1400"/>
              <a:buFont typeface="Noto Sans Symbols"/>
              <a:buNone/>
              <a:defRPr sz="1400">
                <a:solidFill>
                  <a:schemeClr val="dk2"/>
                </a:solidFill>
                <a:latin typeface="Arial"/>
                <a:ea typeface="Arial"/>
                <a:cs typeface="Arial"/>
                <a:sym typeface="Arial"/>
              </a:defRPr>
            </a:lvl1pPr>
            <a:lvl2pPr indent="-228600" lvl="1" marL="914400" marR="0" rtl="0" algn="l">
              <a:spcBef>
                <a:spcPts val="240"/>
              </a:spcBef>
              <a:spcAft>
                <a:spcPts val="0"/>
              </a:spcAft>
              <a:buClr>
                <a:schemeClr val="accent1"/>
              </a:buClr>
              <a:buSzPts val="1200"/>
              <a:buFont typeface="Noto Sans Symbols"/>
              <a:buNone/>
              <a:defRPr b="0" i="0" sz="1200" u="none" cap="none" strike="noStrike">
                <a:solidFill>
                  <a:schemeClr val="dk2"/>
                </a:solidFill>
                <a:latin typeface="Arial"/>
                <a:ea typeface="Arial"/>
                <a:cs typeface="Arial"/>
                <a:sym typeface="Arial"/>
              </a:defRPr>
            </a:lvl2pPr>
            <a:lvl3pPr indent="-228600" lvl="2" marL="1371600" marR="0" rtl="0" algn="l">
              <a:spcBef>
                <a:spcPts val="200"/>
              </a:spcBef>
              <a:spcAft>
                <a:spcPts val="0"/>
              </a:spcAft>
              <a:buClr>
                <a:schemeClr val="accent2"/>
              </a:buClr>
              <a:buSzPts val="1000"/>
              <a:buFont typeface="Arial"/>
              <a:buNone/>
              <a:defRPr b="0" i="0" sz="1000" u="none" cap="none" strike="noStrike">
                <a:solidFill>
                  <a:schemeClr val="dk2"/>
                </a:solidFill>
                <a:latin typeface="Arial"/>
                <a:ea typeface="Arial"/>
                <a:cs typeface="Arial"/>
                <a:sym typeface="Arial"/>
              </a:defRPr>
            </a:lvl3pPr>
            <a:lvl4pPr indent="-228600" lvl="3" marL="1828800" marR="0" rtl="0" algn="l">
              <a:spcBef>
                <a:spcPts val="180"/>
              </a:spcBef>
              <a:spcAft>
                <a:spcPts val="0"/>
              </a:spcAft>
              <a:buClr>
                <a:schemeClr val="dk2"/>
              </a:buClr>
              <a:buSzPts val="900"/>
              <a:buFont typeface="Arial"/>
              <a:buNone/>
              <a:defRPr b="0" i="0" sz="900" u="none" cap="none" strike="noStrike">
                <a:solidFill>
                  <a:schemeClr val="dk2"/>
                </a:solidFill>
                <a:latin typeface="Arial"/>
                <a:ea typeface="Arial"/>
                <a:cs typeface="Arial"/>
                <a:sym typeface="Arial"/>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5" name="Shape 35"/>
        <p:cNvGrpSpPr/>
        <p:nvPr/>
      </p:nvGrpSpPr>
      <p:grpSpPr>
        <a:xfrm>
          <a:off x="0" y="0"/>
          <a:ext cx="0" cy="0"/>
          <a:chOff x="0" y="0"/>
          <a:chExt cx="0" cy="0"/>
        </a:xfrm>
      </p:grpSpPr>
      <p:sp>
        <p:nvSpPr>
          <p:cNvPr id="36" name="Google Shape;36;p8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 name="Shape 37"/>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8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86"/>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42" name="Google Shape;42;p8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2"/>
              </a:buClr>
              <a:buSzPts val="2400"/>
              <a:buFont typeface="Noto Sans Symbols"/>
              <a:buNone/>
              <a:defRPr b="1" sz="2400">
                <a:solidFill>
                  <a:schemeClr val="dk2"/>
                </a:solidFill>
                <a:latin typeface="Arial"/>
                <a:ea typeface="Arial"/>
                <a:cs typeface="Arial"/>
                <a:sym typeface="Arial"/>
              </a:defRPr>
            </a:lvl1pPr>
            <a:lvl2pPr indent="-228600" lvl="1" marL="914400" marR="0" rtl="0" algn="l">
              <a:spcBef>
                <a:spcPts val="400"/>
              </a:spcBef>
              <a:spcAft>
                <a:spcPts val="0"/>
              </a:spcAft>
              <a:buClr>
                <a:schemeClr val="accent1"/>
              </a:buClr>
              <a:buSzPts val="2000"/>
              <a:buFont typeface="Noto Sans Symbols"/>
              <a:buNone/>
              <a:defRPr b="1" i="0" sz="2000" u="none" cap="none" strike="noStrike">
                <a:solidFill>
                  <a:schemeClr val="dk2"/>
                </a:solidFill>
                <a:latin typeface="Arial"/>
                <a:ea typeface="Arial"/>
                <a:cs typeface="Arial"/>
                <a:sym typeface="Arial"/>
              </a:defRPr>
            </a:lvl2pPr>
            <a:lvl3pPr indent="-228600" lvl="2" marL="1371600" marR="0" rtl="0" algn="l">
              <a:spcBef>
                <a:spcPts val="360"/>
              </a:spcBef>
              <a:spcAft>
                <a:spcPts val="0"/>
              </a:spcAft>
              <a:buClr>
                <a:schemeClr val="accent2"/>
              </a:buClr>
              <a:buSzPts val="1800"/>
              <a:buFont typeface="Arial"/>
              <a:buNone/>
              <a:defRPr b="1" i="0" sz="1800" u="none" cap="none" strike="noStrike">
                <a:solidFill>
                  <a:schemeClr val="dk2"/>
                </a:solidFill>
                <a:latin typeface="Arial"/>
                <a:ea typeface="Arial"/>
                <a:cs typeface="Arial"/>
                <a:sym typeface="Arial"/>
              </a:defRPr>
            </a:lvl3pPr>
            <a:lvl4pPr indent="-228600" lvl="3" marL="1828800" marR="0" rtl="0" algn="l">
              <a:spcBef>
                <a:spcPts val="320"/>
              </a:spcBef>
              <a:spcAft>
                <a:spcPts val="0"/>
              </a:spcAft>
              <a:buClr>
                <a:schemeClr val="dk2"/>
              </a:buClr>
              <a:buSzPts val="1600"/>
              <a:buFont typeface="Arial"/>
              <a:buNone/>
              <a:defRPr b="1" i="0" sz="1600" u="none" cap="none" strike="noStrike">
                <a:solidFill>
                  <a:schemeClr val="dk2"/>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3" name="Google Shape;43;p8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sz="2400">
                <a:solidFill>
                  <a:schemeClr val="dk2"/>
                </a:solidFill>
                <a:latin typeface="Arial"/>
                <a:ea typeface="Arial"/>
                <a:cs typeface="Arial"/>
                <a:sym typeface="Arial"/>
              </a:defRPr>
            </a:lvl1pPr>
            <a:lvl2pPr indent="-355600" lvl="1" marL="914400" marR="0" rtl="0" algn="l">
              <a:spcBef>
                <a:spcPts val="400"/>
              </a:spcBef>
              <a:spcAft>
                <a:spcPts val="0"/>
              </a:spcAft>
              <a:buClr>
                <a:schemeClr val="accent1"/>
              </a:buClr>
              <a:buSzPts val="2000"/>
              <a:buFont typeface="Noto Sans Symbols"/>
              <a:buChar char="▪"/>
              <a:defRPr b="0" i="0" sz="20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44" name="Google Shape;44;p8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2"/>
              </a:buClr>
              <a:buSzPts val="2400"/>
              <a:buFont typeface="Noto Sans Symbols"/>
              <a:buNone/>
              <a:defRPr b="1" sz="2400">
                <a:solidFill>
                  <a:schemeClr val="dk2"/>
                </a:solidFill>
                <a:latin typeface="Arial"/>
                <a:ea typeface="Arial"/>
                <a:cs typeface="Arial"/>
                <a:sym typeface="Arial"/>
              </a:defRPr>
            </a:lvl1pPr>
            <a:lvl2pPr indent="-228600" lvl="1" marL="914400" marR="0" rtl="0" algn="l">
              <a:spcBef>
                <a:spcPts val="400"/>
              </a:spcBef>
              <a:spcAft>
                <a:spcPts val="0"/>
              </a:spcAft>
              <a:buClr>
                <a:schemeClr val="accent1"/>
              </a:buClr>
              <a:buSzPts val="2000"/>
              <a:buFont typeface="Noto Sans Symbols"/>
              <a:buNone/>
              <a:defRPr b="1" i="0" sz="2000" u="none" cap="none" strike="noStrike">
                <a:solidFill>
                  <a:schemeClr val="dk2"/>
                </a:solidFill>
                <a:latin typeface="Arial"/>
                <a:ea typeface="Arial"/>
                <a:cs typeface="Arial"/>
                <a:sym typeface="Arial"/>
              </a:defRPr>
            </a:lvl2pPr>
            <a:lvl3pPr indent="-228600" lvl="2" marL="1371600" marR="0" rtl="0" algn="l">
              <a:spcBef>
                <a:spcPts val="360"/>
              </a:spcBef>
              <a:spcAft>
                <a:spcPts val="0"/>
              </a:spcAft>
              <a:buClr>
                <a:schemeClr val="accent2"/>
              </a:buClr>
              <a:buSzPts val="1800"/>
              <a:buFont typeface="Arial"/>
              <a:buNone/>
              <a:defRPr b="1" i="0" sz="1800" u="none" cap="none" strike="noStrike">
                <a:solidFill>
                  <a:schemeClr val="dk2"/>
                </a:solidFill>
                <a:latin typeface="Arial"/>
                <a:ea typeface="Arial"/>
                <a:cs typeface="Arial"/>
                <a:sym typeface="Arial"/>
              </a:defRPr>
            </a:lvl3pPr>
            <a:lvl4pPr indent="-228600" lvl="3" marL="1828800" marR="0" rtl="0" algn="l">
              <a:spcBef>
                <a:spcPts val="320"/>
              </a:spcBef>
              <a:spcAft>
                <a:spcPts val="0"/>
              </a:spcAft>
              <a:buClr>
                <a:schemeClr val="dk2"/>
              </a:buClr>
              <a:buSzPts val="1600"/>
              <a:buFont typeface="Arial"/>
              <a:buNone/>
              <a:defRPr b="1" i="0" sz="1600" u="none" cap="none" strike="noStrike">
                <a:solidFill>
                  <a:schemeClr val="dk2"/>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5" name="Google Shape;45;p8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sz="2400">
                <a:solidFill>
                  <a:schemeClr val="dk2"/>
                </a:solidFill>
                <a:latin typeface="Arial"/>
                <a:ea typeface="Arial"/>
                <a:cs typeface="Arial"/>
                <a:sym typeface="Arial"/>
              </a:defRPr>
            </a:lvl1pPr>
            <a:lvl2pPr indent="-355600" lvl="1" marL="914400" marR="0" rtl="0" algn="l">
              <a:spcBef>
                <a:spcPts val="400"/>
              </a:spcBef>
              <a:spcAft>
                <a:spcPts val="0"/>
              </a:spcAft>
              <a:buClr>
                <a:schemeClr val="accent1"/>
              </a:buClr>
              <a:buSzPts val="2000"/>
              <a:buFont typeface="Noto Sans Symbols"/>
              <a:buChar char="▪"/>
              <a:defRPr b="0" i="0" sz="20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8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48" name="Google Shape;48;p8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2"/>
              </a:buClr>
              <a:buSzPts val="2800"/>
              <a:buFont typeface="Noto Sans Symbols"/>
              <a:buChar char="❖"/>
              <a:defRPr sz="2800">
                <a:solidFill>
                  <a:schemeClr val="dk2"/>
                </a:solidFill>
                <a:latin typeface="Arial"/>
                <a:ea typeface="Arial"/>
                <a:cs typeface="Arial"/>
                <a:sym typeface="Arial"/>
              </a:defRPr>
            </a:lvl1pPr>
            <a:lvl2pPr indent="-381000" lvl="1" marL="914400" marR="0" rtl="0" algn="l">
              <a:spcBef>
                <a:spcPts val="480"/>
              </a:spcBef>
              <a:spcAft>
                <a:spcPts val="0"/>
              </a:spcAft>
              <a:buClr>
                <a:schemeClr val="accent1"/>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spcBef>
                <a:spcPts val="400"/>
              </a:spcBef>
              <a:spcAft>
                <a:spcPts val="0"/>
              </a:spcAft>
              <a:buClr>
                <a:schemeClr val="accent2"/>
              </a:buClr>
              <a:buSzPts val="2000"/>
              <a:buFont typeface="Arial"/>
              <a:buChar char="•"/>
              <a:defRPr b="0" i="0" sz="2000" u="none" cap="none" strike="noStrike">
                <a:solidFill>
                  <a:schemeClr val="dk2"/>
                </a:solidFill>
                <a:latin typeface="Arial"/>
                <a:ea typeface="Arial"/>
                <a:cs typeface="Arial"/>
                <a:sym typeface="Arial"/>
              </a:defRPr>
            </a:lvl3pPr>
            <a:lvl4pPr indent="-342900" lvl="3" marL="1828800" marR="0" rtl="0" algn="l">
              <a:spcBef>
                <a:spcPts val="36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9" name="Google Shape;49;p8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2"/>
              </a:buClr>
              <a:buSzPts val="2800"/>
              <a:buFont typeface="Noto Sans Symbols"/>
              <a:buChar char="❖"/>
              <a:defRPr sz="2800">
                <a:solidFill>
                  <a:schemeClr val="dk2"/>
                </a:solidFill>
                <a:latin typeface="Arial"/>
                <a:ea typeface="Arial"/>
                <a:cs typeface="Arial"/>
                <a:sym typeface="Arial"/>
              </a:defRPr>
            </a:lvl1pPr>
            <a:lvl2pPr indent="-381000" lvl="1" marL="914400" marR="0" rtl="0" algn="l">
              <a:spcBef>
                <a:spcPts val="480"/>
              </a:spcBef>
              <a:spcAft>
                <a:spcPts val="0"/>
              </a:spcAft>
              <a:buClr>
                <a:schemeClr val="accent1"/>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spcBef>
                <a:spcPts val="400"/>
              </a:spcBef>
              <a:spcAft>
                <a:spcPts val="0"/>
              </a:spcAft>
              <a:buClr>
                <a:schemeClr val="accent2"/>
              </a:buClr>
              <a:buSzPts val="2000"/>
              <a:buFont typeface="Arial"/>
              <a:buChar char="•"/>
              <a:defRPr b="0" i="0" sz="2000" u="none" cap="none" strike="noStrike">
                <a:solidFill>
                  <a:schemeClr val="dk2"/>
                </a:solidFill>
                <a:latin typeface="Arial"/>
                <a:ea typeface="Arial"/>
                <a:cs typeface="Arial"/>
                <a:sym typeface="Arial"/>
              </a:defRPr>
            </a:lvl3pPr>
            <a:lvl4pPr indent="-342900" lvl="3" marL="1828800" marR="0" rtl="0" algn="l">
              <a:spcBef>
                <a:spcPts val="36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0" name="Shape 50"/>
        <p:cNvGrpSpPr/>
        <p:nvPr/>
      </p:nvGrpSpPr>
      <p:grpSpPr>
        <a:xfrm>
          <a:off x="0" y="0"/>
          <a:ext cx="0" cy="0"/>
          <a:chOff x="0" y="0"/>
          <a:chExt cx="0" cy="0"/>
        </a:xfrm>
      </p:grpSpPr>
      <p:sp>
        <p:nvSpPr>
          <p:cNvPr id="51" name="Google Shape;51;p8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40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52" name="Google Shape;52;p8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chemeClr val="dk2"/>
              </a:buClr>
              <a:buSzPts val="2000"/>
              <a:buFont typeface="Noto Sans Symbols"/>
              <a:buNone/>
              <a:defRPr sz="2000">
                <a:solidFill>
                  <a:schemeClr val="dk2"/>
                </a:solidFill>
                <a:latin typeface="Arial"/>
                <a:ea typeface="Arial"/>
                <a:cs typeface="Arial"/>
                <a:sym typeface="Arial"/>
              </a:defRPr>
            </a:lvl1pPr>
            <a:lvl2pPr indent="-228600" lvl="1" marL="914400" marR="0" rtl="0" algn="l">
              <a:spcBef>
                <a:spcPts val="360"/>
              </a:spcBef>
              <a:spcAft>
                <a:spcPts val="0"/>
              </a:spcAft>
              <a:buClr>
                <a:schemeClr val="accent1"/>
              </a:buClr>
              <a:buSzPts val="1800"/>
              <a:buFont typeface="Noto Sans Symbols"/>
              <a:buNone/>
              <a:defRPr b="0" i="0" sz="1800" u="none" cap="none" strike="noStrike">
                <a:solidFill>
                  <a:schemeClr val="dk2"/>
                </a:solidFill>
                <a:latin typeface="Arial"/>
                <a:ea typeface="Arial"/>
                <a:cs typeface="Arial"/>
                <a:sym typeface="Arial"/>
              </a:defRPr>
            </a:lvl2pPr>
            <a:lvl3pPr indent="-228600" lvl="2" marL="1371600" marR="0" rtl="0" algn="l">
              <a:spcBef>
                <a:spcPts val="320"/>
              </a:spcBef>
              <a:spcAft>
                <a:spcPts val="0"/>
              </a:spcAft>
              <a:buClr>
                <a:schemeClr val="accent2"/>
              </a:buClr>
              <a:buSzPts val="1600"/>
              <a:buFont typeface="Arial"/>
              <a:buNone/>
              <a:defRPr b="0" i="0" sz="1600" u="none" cap="none" strike="noStrike">
                <a:solidFill>
                  <a:schemeClr val="dk2"/>
                </a:solidFill>
                <a:latin typeface="Arial"/>
                <a:ea typeface="Arial"/>
                <a:cs typeface="Arial"/>
                <a:sym typeface="Arial"/>
              </a:defRPr>
            </a:lvl3pPr>
            <a:lvl4pPr indent="-228600" lvl="3" marL="1828800" marR="0" rtl="0" algn="l">
              <a:spcBef>
                <a:spcPts val="28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4pPr>
            <a:lvl5pPr indent="-228600" lvl="4" marL="22860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228600" lvl="5" marL="27432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228600" lvl="6" marL="32004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228600" lvl="7" marL="36576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228600" lvl="8" marL="41148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6"/>
          <p:cNvSpPr txBox="1"/>
          <p:nvPr/>
        </p:nvSpPr>
        <p:spPr>
          <a:xfrm>
            <a:off x="0" y="6224587"/>
            <a:ext cx="9144000" cy="6477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 name="Google Shape;11;p76"/>
          <p:cNvSpPr/>
          <p:nvPr/>
        </p:nvSpPr>
        <p:spPr>
          <a:xfrm>
            <a:off x="0" y="0"/>
            <a:ext cx="9144000" cy="6858000"/>
          </a:xfrm>
          <a:prstGeom prst="ellipse">
            <a:avLst/>
          </a:prstGeom>
          <a:solidFill>
            <a:schemeClr val="lt1">
              <a:alpha val="43529"/>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 name="Google Shape;12;p76"/>
          <p:cNvSpPr txBox="1"/>
          <p:nvPr/>
        </p:nvSpPr>
        <p:spPr>
          <a:xfrm>
            <a:off x="609600" y="0"/>
            <a:ext cx="8534400" cy="71913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3" name="Google Shape;13;p76"/>
          <p:cNvPicPr preferRelativeResize="0"/>
          <p:nvPr/>
        </p:nvPicPr>
        <p:blipFill rotWithShape="1">
          <a:blip r:embed="rId1">
            <a:alphaModFix/>
          </a:blip>
          <a:srcRect b="0" l="0" r="0" t="0"/>
          <a:stretch/>
        </p:blipFill>
        <p:spPr>
          <a:xfrm>
            <a:off x="0" y="0"/>
            <a:ext cx="633412" cy="720725"/>
          </a:xfrm>
          <a:prstGeom prst="rect">
            <a:avLst/>
          </a:prstGeom>
          <a:noFill/>
          <a:ln>
            <a:noFill/>
          </a:ln>
        </p:spPr>
      </p:pic>
      <p:cxnSp>
        <p:nvCxnSpPr>
          <p:cNvPr id="14" name="Google Shape;14;p76"/>
          <p:cNvCxnSpPr/>
          <p:nvPr/>
        </p:nvCxnSpPr>
        <p:spPr>
          <a:xfrm>
            <a:off x="0" y="747712"/>
            <a:ext cx="9144000" cy="0"/>
          </a:xfrm>
          <a:prstGeom prst="straightConnector1">
            <a:avLst/>
          </a:prstGeom>
          <a:noFill/>
          <a:ln cap="flat" cmpd="sng" w="28575">
            <a:solidFill>
              <a:schemeClr val="dk1"/>
            </a:solidFill>
            <a:prstDash val="solid"/>
            <a:miter lim="800000"/>
            <a:headEnd len="med" w="med" type="none"/>
            <a:tailEnd len="med" w="med" type="none"/>
          </a:ln>
        </p:spPr>
      </p:cxnSp>
      <p:sp>
        <p:nvSpPr>
          <p:cNvPr id="15" name="Google Shape;15;p76"/>
          <p:cNvSpPr txBox="1"/>
          <p:nvPr/>
        </p:nvSpPr>
        <p:spPr>
          <a:xfrm>
            <a:off x="0" y="6254750"/>
            <a:ext cx="8229600" cy="984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www.ptit.edu.vn                         </a:t>
            </a:r>
            <a:r>
              <a:rPr b="0" i="0" lang="en-US" sz="1200" u="none">
                <a:solidFill>
                  <a:schemeClr val="dk1"/>
                </a:solidFill>
                <a:latin typeface="Arial"/>
                <a:ea typeface="Arial"/>
                <a:cs typeface="Arial"/>
                <a:sym typeface="Arial"/>
              </a:rPr>
              <a:t>GIẢNG VIÊN: THS NGUYỄN THỊ NGỌC VINH</a:t>
            </a:r>
            <a:endParaRPr/>
          </a:p>
          <a:p>
            <a:pPr indent="0" lvl="0" marL="0" marR="0" rtl="0" algn="l">
              <a:lnSpc>
                <a:spcPct val="100000"/>
              </a:lnSpc>
              <a:spcBef>
                <a:spcPts val="60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			BỘ MÔN: KHOA HỌC MÁY TÍNH – KHOA CNTT1</a:t>
            </a:r>
            <a:endParaRPr b="0" i="0" sz="20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16" name="Google Shape;16;p76"/>
          <p:cNvSpPr txBox="1"/>
          <p:nvPr/>
        </p:nvSpPr>
        <p:spPr>
          <a:xfrm>
            <a:off x="8153400" y="6391275"/>
            <a:ext cx="990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Trang </a:t>
            </a:r>
            <a:fld id="{00000000-1234-1234-1234-123412341234}" type="slidenum">
              <a:rPr b="0" i="0" lang="en-US" sz="1600" u="none">
                <a:solidFill>
                  <a:schemeClr val="dk1"/>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2"/>
          <p:cNvSpPr txBox="1"/>
          <p:nvPr>
            <p:ph idx="1" type="body"/>
          </p:nvPr>
        </p:nvSpPr>
        <p:spPr>
          <a:xfrm>
            <a:off x="457200" y="1493837"/>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42900" lvl="0" marL="342900" marR="0" rtl="0" algn="ctr">
              <a:lnSpc>
                <a:spcPct val="100000"/>
              </a:lnSpc>
              <a:spcBef>
                <a:spcPts val="960"/>
              </a:spcBef>
              <a:spcAft>
                <a:spcPts val="0"/>
              </a:spcAft>
              <a:buClr>
                <a:schemeClr val="dk2"/>
              </a:buClr>
              <a:buSzPts val="4800"/>
              <a:buFont typeface="Noto Sans Symbols"/>
              <a:buNone/>
            </a:pPr>
            <a:r>
              <a:rPr b="0" i="0" lang="en-US" sz="4800" u="none" cap="none" strike="noStrike">
                <a:solidFill>
                  <a:schemeClr val="dk2"/>
                </a:solidFill>
                <a:latin typeface="Times New Roman"/>
                <a:ea typeface="Times New Roman"/>
                <a:cs typeface="Times New Roman"/>
                <a:sym typeface="Times New Roman"/>
              </a:rPr>
              <a:t>CHƯƠNG 2: HỆ THỐNG FILE</a:t>
            </a:r>
            <a:endParaRPr/>
          </a:p>
        </p:txBody>
      </p:sp>
      <p:sp>
        <p:nvSpPr>
          <p:cNvPr id="59" name="Google Shape;59;p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3"/>
          <p:cNvSpPr txBox="1"/>
          <p:nvPr>
            <p:ph idx="1" type="body"/>
          </p:nvPr>
        </p:nvSpPr>
        <p:spPr>
          <a:xfrm>
            <a:off x="304800" y="1066800"/>
            <a:ext cx="8686800" cy="579120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2"/>
              </a:buClr>
              <a:buSzPts val="2400"/>
              <a:buFont typeface="Noto Sans Symbols"/>
              <a:buAutoNum type="arabicPeriod"/>
            </a:pPr>
            <a:r>
              <a:rPr b="0" i="0" lang="en-US" sz="2400" u="none" cap="none" strike="noStrike">
                <a:solidFill>
                  <a:schemeClr val="dk2"/>
                </a:solidFill>
                <a:latin typeface="Times New Roman"/>
                <a:ea typeface="Times New Roman"/>
                <a:cs typeface="Times New Roman"/>
                <a:sym typeface="Times New Roman"/>
              </a:rPr>
              <a:t>Các khái niệm</a:t>
            </a:r>
            <a:endParaRPr/>
          </a:p>
          <a:p>
            <a:pPr indent="-514350" lvl="0" marL="514350" marR="0" rtl="0" algn="l">
              <a:lnSpc>
                <a:spcPct val="100000"/>
              </a:lnSpc>
              <a:spcBef>
                <a:spcPts val="480"/>
              </a:spcBef>
              <a:spcAft>
                <a:spcPts val="0"/>
              </a:spcAft>
              <a:buClr>
                <a:schemeClr val="dk2"/>
              </a:buClr>
              <a:buSzPts val="2400"/>
              <a:buFont typeface="Noto Sans Symbols"/>
              <a:buAutoNum type="arabicPeriod"/>
            </a:pPr>
            <a:r>
              <a:rPr b="0" i="0" lang="en-US" sz="2400" u="none" cap="none" strike="noStrike">
                <a:solidFill>
                  <a:schemeClr val="dk2"/>
                </a:solidFill>
                <a:latin typeface="Times New Roman"/>
                <a:ea typeface="Times New Roman"/>
                <a:cs typeface="Times New Roman"/>
                <a:sym typeface="Times New Roman"/>
              </a:rPr>
              <a:t>Các phương pháp truy cập file</a:t>
            </a:r>
            <a:endParaRPr/>
          </a:p>
          <a:p>
            <a:pPr indent="-514350" lvl="0" marL="514350" marR="0" rtl="0" algn="l">
              <a:lnSpc>
                <a:spcPct val="100000"/>
              </a:lnSpc>
              <a:spcBef>
                <a:spcPts val="480"/>
              </a:spcBef>
              <a:spcAft>
                <a:spcPts val="0"/>
              </a:spcAft>
              <a:buClr>
                <a:schemeClr val="dk2"/>
              </a:buClr>
              <a:buSzPts val="2400"/>
              <a:buFont typeface="Noto Sans Symbols"/>
              <a:buAutoNum type="arabicPeriod"/>
            </a:pPr>
            <a:r>
              <a:rPr b="0" i="0" lang="en-US" sz="2400" u="none" cap="none" strike="noStrike">
                <a:solidFill>
                  <a:schemeClr val="dk2"/>
                </a:solidFill>
                <a:latin typeface="Times New Roman"/>
                <a:ea typeface="Times New Roman"/>
                <a:cs typeface="Times New Roman"/>
                <a:sym typeface="Times New Roman"/>
              </a:rPr>
              <a:t>Các thao tác với file</a:t>
            </a:r>
            <a:endParaRPr/>
          </a:p>
          <a:p>
            <a:pPr indent="-514350" lvl="0" marL="514350" marR="0" rtl="0" algn="l">
              <a:lnSpc>
                <a:spcPct val="100000"/>
              </a:lnSpc>
              <a:spcBef>
                <a:spcPts val="480"/>
              </a:spcBef>
              <a:spcAft>
                <a:spcPts val="0"/>
              </a:spcAft>
              <a:buClr>
                <a:schemeClr val="dk2"/>
              </a:buClr>
              <a:buSzPts val="2400"/>
              <a:buFont typeface="Noto Sans Symbols"/>
              <a:buAutoNum type="arabicPeriod"/>
            </a:pPr>
            <a:r>
              <a:rPr b="0" i="0" lang="en-US" sz="2400" u="none" cap="none" strike="noStrike">
                <a:solidFill>
                  <a:schemeClr val="dk2"/>
                </a:solidFill>
                <a:latin typeface="Times New Roman"/>
                <a:ea typeface="Times New Roman"/>
                <a:cs typeface="Times New Roman"/>
                <a:sym typeface="Times New Roman"/>
              </a:rPr>
              <a:t>Thư mục</a:t>
            </a:r>
            <a:endParaRPr/>
          </a:p>
          <a:p>
            <a:pPr indent="-514350" lvl="0" marL="514350" marR="0" rtl="0" algn="l">
              <a:lnSpc>
                <a:spcPct val="100000"/>
              </a:lnSpc>
              <a:spcBef>
                <a:spcPts val="480"/>
              </a:spcBef>
              <a:spcAft>
                <a:spcPts val="0"/>
              </a:spcAft>
              <a:buClr>
                <a:schemeClr val="dk2"/>
              </a:buClr>
              <a:buSzPts val="2400"/>
              <a:buFont typeface="Noto Sans Symbols"/>
              <a:buAutoNum type="arabicPeriod"/>
            </a:pPr>
            <a:r>
              <a:rPr b="0" i="0" lang="en-US" sz="2400" u="none" cap="none" strike="noStrike">
                <a:solidFill>
                  <a:schemeClr val="dk2"/>
                </a:solidFill>
                <a:latin typeface="Times New Roman"/>
                <a:ea typeface="Times New Roman"/>
                <a:cs typeface="Times New Roman"/>
                <a:sym typeface="Times New Roman"/>
              </a:rPr>
              <a:t>Cấp phát không gian cho file</a:t>
            </a:r>
            <a:endParaRPr/>
          </a:p>
          <a:p>
            <a:pPr indent="-514350" lvl="0" marL="514350" marR="0" rtl="0" algn="l">
              <a:lnSpc>
                <a:spcPct val="100000"/>
              </a:lnSpc>
              <a:spcBef>
                <a:spcPts val="480"/>
              </a:spcBef>
              <a:spcAft>
                <a:spcPts val="0"/>
              </a:spcAft>
              <a:buClr>
                <a:schemeClr val="dk2"/>
              </a:buClr>
              <a:buSzPts val="2400"/>
              <a:buFont typeface="Noto Sans Symbols"/>
              <a:buAutoNum type="arabicPeriod"/>
            </a:pPr>
            <a:r>
              <a:rPr b="0" i="0" lang="en-US" sz="2400" u="none" cap="none" strike="noStrike">
                <a:solidFill>
                  <a:schemeClr val="dk2"/>
                </a:solidFill>
                <a:latin typeface="Times New Roman"/>
                <a:ea typeface="Times New Roman"/>
                <a:cs typeface="Times New Roman"/>
                <a:sym typeface="Times New Roman"/>
              </a:rPr>
              <a:t>Quản lý không gian trống trên đĩa</a:t>
            </a:r>
            <a:endParaRPr/>
          </a:p>
          <a:p>
            <a:pPr indent="-514350" lvl="0" marL="514350" marR="0" rtl="0" algn="l">
              <a:lnSpc>
                <a:spcPct val="100000"/>
              </a:lnSpc>
              <a:spcBef>
                <a:spcPts val="480"/>
              </a:spcBef>
              <a:spcAft>
                <a:spcPts val="0"/>
              </a:spcAft>
              <a:buClr>
                <a:schemeClr val="dk2"/>
              </a:buClr>
              <a:buSzPts val="2400"/>
              <a:buFont typeface="Noto Sans Symbols"/>
              <a:buAutoNum type="arabicPeriod"/>
            </a:pPr>
            <a:r>
              <a:rPr b="0" i="0" lang="en-US" sz="2400" u="none" cap="none" strike="noStrike">
                <a:solidFill>
                  <a:schemeClr val="dk2"/>
                </a:solidFill>
                <a:latin typeface="Times New Roman"/>
                <a:ea typeface="Times New Roman"/>
                <a:cs typeface="Times New Roman"/>
                <a:sym typeface="Times New Roman"/>
              </a:rPr>
              <a:t>Độ tin cậy của hệ thống file</a:t>
            </a:r>
            <a:endParaRPr/>
          </a:p>
          <a:p>
            <a:pPr indent="-514350" lvl="0" marL="514350" marR="0" rtl="0" algn="l">
              <a:lnSpc>
                <a:spcPct val="100000"/>
              </a:lnSpc>
              <a:spcBef>
                <a:spcPts val="480"/>
              </a:spcBef>
              <a:spcAft>
                <a:spcPts val="0"/>
              </a:spcAft>
              <a:buClr>
                <a:schemeClr val="dk2"/>
              </a:buClr>
              <a:buSzPts val="2400"/>
              <a:buFont typeface="Noto Sans Symbols"/>
              <a:buAutoNum type="arabicPeriod"/>
            </a:pPr>
            <a:r>
              <a:rPr b="0" i="0" lang="en-US" sz="2400" u="none" cap="none" strike="noStrike">
                <a:solidFill>
                  <a:schemeClr val="dk2"/>
                </a:solidFill>
                <a:latin typeface="Times New Roman"/>
                <a:ea typeface="Times New Roman"/>
                <a:cs typeface="Times New Roman"/>
                <a:sym typeface="Times New Roman"/>
              </a:rPr>
              <a:t>Bảo mật cho hệ thống file</a:t>
            </a:r>
            <a:endParaRPr/>
          </a:p>
          <a:p>
            <a:pPr indent="-514350" lvl="0" marL="514350" marR="0" rtl="0" algn="l">
              <a:lnSpc>
                <a:spcPct val="100000"/>
              </a:lnSpc>
              <a:spcBef>
                <a:spcPts val="480"/>
              </a:spcBef>
              <a:spcAft>
                <a:spcPts val="0"/>
              </a:spcAft>
              <a:buClr>
                <a:schemeClr val="dk2"/>
              </a:buClr>
              <a:buSzPts val="2400"/>
              <a:buFont typeface="Noto Sans Symbols"/>
              <a:buAutoNum type="arabicPeriod"/>
            </a:pPr>
            <a:r>
              <a:rPr b="0" i="0" lang="en-US" sz="2400" u="none" cap="none" strike="noStrike">
                <a:solidFill>
                  <a:schemeClr val="dk2"/>
                </a:solidFill>
                <a:latin typeface="Times New Roman"/>
                <a:ea typeface="Times New Roman"/>
                <a:cs typeface="Times New Roman"/>
                <a:sym typeface="Times New Roman"/>
              </a:rPr>
              <a:t>Hệ thống file FAT</a:t>
            </a:r>
            <a:endParaRPr/>
          </a:p>
        </p:txBody>
      </p:sp>
      <p:sp>
        <p:nvSpPr>
          <p:cNvPr id="66" name="Google Shape;66;p3"/>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NỘI DUNG</a:t>
            </a:r>
            <a:endParaRPr/>
          </a:p>
        </p:txBody>
      </p:sp>
      <p:sp>
        <p:nvSpPr>
          <p:cNvPr id="67" name="Google Shape;67;p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0" st="0"/>
                                            </p:txEl>
                                          </p:spTgt>
                                        </p:tgtEl>
                                        <p:attrNameLst>
                                          <p:attrName>style.visibility</p:attrName>
                                        </p:attrNameLst>
                                      </p:cBhvr>
                                      <p:to>
                                        <p:strVal val="visible"/>
                                      </p:to>
                                    </p:set>
                                    <p:animEffect filter="fade" transition="in">
                                      <p:cBhvr>
                                        <p:cTn dur="500"/>
                                        <p:tgtEl>
                                          <p:spTgt spid="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1" st="1"/>
                                            </p:txEl>
                                          </p:spTgt>
                                        </p:tgtEl>
                                        <p:attrNameLst>
                                          <p:attrName>style.visibility</p:attrName>
                                        </p:attrNameLst>
                                      </p:cBhvr>
                                      <p:to>
                                        <p:strVal val="visible"/>
                                      </p:to>
                                    </p:set>
                                    <p:animEffect filter="fade" transition="in">
                                      <p:cBhvr>
                                        <p:cTn dur="500"/>
                                        <p:tgtEl>
                                          <p:spTgt spid="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2" st="2"/>
                                            </p:txEl>
                                          </p:spTgt>
                                        </p:tgtEl>
                                        <p:attrNameLst>
                                          <p:attrName>style.visibility</p:attrName>
                                        </p:attrNameLst>
                                      </p:cBhvr>
                                      <p:to>
                                        <p:strVal val="visible"/>
                                      </p:to>
                                    </p:set>
                                    <p:animEffect filter="fade" transition="in">
                                      <p:cBhvr>
                                        <p:cTn dur="500"/>
                                        <p:tgtEl>
                                          <p:spTgt spid="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3" st="3"/>
                                            </p:txEl>
                                          </p:spTgt>
                                        </p:tgtEl>
                                        <p:attrNameLst>
                                          <p:attrName>style.visibility</p:attrName>
                                        </p:attrNameLst>
                                      </p:cBhvr>
                                      <p:to>
                                        <p:strVal val="visible"/>
                                      </p:to>
                                    </p:set>
                                    <p:animEffect filter="fade" transition="in">
                                      <p:cBhvr>
                                        <p:cTn dur="500"/>
                                        <p:tgtEl>
                                          <p:spTgt spid="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4" st="4"/>
                                            </p:txEl>
                                          </p:spTgt>
                                        </p:tgtEl>
                                        <p:attrNameLst>
                                          <p:attrName>style.visibility</p:attrName>
                                        </p:attrNameLst>
                                      </p:cBhvr>
                                      <p:to>
                                        <p:strVal val="visible"/>
                                      </p:to>
                                    </p:set>
                                    <p:animEffect filter="fade" transition="in">
                                      <p:cBhvr>
                                        <p:cTn dur="500"/>
                                        <p:tgtEl>
                                          <p:spTgt spid="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5" st="5"/>
                                            </p:txEl>
                                          </p:spTgt>
                                        </p:tgtEl>
                                        <p:attrNameLst>
                                          <p:attrName>style.visibility</p:attrName>
                                        </p:attrNameLst>
                                      </p:cBhvr>
                                      <p:to>
                                        <p:strVal val="visible"/>
                                      </p:to>
                                    </p:set>
                                    <p:animEffect filter="fade" transition="in">
                                      <p:cBhvr>
                                        <p:cTn dur="500"/>
                                        <p:tgtEl>
                                          <p:spTgt spid="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6" st="6"/>
                                            </p:txEl>
                                          </p:spTgt>
                                        </p:tgtEl>
                                        <p:attrNameLst>
                                          <p:attrName>style.visibility</p:attrName>
                                        </p:attrNameLst>
                                      </p:cBhvr>
                                      <p:to>
                                        <p:strVal val="visible"/>
                                      </p:to>
                                    </p:set>
                                    <p:animEffect filter="fade" transition="in">
                                      <p:cBhvr>
                                        <p:cTn dur="500"/>
                                        <p:tgtEl>
                                          <p:spTgt spid="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7" st="7"/>
                                            </p:txEl>
                                          </p:spTgt>
                                        </p:tgtEl>
                                        <p:attrNameLst>
                                          <p:attrName>style.visibility</p:attrName>
                                        </p:attrNameLst>
                                      </p:cBhvr>
                                      <p:to>
                                        <p:strVal val="visible"/>
                                      </p:to>
                                    </p:set>
                                    <p:animEffect filter="fade" transition="in">
                                      <p:cBhvr>
                                        <p:cTn dur="500"/>
                                        <p:tgtEl>
                                          <p:spTgt spid="6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8" st="8"/>
                                            </p:txEl>
                                          </p:spTgt>
                                        </p:tgtEl>
                                        <p:attrNameLst>
                                          <p:attrName>style.visibility</p:attrName>
                                        </p:attrNameLst>
                                      </p:cBhvr>
                                      <p:to>
                                        <p:strVal val="visible"/>
                                      </p:to>
                                    </p:set>
                                    <p:animEffect filter="fade" transition="in">
                                      <p:cBhvr>
                                        <p:cTn dur="500"/>
                                        <p:tgtEl>
                                          <p:spTgt spid="65">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4"/>
          <p:cNvSpPr txBox="1"/>
          <p:nvPr>
            <p:ph idx="1" type="body"/>
          </p:nvPr>
        </p:nvSpPr>
        <p:spPr>
          <a:xfrm>
            <a:off x="152400" y="1219200"/>
            <a:ext cx="8991600" cy="5334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1" lang="en-US" sz="2800" u="none" cap="none" strike="noStrike">
                <a:solidFill>
                  <a:schemeClr val="dk2"/>
                </a:solidFill>
                <a:latin typeface="Times New Roman"/>
                <a:ea typeface="Times New Roman"/>
                <a:cs typeface="Times New Roman"/>
                <a:sym typeface="Times New Roman"/>
              </a:rPr>
              <a:t>File được định nghĩa như tập hợp các thông tin liên quan đến nhau được đặt tên và được lưu trữ trên bộ nhớ ngoài</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Thuộc tính của file: để quản lý file ngoài nội dung, HĐH còn định nghĩa các thuộc tính, tính chất. File có các thuộc tính như sau:</a:t>
            </a:r>
            <a:endParaRPr/>
          </a:p>
          <a:p>
            <a:pPr indent="-285750" lvl="1" marL="742950" marR="0" rtl="0" algn="l">
              <a:lnSpc>
                <a:spcPct val="100000"/>
              </a:lnSpc>
              <a:spcBef>
                <a:spcPts val="400"/>
              </a:spcBef>
              <a:spcAft>
                <a:spcPts val="0"/>
              </a:spcAft>
              <a:buClr>
                <a:schemeClr val="accent1"/>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Tên file</a:t>
            </a:r>
            <a:endParaRPr/>
          </a:p>
          <a:p>
            <a:pPr indent="-285750" lvl="1" marL="742950" marR="0" rtl="0" algn="l">
              <a:lnSpc>
                <a:spcPct val="100000"/>
              </a:lnSpc>
              <a:spcBef>
                <a:spcPts val="400"/>
              </a:spcBef>
              <a:spcAft>
                <a:spcPts val="0"/>
              </a:spcAft>
              <a:buClr>
                <a:schemeClr val="accent1"/>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Kiểu file</a:t>
            </a:r>
            <a:endParaRPr/>
          </a:p>
          <a:p>
            <a:pPr indent="-285750" lvl="1" marL="742950" marR="0" rtl="0" algn="l">
              <a:lnSpc>
                <a:spcPct val="100000"/>
              </a:lnSpc>
              <a:spcBef>
                <a:spcPts val="400"/>
              </a:spcBef>
              <a:spcAft>
                <a:spcPts val="0"/>
              </a:spcAft>
              <a:buClr>
                <a:schemeClr val="accent1"/>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Kích thước file</a:t>
            </a:r>
            <a:endParaRPr/>
          </a:p>
          <a:p>
            <a:pPr indent="-285750" lvl="1" marL="742950" marR="0" rtl="0" algn="l">
              <a:lnSpc>
                <a:spcPct val="100000"/>
              </a:lnSpc>
              <a:spcBef>
                <a:spcPts val="400"/>
              </a:spcBef>
              <a:spcAft>
                <a:spcPts val="0"/>
              </a:spcAft>
              <a:buClr>
                <a:schemeClr val="accent1"/>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Người tạo file, người sở hữu</a:t>
            </a:r>
            <a:endParaRPr/>
          </a:p>
          <a:p>
            <a:pPr indent="-285750" lvl="1" marL="742950" marR="0" rtl="0" algn="l">
              <a:lnSpc>
                <a:spcPct val="100000"/>
              </a:lnSpc>
              <a:spcBef>
                <a:spcPts val="400"/>
              </a:spcBef>
              <a:spcAft>
                <a:spcPts val="0"/>
              </a:spcAft>
              <a:buClr>
                <a:schemeClr val="accent1"/>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Quyền truy cập file</a:t>
            </a:r>
            <a:endParaRPr/>
          </a:p>
          <a:p>
            <a:pPr indent="-285750" lvl="1" marL="742950" marR="0" rtl="0" algn="l">
              <a:lnSpc>
                <a:spcPct val="100000"/>
              </a:lnSpc>
              <a:spcBef>
                <a:spcPts val="400"/>
              </a:spcBef>
              <a:spcAft>
                <a:spcPts val="0"/>
              </a:spcAft>
              <a:buClr>
                <a:schemeClr val="accent1"/>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Thời gian tạo file, sửa file, truy cập lần cuối</a:t>
            </a:r>
            <a:endParaRPr/>
          </a:p>
          <a:p>
            <a:pPr indent="-285750" lvl="1" marL="742950" marR="0" rtl="0" algn="l">
              <a:lnSpc>
                <a:spcPct val="100000"/>
              </a:lnSpc>
              <a:spcBef>
                <a:spcPts val="400"/>
              </a:spcBef>
              <a:spcAft>
                <a:spcPts val="0"/>
              </a:spcAft>
              <a:buClr>
                <a:schemeClr val="accent1"/>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Vị trí file</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4" name="Google Shape;74;p4"/>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a:t>
            </a:r>
            <a:endParaRPr/>
          </a:p>
        </p:txBody>
      </p:sp>
      <p:sp>
        <p:nvSpPr>
          <p:cNvPr id="75" name="Google Shape;75;p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6" name="Google Shape;76;p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0" st="0"/>
                                            </p:txEl>
                                          </p:spTgt>
                                        </p:tgtEl>
                                        <p:attrNameLst>
                                          <p:attrName>style.visibility</p:attrName>
                                        </p:attrNameLst>
                                      </p:cBhvr>
                                      <p:to>
                                        <p:strVal val="visible"/>
                                      </p:to>
                                    </p:set>
                                    <p:animEffect filter="fade" transition="in">
                                      <p:cBhvr>
                                        <p:cTn dur="500"/>
                                        <p:tgtEl>
                                          <p:spTgt spid="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1" st="1"/>
                                            </p:txEl>
                                          </p:spTgt>
                                        </p:tgtEl>
                                        <p:attrNameLst>
                                          <p:attrName>style.visibility</p:attrName>
                                        </p:attrNameLst>
                                      </p:cBhvr>
                                      <p:to>
                                        <p:strVal val="visible"/>
                                      </p:to>
                                    </p:set>
                                    <p:animEffect filter="fade" transition="in">
                                      <p:cBhvr>
                                        <p:cTn dur="500"/>
                                        <p:tgtEl>
                                          <p:spTgt spid="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2" st="2"/>
                                            </p:txEl>
                                          </p:spTgt>
                                        </p:tgtEl>
                                        <p:attrNameLst>
                                          <p:attrName>style.visibility</p:attrName>
                                        </p:attrNameLst>
                                      </p:cBhvr>
                                      <p:to>
                                        <p:strVal val="visible"/>
                                      </p:to>
                                    </p:set>
                                    <p:animEffect filter="fade" transition="in">
                                      <p:cBhvr>
                                        <p:cTn dur="500"/>
                                        <p:tgtEl>
                                          <p:spTgt spid="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3" st="3"/>
                                            </p:txEl>
                                          </p:spTgt>
                                        </p:tgtEl>
                                        <p:attrNameLst>
                                          <p:attrName>style.visibility</p:attrName>
                                        </p:attrNameLst>
                                      </p:cBhvr>
                                      <p:to>
                                        <p:strVal val="visible"/>
                                      </p:to>
                                    </p:set>
                                    <p:animEffect filter="fade" transition="in">
                                      <p:cBhvr>
                                        <p:cTn dur="500"/>
                                        <p:tgtEl>
                                          <p:spTgt spid="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4" st="4"/>
                                            </p:txEl>
                                          </p:spTgt>
                                        </p:tgtEl>
                                        <p:attrNameLst>
                                          <p:attrName>style.visibility</p:attrName>
                                        </p:attrNameLst>
                                      </p:cBhvr>
                                      <p:to>
                                        <p:strVal val="visible"/>
                                      </p:to>
                                    </p:set>
                                    <p:animEffect filter="fade" transition="in">
                                      <p:cBhvr>
                                        <p:cTn dur="500"/>
                                        <p:tgtEl>
                                          <p:spTgt spid="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5" st="5"/>
                                            </p:txEl>
                                          </p:spTgt>
                                        </p:tgtEl>
                                        <p:attrNameLst>
                                          <p:attrName>style.visibility</p:attrName>
                                        </p:attrNameLst>
                                      </p:cBhvr>
                                      <p:to>
                                        <p:strVal val="visible"/>
                                      </p:to>
                                    </p:set>
                                    <p:animEffect filter="fade" transition="in">
                                      <p:cBhvr>
                                        <p:cTn dur="500"/>
                                        <p:tgtEl>
                                          <p:spTgt spid="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6" st="6"/>
                                            </p:txEl>
                                          </p:spTgt>
                                        </p:tgtEl>
                                        <p:attrNameLst>
                                          <p:attrName>style.visibility</p:attrName>
                                        </p:attrNameLst>
                                      </p:cBhvr>
                                      <p:to>
                                        <p:strVal val="visible"/>
                                      </p:to>
                                    </p:set>
                                    <p:animEffect filter="fade" transition="in">
                                      <p:cBhvr>
                                        <p:cTn dur="500"/>
                                        <p:tgtEl>
                                          <p:spTgt spid="7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7" st="7"/>
                                            </p:txEl>
                                          </p:spTgt>
                                        </p:tgtEl>
                                        <p:attrNameLst>
                                          <p:attrName>style.visibility</p:attrName>
                                        </p:attrNameLst>
                                      </p:cBhvr>
                                      <p:to>
                                        <p:strVal val="visible"/>
                                      </p:to>
                                    </p:set>
                                    <p:animEffect filter="fade" transition="in">
                                      <p:cBhvr>
                                        <p:cTn dur="500"/>
                                        <p:tgtEl>
                                          <p:spTgt spid="7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8" st="8"/>
                                            </p:txEl>
                                          </p:spTgt>
                                        </p:tgtEl>
                                        <p:attrNameLst>
                                          <p:attrName>style.visibility</p:attrName>
                                        </p:attrNameLst>
                                      </p:cBhvr>
                                      <p:to>
                                        <p:strVal val="visible"/>
                                      </p:to>
                                    </p:set>
                                    <p:animEffect filter="fade" transition="in">
                                      <p:cBhvr>
                                        <p:cTn dur="500"/>
                                        <p:tgtEl>
                                          <p:spTgt spid="7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9" st="9"/>
                                            </p:txEl>
                                          </p:spTgt>
                                        </p:tgtEl>
                                        <p:attrNameLst>
                                          <p:attrName>style.visibility</p:attrName>
                                        </p:attrNameLst>
                                      </p:cBhvr>
                                      <p:to>
                                        <p:strVal val="visible"/>
                                      </p:to>
                                    </p:set>
                                    <p:animEffect filter="fade" transition="in">
                                      <p:cBhvr>
                                        <p:cTn dur="500"/>
                                        <p:tgtEl>
                                          <p:spTgt spid="7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10" st="10"/>
                                            </p:txEl>
                                          </p:spTgt>
                                        </p:tgtEl>
                                        <p:attrNameLst>
                                          <p:attrName>style.visibility</p:attrName>
                                        </p:attrNameLst>
                                      </p:cBhvr>
                                      <p:to>
                                        <p:strVal val="visible"/>
                                      </p:to>
                                    </p:set>
                                    <p:animEffect filter="fade" transition="in">
                                      <p:cBhvr>
                                        <p:cTn dur="500"/>
                                        <p:tgtEl>
                                          <p:spTgt spid="73">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5"/>
          <p:cNvSpPr txBox="1"/>
          <p:nvPr>
            <p:ph idx="1" type="body"/>
          </p:nvPr>
        </p:nvSpPr>
        <p:spPr>
          <a:xfrm>
            <a:off x="0" y="762000"/>
            <a:ext cx="9144000" cy="5334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Đặt tên cho file: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Cho phép xác định file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Là thông tin người dùng thường sử dụng nhất khi làm việc với file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Quy tắc đặt tên cho file của một số HDH:</a:t>
            </a:r>
            <a:endParaRPr/>
          </a:p>
        </p:txBody>
      </p:sp>
      <p:sp>
        <p:nvSpPr>
          <p:cNvPr id="83" name="Google Shape;83;p5"/>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a:t>
            </a:r>
            <a:endParaRPr/>
          </a:p>
        </p:txBody>
      </p:sp>
      <p:sp>
        <p:nvSpPr>
          <p:cNvPr id="84" name="Google Shape;84;p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85" name="Google Shape;85;p5"/>
          <p:cNvGraphicFramePr/>
          <p:nvPr/>
        </p:nvGraphicFramePr>
        <p:xfrm>
          <a:off x="417512" y="2805112"/>
          <a:ext cx="3000000" cy="3000000"/>
        </p:xfrm>
        <a:graphic>
          <a:graphicData uri="http://schemas.openxmlformats.org/drawingml/2006/table">
            <a:tbl>
              <a:tblPr>
                <a:noFill/>
                <a:tableStyleId>{77A3F56E-7CED-415A-B550-721C6FEC8064}</a:tableStyleId>
              </a:tblPr>
              <a:tblGrid>
                <a:gridCol w="1195375"/>
                <a:gridCol w="1517650"/>
                <a:gridCol w="1292225"/>
                <a:gridCol w="1422400"/>
                <a:gridCol w="2841625"/>
              </a:tblGrid>
              <a:tr h="631825">
                <a:tc>
                  <a:txBody>
                    <a:bodyPr/>
                    <a:lstStyle/>
                    <a:p>
                      <a:pPr indent="0" lvl="0" marL="0" marR="0" rtl="0" algn="ctr">
                        <a:lnSpc>
                          <a:spcPct val="115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Hệ điều hành</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Độ dài tối đa</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Phân biệt chữ hoa, chữ thường</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Cho phép sử dụng dấu cách</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Các ký tự cấm</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71500">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MS-DOS</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8 cho tên file</a:t>
                      </a:r>
                      <a:endParaRPr b="0" i="0" sz="1200" u="none" cap="none" strike="noStrike">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3 cho mở rộng</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không</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không</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Bắt đầu bằng chữ cái hoặc số</a:t>
                      </a:r>
                      <a:endParaRPr b="0" i="0" sz="1200" u="none" cap="none" strike="noStrike">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Không được chứa các ký tự / \ [ ] : ; | = , ^ ? @</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73100">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Windows NT</a:t>
                      </a:r>
                      <a:endParaRPr b="0" i="0" sz="1200" u="none" cap="none" strike="noStrike">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FAT</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255 ký tự cho cả tên file và đường dẫn</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không</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có</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Bắt đầu bằng chữ cái hoặc số</a:t>
                      </a:r>
                      <a:endParaRPr b="0" i="0" sz="1200" u="none" cap="none" strike="noStrike">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Không được chứa các ký tự / \ [] : ; | = , ^ ? @</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22275">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Windows NT</a:t>
                      </a:r>
                      <a:endParaRPr b="0" i="0" sz="1200" u="none" cap="none" strike="noStrike">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NTFS</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255 </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không</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có</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Không được chứa các ký tự / \ &lt; &gt; * | :</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73100">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Linux (EXT3)</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256</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Có</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có (nếu tên file chứa trong ngoặc kép)</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Không được chứa các ký tự ! @ # $ % ^ &amp; * ( ) [ ] { } ‘ “ / \ : ; &lt; &gt; `</a:t>
                      </a:r>
                      <a:endParaRPr/>
                    </a:p>
                  </a:txBody>
                  <a:tcPr marT="0" marB="0" marR="66275" marL="662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09550">
                <a:tc gridSpan="5">
                  <a:txBody>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txBody>
                  <a:tcPr marT="0" marB="0" marR="66275" marL="66275">
                    <a:lnT cap="flat" cmpd="sng" w="12700">
                      <a:solidFill>
                        <a:srgbClr val="000000"/>
                      </a:solidFill>
                      <a:prstDash val="solid"/>
                      <a:round/>
                      <a:headEnd len="sm" w="sm" type="none"/>
                      <a:tailEnd len="sm" w="sm" type="none"/>
                    </a:lnT>
                  </a:tcPr>
                </a:tc>
                <a:tc hMerge="1"/>
                <a:tc hMerge="1"/>
                <a:tc hMerge="1"/>
                <a:tc hMerge="1"/>
              </a:tr>
            </a:tbl>
          </a:graphicData>
        </a:graphic>
      </p:graphicFrame>
      <p:sp>
        <p:nvSpPr>
          <p:cNvPr id="86" name="Google Shape;86;p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0" st="0"/>
                                            </p:txEl>
                                          </p:spTgt>
                                        </p:tgtEl>
                                        <p:attrNameLst>
                                          <p:attrName>style.visibility</p:attrName>
                                        </p:attrNameLst>
                                      </p:cBhvr>
                                      <p:to>
                                        <p:strVal val="visible"/>
                                      </p:to>
                                    </p:set>
                                    <p:animEffect filter="fade" transition="in">
                                      <p:cBhvr>
                                        <p:cTn dur="500"/>
                                        <p:tgtEl>
                                          <p:spTgt spid="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1" st="1"/>
                                            </p:txEl>
                                          </p:spTgt>
                                        </p:tgtEl>
                                        <p:attrNameLst>
                                          <p:attrName>style.visibility</p:attrName>
                                        </p:attrNameLst>
                                      </p:cBhvr>
                                      <p:to>
                                        <p:strVal val="visible"/>
                                      </p:to>
                                    </p:set>
                                    <p:animEffect filter="fade" transition="in">
                                      <p:cBhvr>
                                        <p:cTn dur="500"/>
                                        <p:tgtEl>
                                          <p:spTgt spid="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2" st="2"/>
                                            </p:txEl>
                                          </p:spTgt>
                                        </p:tgtEl>
                                        <p:attrNameLst>
                                          <p:attrName>style.visibility</p:attrName>
                                        </p:attrNameLst>
                                      </p:cBhvr>
                                      <p:to>
                                        <p:strVal val="visible"/>
                                      </p:to>
                                    </p:set>
                                    <p:animEffect filter="fade" transition="in">
                                      <p:cBhvr>
                                        <p:cTn dur="500"/>
                                        <p:tgtEl>
                                          <p:spTgt spid="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3" st="3"/>
                                            </p:txEl>
                                          </p:spTgt>
                                        </p:tgtEl>
                                        <p:attrNameLst>
                                          <p:attrName>style.visibility</p:attrName>
                                        </p:attrNameLst>
                                      </p:cBhvr>
                                      <p:to>
                                        <p:strVal val="visible"/>
                                      </p:to>
                                    </p:set>
                                    <p:animEffect filter="fade" transition="in">
                                      <p:cBhvr>
                                        <p:cTn dur="500"/>
                                        <p:tgtEl>
                                          <p:spTgt spid="8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idx="1" type="body"/>
          </p:nvPr>
        </p:nvSpPr>
        <p:spPr>
          <a:xfrm>
            <a:off x="152400" y="304800"/>
            <a:ext cx="8991600" cy="5867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Cấu trúc file: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Các thông tin trong file có thể rất khác nhau</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Có những file chứa nhiều thông tin không có cấu trúc: file văn bản. File có cấu trúc như: file CSDL, file excel.</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=&gt; Cấu trúc của file cũng rất khác nhau và phụ thuộc vào thông tin chứa trong file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HDH có cần biết và hỗ trợ các kiểu cấu trúc file?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Hỗ trợ cấu trúc file ở mức HDH:</a:t>
            </a:r>
            <a:endParaRPr/>
          </a:p>
          <a:p>
            <a:pPr indent="-228600" lvl="2" marL="1143000" marR="0" rtl="0" algn="l">
              <a:lnSpc>
                <a:spcPct val="100000"/>
              </a:lnSpc>
              <a:spcBef>
                <a:spcPts val="440"/>
              </a:spcBef>
              <a:spcAft>
                <a:spcPts val="0"/>
              </a:spcAft>
              <a:buClr>
                <a:schemeClr val="accent2"/>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Ưu điểm:</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Các thao tác với file sẽ dễ dàng hơn đối với người lập trình ứng dụng</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HDH có thể kiểm soát được các thao tác với file</a:t>
            </a:r>
            <a:endParaRPr/>
          </a:p>
          <a:p>
            <a:pPr indent="-228600" lvl="2" marL="1143000" marR="0" rtl="0" algn="l">
              <a:lnSpc>
                <a:spcPct val="100000"/>
              </a:lnSpc>
              <a:spcBef>
                <a:spcPts val="440"/>
              </a:spcBef>
              <a:spcAft>
                <a:spcPts val="0"/>
              </a:spcAft>
              <a:buClr>
                <a:schemeClr val="accent2"/>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Nhược điểm:</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Tăng kích thước hệ thống</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Tính mềm dẻo của HDH bị giảm</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Thực tế các HDH chỉ coi file là tập hợp các byte không cấu trúc</a:t>
            </a:r>
            <a:endParaRPr/>
          </a:p>
        </p:txBody>
      </p:sp>
      <p:sp>
        <p:nvSpPr>
          <p:cNvPr id="93" name="Google Shape;93;p6"/>
          <p:cNvSpPr txBox="1"/>
          <p:nvPr>
            <p:ph type="title"/>
          </p:nvPr>
        </p:nvSpPr>
        <p:spPr>
          <a:xfrm>
            <a:off x="457200" y="152400"/>
            <a:ext cx="86868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a:t>
            </a:r>
            <a:endParaRPr/>
          </a:p>
        </p:txBody>
      </p:sp>
      <p:sp>
        <p:nvSpPr>
          <p:cNvPr id="94" name="Google Shape;94;p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5" name="Google Shape;95;p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animEffect filter="fade" transition="in">
                                      <p:cBhvr>
                                        <p:cTn dur="500"/>
                                        <p:tgtEl>
                                          <p:spTgt spid="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animEffect filter="fade" transition="in">
                                      <p:cBhvr>
                                        <p:cTn dur="500"/>
                                        <p:tgtEl>
                                          <p:spTgt spid="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2" st="2"/>
                                            </p:txEl>
                                          </p:spTgt>
                                        </p:tgtEl>
                                        <p:attrNameLst>
                                          <p:attrName>style.visibility</p:attrName>
                                        </p:attrNameLst>
                                      </p:cBhvr>
                                      <p:to>
                                        <p:strVal val="visible"/>
                                      </p:to>
                                    </p:set>
                                    <p:animEffect filter="fade" transition="in">
                                      <p:cBhvr>
                                        <p:cTn dur="500"/>
                                        <p:tgtEl>
                                          <p:spTgt spid="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3" st="3"/>
                                            </p:txEl>
                                          </p:spTgt>
                                        </p:tgtEl>
                                        <p:attrNameLst>
                                          <p:attrName>style.visibility</p:attrName>
                                        </p:attrNameLst>
                                      </p:cBhvr>
                                      <p:to>
                                        <p:strVal val="visible"/>
                                      </p:to>
                                    </p:set>
                                    <p:animEffect filter="fade" transition="in">
                                      <p:cBhvr>
                                        <p:cTn dur="500"/>
                                        <p:tgtEl>
                                          <p:spTgt spid="9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4" st="4"/>
                                            </p:txEl>
                                          </p:spTgt>
                                        </p:tgtEl>
                                        <p:attrNameLst>
                                          <p:attrName>style.visibility</p:attrName>
                                        </p:attrNameLst>
                                      </p:cBhvr>
                                      <p:to>
                                        <p:strVal val="visible"/>
                                      </p:to>
                                    </p:set>
                                    <p:animEffect filter="fade" transition="in">
                                      <p:cBhvr>
                                        <p:cTn dur="500"/>
                                        <p:tgtEl>
                                          <p:spTgt spid="9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5" st="5"/>
                                            </p:txEl>
                                          </p:spTgt>
                                        </p:tgtEl>
                                        <p:attrNameLst>
                                          <p:attrName>style.visibility</p:attrName>
                                        </p:attrNameLst>
                                      </p:cBhvr>
                                      <p:to>
                                        <p:strVal val="visible"/>
                                      </p:to>
                                    </p:set>
                                    <p:animEffect filter="fade" transition="in">
                                      <p:cBhvr>
                                        <p:cTn dur="500"/>
                                        <p:tgtEl>
                                          <p:spTgt spid="9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6" st="6"/>
                                            </p:txEl>
                                          </p:spTgt>
                                        </p:tgtEl>
                                        <p:attrNameLst>
                                          <p:attrName>style.visibility</p:attrName>
                                        </p:attrNameLst>
                                      </p:cBhvr>
                                      <p:to>
                                        <p:strVal val="visible"/>
                                      </p:to>
                                    </p:set>
                                    <p:animEffect filter="fade" transition="in">
                                      <p:cBhvr>
                                        <p:cTn dur="500"/>
                                        <p:tgtEl>
                                          <p:spTgt spid="9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7" st="7"/>
                                            </p:txEl>
                                          </p:spTgt>
                                        </p:tgtEl>
                                        <p:attrNameLst>
                                          <p:attrName>style.visibility</p:attrName>
                                        </p:attrNameLst>
                                      </p:cBhvr>
                                      <p:to>
                                        <p:strVal val="visible"/>
                                      </p:to>
                                    </p:set>
                                    <p:animEffect filter="fade" transition="in">
                                      <p:cBhvr>
                                        <p:cTn dur="500"/>
                                        <p:tgtEl>
                                          <p:spTgt spid="9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8" st="8"/>
                                            </p:txEl>
                                          </p:spTgt>
                                        </p:tgtEl>
                                        <p:attrNameLst>
                                          <p:attrName>style.visibility</p:attrName>
                                        </p:attrNameLst>
                                      </p:cBhvr>
                                      <p:to>
                                        <p:strVal val="visible"/>
                                      </p:to>
                                    </p:set>
                                    <p:animEffect filter="fade" transition="in">
                                      <p:cBhvr>
                                        <p:cTn dur="500"/>
                                        <p:tgtEl>
                                          <p:spTgt spid="9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9" st="9"/>
                                            </p:txEl>
                                          </p:spTgt>
                                        </p:tgtEl>
                                        <p:attrNameLst>
                                          <p:attrName>style.visibility</p:attrName>
                                        </p:attrNameLst>
                                      </p:cBhvr>
                                      <p:to>
                                        <p:strVal val="visible"/>
                                      </p:to>
                                    </p:set>
                                    <p:animEffect filter="fade" transition="in">
                                      <p:cBhvr>
                                        <p:cTn dur="500"/>
                                        <p:tgtEl>
                                          <p:spTgt spid="9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10" st="10"/>
                                            </p:txEl>
                                          </p:spTgt>
                                        </p:tgtEl>
                                        <p:attrNameLst>
                                          <p:attrName>style.visibility</p:attrName>
                                        </p:attrNameLst>
                                      </p:cBhvr>
                                      <p:to>
                                        <p:strVal val="visible"/>
                                      </p:to>
                                    </p:set>
                                    <p:animEffect filter="fade" transition="in">
                                      <p:cBhvr>
                                        <p:cTn dur="500"/>
                                        <p:tgtEl>
                                          <p:spTgt spid="9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11" st="11"/>
                                            </p:txEl>
                                          </p:spTgt>
                                        </p:tgtEl>
                                        <p:attrNameLst>
                                          <p:attrName>style.visibility</p:attrName>
                                        </p:attrNameLst>
                                      </p:cBhvr>
                                      <p:to>
                                        <p:strVal val="visible"/>
                                      </p:to>
                                    </p:set>
                                    <p:animEffect filter="fade" transition="in">
                                      <p:cBhvr>
                                        <p:cTn dur="500"/>
                                        <p:tgtEl>
                                          <p:spTgt spid="9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xEl>
                                              <p:pRg end="12" st="12"/>
                                            </p:txEl>
                                          </p:spTgt>
                                        </p:tgtEl>
                                        <p:attrNameLst>
                                          <p:attrName>style.visibility</p:attrName>
                                        </p:attrNameLst>
                                      </p:cBhvr>
                                      <p:to>
                                        <p:strVal val="visible"/>
                                      </p:to>
                                    </p:set>
                                    <p:animEffect filter="fade" transition="in">
                                      <p:cBhvr>
                                        <p:cTn dur="500"/>
                                        <p:tgtEl>
                                          <p:spTgt spid="92">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7"/>
          <p:cNvSpPr txBox="1"/>
          <p:nvPr>
            <p:ph idx="1" type="body"/>
          </p:nvPr>
        </p:nvSpPr>
        <p:spPr>
          <a:xfrm>
            <a:off x="152400" y="762000"/>
            <a:ext cx="8610600" cy="5334000"/>
          </a:xfrm>
          <a:prstGeom prst="rect">
            <a:avLst/>
          </a:prstGeom>
          <a:noFill/>
          <a:ln>
            <a:noFill/>
          </a:ln>
        </p:spPr>
        <p:txBody>
          <a:bodyPr anchorCtr="0" anchor="t" bIns="45700" lIns="91425" spcFirstLastPara="1" rIns="91425" wrap="square" tIns="45700">
            <a:noAutofit/>
          </a:bodyPr>
          <a:lstStyle/>
          <a:p>
            <a:pPr indent="-285750" lvl="1" marL="742950" marR="0" rtl="0" algn="just">
              <a:lnSpc>
                <a:spcPct val="100000"/>
              </a:lnSpc>
              <a:spcBef>
                <a:spcPts val="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Đa số HDH không hỗ trợ và quản lý kiểu cấu trúc file</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Cấu trúc file do chương trình ứng dụng và người dùng tự quản lý</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Trong HDH UNIX, DOS, WINDOWS, file được xem như tập hợp các byte.</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Các chương trình ứng dụng khác nhau sẽ tự tạo ra và quản lý cấu trúc file riêng mình.</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Ví dụ:  chương trình đồ họa lưu file dưới dạng mã nhị phân đã được giải nén, chương trình hệ thống quản lý dữ liệu sẽ tạo ra file bao gồm các bản ghi. </a:t>
            </a:r>
            <a:endParaRPr/>
          </a:p>
        </p:txBody>
      </p:sp>
      <p:sp>
        <p:nvSpPr>
          <p:cNvPr id="102" name="Google Shape;102;p7"/>
          <p:cNvSpPr txBox="1"/>
          <p:nvPr>
            <p:ph type="title"/>
          </p:nvPr>
        </p:nvSpPr>
        <p:spPr>
          <a:xfrm>
            <a:off x="457200" y="152400"/>
            <a:ext cx="86868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CÁC KHÁI NIỆM</a:t>
            </a:r>
            <a:endParaRPr/>
          </a:p>
        </p:txBody>
      </p:sp>
      <p:sp>
        <p:nvSpPr>
          <p:cNvPr id="103" name="Google Shape;103;p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4" name="Google Shape;104;p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animEffect filter="fade" transition="in">
                                      <p:cBhvr>
                                        <p:cTn dur="500"/>
                                        <p:tgtEl>
                                          <p:spTgt spid="1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1" st="1"/>
                                            </p:txEl>
                                          </p:spTgt>
                                        </p:tgtEl>
                                        <p:attrNameLst>
                                          <p:attrName>style.visibility</p:attrName>
                                        </p:attrNameLst>
                                      </p:cBhvr>
                                      <p:to>
                                        <p:strVal val="visible"/>
                                      </p:to>
                                    </p:set>
                                    <p:animEffect filter="fade" transition="in">
                                      <p:cBhvr>
                                        <p:cTn dur="500"/>
                                        <p:tgtEl>
                                          <p:spTgt spid="1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2" st="2"/>
                                            </p:txEl>
                                          </p:spTgt>
                                        </p:tgtEl>
                                        <p:attrNameLst>
                                          <p:attrName>style.visibility</p:attrName>
                                        </p:attrNameLst>
                                      </p:cBhvr>
                                      <p:to>
                                        <p:strVal val="visible"/>
                                      </p:to>
                                    </p:set>
                                    <p:animEffect filter="fade" transition="in">
                                      <p:cBhvr>
                                        <p:cTn dur="500"/>
                                        <p:tgtEl>
                                          <p:spTgt spid="1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3" st="3"/>
                                            </p:txEl>
                                          </p:spTgt>
                                        </p:tgtEl>
                                        <p:attrNameLst>
                                          <p:attrName>style.visibility</p:attrName>
                                        </p:attrNameLst>
                                      </p:cBhvr>
                                      <p:to>
                                        <p:strVal val="visible"/>
                                      </p:to>
                                    </p:set>
                                    <p:animEffect filter="fade" transition="in">
                                      <p:cBhvr>
                                        <p:cTn dur="500"/>
                                        <p:tgtEl>
                                          <p:spTgt spid="10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4" st="4"/>
                                            </p:txEl>
                                          </p:spTgt>
                                        </p:tgtEl>
                                        <p:attrNameLst>
                                          <p:attrName>style.visibility</p:attrName>
                                        </p:attrNameLst>
                                      </p:cBhvr>
                                      <p:to>
                                        <p:strVal val="visible"/>
                                      </p:to>
                                    </p:set>
                                    <p:animEffect filter="fade" transition="in">
                                      <p:cBhvr>
                                        <p:cTn dur="500"/>
                                        <p:tgtEl>
                                          <p:spTgt spid="10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8"/>
          <p:cNvSpPr txBox="1"/>
          <p:nvPr>
            <p:ph idx="1" type="body"/>
          </p:nvPr>
        </p:nvSpPr>
        <p:spPr>
          <a:xfrm>
            <a:off x="0" y="914400"/>
            <a:ext cx="9220200" cy="5105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Để đọc/ghi file hệ điều hành phải quy định cách thức truy cập tới nội dung file. Mỗi HDH có thể hỗ trợ một hoặc nhiều cách truy cập khác nhau.</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Truy cập tuần tự:</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Thông tin được đọc, ghi theo từng byte/ bản ghi lần lượt từ đầu file</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Sử dụng 1 con trỏ để định vị vị trí hiện thời trong file</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Sau mỗi thao tác đọc hoặc ghi con trỏ sẽ được tăng lên 1 để trỏ tới vị trí tiếp theo </a:t>
            </a:r>
            <a:endParaRPr/>
          </a:p>
          <a:p>
            <a:pPr indent="-285750" lvl="1" marL="742950" marR="0" rtl="0" algn="l">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Kiểu truy cập này rất phù hợp với các file được lưu trữ trên băng từ. Thông tin được ghi hoặc đọc lần lượt theo chiều quay của băng. </a:t>
            </a:r>
            <a:br>
              <a:rPr b="0" i="0" lang="en-US" sz="2600" u="none" cap="none" strike="noStrike">
                <a:solidFill>
                  <a:schemeClr val="dk2"/>
                </a:solidFill>
                <a:latin typeface="Times New Roman"/>
                <a:ea typeface="Times New Roman"/>
                <a:cs typeface="Times New Roman"/>
                <a:sym typeface="Times New Roman"/>
              </a:rPr>
            </a:br>
            <a:endParaRPr/>
          </a:p>
        </p:txBody>
      </p:sp>
      <p:sp>
        <p:nvSpPr>
          <p:cNvPr id="111" name="Google Shape;111;p8"/>
          <p:cNvSpPr txBox="1"/>
          <p:nvPr>
            <p:ph type="title"/>
          </p:nvPr>
        </p:nvSpPr>
        <p:spPr>
          <a:xfrm>
            <a:off x="457200" y="0"/>
            <a:ext cx="86868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CÁC PHƯƠNG PHÁP TRUY CẬP FILE</a:t>
            </a:r>
            <a:endParaRPr/>
          </a:p>
        </p:txBody>
      </p:sp>
      <p:sp>
        <p:nvSpPr>
          <p:cNvPr id="112" name="Google Shape;112;p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3" name="Google Shape;113;p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Effect filter="fade" transition="in">
                                      <p:cBhvr>
                                        <p:cTn dur="500"/>
                                        <p:tgtEl>
                                          <p:spTgt spid="1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animEffect filter="fade" transition="in">
                                      <p:cBhvr>
                                        <p:cTn dur="500"/>
                                        <p:tgtEl>
                                          <p:spTgt spid="1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animEffect filter="fade" transition="in">
                                      <p:cBhvr>
                                        <p:cTn dur="500"/>
                                        <p:tgtEl>
                                          <p:spTgt spid="1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animEffect filter="fade" transition="in">
                                      <p:cBhvr>
                                        <p:cTn dur="500"/>
                                        <p:tgtEl>
                                          <p:spTgt spid="11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animEffect filter="fade" transition="in">
                                      <p:cBhvr>
                                        <p:cTn dur="500"/>
                                        <p:tgtEl>
                                          <p:spTgt spid="11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5" st="5"/>
                                            </p:txEl>
                                          </p:spTgt>
                                        </p:tgtEl>
                                        <p:attrNameLst>
                                          <p:attrName>style.visibility</p:attrName>
                                        </p:attrNameLst>
                                      </p:cBhvr>
                                      <p:to>
                                        <p:strVal val="visible"/>
                                      </p:to>
                                    </p:set>
                                    <p:animEffect filter="fade" transition="in">
                                      <p:cBhvr>
                                        <p:cTn dur="500"/>
                                        <p:tgtEl>
                                          <p:spTgt spid="11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9"/>
          <p:cNvSpPr txBox="1"/>
          <p:nvPr>
            <p:ph idx="1" type="body"/>
          </p:nvPr>
        </p:nvSpPr>
        <p:spPr>
          <a:xfrm>
            <a:off x="0" y="685800"/>
            <a:ext cx="9220200" cy="5334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Truy cập trực tiếp:</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File được xem như các khối/ bản ghi được đánh số</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Các khối có thể truy cập theo thứ tự bất kỳ</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Chẳng hạn ta có thể đọc khối 50 sau đó đọc khổi 13 rồi khối 101.</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Việc truy cập trực tiếp dựa trên đặc điểm của đĩa cho phép truy cập các khối bất kỳ</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File được chứa trong các khối khác nhau của đĩa do vậy cũng cho phép truy cập không tuần theo thứ tự</a:t>
            </a:r>
            <a:endParaRPr/>
          </a:p>
        </p:txBody>
      </p:sp>
      <p:sp>
        <p:nvSpPr>
          <p:cNvPr id="120" name="Google Shape;120;p9"/>
          <p:cNvSpPr txBox="1"/>
          <p:nvPr>
            <p:ph type="title"/>
          </p:nvPr>
        </p:nvSpPr>
        <p:spPr>
          <a:xfrm>
            <a:off x="457200" y="0"/>
            <a:ext cx="86868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CÁC PHƯƠNG PHÁP TRUY CẬP FILE</a:t>
            </a:r>
            <a:endParaRPr/>
          </a:p>
        </p:txBody>
      </p:sp>
      <p:sp>
        <p:nvSpPr>
          <p:cNvPr id="121" name="Google Shape;121;p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2" name="Google Shape;122;p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500"/>
                                        <p:tgtEl>
                                          <p:spTgt spid="1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Effect filter="fade" transition="in">
                                      <p:cBhvr>
                                        <p:cTn dur="500"/>
                                        <p:tgtEl>
                                          <p:spTgt spid="1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Effect filter="fade" transition="in">
                                      <p:cBhvr>
                                        <p:cTn dur="500"/>
                                        <p:tgtEl>
                                          <p:spTgt spid="1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Effect filter="fade" transition="in">
                                      <p:cBhvr>
                                        <p:cTn dur="500"/>
                                        <p:tgtEl>
                                          <p:spTgt spid="1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4" st="4"/>
                                            </p:txEl>
                                          </p:spTgt>
                                        </p:tgtEl>
                                        <p:attrNameLst>
                                          <p:attrName>style.visibility</p:attrName>
                                        </p:attrNameLst>
                                      </p:cBhvr>
                                      <p:to>
                                        <p:strVal val="visible"/>
                                      </p:to>
                                    </p:set>
                                    <p:animEffect filter="fade" transition="in">
                                      <p:cBhvr>
                                        <p:cTn dur="500"/>
                                        <p:tgtEl>
                                          <p:spTgt spid="1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5" st="5"/>
                                            </p:txEl>
                                          </p:spTgt>
                                        </p:tgtEl>
                                        <p:attrNameLst>
                                          <p:attrName>style.visibility</p:attrName>
                                        </p:attrNameLst>
                                      </p:cBhvr>
                                      <p:to>
                                        <p:strVal val="visible"/>
                                      </p:to>
                                    </p:set>
                                    <p:animEffect filter="fade" transition="in">
                                      <p:cBhvr>
                                        <p:cTn dur="500"/>
                                        <p:tgtEl>
                                          <p:spTgt spid="119">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0"/>
          <p:cNvSpPr txBox="1"/>
          <p:nvPr>
            <p:ph idx="1" type="body"/>
          </p:nvPr>
        </p:nvSpPr>
        <p:spPr>
          <a:xfrm>
            <a:off x="0" y="762000"/>
            <a:ext cx="9144000" cy="5334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Truy cập dựa trên chỉ số:</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Cho phép truy cập tới bản ghi trong file, không theo số thứ tự hoặc vị trí của bản ghi trong file mà theo khóa ứng với bản ghi đó.</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File chứa 1 chỉ số riêng: gồm các khóa và con trỏ chỉ tới các bản ghi trong file</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Truy cập: tìm khóa tương ứng trong chỉ mục, sau đó theo con trỏ xác định bản ghi và truy cập trực tiếp tới nó</a:t>
            </a:r>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9" name="Google Shape;129;p10"/>
          <p:cNvSpPr txBox="1"/>
          <p:nvPr>
            <p:ph type="title"/>
          </p:nvPr>
        </p:nvSpPr>
        <p:spPr>
          <a:xfrm>
            <a:off x="457200" y="0"/>
            <a:ext cx="86868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CÁC PHƯƠNG PHÁP TRUY CẬP FILE</a:t>
            </a:r>
            <a:endParaRPr/>
          </a:p>
        </p:txBody>
      </p:sp>
      <p:sp>
        <p:nvSpPr>
          <p:cNvPr id="130" name="Google Shape;130;p1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31" name="Google Shape;131;p10"/>
          <p:cNvPicPr preferRelativeResize="0"/>
          <p:nvPr/>
        </p:nvPicPr>
        <p:blipFill rotWithShape="1">
          <a:blip r:embed="rId3">
            <a:alphaModFix/>
          </a:blip>
          <a:srcRect b="10343" l="0" r="0" t="0"/>
          <a:stretch/>
        </p:blipFill>
        <p:spPr>
          <a:xfrm>
            <a:off x="2286000" y="3733800"/>
            <a:ext cx="4662487" cy="1981200"/>
          </a:xfrm>
          <a:prstGeom prst="rect">
            <a:avLst/>
          </a:prstGeom>
          <a:noFill/>
          <a:ln>
            <a:noFill/>
          </a:ln>
        </p:spPr>
      </p:pic>
      <p:sp>
        <p:nvSpPr>
          <p:cNvPr id="132" name="Google Shape;132;p1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0" st="0"/>
                                            </p:txEl>
                                          </p:spTgt>
                                        </p:tgtEl>
                                        <p:attrNameLst>
                                          <p:attrName>style.visibility</p:attrName>
                                        </p:attrNameLst>
                                      </p:cBhvr>
                                      <p:to>
                                        <p:strVal val="visible"/>
                                      </p:to>
                                    </p:set>
                                    <p:animEffect filter="fade" transition="in">
                                      <p:cBhvr>
                                        <p:cTn dur="500"/>
                                        <p:tgtEl>
                                          <p:spTgt spid="1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1" st="1"/>
                                            </p:txEl>
                                          </p:spTgt>
                                        </p:tgtEl>
                                        <p:attrNameLst>
                                          <p:attrName>style.visibility</p:attrName>
                                        </p:attrNameLst>
                                      </p:cBhvr>
                                      <p:to>
                                        <p:strVal val="visible"/>
                                      </p:to>
                                    </p:set>
                                    <p:animEffect filter="fade" transition="in">
                                      <p:cBhvr>
                                        <p:cTn dur="500"/>
                                        <p:tgtEl>
                                          <p:spTgt spid="1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2" st="2"/>
                                            </p:txEl>
                                          </p:spTgt>
                                        </p:tgtEl>
                                        <p:attrNameLst>
                                          <p:attrName>style.visibility</p:attrName>
                                        </p:attrNameLst>
                                      </p:cBhvr>
                                      <p:to>
                                        <p:strVal val="visible"/>
                                      </p:to>
                                    </p:set>
                                    <p:animEffect filter="fade" transition="in">
                                      <p:cBhvr>
                                        <p:cTn dur="500"/>
                                        <p:tgtEl>
                                          <p:spTgt spid="1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3" st="3"/>
                                            </p:txEl>
                                          </p:spTgt>
                                        </p:tgtEl>
                                        <p:attrNameLst>
                                          <p:attrName>style.visibility</p:attrName>
                                        </p:attrNameLst>
                                      </p:cBhvr>
                                      <p:to>
                                        <p:strVal val="visible"/>
                                      </p:to>
                                    </p:set>
                                    <p:animEffect filter="fade" transition="in">
                                      <p:cBhvr>
                                        <p:cTn dur="500"/>
                                        <p:tgtEl>
                                          <p:spTgt spid="12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xEl>
                                              <p:pRg end="4" st="4"/>
                                            </p:txEl>
                                          </p:spTgt>
                                        </p:tgtEl>
                                        <p:attrNameLst>
                                          <p:attrName>style.visibility</p:attrName>
                                        </p:attrNameLst>
                                      </p:cBhvr>
                                      <p:to>
                                        <p:strVal val="visible"/>
                                      </p:to>
                                    </p:set>
                                    <p:animEffect filter="fade" transition="in">
                                      <p:cBhvr>
                                        <p:cTn dur="500"/>
                                        <p:tgtEl>
                                          <p:spTgt spid="12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body"/>
          </p:nvPr>
        </p:nvSpPr>
        <p:spPr>
          <a:xfrm>
            <a:off x="152400" y="685800"/>
            <a:ext cx="8991600" cy="579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Tạo file: </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Tạo file trống chưa có data; được dành 1 chỗ trong thư mục kèm theo một số thuộc tính như thời gian tạo file, tên file, người tạo file,...</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Xóa file:</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Giải phóng không gian mà dữ liệu của file chiếm trên đĩa</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Giải phóng chỗ của file trong thư mục</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Việc giải phóng không gian có thể đơn thuần là đánh dấu không gian như không gian tự do.</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Mở file:</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Thực hiện trước khi ghi và đọc file</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Đọc các thuộc tính của file trên đĩa vào bộ nhớ để tăng tốc độ cho thao tác đọc ghi tiếp theo.</a:t>
            </a:r>
            <a:endParaRPr/>
          </a:p>
        </p:txBody>
      </p:sp>
      <p:sp>
        <p:nvSpPr>
          <p:cNvPr id="139" name="Google Shape;139;p11"/>
          <p:cNvSpPr txBox="1"/>
          <p:nvPr>
            <p:ph type="title"/>
          </p:nvPr>
        </p:nvSpPr>
        <p:spPr>
          <a:xfrm>
            <a:off x="457200" y="0"/>
            <a:ext cx="86868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CÁC THAO TÁC VỚI FILE</a:t>
            </a:r>
            <a:endParaRPr/>
          </a:p>
        </p:txBody>
      </p:sp>
      <p:sp>
        <p:nvSpPr>
          <p:cNvPr id="140" name="Google Shape;140;p1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1" name="Google Shape;141;p1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2"/>
          <p:cNvSpPr txBox="1"/>
          <p:nvPr>
            <p:ph idx="1" type="body"/>
          </p:nvPr>
        </p:nvSpPr>
        <p:spPr>
          <a:xfrm>
            <a:off x="152400" y="685800"/>
            <a:ext cx="8991600" cy="579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Đóng file:</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Xóa các thông tin về file ra khỏi bảng trong bộ nhớ để nhường chỗ cho các file sắp mở.</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Rất nhiều hệ điều hành hạn chế số lượng file được mởcùng một lúc nên việc đóng các file đã truy cập xong là rất quan trọng.</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Ghi vào file</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Đọc file</a:t>
            </a:r>
            <a:endParaRPr/>
          </a:p>
          <a:p>
            <a:pPr indent="-2857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47" name="Google Shape;147;p12"/>
          <p:cNvSpPr txBox="1"/>
          <p:nvPr>
            <p:ph type="title"/>
          </p:nvPr>
        </p:nvSpPr>
        <p:spPr>
          <a:xfrm>
            <a:off x="457200" y="0"/>
            <a:ext cx="86868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III. CÁC THAO TÁC VỚI FILE</a:t>
            </a:r>
            <a:endParaRPr/>
          </a:p>
        </p:txBody>
      </p:sp>
      <p:sp>
        <p:nvSpPr>
          <p:cNvPr id="148" name="Google Shape;148;p1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9" name="Google Shape;149;p1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animEffect filter="fade" transition="in">
                                      <p:cBhvr>
                                        <p:cTn dur="500"/>
                                        <p:tgtEl>
                                          <p:spTgt spid="1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animEffect filter="fade" transition="in">
                                      <p:cBhvr>
                                        <p:cTn dur="500"/>
                                        <p:tgtEl>
                                          <p:spTgt spid="1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animEffect filter="fade" transition="in">
                                      <p:cBhvr>
                                        <p:cTn dur="500"/>
                                        <p:tgtEl>
                                          <p:spTgt spid="1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3" st="3"/>
                                            </p:txEl>
                                          </p:spTgt>
                                        </p:tgtEl>
                                        <p:attrNameLst>
                                          <p:attrName>style.visibility</p:attrName>
                                        </p:attrNameLst>
                                      </p:cBhvr>
                                      <p:to>
                                        <p:strVal val="visible"/>
                                      </p:to>
                                    </p:set>
                                    <p:animEffect filter="fade" transition="in">
                                      <p:cBhvr>
                                        <p:cTn dur="500"/>
                                        <p:tgtEl>
                                          <p:spTgt spid="1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4" st="4"/>
                                            </p:txEl>
                                          </p:spTgt>
                                        </p:tgtEl>
                                        <p:attrNameLst>
                                          <p:attrName>style.visibility</p:attrName>
                                        </p:attrNameLst>
                                      </p:cBhvr>
                                      <p:to>
                                        <p:strVal val="visible"/>
                                      </p:to>
                                    </p:set>
                                    <p:animEffect filter="fade" transition="in">
                                      <p:cBhvr>
                                        <p:cTn dur="500"/>
                                        <p:tgtEl>
                                          <p:spTgt spid="1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5" st="5"/>
                                            </p:txEl>
                                          </p:spTgt>
                                        </p:tgtEl>
                                        <p:attrNameLst>
                                          <p:attrName>style.visibility</p:attrName>
                                        </p:attrNameLst>
                                      </p:cBhvr>
                                      <p:to>
                                        <p:strVal val="visible"/>
                                      </p:to>
                                    </p:set>
                                    <p:animEffect filter="fade" transition="in">
                                      <p:cBhvr>
                                        <p:cTn dur="500"/>
                                        <p:tgtEl>
                                          <p:spTgt spid="14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6" st="6"/>
                                            </p:txEl>
                                          </p:spTgt>
                                        </p:tgtEl>
                                        <p:attrNameLst>
                                          <p:attrName>style.visibility</p:attrName>
                                        </p:attrNameLst>
                                      </p:cBhvr>
                                      <p:to>
                                        <p:strVal val="visible"/>
                                      </p:to>
                                    </p:set>
                                    <p:animEffect filter="fade" transition="in">
                                      <p:cBhvr>
                                        <p:cTn dur="500"/>
                                        <p:tgtEl>
                                          <p:spTgt spid="14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3"/>
          <p:cNvSpPr txBox="1"/>
          <p:nvPr>
            <p:ph idx="1" type="body"/>
          </p:nvPr>
        </p:nvSpPr>
        <p:spPr>
          <a:xfrm>
            <a:off x="0" y="762000"/>
            <a:ext cx="8991600" cy="579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Số lượng file lưu trữ trên đĩa rất lớn =&gt; phải tổ chức để dễ dàng quản lý, truy cập files</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Không gian trên đĩa được chia thành các phần (partition/ volume) gọi là đĩa logic</a:t>
            </a:r>
            <a:endParaRPr/>
          </a:p>
          <a:p>
            <a:pPr indent="-285750" lvl="1" marL="742950" marR="0" rtl="0" algn="just">
              <a:lnSpc>
                <a:spcPct val="100000"/>
              </a:lnSpc>
              <a:spcBef>
                <a:spcPts val="380"/>
              </a:spcBef>
              <a:spcAft>
                <a:spcPts val="0"/>
              </a:spcAft>
              <a:buClr>
                <a:schemeClr val="accent1"/>
              </a:buClr>
              <a:buSzPts val="1900"/>
              <a:buFont typeface="Noto Sans Symbols"/>
              <a:buChar char="▪"/>
            </a:pPr>
            <a:r>
              <a:rPr b="0" i="0" lang="en-US" sz="1900" u="none" cap="none" strike="noStrike">
                <a:solidFill>
                  <a:schemeClr val="dk2"/>
                </a:solidFill>
                <a:latin typeface="Times New Roman"/>
                <a:ea typeface="Times New Roman"/>
                <a:cs typeface="Times New Roman"/>
                <a:sym typeface="Times New Roman"/>
              </a:rPr>
              <a:t>Ví dụ: trên máy tính PC có 1 ổ cứng và có thể chia thành các ổ C,D,E =&gt; đĩa logic</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Để quản lý file trên các đĩa logic, thông tin về file được lưu trong thư mục của đĩa</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Thư mục = ∑ các khoản mục ~ files</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Khoản mục chứa các thông tin về file: tên, kích thước, vị trí, kiểu file,… hoặc con trỏ tới nơi lưu trữ thông tin này</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Coi thư mục như 1 bảng, mỗi dòng là khoản mục ứng với 1 file</a:t>
            </a:r>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56" name="Google Shape;156;p13"/>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THƯ MỤC</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a:t>
            </a:r>
            <a:endParaRPr/>
          </a:p>
        </p:txBody>
      </p:sp>
      <p:sp>
        <p:nvSpPr>
          <p:cNvPr id="157" name="Google Shape;157;p1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8" name="Google Shape;158;p1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animEffect filter="fade" transition="in">
                                      <p:cBhvr>
                                        <p:cTn dur="500"/>
                                        <p:tgtEl>
                                          <p:spTgt spid="1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animEffect filter="fade" transition="in">
                                      <p:cBhvr>
                                        <p:cTn dur="500"/>
                                        <p:tgtEl>
                                          <p:spTgt spid="1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animEffect filter="fade" transition="in">
                                      <p:cBhvr>
                                        <p:cTn dur="500"/>
                                        <p:tgtEl>
                                          <p:spTgt spid="1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animEffect filter="fade" transition="in">
                                      <p:cBhvr>
                                        <p:cTn dur="500"/>
                                        <p:tgtEl>
                                          <p:spTgt spid="15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animEffect filter="fade" transition="in">
                                      <p:cBhvr>
                                        <p:cTn dur="500"/>
                                        <p:tgtEl>
                                          <p:spTgt spid="15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animEffect filter="fade" transition="in">
                                      <p:cBhvr>
                                        <p:cTn dur="500"/>
                                        <p:tgtEl>
                                          <p:spTgt spid="15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6" st="6"/>
                                            </p:txEl>
                                          </p:spTgt>
                                        </p:tgtEl>
                                        <p:attrNameLst>
                                          <p:attrName>style.visibility</p:attrName>
                                        </p:attrNameLst>
                                      </p:cBhvr>
                                      <p:to>
                                        <p:strVal val="visible"/>
                                      </p:to>
                                    </p:set>
                                    <p:animEffect filter="fade" transition="in">
                                      <p:cBhvr>
                                        <p:cTn dur="500"/>
                                        <p:tgtEl>
                                          <p:spTgt spid="15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7" st="7"/>
                                            </p:txEl>
                                          </p:spTgt>
                                        </p:tgtEl>
                                        <p:attrNameLst>
                                          <p:attrName>style.visibility</p:attrName>
                                        </p:attrNameLst>
                                      </p:cBhvr>
                                      <p:to>
                                        <p:strVal val="visible"/>
                                      </p:to>
                                    </p:set>
                                    <p:animEffect filter="fade" transition="in">
                                      <p:cBhvr>
                                        <p:cTn dur="500"/>
                                        <p:tgtEl>
                                          <p:spTgt spid="15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8" st="8"/>
                                            </p:txEl>
                                          </p:spTgt>
                                        </p:tgtEl>
                                        <p:attrNameLst>
                                          <p:attrName>style.visibility</p:attrName>
                                        </p:attrNameLst>
                                      </p:cBhvr>
                                      <p:to>
                                        <p:strVal val="visible"/>
                                      </p:to>
                                    </p:set>
                                    <p:animEffect filter="fade" transition="in">
                                      <p:cBhvr>
                                        <p:cTn dur="500"/>
                                        <p:tgtEl>
                                          <p:spTgt spid="15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9" st="9"/>
                                            </p:txEl>
                                          </p:spTgt>
                                        </p:tgtEl>
                                        <p:attrNameLst>
                                          <p:attrName>style.visibility</p:attrName>
                                        </p:attrNameLst>
                                      </p:cBhvr>
                                      <p:to>
                                        <p:strVal val="visible"/>
                                      </p:to>
                                    </p:set>
                                    <p:animEffect filter="fade" transition="in">
                                      <p:cBhvr>
                                        <p:cTn dur="500"/>
                                        <p:tgtEl>
                                          <p:spTgt spid="155">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4"/>
          <p:cNvSpPr txBox="1"/>
          <p:nvPr>
            <p:ph idx="1" type="body"/>
          </p:nvPr>
        </p:nvSpPr>
        <p:spPr>
          <a:xfrm>
            <a:off x="152400" y="1066800"/>
            <a:ext cx="89916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 cách lưu thông tin về file trong thư mục:</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Toàn bộ thuộc tính của file được lưu trong thư mục, file chỉ chứa data =&gt; kích thước khoản mục, thư mục lớn</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Một phần thuộc tính được lưu trữ luôn cùng với dữ liệu của file. Thư mục chỉ lưu thông tin tối thiểu cần thiết cho việc tìm kiếm vị trí file trên đĩa =&gt; kích thước giảm</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65" name="Google Shape;165;p14"/>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THƯ MỤC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a:t>
            </a:r>
            <a:endParaRPr/>
          </a:p>
        </p:txBody>
      </p:sp>
      <p:sp>
        <p:nvSpPr>
          <p:cNvPr id="166" name="Google Shape;166;p1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7" name="Google Shape;167;p1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68" name="Google Shape;168;p14"/>
          <p:cNvGrpSpPr/>
          <p:nvPr/>
        </p:nvGrpSpPr>
        <p:grpSpPr>
          <a:xfrm>
            <a:off x="1265237" y="3541712"/>
            <a:ext cx="5897562" cy="2317750"/>
            <a:chOff x="2643" y="3662"/>
            <a:chExt cx="7752" cy="3044"/>
          </a:xfrm>
        </p:grpSpPr>
        <p:sp>
          <p:nvSpPr>
            <p:cNvPr id="169" name="Google Shape;169;p14"/>
            <p:cNvSpPr/>
            <p:nvPr/>
          </p:nvSpPr>
          <p:spPr>
            <a:xfrm>
              <a:off x="2643" y="3662"/>
              <a:ext cx="7752" cy="30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0" name="Google Shape;170;p14"/>
            <p:cNvSpPr txBox="1"/>
            <p:nvPr/>
          </p:nvSpPr>
          <p:spPr>
            <a:xfrm>
              <a:off x="2847" y="4152"/>
              <a:ext cx="2304" cy="172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71" name="Google Shape;171;p14"/>
            <p:cNvCxnSpPr/>
            <p:nvPr/>
          </p:nvCxnSpPr>
          <p:spPr>
            <a:xfrm>
              <a:off x="2847" y="5016"/>
              <a:ext cx="2304" cy="2"/>
            </a:xfrm>
            <a:prstGeom prst="straightConnector1">
              <a:avLst/>
            </a:prstGeom>
            <a:noFill/>
            <a:ln cap="flat" cmpd="sng" w="9525">
              <a:solidFill>
                <a:srgbClr val="000000"/>
              </a:solidFill>
              <a:prstDash val="solid"/>
              <a:miter lim="800000"/>
              <a:headEnd len="med" w="med" type="none"/>
              <a:tailEnd len="med" w="med" type="none"/>
            </a:ln>
          </p:spPr>
        </p:cxnSp>
        <p:cxnSp>
          <p:nvCxnSpPr>
            <p:cNvPr id="172" name="Google Shape;172;p14"/>
            <p:cNvCxnSpPr/>
            <p:nvPr/>
          </p:nvCxnSpPr>
          <p:spPr>
            <a:xfrm>
              <a:off x="2847" y="4586"/>
              <a:ext cx="2304" cy="1"/>
            </a:xfrm>
            <a:prstGeom prst="straightConnector1">
              <a:avLst/>
            </a:prstGeom>
            <a:noFill/>
            <a:ln cap="flat" cmpd="sng" w="9525">
              <a:solidFill>
                <a:srgbClr val="000000"/>
              </a:solidFill>
              <a:prstDash val="solid"/>
              <a:miter lim="800000"/>
              <a:headEnd len="med" w="med" type="none"/>
              <a:tailEnd len="med" w="med" type="none"/>
            </a:ln>
          </p:spPr>
        </p:cxnSp>
        <p:cxnSp>
          <p:nvCxnSpPr>
            <p:cNvPr id="173" name="Google Shape;173;p14"/>
            <p:cNvCxnSpPr/>
            <p:nvPr/>
          </p:nvCxnSpPr>
          <p:spPr>
            <a:xfrm>
              <a:off x="2847" y="5449"/>
              <a:ext cx="2304" cy="1"/>
            </a:xfrm>
            <a:prstGeom prst="straightConnector1">
              <a:avLst/>
            </a:prstGeom>
            <a:noFill/>
            <a:ln cap="flat" cmpd="sng" w="9525">
              <a:solidFill>
                <a:srgbClr val="000000"/>
              </a:solidFill>
              <a:prstDash val="solid"/>
              <a:miter lim="800000"/>
              <a:headEnd len="med" w="med" type="none"/>
              <a:tailEnd len="med" w="med" type="none"/>
            </a:ln>
          </p:spPr>
        </p:cxnSp>
        <p:sp>
          <p:nvSpPr>
            <p:cNvPr id="174" name="Google Shape;174;p14"/>
            <p:cNvSpPr txBox="1"/>
            <p:nvPr/>
          </p:nvSpPr>
          <p:spPr>
            <a:xfrm>
              <a:off x="2919" y="4260"/>
              <a:ext cx="649" cy="288"/>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file1.txt</a:t>
              </a:r>
              <a:endParaRPr/>
            </a:p>
          </p:txBody>
        </p:sp>
        <p:sp>
          <p:nvSpPr>
            <p:cNvPr id="175" name="Google Shape;175;p14"/>
            <p:cNvSpPr txBox="1"/>
            <p:nvPr/>
          </p:nvSpPr>
          <p:spPr>
            <a:xfrm>
              <a:off x="2932" y="4680"/>
              <a:ext cx="636" cy="289"/>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file2.c</a:t>
              </a:r>
              <a:endParaRPr/>
            </a:p>
          </p:txBody>
        </p:sp>
        <p:sp>
          <p:nvSpPr>
            <p:cNvPr id="176" name="Google Shape;176;p14"/>
            <p:cNvSpPr txBox="1"/>
            <p:nvPr/>
          </p:nvSpPr>
          <p:spPr>
            <a:xfrm>
              <a:off x="2943" y="5113"/>
              <a:ext cx="780" cy="286"/>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file3.pas</a:t>
              </a:r>
              <a:endParaRPr/>
            </a:p>
          </p:txBody>
        </p:sp>
        <p:sp>
          <p:nvSpPr>
            <p:cNvPr id="177" name="Google Shape;177;p14"/>
            <p:cNvSpPr txBox="1"/>
            <p:nvPr/>
          </p:nvSpPr>
          <p:spPr>
            <a:xfrm>
              <a:off x="2932" y="5567"/>
              <a:ext cx="779" cy="289"/>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file4.doc</a:t>
              </a:r>
              <a:endParaRPr/>
            </a:p>
          </p:txBody>
        </p:sp>
        <p:cxnSp>
          <p:nvCxnSpPr>
            <p:cNvPr id="178" name="Google Shape;178;p14"/>
            <p:cNvCxnSpPr/>
            <p:nvPr/>
          </p:nvCxnSpPr>
          <p:spPr>
            <a:xfrm>
              <a:off x="3855" y="4152"/>
              <a:ext cx="1" cy="1727"/>
            </a:xfrm>
            <a:prstGeom prst="straightConnector1">
              <a:avLst/>
            </a:prstGeom>
            <a:noFill/>
            <a:ln cap="flat" cmpd="sng" w="9525">
              <a:solidFill>
                <a:srgbClr val="000000"/>
              </a:solidFill>
              <a:prstDash val="solid"/>
              <a:miter lim="800000"/>
              <a:headEnd len="med" w="med" type="none"/>
              <a:tailEnd len="med" w="med" type="none"/>
            </a:ln>
          </p:spPr>
        </p:cxnSp>
        <p:sp>
          <p:nvSpPr>
            <p:cNvPr id="179" name="Google Shape;179;p14"/>
            <p:cNvSpPr txBox="1"/>
            <p:nvPr/>
          </p:nvSpPr>
          <p:spPr>
            <a:xfrm>
              <a:off x="3999" y="4260"/>
              <a:ext cx="1009" cy="288"/>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800"/>
                <a:buFont typeface="Arial"/>
                <a:buNone/>
              </a:pPr>
              <a:r>
                <a:rPr b="0" i="0" lang="en-US" sz="800" u="none">
                  <a:solidFill>
                    <a:schemeClr val="dk1"/>
                  </a:solidFill>
                  <a:latin typeface="Arial"/>
                  <a:ea typeface="Arial"/>
                  <a:cs typeface="Arial"/>
                  <a:sym typeface="Arial"/>
                </a:rPr>
                <a:t>Thuộc tính</a:t>
              </a:r>
              <a:endParaRPr/>
            </a:p>
          </p:txBody>
        </p:sp>
        <p:sp>
          <p:nvSpPr>
            <p:cNvPr id="180" name="Google Shape;180;p14"/>
            <p:cNvSpPr txBox="1"/>
            <p:nvPr/>
          </p:nvSpPr>
          <p:spPr>
            <a:xfrm>
              <a:off x="3999" y="4691"/>
              <a:ext cx="1009" cy="289"/>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800"/>
                <a:buFont typeface="Arial"/>
                <a:buNone/>
              </a:pPr>
              <a:r>
                <a:rPr b="0" i="0" lang="en-US" sz="800" u="none">
                  <a:solidFill>
                    <a:schemeClr val="dk1"/>
                  </a:solidFill>
                  <a:latin typeface="Arial"/>
                  <a:ea typeface="Arial"/>
                  <a:cs typeface="Arial"/>
                  <a:sym typeface="Arial"/>
                </a:rPr>
                <a:t>Thuộc tính</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181" name="Google Shape;181;p14"/>
            <p:cNvSpPr txBox="1"/>
            <p:nvPr/>
          </p:nvSpPr>
          <p:spPr>
            <a:xfrm>
              <a:off x="3999" y="5136"/>
              <a:ext cx="1009" cy="287"/>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800"/>
                <a:buFont typeface="Arial"/>
                <a:buNone/>
              </a:pPr>
              <a:r>
                <a:rPr b="0" i="0" lang="en-US" sz="800" u="none">
                  <a:solidFill>
                    <a:schemeClr val="dk1"/>
                  </a:solidFill>
                  <a:latin typeface="Arial"/>
                  <a:ea typeface="Arial"/>
                  <a:cs typeface="Arial"/>
                  <a:sym typeface="Arial"/>
                </a:rPr>
                <a:t>Thuộc tính</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182" name="Google Shape;182;p14"/>
            <p:cNvSpPr txBox="1"/>
            <p:nvPr/>
          </p:nvSpPr>
          <p:spPr>
            <a:xfrm>
              <a:off x="3999" y="5567"/>
              <a:ext cx="1009" cy="289"/>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800"/>
                <a:buFont typeface="Arial"/>
                <a:buNone/>
              </a:pPr>
              <a:r>
                <a:rPr b="0" i="0" lang="en-US" sz="800" u="none">
                  <a:solidFill>
                    <a:schemeClr val="dk1"/>
                  </a:solidFill>
                  <a:latin typeface="Arial"/>
                  <a:ea typeface="Arial"/>
                  <a:cs typeface="Arial"/>
                  <a:sym typeface="Arial"/>
                </a:rPr>
                <a:t>Thuộc tính</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183" name="Google Shape;183;p14"/>
            <p:cNvSpPr txBox="1"/>
            <p:nvPr/>
          </p:nvSpPr>
          <p:spPr>
            <a:xfrm>
              <a:off x="5955" y="4152"/>
              <a:ext cx="2304" cy="172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84" name="Google Shape;184;p14"/>
            <p:cNvCxnSpPr/>
            <p:nvPr/>
          </p:nvCxnSpPr>
          <p:spPr>
            <a:xfrm>
              <a:off x="5955" y="5016"/>
              <a:ext cx="2304" cy="2"/>
            </a:xfrm>
            <a:prstGeom prst="straightConnector1">
              <a:avLst/>
            </a:prstGeom>
            <a:noFill/>
            <a:ln cap="flat" cmpd="sng" w="9525">
              <a:solidFill>
                <a:srgbClr val="000000"/>
              </a:solidFill>
              <a:prstDash val="solid"/>
              <a:miter lim="800000"/>
              <a:headEnd len="med" w="med" type="none"/>
              <a:tailEnd len="med" w="med" type="none"/>
            </a:ln>
          </p:spPr>
        </p:cxnSp>
        <p:cxnSp>
          <p:nvCxnSpPr>
            <p:cNvPr id="185" name="Google Shape;185;p14"/>
            <p:cNvCxnSpPr/>
            <p:nvPr/>
          </p:nvCxnSpPr>
          <p:spPr>
            <a:xfrm>
              <a:off x="5955" y="4586"/>
              <a:ext cx="2304" cy="1"/>
            </a:xfrm>
            <a:prstGeom prst="straightConnector1">
              <a:avLst/>
            </a:prstGeom>
            <a:noFill/>
            <a:ln cap="flat" cmpd="sng" w="9525">
              <a:solidFill>
                <a:srgbClr val="000000"/>
              </a:solidFill>
              <a:prstDash val="solid"/>
              <a:miter lim="800000"/>
              <a:headEnd len="med" w="med" type="none"/>
              <a:tailEnd len="med" w="med" type="none"/>
            </a:ln>
          </p:spPr>
        </p:cxnSp>
        <p:cxnSp>
          <p:nvCxnSpPr>
            <p:cNvPr id="186" name="Google Shape;186;p14"/>
            <p:cNvCxnSpPr/>
            <p:nvPr/>
          </p:nvCxnSpPr>
          <p:spPr>
            <a:xfrm>
              <a:off x="5955" y="5449"/>
              <a:ext cx="2304" cy="1"/>
            </a:xfrm>
            <a:prstGeom prst="straightConnector1">
              <a:avLst/>
            </a:prstGeom>
            <a:noFill/>
            <a:ln cap="flat" cmpd="sng" w="9525">
              <a:solidFill>
                <a:srgbClr val="000000"/>
              </a:solidFill>
              <a:prstDash val="solid"/>
              <a:miter lim="800000"/>
              <a:headEnd len="med" w="med" type="none"/>
              <a:tailEnd len="med" w="med" type="none"/>
            </a:ln>
          </p:spPr>
        </p:cxnSp>
        <p:sp>
          <p:nvSpPr>
            <p:cNvPr id="187" name="Google Shape;187;p14"/>
            <p:cNvSpPr txBox="1"/>
            <p:nvPr/>
          </p:nvSpPr>
          <p:spPr>
            <a:xfrm>
              <a:off x="6027" y="4260"/>
              <a:ext cx="649" cy="288"/>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file1.txt</a:t>
              </a:r>
              <a:endParaRPr/>
            </a:p>
          </p:txBody>
        </p:sp>
        <p:sp>
          <p:nvSpPr>
            <p:cNvPr id="188" name="Google Shape;188;p14"/>
            <p:cNvSpPr txBox="1"/>
            <p:nvPr/>
          </p:nvSpPr>
          <p:spPr>
            <a:xfrm>
              <a:off x="6039" y="4680"/>
              <a:ext cx="637" cy="289"/>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file2.c</a:t>
              </a:r>
              <a:endParaRPr/>
            </a:p>
          </p:txBody>
        </p:sp>
        <p:sp>
          <p:nvSpPr>
            <p:cNvPr id="189" name="Google Shape;189;p14"/>
            <p:cNvSpPr txBox="1"/>
            <p:nvPr/>
          </p:nvSpPr>
          <p:spPr>
            <a:xfrm>
              <a:off x="6049" y="5113"/>
              <a:ext cx="783" cy="286"/>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file3.pas</a:t>
              </a:r>
              <a:endParaRPr/>
            </a:p>
          </p:txBody>
        </p:sp>
        <p:sp>
          <p:nvSpPr>
            <p:cNvPr id="190" name="Google Shape;190;p14"/>
            <p:cNvSpPr txBox="1"/>
            <p:nvPr/>
          </p:nvSpPr>
          <p:spPr>
            <a:xfrm>
              <a:off x="6039" y="5567"/>
              <a:ext cx="780" cy="289"/>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file4.doc</a:t>
              </a:r>
              <a:endParaRPr/>
            </a:p>
          </p:txBody>
        </p:sp>
        <p:cxnSp>
          <p:nvCxnSpPr>
            <p:cNvPr id="191" name="Google Shape;191;p14"/>
            <p:cNvCxnSpPr/>
            <p:nvPr/>
          </p:nvCxnSpPr>
          <p:spPr>
            <a:xfrm>
              <a:off x="6963" y="4152"/>
              <a:ext cx="1" cy="1727"/>
            </a:xfrm>
            <a:prstGeom prst="straightConnector1">
              <a:avLst/>
            </a:prstGeom>
            <a:noFill/>
            <a:ln cap="flat" cmpd="sng" w="9525">
              <a:solidFill>
                <a:srgbClr val="000000"/>
              </a:solidFill>
              <a:prstDash val="solid"/>
              <a:miter lim="800000"/>
              <a:headEnd len="med" w="med" type="none"/>
              <a:tailEnd len="med" w="med" type="none"/>
            </a:ln>
          </p:spPr>
        </p:cxnSp>
        <p:cxnSp>
          <p:nvCxnSpPr>
            <p:cNvPr id="192" name="Google Shape;192;p14"/>
            <p:cNvCxnSpPr/>
            <p:nvPr/>
          </p:nvCxnSpPr>
          <p:spPr>
            <a:xfrm flipH="1" rot="10800000">
              <a:off x="8116" y="4008"/>
              <a:ext cx="1008" cy="288"/>
            </a:xfrm>
            <a:prstGeom prst="straightConnector1">
              <a:avLst/>
            </a:prstGeom>
            <a:noFill/>
            <a:ln cap="flat" cmpd="sng" w="9525">
              <a:solidFill>
                <a:srgbClr val="000000"/>
              </a:solidFill>
              <a:prstDash val="solid"/>
              <a:miter lim="800000"/>
              <a:headEnd len="med" w="med" type="none"/>
              <a:tailEnd len="med" w="med" type="stealth"/>
            </a:ln>
          </p:spPr>
        </p:cxnSp>
        <p:cxnSp>
          <p:nvCxnSpPr>
            <p:cNvPr id="193" name="Google Shape;193;p14"/>
            <p:cNvCxnSpPr/>
            <p:nvPr/>
          </p:nvCxnSpPr>
          <p:spPr>
            <a:xfrm>
              <a:off x="8116" y="4728"/>
              <a:ext cx="1008" cy="1"/>
            </a:xfrm>
            <a:prstGeom prst="straightConnector1">
              <a:avLst/>
            </a:prstGeom>
            <a:noFill/>
            <a:ln cap="flat" cmpd="sng" w="9525">
              <a:solidFill>
                <a:srgbClr val="000000"/>
              </a:solidFill>
              <a:prstDash val="solid"/>
              <a:miter lim="800000"/>
              <a:headEnd len="med" w="med" type="none"/>
              <a:tailEnd len="med" w="med" type="stealth"/>
            </a:ln>
          </p:spPr>
        </p:cxnSp>
        <p:cxnSp>
          <p:nvCxnSpPr>
            <p:cNvPr id="194" name="Google Shape;194;p14"/>
            <p:cNvCxnSpPr/>
            <p:nvPr/>
          </p:nvCxnSpPr>
          <p:spPr>
            <a:xfrm>
              <a:off x="8116" y="5160"/>
              <a:ext cx="1008" cy="289"/>
            </a:xfrm>
            <a:prstGeom prst="straightConnector1">
              <a:avLst/>
            </a:prstGeom>
            <a:noFill/>
            <a:ln cap="flat" cmpd="sng" w="9525">
              <a:solidFill>
                <a:srgbClr val="000000"/>
              </a:solidFill>
              <a:prstDash val="solid"/>
              <a:miter lim="800000"/>
              <a:headEnd len="med" w="med" type="none"/>
              <a:tailEnd len="med" w="med" type="stealth"/>
            </a:ln>
          </p:spPr>
        </p:cxnSp>
        <p:cxnSp>
          <p:nvCxnSpPr>
            <p:cNvPr id="195" name="Google Shape;195;p14"/>
            <p:cNvCxnSpPr/>
            <p:nvPr/>
          </p:nvCxnSpPr>
          <p:spPr>
            <a:xfrm>
              <a:off x="8116" y="5593"/>
              <a:ext cx="1008" cy="430"/>
            </a:xfrm>
            <a:prstGeom prst="straightConnector1">
              <a:avLst/>
            </a:prstGeom>
            <a:noFill/>
            <a:ln cap="flat" cmpd="sng" w="9525">
              <a:solidFill>
                <a:srgbClr val="000000"/>
              </a:solidFill>
              <a:prstDash val="solid"/>
              <a:miter lim="800000"/>
              <a:headEnd len="med" w="med" type="none"/>
              <a:tailEnd len="med" w="med" type="stealth"/>
            </a:ln>
          </p:spPr>
        </p:cxnSp>
        <p:sp>
          <p:nvSpPr>
            <p:cNvPr id="196" name="Google Shape;196;p14"/>
            <p:cNvSpPr txBox="1"/>
            <p:nvPr/>
          </p:nvSpPr>
          <p:spPr>
            <a:xfrm>
              <a:off x="3568" y="6264"/>
              <a:ext cx="576" cy="287"/>
            </a:xfrm>
            <a:prstGeom prst="rect">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(a)</a:t>
              </a:r>
              <a:endParaRPr/>
            </a:p>
          </p:txBody>
        </p:sp>
        <p:sp>
          <p:nvSpPr>
            <p:cNvPr id="197" name="Google Shape;197;p14"/>
            <p:cNvSpPr txBox="1"/>
            <p:nvPr/>
          </p:nvSpPr>
          <p:spPr>
            <a:xfrm>
              <a:off x="7251" y="6264"/>
              <a:ext cx="576" cy="287"/>
            </a:xfrm>
            <a:prstGeom prst="rect">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(b)</a:t>
              </a:r>
              <a:endParaRPr/>
            </a:p>
          </p:txBody>
        </p:sp>
        <p:sp>
          <p:nvSpPr>
            <p:cNvPr id="198" name="Google Shape;198;p14"/>
            <p:cNvSpPr txBox="1"/>
            <p:nvPr/>
          </p:nvSpPr>
          <p:spPr>
            <a:xfrm>
              <a:off x="9124" y="3852"/>
              <a:ext cx="752" cy="52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18000" spcFirstLastPara="1" rIns="18000"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thuộc tính</a:t>
              </a:r>
              <a:endParaRPr/>
            </a:p>
          </p:txBody>
        </p:sp>
        <p:sp>
          <p:nvSpPr>
            <p:cNvPr id="199" name="Google Shape;199;p14"/>
            <p:cNvSpPr txBox="1"/>
            <p:nvPr/>
          </p:nvSpPr>
          <p:spPr>
            <a:xfrm>
              <a:off x="9124" y="4548"/>
              <a:ext cx="752" cy="47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18000" spcFirstLastPara="1" rIns="18000"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thuộc tính</a:t>
              </a:r>
              <a:endParaRPr/>
            </a:p>
          </p:txBody>
        </p:sp>
        <p:sp>
          <p:nvSpPr>
            <p:cNvPr id="200" name="Google Shape;200;p14"/>
            <p:cNvSpPr txBox="1"/>
            <p:nvPr/>
          </p:nvSpPr>
          <p:spPr>
            <a:xfrm>
              <a:off x="9124" y="5160"/>
              <a:ext cx="752" cy="513"/>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18000" spcFirstLastPara="1" rIns="18000"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thuộc tính</a:t>
              </a:r>
              <a:endParaRPr/>
            </a:p>
          </p:txBody>
        </p:sp>
        <p:sp>
          <p:nvSpPr>
            <p:cNvPr id="201" name="Google Shape;201;p14"/>
            <p:cNvSpPr txBox="1"/>
            <p:nvPr/>
          </p:nvSpPr>
          <p:spPr>
            <a:xfrm>
              <a:off x="9124" y="5856"/>
              <a:ext cx="752" cy="5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18000" spcFirstLastPara="1" rIns="18000"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thuộc tính</a:t>
              </a:r>
              <a:endParaRPr/>
            </a:p>
          </p:txBody>
        </p:sp>
      </p:grpSp>
      <p:sp>
        <p:nvSpPr>
          <p:cNvPr id="202" name="Google Shape;202;p1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203" name="Google Shape;203;p14"/>
          <p:cNvPicPr preferRelativeResize="0"/>
          <p:nvPr/>
        </p:nvPicPr>
        <p:blipFill rotWithShape="1">
          <a:blip r:embed="rId3">
            <a:alphaModFix/>
          </a:blip>
          <a:srcRect b="0" l="0" r="0" t="0"/>
          <a:stretch/>
        </p:blipFill>
        <p:spPr>
          <a:xfrm>
            <a:off x="2279650" y="5780087"/>
            <a:ext cx="4029075" cy="304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5"/>
          <p:cNvSpPr txBox="1"/>
          <p:nvPr>
            <p:ph idx="1" type="body"/>
          </p:nvPr>
        </p:nvSpPr>
        <p:spPr>
          <a:xfrm>
            <a:off x="152400" y="685800"/>
            <a:ext cx="8991600" cy="6172200"/>
          </a:xfrm>
          <a:prstGeom prst="rect">
            <a:avLst/>
          </a:prstGeom>
          <a:noFill/>
          <a:ln>
            <a:noFill/>
          </a:ln>
        </p:spPr>
        <p:txBody>
          <a:bodyPr anchorCtr="0" anchor="t" bIns="45700" lIns="91425" spcFirstLastPara="1" rIns="91425" wrap="square" tIns="45700">
            <a:noAutofit/>
          </a:bodyPr>
          <a:lstStyle/>
          <a:p>
            <a:pPr indent="-285750" lvl="1" marL="742950" marR="0" rtl="0" algn="l">
              <a:lnSpc>
                <a:spcPct val="100000"/>
              </a:lnSpc>
              <a:spcBef>
                <a:spcPts val="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Mở file: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HDH tìm trong thư mục khoản mục ứng với tên file cần mở</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Đọc các thuộc tính và vị trí dữ liệu của file vào bảng chứa thông tin về các file đang mở</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Nếu khoản mục trỏ tới CTDL khác chứa thuộc tính file, cấu trúc này sẽ được đọc vào bảng</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09" name="Google Shape;209;p15"/>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THƯ MỤC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Các thao tác với thư mục</a:t>
            </a:r>
            <a:endParaRPr/>
          </a:p>
        </p:txBody>
      </p:sp>
      <p:sp>
        <p:nvSpPr>
          <p:cNvPr id="210" name="Google Shape;210;p15"/>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1" name="Google Shape;211;p1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2" name="Google Shape;212;p1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6"/>
          <p:cNvSpPr txBox="1"/>
          <p:nvPr>
            <p:ph idx="1" type="body"/>
          </p:nvPr>
        </p:nvSpPr>
        <p:spPr>
          <a:xfrm>
            <a:off x="152400" y="1066800"/>
            <a:ext cx="89916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Tìm kiếm file: </a:t>
            </a:r>
            <a:r>
              <a:rPr b="0" i="0" lang="en-US" sz="2400" u="none">
                <a:solidFill>
                  <a:schemeClr val="dk2"/>
                </a:solidFill>
                <a:latin typeface="Times New Roman"/>
                <a:ea typeface="Times New Roman"/>
                <a:cs typeface="Times New Roman"/>
                <a:sym typeface="Times New Roman"/>
              </a:rPr>
              <a:t>cấu trúc thư mục phải cho phép tìm kiếm file theo tên file</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Tạo file: </a:t>
            </a:r>
            <a:r>
              <a:rPr b="0" i="0" lang="en-US" sz="2400" u="none">
                <a:solidFill>
                  <a:schemeClr val="dk2"/>
                </a:solidFill>
                <a:latin typeface="Times New Roman"/>
                <a:ea typeface="Times New Roman"/>
                <a:cs typeface="Times New Roman"/>
                <a:sym typeface="Times New Roman"/>
              </a:rPr>
              <a:t>tạo khoản mục mới và thêm vào thư mục</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Xóa file: </a:t>
            </a:r>
            <a:r>
              <a:rPr b="0" i="0" lang="en-US" sz="2400" u="none">
                <a:solidFill>
                  <a:schemeClr val="dk2"/>
                </a:solidFill>
                <a:latin typeface="Times New Roman"/>
                <a:ea typeface="Times New Roman"/>
                <a:cs typeface="Times New Roman"/>
                <a:sym typeface="Times New Roman"/>
              </a:rPr>
              <a:t>thông tin về file và khoản mục tương ứng bị xóa khỏi thư mục</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Duyệt thư mục: </a:t>
            </a:r>
            <a:r>
              <a:rPr b="0" i="0" lang="en-US" sz="2400" u="none">
                <a:solidFill>
                  <a:schemeClr val="dk2"/>
                </a:solidFill>
                <a:latin typeface="Times New Roman"/>
                <a:ea typeface="Times New Roman"/>
                <a:cs typeface="Times New Roman"/>
                <a:sym typeface="Times New Roman"/>
              </a:rPr>
              <a:t>liệt kê các file trong thư mục và thông tin chứa trong khoản mục của file</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Đổi tên file: </a:t>
            </a:r>
            <a:r>
              <a:rPr b="0" i="0" lang="en-US" sz="2400" u="none">
                <a:solidFill>
                  <a:schemeClr val="dk2"/>
                </a:solidFill>
                <a:latin typeface="Times New Roman"/>
                <a:ea typeface="Times New Roman"/>
                <a:cs typeface="Times New Roman"/>
                <a:sym typeface="Times New Roman"/>
              </a:rPr>
              <a:t>chỉ cần thực hiện với thư mục chứ không liên quan đến dữ liệu của file</a:t>
            </a:r>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18" name="Google Shape;218;p1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THƯ MỤC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Các thao tác với thư mục</a:t>
            </a:r>
            <a:endParaRPr/>
          </a:p>
        </p:txBody>
      </p:sp>
      <p:sp>
        <p:nvSpPr>
          <p:cNvPr id="219" name="Google Shape;219;p16"/>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0" name="Google Shape;220;p1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1" name="Google Shape;221;p1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0" st="0"/>
                                            </p:txEl>
                                          </p:spTgt>
                                        </p:tgtEl>
                                        <p:attrNameLst>
                                          <p:attrName>style.visibility</p:attrName>
                                        </p:attrNameLst>
                                      </p:cBhvr>
                                      <p:to>
                                        <p:strVal val="visible"/>
                                      </p:to>
                                    </p:set>
                                    <p:animEffect filter="fade" transition="in">
                                      <p:cBhvr>
                                        <p:cTn dur="500"/>
                                        <p:tgtEl>
                                          <p:spTgt spid="2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1" st="1"/>
                                            </p:txEl>
                                          </p:spTgt>
                                        </p:tgtEl>
                                        <p:attrNameLst>
                                          <p:attrName>style.visibility</p:attrName>
                                        </p:attrNameLst>
                                      </p:cBhvr>
                                      <p:to>
                                        <p:strVal val="visible"/>
                                      </p:to>
                                    </p:set>
                                    <p:animEffect filter="fade" transition="in">
                                      <p:cBhvr>
                                        <p:cTn dur="500"/>
                                        <p:tgtEl>
                                          <p:spTgt spid="2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2" st="2"/>
                                            </p:txEl>
                                          </p:spTgt>
                                        </p:tgtEl>
                                        <p:attrNameLst>
                                          <p:attrName>style.visibility</p:attrName>
                                        </p:attrNameLst>
                                      </p:cBhvr>
                                      <p:to>
                                        <p:strVal val="visible"/>
                                      </p:to>
                                    </p:set>
                                    <p:animEffect filter="fade" transition="in">
                                      <p:cBhvr>
                                        <p:cTn dur="500"/>
                                        <p:tgtEl>
                                          <p:spTgt spid="2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3" st="3"/>
                                            </p:txEl>
                                          </p:spTgt>
                                        </p:tgtEl>
                                        <p:attrNameLst>
                                          <p:attrName>style.visibility</p:attrName>
                                        </p:attrNameLst>
                                      </p:cBhvr>
                                      <p:to>
                                        <p:strVal val="visible"/>
                                      </p:to>
                                    </p:set>
                                    <p:animEffect filter="fade" transition="in">
                                      <p:cBhvr>
                                        <p:cTn dur="500"/>
                                        <p:tgtEl>
                                          <p:spTgt spid="2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4" st="4"/>
                                            </p:txEl>
                                          </p:spTgt>
                                        </p:tgtEl>
                                        <p:attrNameLst>
                                          <p:attrName>style.visibility</p:attrName>
                                        </p:attrNameLst>
                                      </p:cBhvr>
                                      <p:to>
                                        <p:strVal val="visible"/>
                                      </p:to>
                                    </p:set>
                                    <p:animEffect filter="fade" transition="in">
                                      <p:cBhvr>
                                        <p:cTn dur="500"/>
                                        <p:tgtEl>
                                          <p:spTgt spid="2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5" st="5"/>
                                            </p:txEl>
                                          </p:spTgt>
                                        </p:tgtEl>
                                        <p:attrNameLst>
                                          <p:attrName>style.visibility</p:attrName>
                                        </p:attrNameLst>
                                      </p:cBhvr>
                                      <p:to>
                                        <p:strVal val="visible"/>
                                      </p:to>
                                    </p:set>
                                    <p:animEffect filter="fade" transition="in">
                                      <p:cBhvr>
                                        <p:cTn dur="500"/>
                                        <p:tgtEl>
                                          <p:spTgt spid="21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6" st="6"/>
                                            </p:txEl>
                                          </p:spTgt>
                                        </p:tgtEl>
                                        <p:attrNameLst>
                                          <p:attrName>style.visibility</p:attrName>
                                        </p:attrNameLst>
                                      </p:cBhvr>
                                      <p:to>
                                        <p:strVal val="visible"/>
                                      </p:to>
                                    </p:set>
                                    <p:animEffect filter="fade" transition="in">
                                      <p:cBhvr>
                                        <p:cTn dur="500"/>
                                        <p:tgtEl>
                                          <p:spTgt spid="21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7" st="7"/>
                                            </p:txEl>
                                          </p:spTgt>
                                        </p:tgtEl>
                                        <p:attrNameLst>
                                          <p:attrName>style.visibility</p:attrName>
                                        </p:attrNameLst>
                                      </p:cBhvr>
                                      <p:to>
                                        <p:strVal val="visible"/>
                                      </p:to>
                                    </p:set>
                                    <p:animEffect filter="fade" transition="in">
                                      <p:cBhvr>
                                        <p:cTn dur="500"/>
                                        <p:tgtEl>
                                          <p:spTgt spid="217">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7"/>
          <p:cNvSpPr txBox="1"/>
          <p:nvPr>
            <p:ph idx="1" type="body"/>
          </p:nvPr>
        </p:nvSpPr>
        <p:spPr>
          <a:xfrm>
            <a:off x="152400" y="838200"/>
            <a:ext cx="89916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Thư mục 1 mức:</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Đơn giản nhất</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Chỉ có 1 thư mục duy nhất và tất cả các file được giữ trong thư mục này</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Khó chọn tên cho file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Tìm kiếm file khó</a:t>
            </a:r>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28" name="Google Shape;228;p17"/>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THƯ MỤC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Cấu trúc hệ thống thư mục</a:t>
            </a:r>
            <a:endParaRPr/>
          </a:p>
        </p:txBody>
      </p:sp>
      <p:sp>
        <p:nvSpPr>
          <p:cNvPr id="229" name="Google Shape;229;p17"/>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0" name="Google Shape;230;p1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231" name="Google Shape;231;p17"/>
          <p:cNvPicPr preferRelativeResize="0"/>
          <p:nvPr/>
        </p:nvPicPr>
        <p:blipFill rotWithShape="1">
          <a:blip r:embed="rId3">
            <a:alphaModFix/>
          </a:blip>
          <a:srcRect b="0" l="57691" r="0" t="72384"/>
          <a:stretch/>
        </p:blipFill>
        <p:spPr>
          <a:xfrm>
            <a:off x="6705600" y="5181600"/>
            <a:ext cx="1257300" cy="838200"/>
          </a:xfrm>
          <a:prstGeom prst="rect">
            <a:avLst/>
          </a:prstGeom>
          <a:noFill/>
          <a:ln>
            <a:noFill/>
          </a:ln>
        </p:spPr>
      </p:pic>
      <p:sp>
        <p:nvSpPr>
          <p:cNvPr id="232" name="Google Shape;232;p1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233" name="Google Shape;233;p17"/>
          <p:cNvPicPr preferRelativeResize="0"/>
          <p:nvPr/>
        </p:nvPicPr>
        <p:blipFill rotWithShape="1">
          <a:blip r:embed="rId3">
            <a:alphaModFix/>
          </a:blip>
          <a:srcRect b="35147" l="0" r="0" t="0"/>
          <a:stretch/>
        </p:blipFill>
        <p:spPr>
          <a:xfrm>
            <a:off x="4991100" y="2984500"/>
            <a:ext cx="2971800" cy="1968500"/>
          </a:xfrm>
          <a:prstGeom prst="rect">
            <a:avLst/>
          </a:prstGeom>
          <a:noFill/>
          <a:ln>
            <a:noFill/>
          </a:ln>
        </p:spPr>
      </p:pic>
      <p:pic>
        <p:nvPicPr>
          <p:cNvPr id="234" name="Google Shape;234;p17"/>
          <p:cNvPicPr preferRelativeResize="0"/>
          <p:nvPr/>
        </p:nvPicPr>
        <p:blipFill rotWithShape="1">
          <a:blip r:embed="rId3">
            <a:alphaModFix/>
          </a:blip>
          <a:srcRect b="522" l="1281" r="70512" t="74894"/>
          <a:stretch/>
        </p:blipFill>
        <p:spPr>
          <a:xfrm>
            <a:off x="5105400" y="5237162"/>
            <a:ext cx="838200" cy="746125"/>
          </a:xfrm>
          <a:prstGeom prst="rect">
            <a:avLst/>
          </a:prstGeom>
          <a:noFill/>
          <a:ln>
            <a:noFill/>
          </a:ln>
        </p:spPr>
      </p:pic>
      <p:sp>
        <p:nvSpPr>
          <p:cNvPr id="235" name="Google Shape;235;p17"/>
          <p:cNvSpPr txBox="1"/>
          <p:nvPr/>
        </p:nvSpPr>
        <p:spPr>
          <a:xfrm>
            <a:off x="5873750" y="5610225"/>
            <a:ext cx="9017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Thư mục</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8"/>
          <p:cNvSpPr txBox="1"/>
          <p:nvPr>
            <p:ph idx="1" type="body"/>
          </p:nvPr>
        </p:nvSpPr>
        <p:spPr>
          <a:xfrm>
            <a:off x="152400" y="762000"/>
            <a:ext cx="8991600" cy="2743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Thư mục 2 mức:</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Phân cho mỗi người dùng 1 thư mục riêng (UFD: User File Directory), chứa các file của mình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Khi người dùng truy cập file, file sẽ được tìm kiếm trong thư mục ứng với tên người đó</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=&gt; các người dùng khác nhau có thể đặt tên file trùng nhau</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41" name="Google Shape;241;p18"/>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THƯ MỤC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Cấu trúc hệ thống thư mục</a:t>
            </a:r>
            <a:endParaRPr/>
          </a:p>
        </p:txBody>
      </p:sp>
      <p:sp>
        <p:nvSpPr>
          <p:cNvPr id="242" name="Google Shape;242;p18"/>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3" name="Google Shape;243;p1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244" name="Google Shape;244;p18"/>
          <p:cNvPicPr preferRelativeResize="0"/>
          <p:nvPr/>
        </p:nvPicPr>
        <p:blipFill rotWithShape="1">
          <a:blip r:embed="rId3">
            <a:alphaModFix/>
          </a:blip>
          <a:srcRect b="0" l="0" r="0" t="0"/>
          <a:stretch/>
        </p:blipFill>
        <p:spPr>
          <a:xfrm>
            <a:off x="4572000" y="3487737"/>
            <a:ext cx="4143375" cy="2457450"/>
          </a:xfrm>
          <a:prstGeom prst="rect">
            <a:avLst/>
          </a:prstGeom>
          <a:noFill/>
          <a:ln>
            <a:noFill/>
          </a:ln>
        </p:spPr>
      </p:pic>
      <p:sp>
        <p:nvSpPr>
          <p:cNvPr id="245" name="Google Shape;245;p18"/>
          <p:cNvSpPr txBox="1"/>
          <p:nvPr/>
        </p:nvSpPr>
        <p:spPr>
          <a:xfrm>
            <a:off x="152400" y="3429000"/>
            <a:ext cx="3733800" cy="2743200"/>
          </a:xfrm>
          <a:prstGeom prst="rect">
            <a:avLst/>
          </a:prstGeom>
          <a:noFill/>
          <a:ln>
            <a:noFill/>
          </a:ln>
        </p:spPr>
        <p:txBody>
          <a:bodyPr anchorCtr="0" anchor="t" bIns="45700" lIns="91425" spcFirstLastPara="1" rIns="91425" wrap="square" tIns="45700">
            <a:noAutofit/>
          </a:bodyPr>
          <a:lstStyle/>
          <a:p>
            <a:pPr indent="-285750" lvl="1" marL="742950" marR="0" rtl="0" algn="l">
              <a:lnSpc>
                <a:spcPct val="100000"/>
              </a:lnSpc>
              <a:spcBef>
                <a:spcPts val="0"/>
              </a:spcBef>
              <a:spcAft>
                <a:spcPts val="0"/>
              </a:spcAft>
              <a:buClr>
                <a:schemeClr val="accent1"/>
              </a:buClr>
              <a:buSzPts val="1680"/>
              <a:buFont typeface="Noto Sans Symbols"/>
              <a:buChar char="▪"/>
            </a:pPr>
            <a:r>
              <a:rPr b="0" i="0" lang="en-US" sz="2400" u="none" cap="none" strike="noStrike">
                <a:solidFill>
                  <a:srgbClr val="2E5DA2"/>
                </a:solidFill>
                <a:latin typeface="Times New Roman"/>
                <a:ea typeface="Times New Roman"/>
                <a:cs typeface="Times New Roman"/>
                <a:sym typeface="Times New Roman"/>
              </a:rPr>
              <a:t>Cô lập người dùng</a:t>
            </a:r>
            <a:endParaRPr/>
          </a:p>
          <a:p>
            <a:pPr indent="-285750" lvl="1" marL="742950" marR="0" rtl="0" algn="l">
              <a:lnSpc>
                <a:spcPct val="100000"/>
              </a:lnSpc>
              <a:spcBef>
                <a:spcPts val="480"/>
              </a:spcBef>
              <a:spcAft>
                <a:spcPts val="0"/>
              </a:spcAft>
              <a:buClr>
                <a:schemeClr val="accent1"/>
              </a:buClr>
              <a:buSzPts val="1680"/>
              <a:buFont typeface="Noto Sans Symbols"/>
              <a:buChar char="▪"/>
            </a:pPr>
            <a:r>
              <a:rPr b="0" i="0" lang="en-US" sz="2400" u="none" cap="none" strike="noStrike">
                <a:solidFill>
                  <a:srgbClr val="2E5DA2"/>
                </a:solidFill>
                <a:latin typeface="Times New Roman"/>
                <a:ea typeface="Times New Roman"/>
                <a:cs typeface="Times New Roman"/>
                <a:sym typeface="Times New Roman"/>
              </a:rPr>
              <a:t> Các file mà nhiều người dùng truy cập tới =&gt; chép vào từng thư mục của từng người dùng =&gt; lãng phí</a:t>
            </a:r>
            <a:endParaRPr/>
          </a:p>
          <a:p>
            <a:pPr indent="-179069" lvl="1" marL="742950"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79069" lvl="1" marL="742950"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218440" lvl="0" marL="342900" marR="0" rtl="0" algn="l">
              <a:lnSpc>
                <a:spcPct val="100000"/>
              </a:lnSpc>
              <a:spcBef>
                <a:spcPts val="560"/>
              </a:spcBef>
              <a:spcAft>
                <a:spcPts val="0"/>
              </a:spcAft>
              <a:buClr>
                <a:schemeClr val="accent1"/>
              </a:buClr>
              <a:buSzPts val="1960"/>
              <a:buFont typeface="Noto Sans Symbols"/>
              <a:buNone/>
            </a:pPr>
            <a:r>
              <a:t/>
            </a:r>
            <a:endParaRPr b="0" i="0" sz="28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dk1"/>
              </a:buClr>
              <a:buSzPts val="2400"/>
              <a:buFont typeface="Arial"/>
              <a:buNone/>
            </a:pPr>
            <a:r>
              <a:t/>
            </a:r>
            <a:endParaRPr b="0" i="0" sz="24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46" name="Google Shape;246;p1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0" st="0"/>
                                            </p:txEl>
                                          </p:spTgt>
                                        </p:tgtEl>
                                        <p:attrNameLst>
                                          <p:attrName>style.visibility</p:attrName>
                                        </p:attrNameLst>
                                      </p:cBhvr>
                                      <p:to>
                                        <p:strVal val="visible"/>
                                      </p:to>
                                    </p:set>
                                    <p:animEffect filter="fade" transition="in">
                                      <p:cBhvr>
                                        <p:cTn dur="500"/>
                                        <p:tgtEl>
                                          <p:spTgt spid="2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1" st="1"/>
                                            </p:txEl>
                                          </p:spTgt>
                                        </p:tgtEl>
                                        <p:attrNameLst>
                                          <p:attrName>style.visibility</p:attrName>
                                        </p:attrNameLst>
                                      </p:cBhvr>
                                      <p:to>
                                        <p:strVal val="visible"/>
                                      </p:to>
                                    </p:set>
                                    <p:animEffect filter="fade" transition="in">
                                      <p:cBhvr>
                                        <p:cTn dur="500"/>
                                        <p:tgtEl>
                                          <p:spTgt spid="2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2" st="2"/>
                                            </p:txEl>
                                          </p:spTgt>
                                        </p:tgtEl>
                                        <p:attrNameLst>
                                          <p:attrName>style.visibility</p:attrName>
                                        </p:attrNameLst>
                                      </p:cBhvr>
                                      <p:to>
                                        <p:strVal val="visible"/>
                                      </p:to>
                                    </p:set>
                                    <p:animEffect filter="fade" transition="in">
                                      <p:cBhvr>
                                        <p:cTn dur="500"/>
                                        <p:tgtEl>
                                          <p:spTgt spid="2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3" st="3"/>
                                            </p:txEl>
                                          </p:spTgt>
                                        </p:tgtEl>
                                        <p:attrNameLst>
                                          <p:attrName>style.visibility</p:attrName>
                                        </p:attrNameLst>
                                      </p:cBhvr>
                                      <p:to>
                                        <p:strVal val="visible"/>
                                      </p:to>
                                    </p:set>
                                    <p:animEffect filter="fade" transition="in">
                                      <p:cBhvr>
                                        <p:cTn dur="500"/>
                                        <p:tgtEl>
                                          <p:spTgt spid="2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4" st="4"/>
                                            </p:txEl>
                                          </p:spTgt>
                                        </p:tgtEl>
                                        <p:attrNameLst>
                                          <p:attrName>style.visibility</p:attrName>
                                        </p:attrNameLst>
                                      </p:cBhvr>
                                      <p:to>
                                        <p:strVal val="visible"/>
                                      </p:to>
                                    </p:set>
                                    <p:animEffect filter="fade" transition="in">
                                      <p:cBhvr>
                                        <p:cTn dur="500"/>
                                        <p:tgtEl>
                                          <p:spTgt spid="2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5" st="5"/>
                                            </p:txEl>
                                          </p:spTgt>
                                        </p:tgtEl>
                                        <p:attrNameLst>
                                          <p:attrName>style.visibility</p:attrName>
                                        </p:attrNameLst>
                                      </p:cBhvr>
                                      <p:to>
                                        <p:strVal val="visible"/>
                                      </p:to>
                                    </p:set>
                                    <p:animEffect filter="fade" transition="in">
                                      <p:cBhvr>
                                        <p:cTn dur="500"/>
                                        <p:tgtEl>
                                          <p:spTgt spid="2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6" st="6"/>
                                            </p:txEl>
                                          </p:spTgt>
                                        </p:tgtEl>
                                        <p:attrNameLst>
                                          <p:attrName>style.visibility</p:attrName>
                                        </p:attrNameLst>
                                      </p:cBhvr>
                                      <p:to>
                                        <p:strVal val="visible"/>
                                      </p:to>
                                    </p:set>
                                    <p:animEffect filter="fade" transition="in">
                                      <p:cBhvr>
                                        <p:cTn dur="500"/>
                                        <p:tgtEl>
                                          <p:spTgt spid="245">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9"/>
          <p:cNvSpPr txBox="1"/>
          <p:nvPr>
            <p:ph idx="1" type="body"/>
          </p:nvPr>
        </p:nvSpPr>
        <p:spPr>
          <a:xfrm>
            <a:off x="152400" y="838200"/>
            <a:ext cx="2441575" cy="2590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Thư mục cấu trúc cây:</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Thư mục con có thể chứa các thư mục con khác và các files</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Hệ thống thư mục được biểu diễn phân cấp như 1 cây: cành là thư mục, lá là file</a:t>
            </a:r>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53" name="Google Shape;253;p19"/>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THƯ MỤC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Cấu trúc hệ thống thư mục</a:t>
            </a:r>
            <a:endParaRPr/>
          </a:p>
        </p:txBody>
      </p:sp>
      <p:sp>
        <p:nvSpPr>
          <p:cNvPr id="254" name="Google Shape;254;p1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5" name="Google Shape;255;p1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256" name="Google Shape;256;p19"/>
          <p:cNvGrpSpPr/>
          <p:nvPr/>
        </p:nvGrpSpPr>
        <p:grpSpPr>
          <a:xfrm>
            <a:off x="3048000" y="2573337"/>
            <a:ext cx="4572000" cy="3427412"/>
            <a:chOff x="2268" y="1440"/>
            <a:chExt cx="6851" cy="5136"/>
          </a:xfrm>
        </p:grpSpPr>
        <p:sp>
          <p:nvSpPr>
            <p:cNvPr id="257" name="Google Shape;257;p19"/>
            <p:cNvSpPr/>
            <p:nvPr/>
          </p:nvSpPr>
          <p:spPr>
            <a:xfrm>
              <a:off x="2268" y="1440"/>
              <a:ext cx="6851" cy="51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58" name="Google Shape;258;p19"/>
            <p:cNvCxnSpPr/>
            <p:nvPr/>
          </p:nvCxnSpPr>
          <p:spPr>
            <a:xfrm flipH="1">
              <a:off x="6449" y="2762"/>
              <a:ext cx="1102" cy="1008"/>
            </a:xfrm>
            <a:prstGeom prst="straightConnector1">
              <a:avLst/>
            </a:prstGeom>
            <a:noFill/>
            <a:ln cap="flat" cmpd="sng" w="9525">
              <a:solidFill>
                <a:srgbClr val="000000"/>
              </a:solidFill>
              <a:prstDash val="solid"/>
              <a:miter lim="800000"/>
              <a:headEnd len="med" w="med" type="none"/>
              <a:tailEnd len="med" w="med" type="none"/>
            </a:ln>
          </p:spPr>
        </p:cxnSp>
        <p:cxnSp>
          <p:nvCxnSpPr>
            <p:cNvPr id="259" name="Google Shape;259;p19"/>
            <p:cNvCxnSpPr/>
            <p:nvPr/>
          </p:nvCxnSpPr>
          <p:spPr>
            <a:xfrm>
              <a:off x="7551" y="2762"/>
              <a:ext cx="552" cy="1008"/>
            </a:xfrm>
            <a:prstGeom prst="straightConnector1">
              <a:avLst/>
            </a:prstGeom>
            <a:noFill/>
            <a:ln cap="flat" cmpd="sng" w="9525">
              <a:solidFill>
                <a:srgbClr val="000000"/>
              </a:solidFill>
              <a:prstDash val="solid"/>
              <a:miter lim="800000"/>
              <a:headEnd len="med" w="med" type="none"/>
              <a:tailEnd len="med" w="med" type="none"/>
            </a:ln>
          </p:spPr>
        </p:cxnSp>
        <p:cxnSp>
          <p:nvCxnSpPr>
            <p:cNvPr id="260" name="Google Shape;260;p19"/>
            <p:cNvCxnSpPr/>
            <p:nvPr/>
          </p:nvCxnSpPr>
          <p:spPr>
            <a:xfrm>
              <a:off x="3362" y="4106"/>
              <a:ext cx="1543" cy="672"/>
            </a:xfrm>
            <a:prstGeom prst="straightConnector1">
              <a:avLst/>
            </a:prstGeom>
            <a:noFill/>
            <a:ln cap="flat" cmpd="sng" w="9525">
              <a:solidFill>
                <a:srgbClr val="000000"/>
              </a:solidFill>
              <a:prstDash val="solid"/>
              <a:miter lim="800000"/>
              <a:headEnd len="med" w="med" type="none"/>
              <a:tailEnd len="med" w="med" type="none"/>
            </a:ln>
          </p:spPr>
        </p:cxnSp>
        <p:cxnSp>
          <p:nvCxnSpPr>
            <p:cNvPr id="261" name="Google Shape;261;p19"/>
            <p:cNvCxnSpPr/>
            <p:nvPr/>
          </p:nvCxnSpPr>
          <p:spPr>
            <a:xfrm>
              <a:off x="3362" y="4106"/>
              <a:ext cx="441" cy="672"/>
            </a:xfrm>
            <a:prstGeom prst="straightConnector1">
              <a:avLst/>
            </a:prstGeom>
            <a:noFill/>
            <a:ln cap="flat" cmpd="sng" w="9525">
              <a:solidFill>
                <a:srgbClr val="000000"/>
              </a:solidFill>
              <a:prstDash val="solid"/>
              <a:miter lim="800000"/>
              <a:headEnd len="med" w="med" type="none"/>
              <a:tailEnd len="med" w="med" type="none"/>
            </a:ln>
          </p:spPr>
        </p:cxnSp>
        <p:sp>
          <p:nvSpPr>
            <p:cNvPr id="262" name="Google Shape;262;p19"/>
            <p:cNvSpPr txBox="1"/>
            <p:nvPr/>
          </p:nvSpPr>
          <p:spPr>
            <a:xfrm>
              <a:off x="3583" y="4778"/>
              <a:ext cx="441" cy="33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63" name="Google Shape;263;p19"/>
            <p:cNvCxnSpPr/>
            <p:nvPr/>
          </p:nvCxnSpPr>
          <p:spPr>
            <a:xfrm flipH="1">
              <a:off x="2810" y="5113"/>
              <a:ext cx="993" cy="673"/>
            </a:xfrm>
            <a:prstGeom prst="straightConnector1">
              <a:avLst/>
            </a:prstGeom>
            <a:noFill/>
            <a:ln cap="flat" cmpd="sng" w="9525">
              <a:solidFill>
                <a:srgbClr val="000000"/>
              </a:solidFill>
              <a:prstDash val="solid"/>
              <a:miter lim="800000"/>
              <a:headEnd len="med" w="med" type="none"/>
              <a:tailEnd len="med" w="med" type="none"/>
            </a:ln>
          </p:spPr>
        </p:cxnSp>
        <p:cxnSp>
          <p:nvCxnSpPr>
            <p:cNvPr id="264" name="Google Shape;264;p19"/>
            <p:cNvCxnSpPr/>
            <p:nvPr/>
          </p:nvCxnSpPr>
          <p:spPr>
            <a:xfrm flipH="1">
              <a:off x="3583" y="5113"/>
              <a:ext cx="220" cy="560"/>
            </a:xfrm>
            <a:prstGeom prst="straightConnector1">
              <a:avLst/>
            </a:prstGeom>
            <a:noFill/>
            <a:ln cap="flat" cmpd="sng" w="9525">
              <a:solidFill>
                <a:srgbClr val="000000"/>
              </a:solidFill>
              <a:prstDash val="solid"/>
              <a:miter lim="800000"/>
              <a:headEnd len="med" w="med" type="none"/>
              <a:tailEnd len="med" w="med" type="none"/>
            </a:ln>
          </p:spPr>
        </p:cxnSp>
        <p:cxnSp>
          <p:nvCxnSpPr>
            <p:cNvPr id="265" name="Google Shape;265;p19"/>
            <p:cNvCxnSpPr/>
            <p:nvPr/>
          </p:nvCxnSpPr>
          <p:spPr>
            <a:xfrm>
              <a:off x="3803" y="5113"/>
              <a:ext cx="441" cy="673"/>
            </a:xfrm>
            <a:prstGeom prst="straightConnector1">
              <a:avLst/>
            </a:prstGeom>
            <a:noFill/>
            <a:ln cap="flat" cmpd="sng" w="9525">
              <a:solidFill>
                <a:srgbClr val="000000"/>
              </a:solidFill>
              <a:prstDash val="solid"/>
              <a:miter lim="800000"/>
              <a:headEnd len="med" w="med" type="none"/>
              <a:tailEnd len="med" w="med" type="none"/>
            </a:ln>
          </p:spPr>
        </p:cxnSp>
        <p:sp>
          <p:nvSpPr>
            <p:cNvPr id="266" name="Google Shape;266;p19"/>
            <p:cNvSpPr/>
            <p:nvPr/>
          </p:nvSpPr>
          <p:spPr>
            <a:xfrm>
              <a:off x="2701" y="5673"/>
              <a:ext cx="331" cy="337"/>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7" name="Google Shape;267;p19"/>
            <p:cNvSpPr/>
            <p:nvPr/>
          </p:nvSpPr>
          <p:spPr>
            <a:xfrm>
              <a:off x="3362" y="5673"/>
              <a:ext cx="330" cy="337"/>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8" name="Google Shape;268;p19"/>
            <p:cNvSpPr/>
            <p:nvPr/>
          </p:nvSpPr>
          <p:spPr>
            <a:xfrm>
              <a:off x="4024" y="5673"/>
              <a:ext cx="331" cy="337"/>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9" name="Google Shape;269;p19"/>
            <p:cNvSpPr txBox="1"/>
            <p:nvPr/>
          </p:nvSpPr>
          <p:spPr>
            <a:xfrm>
              <a:off x="5237" y="1642"/>
              <a:ext cx="441" cy="33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0" name="Google Shape;270;p19"/>
            <p:cNvSpPr txBox="1"/>
            <p:nvPr/>
          </p:nvSpPr>
          <p:spPr>
            <a:xfrm>
              <a:off x="3142" y="2425"/>
              <a:ext cx="441" cy="33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1" name="Google Shape;271;p19"/>
            <p:cNvSpPr txBox="1"/>
            <p:nvPr/>
          </p:nvSpPr>
          <p:spPr>
            <a:xfrm>
              <a:off x="5237" y="2425"/>
              <a:ext cx="441" cy="33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2" name="Google Shape;272;p19"/>
            <p:cNvSpPr txBox="1"/>
            <p:nvPr/>
          </p:nvSpPr>
          <p:spPr>
            <a:xfrm>
              <a:off x="7331" y="2425"/>
              <a:ext cx="441" cy="33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73" name="Google Shape;273;p19"/>
            <p:cNvCxnSpPr/>
            <p:nvPr/>
          </p:nvCxnSpPr>
          <p:spPr>
            <a:xfrm flipH="1">
              <a:off x="7881" y="4106"/>
              <a:ext cx="222" cy="559"/>
            </a:xfrm>
            <a:prstGeom prst="straightConnector1">
              <a:avLst/>
            </a:prstGeom>
            <a:noFill/>
            <a:ln cap="flat" cmpd="sng" w="9525">
              <a:solidFill>
                <a:srgbClr val="000000"/>
              </a:solidFill>
              <a:prstDash val="solid"/>
              <a:miter lim="800000"/>
              <a:headEnd len="med" w="med" type="none"/>
              <a:tailEnd len="med" w="med" type="none"/>
            </a:ln>
          </p:spPr>
        </p:cxnSp>
        <p:cxnSp>
          <p:nvCxnSpPr>
            <p:cNvPr id="274" name="Google Shape;274;p19"/>
            <p:cNvCxnSpPr/>
            <p:nvPr/>
          </p:nvCxnSpPr>
          <p:spPr>
            <a:xfrm>
              <a:off x="8103" y="4106"/>
              <a:ext cx="441" cy="672"/>
            </a:xfrm>
            <a:prstGeom prst="straightConnector1">
              <a:avLst/>
            </a:prstGeom>
            <a:noFill/>
            <a:ln cap="flat" cmpd="sng" w="9525">
              <a:solidFill>
                <a:srgbClr val="000000"/>
              </a:solidFill>
              <a:prstDash val="solid"/>
              <a:miter lim="800000"/>
              <a:headEnd len="med" w="med" type="none"/>
              <a:tailEnd len="med" w="med" type="none"/>
            </a:ln>
          </p:spPr>
        </p:cxnSp>
        <p:sp>
          <p:nvSpPr>
            <p:cNvPr id="275" name="Google Shape;275;p19"/>
            <p:cNvSpPr/>
            <p:nvPr/>
          </p:nvSpPr>
          <p:spPr>
            <a:xfrm>
              <a:off x="7662" y="4665"/>
              <a:ext cx="330" cy="336"/>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6" name="Google Shape;276;p19"/>
            <p:cNvSpPr/>
            <p:nvPr/>
          </p:nvSpPr>
          <p:spPr>
            <a:xfrm>
              <a:off x="8322" y="4665"/>
              <a:ext cx="332" cy="336"/>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77" name="Google Shape;277;p19"/>
            <p:cNvCxnSpPr/>
            <p:nvPr/>
          </p:nvCxnSpPr>
          <p:spPr>
            <a:xfrm>
              <a:off x="5456" y="2762"/>
              <a:ext cx="1" cy="673"/>
            </a:xfrm>
            <a:prstGeom prst="straightConnector1">
              <a:avLst/>
            </a:prstGeom>
            <a:noFill/>
            <a:ln cap="flat" cmpd="sng" w="9525">
              <a:solidFill>
                <a:srgbClr val="000000"/>
              </a:solidFill>
              <a:prstDash val="solid"/>
              <a:miter lim="800000"/>
              <a:headEnd len="med" w="med" type="none"/>
              <a:tailEnd len="med" w="med" type="none"/>
            </a:ln>
          </p:spPr>
        </p:cxnSp>
        <p:cxnSp>
          <p:nvCxnSpPr>
            <p:cNvPr id="278" name="Google Shape;278;p19"/>
            <p:cNvCxnSpPr/>
            <p:nvPr/>
          </p:nvCxnSpPr>
          <p:spPr>
            <a:xfrm>
              <a:off x="3362" y="2762"/>
              <a:ext cx="552" cy="673"/>
            </a:xfrm>
            <a:prstGeom prst="straightConnector1">
              <a:avLst/>
            </a:prstGeom>
            <a:noFill/>
            <a:ln cap="flat" cmpd="sng" w="9525">
              <a:solidFill>
                <a:srgbClr val="000000"/>
              </a:solidFill>
              <a:prstDash val="solid"/>
              <a:miter lim="800000"/>
              <a:headEnd len="med" w="med" type="none"/>
              <a:tailEnd len="med" w="med" type="none"/>
            </a:ln>
          </p:spPr>
        </p:cxnSp>
        <p:cxnSp>
          <p:nvCxnSpPr>
            <p:cNvPr id="279" name="Google Shape;279;p19"/>
            <p:cNvCxnSpPr/>
            <p:nvPr/>
          </p:nvCxnSpPr>
          <p:spPr>
            <a:xfrm flipH="1">
              <a:off x="2810" y="2762"/>
              <a:ext cx="552" cy="673"/>
            </a:xfrm>
            <a:prstGeom prst="straightConnector1">
              <a:avLst/>
            </a:prstGeom>
            <a:noFill/>
            <a:ln cap="flat" cmpd="sng" w="9525">
              <a:solidFill>
                <a:srgbClr val="000000"/>
              </a:solidFill>
              <a:prstDash val="solid"/>
              <a:miter lim="800000"/>
              <a:headEnd len="med" w="med" type="none"/>
              <a:tailEnd len="med" w="med" type="none"/>
            </a:ln>
          </p:spPr>
        </p:cxnSp>
        <p:sp>
          <p:nvSpPr>
            <p:cNvPr id="280" name="Google Shape;280;p19"/>
            <p:cNvSpPr/>
            <p:nvPr/>
          </p:nvSpPr>
          <p:spPr>
            <a:xfrm>
              <a:off x="3692" y="3322"/>
              <a:ext cx="332" cy="336"/>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1" name="Google Shape;281;p19"/>
            <p:cNvSpPr/>
            <p:nvPr/>
          </p:nvSpPr>
          <p:spPr>
            <a:xfrm>
              <a:off x="5292" y="3322"/>
              <a:ext cx="329" cy="336"/>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2" name="Google Shape;282;p19"/>
            <p:cNvSpPr/>
            <p:nvPr/>
          </p:nvSpPr>
          <p:spPr>
            <a:xfrm>
              <a:off x="2701" y="3322"/>
              <a:ext cx="331" cy="336"/>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83" name="Google Shape;283;p19"/>
            <p:cNvCxnSpPr/>
            <p:nvPr/>
          </p:nvCxnSpPr>
          <p:spPr>
            <a:xfrm flipH="1" rot="10800000">
              <a:off x="5456" y="1978"/>
              <a:ext cx="1" cy="447"/>
            </a:xfrm>
            <a:prstGeom prst="straightConnector1">
              <a:avLst/>
            </a:prstGeom>
            <a:noFill/>
            <a:ln cap="flat" cmpd="sng" w="9525">
              <a:solidFill>
                <a:srgbClr val="000000"/>
              </a:solidFill>
              <a:prstDash val="solid"/>
              <a:miter lim="800000"/>
              <a:headEnd len="med" w="med" type="none"/>
              <a:tailEnd len="med" w="med" type="none"/>
            </a:ln>
          </p:spPr>
        </p:cxnSp>
        <p:cxnSp>
          <p:nvCxnSpPr>
            <p:cNvPr id="284" name="Google Shape;284;p19"/>
            <p:cNvCxnSpPr/>
            <p:nvPr/>
          </p:nvCxnSpPr>
          <p:spPr>
            <a:xfrm>
              <a:off x="5456" y="1978"/>
              <a:ext cx="2095" cy="447"/>
            </a:xfrm>
            <a:prstGeom prst="straightConnector1">
              <a:avLst/>
            </a:prstGeom>
            <a:noFill/>
            <a:ln cap="flat" cmpd="sng" w="9525">
              <a:solidFill>
                <a:srgbClr val="000000"/>
              </a:solidFill>
              <a:prstDash val="solid"/>
              <a:miter lim="800000"/>
              <a:headEnd len="med" w="med" type="none"/>
              <a:tailEnd len="med" w="med" type="none"/>
            </a:ln>
          </p:spPr>
        </p:cxnSp>
        <p:cxnSp>
          <p:nvCxnSpPr>
            <p:cNvPr id="285" name="Google Shape;285;p19"/>
            <p:cNvCxnSpPr/>
            <p:nvPr/>
          </p:nvCxnSpPr>
          <p:spPr>
            <a:xfrm flipH="1">
              <a:off x="3362" y="1978"/>
              <a:ext cx="2094" cy="447"/>
            </a:xfrm>
            <a:prstGeom prst="straightConnector1">
              <a:avLst/>
            </a:prstGeom>
            <a:noFill/>
            <a:ln cap="flat" cmpd="sng" w="9525">
              <a:solidFill>
                <a:srgbClr val="000000"/>
              </a:solidFill>
              <a:prstDash val="solid"/>
              <a:miter lim="800000"/>
              <a:headEnd len="med" w="med" type="none"/>
              <a:tailEnd len="med" w="med" type="none"/>
            </a:ln>
          </p:spPr>
        </p:cxnSp>
        <p:sp>
          <p:nvSpPr>
            <p:cNvPr id="286" name="Google Shape;286;p19"/>
            <p:cNvSpPr txBox="1"/>
            <p:nvPr/>
          </p:nvSpPr>
          <p:spPr>
            <a:xfrm>
              <a:off x="5988" y="1606"/>
              <a:ext cx="882" cy="448"/>
            </a:xfrm>
            <a:prstGeom prst="rect">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Thư mục gốc</a:t>
              </a:r>
              <a:endParaRPr/>
            </a:p>
          </p:txBody>
        </p:sp>
        <p:cxnSp>
          <p:nvCxnSpPr>
            <p:cNvPr id="287" name="Google Shape;287;p19"/>
            <p:cNvCxnSpPr/>
            <p:nvPr/>
          </p:nvCxnSpPr>
          <p:spPr>
            <a:xfrm>
              <a:off x="3362" y="2762"/>
              <a:ext cx="1" cy="1120"/>
            </a:xfrm>
            <a:prstGeom prst="straightConnector1">
              <a:avLst/>
            </a:prstGeom>
            <a:noFill/>
            <a:ln cap="flat" cmpd="sng" w="9525">
              <a:solidFill>
                <a:srgbClr val="000000"/>
              </a:solidFill>
              <a:prstDash val="solid"/>
              <a:miter lim="800000"/>
              <a:headEnd len="med" w="med" type="none"/>
              <a:tailEnd len="med" w="med" type="none"/>
            </a:ln>
          </p:spPr>
        </p:cxnSp>
        <p:sp>
          <p:nvSpPr>
            <p:cNvPr id="288" name="Google Shape;288;p19"/>
            <p:cNvSpPr txBox="1"/>
            <p:nvPr/>
          </p:nvSpPr>
          <p:spPr>
            <a:xfrm>
              <a:off x="3142" y="3770"/>
              <a:ext cx="441" cy="33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9" name="Google Shape;289;p19"/>
            <p:cNvSpPr txBox="1"/>
            <p:nvPr/>
          </p:nvSpPr>
          <p:spPr>
            <a:xfrm>
              <a:off x="4685" y="4778"/>
              <a:ext cx="441" cy="33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90" name="Google Shape;290;p19"/>
            <p:cNvCxnSpPr/>
            <p:nvPr/>
          </p:nvCxnSpPr>
          <p:spPr>
            <a:xfrm flipH="1">
              <a:off x="4685" y="5113"/>
              <a:ext cx="220" cy="560"/>
            </a:xfrm>
            <a:prstGeom prst="straightConnector1">
              <a:avLst/>
            </a:prstGeom>
            <a:noFill/>
            <a:ln cap="flat" cmpd="sng" w="9525">
              <a:solidFill>
                <a:srgbClr val="000000"/>
              </a:solidFill>
              <a:prstDash val="solid"/>
              <a:miter lim="800000"/>
              <a:headEnd len="med" w="med" type="none"/>
              <a:tailEnd len="med" w="med" type="none"/>
            </a:ln>
          </p:spPr>
        </p:cxnSp>
        <p:cxnSp>
          <p:nvCxnSpPr>
            <p:cNvPr id="291" name="Google Shape;291;p19"/>
            <p:cNvCxnSpPr/>
            <p:nvPr/>
          </p:nvCxnSpPr>
          <p:spPr>
            <a:xfrm>
              <a:off x="4905" y="5113"/>
              <a:ext cx="441" cy="673"/>
            </a:xfrm>
            <a:prstGeom prst="straightConnector1">
              <a:avLst/>
            </a:prstGeom>
            <a:noFill/>
            <a:ln cap="flat" cmpd="sng" w="9525">
              <a:solidFill>
                <a:srgbClr val="000000"/>
              </a:solidFill>
              <a:prstDash val="solid"/>
              <a:miter lim="800000"/>
              <a:headEnd len="med" w="med" type="none"/>
              <a:tailEnd len="med" w="med" type="none"/>
            </a:ln>
          </p:spPr>
        </p:cxnSp>
        <p:sp>
          <p:nvSpPr>
            <p:cNvPr id="292" name="Google Shape;292;p19"/>
            <p:cNvSpPr/>
            <p:nvPr/>
          </p:nvSpPr>
          <p:spPr>
            <a:xfrm>
              <a:off x="4465" y="5673"/>
              <a:ext cx="331" cy="337"/>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3" name="Google Shape;293;p19"/>
            <p:cNvSpPr/>
            <p:nvPr/>
          </p:nvSpPr>
          <p:spPr>
            <a:xfrm>
              <a:off x="5126" y="5673"/>
              <a:ext cx="330" cy="337"/>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94" name="Google Shape;294;p19"/>
            <p:cNvCxnSpPr/>
            <p:nvPr/>
          </p:nvCxnSpPr>
          <p:spPr>
            <a:xfrm flipH="1">
              <a:off x="3142" y="4106"/>
              <a:ext cx="220" cy="559"/>
            </a:xfrm>
            <a:prstGeom prst="straightConnector1">
              <a:avLst/>
            </a:prstGeom>
            <a:noFill/>
            <a:ln cap="flat" cmpd="sng" w="9525">
              <a:solidFill>
                <a:srgbClr val="000000"/>
              </a:solidFill>
              <a:prstDash val="solid"/>
              <a:miter lim="800000"/>
              <a:headEnd len="med" w="med" type="none"/>
              <a:tailEnd len="med" w="med" type="none"/>
            </a:ln>
          </p:spPr>
        </p:cxnSp>
        <p:sp>
          <p:nvSpPr>
            <p:cNvPr id="295" name="Google Shape;295;p19"/>
            <p:cNvSpPr/>
            <p:nvPr/>
          </p:nvSpPr>
          <p:spPr>
            <a:xfrm>
              <a:off x="2921" y="4665"/>
              <a:ext cx="330" cy="336"/>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6" name="Google Shape;296;p19"/>
            <p:cNvSpPr txBox="1"/>
            <p:nvPr/>
          </p:nvSpPr>
          <p:spPr>
            <a:xfrm>
              <a:off x="7881" y="3770"/>
              <a:ext cx="441" cy="33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7" name="Google Shape;297;p19"/>
            <p:cNvSpPr txBox="1"/>
            <p:nvPr/>
          </p:nvSpPr>
          <p:spPr>
            <a:xfrm>
              <a:off x="6228" y="3770"/>
              <a:ext cx="441" cy="33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298" name="Google Shape;298;p19"/>
            <p:cNvCxnSpPr/>
            <p:nvPr/>
          </p:nvCxnSpPr>
          <p:spPr>
            <a:xfrm>
              <a:off x="6449" y="4106"/>
              <a:ext cx="550" cy="672"/>
            </a:xfrm>
            <a:prstGeom prst="straightConnector1">
              <a:avLst/>
            </a:prstGeom>
            <a:noFill/>
            <a:ln cap="flat" cmpd="sng" w="9525">
              <a:solidFill>
                <a:srgbClr val="000000"/>
              </a:solidFill>
              <a:prstDash val="solid"/>
              <a:miter lim="800000"/>
              <a:headEnd len="med" w="med" type="none"/>
              <a:tailEnd len="med" w="med" type="none"/>
            </a:ln>
          </p:spPr>
        </p:cxnSp>
        <p:cxnSp>
          <p:nvCxnSpPr>
            <p:cNvPr id="299" name="Google Shape;299;p19"/>
            <p:cNvCxnSpPr/>
            <p:nvPr/>
          </p:nvCxnSpPr>
          <p:spPr>
            <a:xfrm flipH="1">
              <a:off x="5898" y="4106"/>
              <a:ext cx="551" cy="672"/>
            </a:xfrm>
            <a:prstGeom prst="straightConnector1">
              <a:avLst/>
            </a:prstGeom>
            <a:noFill/>
            <a:ln cap="flat" cmpd="sng" w="9525">
              <a:solidFill>
                <a:srgbClr val="000000"/>
              </a:solidFill>
              <a:prstDash val="solid"/>
              <a:miter lim="800000"/>
              <a:headEnd len="med" w="med" type="none"/>
              <a:tailEnd len="med" w="med" type="none"/>
            </a:ln>
          </p:spPr>
        </p:cxnSp>
        <p:sp>
          <p:nvSpPr>
            <p:cNvPr id="300" name="Google Shape;300;p19"/>
            <p:cNvSpPr/>
            <p:nvPr/>
          </p:nvSpPr>
          <p:spPr>
            <a:xfrm>
              <a:off x="6780" y="4665"/>
              <a:ext cx="330" cy="336"/>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1" name="Google Shape;301;p19"/>
            <p:cNvSpPr/>
            <p:nvPr/>
          </p:nvSpPr>
          <p:spPr>
            <a:xfrm>
              <a:off x="5787" y="4665"/>
              <a:ext cx="330" cy="336"/>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302" name="Google Shape;302;p19"/>
            <p:cNvCxnSpPr/>
            <p:nvPr/>
          </p:nvCxnSpPr>
          <p:spPr>
            <a:xfrm>
              <a:off x="6455" y="4106"/>
              <a:ext cx="1" cy="672"/>
            </a:xfrm>
            <a:prstGeom prst="straightConnector1">
              <a:avLst/>
            </a:prstGeom>
            <a:noFill/>
            <a:ln cap="flat" cmpd="sng" w="9525">
              <a:solidFill>
                <a:srgbClr val="000000"/>
              </a:solidFill>
              <a:prstDash val="solid"/>
              <a:miter lim="800000"/>
              <a:headEnd len="med" w="med" type="none"/>
              <a:tailEnd len="med" w="med" type="none"/>
            </a:ln>
          </p:spPr>
        </p:cxnSp>
        <p:sp>
          <p:nvSpPr>
            <p:cNvPr id="303" name="Google Shape;303;p19"/>
            <p:cNvSpPr/>
            <p:nvPr/>
          </p:nvSpPr>
          <p:spPr>
            <a:xfrm>
              <a:off x="6290" y="4665"/>
              <a:ext cx="330" cy="336"/>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304" name="Google Shape;304;p19"/>
            <p:cNvCxnSpPr/>
            <p:nvPr/>
          </p:nvCxnSpPr>
          <p:spPr>
            <a:xfrm flipH="1">
              <a:off x="4905" y="2762"/>
              <a:ext cx="551" cy="673"/>
            </a:xfrm>
            <a:prstGeom prst="straightConnector1">
              <a:avLst/>
            </a:prstGeom>
            <a:noFill/>
            <a:ln cap="flat" cmpd="sng" w="9525">
              <a:solidFill>
                <a:srgbClr val="000000"/>
              </a:solidFill>
              <a:prstDash val="solid"/>
              <a:miter lim="800000"/>
              <a:headEnd len="med" w="med" type="none"/>
              <a:tailEnd len="med" w="med" type="none"/>
            </a:ln>
          </p:spPr>
        </p:cxnSp>
        <p:sp>
          <p:nvSpPr>
            <p:cNvPr id="305" name="Google Shape;305;p19"/>
            <p:cNvSpPr/>
            <p:nvPr/>
          </p:nvSpPr>
          <p:spPr>
            <a:xfrm>
              <a:off x="4796" y="3322"/>
              <a:ext cx="330" cy="336"/>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6" name="Google Shape;306;p19"/>
            <p:cNvSpPr txBox="1"/>
            <p:nvPr/>
          </p:nvSpPr>
          <p:spPr>
            <a:xfrm>
              <a:off x="5825" y="6032"/>
              <a:ext cx="465" cy="313"/>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7" name="Google Shape;307;p19"/>
            <p:cNvSpPr txBox="1"/>
            <p:nvPr/>
          </p:nvSpPr>
          <p:spPr>
            <a:xfrm>
              <a:off x="6338" y="6080"/>
              <a:ext cx="1143" cy="287"/>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 Thư mục</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308" name="Google Shape;308;p19"/>
            <p:cNvSpPr/>
            <p:nvPr/>
          </p:nvSpPr>
          <p:spPr>
            <a:xfrm>
              <a:off x="7623" y="6010"/>
              <a:ext cx="322" cy="335"/>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9" name="Google Shape;309;p19"/>
            <p:cNvSpPr txBox="1"/>
            <p:nvPr/>
          </p:nvSpPr>
          <p:spPr>
            <a:xfrm>
              <a:off x="8077" y="6057"/>
              <a:ext cx="863" cy="288"/>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 File</a:t>
              </a:r>
              <a:endParaRPr/>
            </a:p>
          </p:txBody>
        </p:sp>
      </p:grpSp>
      <p:sp>
        <p:nvSpPr>
          <p:cNvPr id="310" name="Google Shape;310;p1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0"/>
          <p:cNvSpPr txBox="1"/>
          <p:nvPr>
            <p:ph idx="1" type="body"/>
          </p:nvPr>
        </p:nvSpPr>
        <p:spPr>
          <a:xfrm>
            <a:off x="152400" y="1066800"/>
            <a:ext cx="89916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Thư mục cấu trúc cây (tt):</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Phân biệt khoản mục file và khoản mục của thư mục con: thêm bit đặc biệt trong khoản mục</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1: khoản mục của thư mục mức dưới</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0: khoản mục của file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Tại mỗi thời điểm, người dùng làm việc với thư mục hiện thời (current directory)</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Tổ chức cây thư mục cho từng đĩa:</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Trong hệ thống file như FAT của DOS, cây thư mục được xây cho từng đĩa. Hệ thống thư mục được coi là rừng, mỗi cây trên 1 đĩa</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Linux: toàn hệ thống chỉ gồm 1 cây thư mục </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17" name="Google Shape;317;p20"/>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THƯ MỤC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Cấu trúc hệ thống thư mục</a:t>
            </a:r>
            <a:endParaRPr/>
          </a:p>
        </p:txBody>
      </p:sp>
      <p:sp>
        <p:nvSpPr>
          <p:cNvPr id="318" name="Google Shape;318;p2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9" name="Google Shape;319;p2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1"/>
          <p:cNvSpPr txBox="1"/>
          <p:nvPr>
            <p:ph idx="1" type="body"/>
          </p:nvPr>
        </p:nvSpPr>
        <p:spPr>
          <a:xfrm>
            <a:off x="152400" y="762000"/>
            <a:ext cx="89916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Thư mục cấu trúc đồ thị không tuần hoàn (acyclic graph </a:t>
            </a:r>
            <a:r>
              <a:rPr b="0" i="0" lang="en-US" sz="2400" u="none">
                <a:solidFill>
                  <a:schemeClr val="dk2"/>
                </a:solidFill>
                <a:latin typeface="Arial"/>
                <a:ea typeface="Arial"/>
                <a:cs typeface="Arial"/>
                <a:sym typeface="Arial"/>
              </a:rPr>
              <a:t>)</a:t>
            </a:r>
            <a:r>
              <a:rPr b="0" i="0" lang="en-US" sz="2400" u="none">
                <a:solidFill>
                  <a:schemeClr val="dk2"/>
                </a:solidFill>
                <a:latin typeface="Times New Roman"/>
                <a:ea typeface="Times New Roman"/>
                <a:cs typeface="Times New Roman"/>
                <a:sym typeface="Times New Roman"/>
              </a:rPr>
              <a:t>:</a:t>
            </a:r>
            <a:endParaRPr/>
          </a:p>
          <a:p>
            <a:pPr indent="-285750" lvl="1" marL="742950" marR="0" rtl="0" algn="l">
              <a:lnSpc>
                <a:spcPct val="100000"/>
              </a:lnSpc>
              <a:spcBef>
                <a:spcPts val="400"/>
              </a:spcBef>
              <a:spcAft>
                <a:spcPts val="0"/>
              </a:spcAft>
              <a:buClr>
                <a:schemeClr val="accent1"/>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Chia sẻ files và thư mục để có thể xuất hiện ở nhiều thư mục riêng khác nhau</a:t>
            </a:r>
            <a:endParaRPr/>
          </a:p>
          <a:p>
            <a:pPr indent="-285750" lvl="1" marL="742950" marR="0" rtl="0" algn="l">
              <a:lnSpc>
                <a:spcPct val="100000"/>
              </a:lnSpc>
              <a:spcBef>
                <a:spcPts val="400"/>
              </a:spcBef>
              <a:spcAft>
                <a:spcPts val="0"/>
              </a:spcAft>
              <a:buClr>
                <a:schemeClr val="accent1"/>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Đây là một cấu trúc đồ thị không chứa chu trình, là mở rộng của cấu trúc cây</a:t>
            </a:r>
            <a:endParaRPr/>
          </a:p>
          <a:p>
            <a:pPr indent="-285750" lvl="1" marL="742950" marR="0" rtl="0" algn="l">
              <a:lnSpc>
                <a:spcPct val="100000"/>
              </a:lnSpc>
              <a:spcBef>
                <a:spcPts val="400"/>
              </a:spcBef>
              <a:spcAft>
                <a:spcPts val="0"/>
              </a:spcAft>
              <a:buClr>
                <a:schemeClr val="accent1"/>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 cây: lá và cành có thể đồng thời thuộc về những cành khác nhau</a:t>
            </a:r>
            <a:endParaRPr/>
          </a:p>
          <a:p>
            <a:pPr indent="-285750" lvl="1" marL="742950" marR="0" rtl="0" algn="l">
              <a:lnSpc>
                <a:spcPct val="100000"/>
              </a:lnSpc>
              <a:spcBef>
                <a:spcPts val="400"/>
              </a:spcBef>
              <a:spcAft>
                <a:spcPts val="0"/>
              </a:spcAft>
              <a:buClr>
                <a:schemeClr val="accent1"/>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Triển khai:</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Sử dụng liên kết: con trỏ tới thư mục hoặc file khác</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Tạo bản sao của file và thư mục cần chia sẻ và chứa vào các thư mục khác nhau =&gt; phải đảm bảo tính đồng bộ và nhất quán =&gt; tránh sao lưu chồng chéo, thống kê một file nhiều lần.</a:t>
            </a:r>
            <a:endParaRPr/>
          </a:p>
          <a:p>
            <a:pPr indent="-285750" lvl="1" marL="742950" marR="0" rtl="0" algn="l">
              <a:lnSpc>
                <a:spcPct val="100000"/>
              </a:lnSpc>
              <a:spcBef>
                <a:spcPts val="400"/>
              </a:spcBef>
              <a:spcAft>
                <a:spcPts val="0"/>
              </a:spcAft>
              <a:buClr>
                <a:schemeClr val="accent1"/>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Mềm dẻo nhưng phức tạp</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26" name="Google Shape;326;p2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THƯ MỤC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Cấu trúc hệ thống thư mục</a:t>
            </a:r>
            <a:endParaRPr/>
          </a:p>
        </p:txBody>
      </p:sp>
      <p:sp>
        <p:nvSpPr>
          <p:cNvPr id="327" name="Google Shape;327;p21"/>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8" name="Google Shape;328;p2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9" name="Google Shape;329;p2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0" name="Google Shape;330;p2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331" name="Google Shape;331;p21"/>
          <p:cNvGrpSpPr/>
          <p:nvPr/>
        </p:nvGrpSpPr>
        <p:grpSpPr>
          <a:xfrm>
            <a:off x="4659312" y="3814762"/>
            <a:ext cx="4237037" cy="2695575"/>
            <a:chOff x="2358" y="8904"/>
            <a:chExt cx="5296" cy="3368"/>
          </a:xfrm>
        </p:grpSpPr>
        <p:sp>
          <p:nvSpPr>
            <p:cNvPr id="332" name="Google Shape;332;p21"/>
            <p:cNvSpPr/>
            <p:nvPr/>
          </p:nvSpPr>
          <p:spPr>
            <a:xfrm>
              <a:off x="2358" y="8904"/>
              <a:ext cx="5296" cy="33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333" name="Google Shape;333;p21"/>
            <p:cNvCxnSpPr/>
            <p:nvPr/>
          </p:nvCxnSpPr>
          <p:spPr>
            <a:xfrm>
              <a:off x="3883" y="9957"/>
              <a:ext cx="1463" cy="1698"/>
            </a:xfrm>
            <a:prstGeom prst="straightConnector1">
              <a:avLst/>
            </a:prstGeom>
            <a:noFill/>
            <a:ln cap="flat" cmpd="sng" w="9525">
              <a:solidFill>
                <a:srgbClr val="000000"/>
              </a:solidFill>
              <a:prstDash val="solid"/>
              <a:miter lim="800000"/>
              <a:headEnd len="med" w="med" type="none"/>
              <a:tailEnd len="med" w="med" type="triangle"/>
            </a:ln>
          </p:spPr>
        </p:cxnSp>
        <p:cxnSp>
          <p:nvCxnSpPr>
            <p:cNvPr id="334" name="Google Shape;334;p21"/>
            <p:cNvCxnSpPr/>
            <p:nvPr/>
          </p:nvCxnSpPr>
          <p:spPr>
            <a:xfrm flipH="1">
              <a:off x="5500" y="9957"/>
              <a:ext cx="463" cy="231"/>
            </a:xfrm>
            <a:prstGeom prst="straightConnector1">
              <a:avLst/>
            </a:prstGeom>
            <a:noFill/>
            <a:ln cap="flat" cmpd="sng" w="9525">
              <a:solidFill>
                <a:srgbClr val="000000"/>
              </a:solidFill>
              <a:prstDash val="solid"/>
              <a:miter lim="800000"/>
              <a:headEnd len="med" w="med" type="none"/>
              <a:tailEnd len="med" w="med" type="triangle"/>
            </a:ln>
          </p:spPr>
        </p:cxnSp>
        <p:sp>
          <p:nvSpPr>
            <p:cNvPr id="335" name="Google Shape;335;p21"/>
            <p:cNvSpPr txBox="1"/>
            <p:nvPr/>
          </p:nvSpPr>
          <p:spPr>
            <a:xfrm>
              <a:off x="4808" y="9185"/>
              <a:ext cx="307" cy="23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6" name="Google Shape;336;p21"/>
            <p:cNvSpPr txBox="1"/>
            <p:nvPr/>
          </p:nvSpPr>
          <p:spPr>
            <a:xfrm>
              <a:off x="3729" y="9725"/>
              <a:ext cx="308" cy="23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7" name="Google Shape;337;p21"/>
            <p:cNvSpPr txBox="1"/>
            <p:nvPr/>
          </p:nvSpPr>
          <p:spPr>
            <a:xfrm>
              <a:off x="5808" y="9725"/>
              <a:ext cx="309" cy="23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338" name="Google Shape;338;p21"/>
            <p:cNvCxnSpPr/>
            <p:nvPr/>
          </p:nvCxnSpPr>
          <p:spPr>
            <a:xfrm>
              <a:off x="3883" y="9957"/>
              <a:ext cx="1540" cy="231"/>
            </a:xfrm>
            <a:prstGeom prst="straightConnector1">
              <a:avLst/>
            </a:prstGeom>
            <a:noFill/>
            <a:ln cap="flat" cmpd="sng" w="9525">
              <a:solidFill>
                <a:srgbClr val="000000"/>
              </a:solidFill>
              <a:prstDash val="solid"/>
              <a:miter lim="800000"/>
              <a:headEnd len="med" w="med" type="none"/>
              <a:tailEnd len="med" w="med" type="triangle"/>
            </a:ln>
          </p:spPr>
        </p:cxnSp>
        <p:cxnSp>
          <p:nvCxnSpPr>
            <p:cNvPr id="339" name="Google Shape;339;p21"/>
            <p:cNvCxnSpPr/>
            <p:nvPr/>
          </p:nvCxnSpPr>
          <p:spPr>
            <a:xfrm flipH="1">
              <a:off x="3575" y="9957"/>
              <a:ext cx="308" cy="386"/>
            </a:xfrm>
            <a:prstGeom prst="straightConnector1">
              <a:avLst/>
            </a:prstGeom>
            <a:noFill/>
            <a:ln cap="flat" cmpd="sng" w="9525">
              <a:solidFill>
                <a:srgbClr val="000000"/>
              </a:solidFill>
              <a:prstDash val="solid"/>
              <a:miter lim="800000"/>
              <a:headEnd len="med" w="med" type="none"/>
              <a:tailEnd len="med" w="med" type="triangle"/>
            </a:ln>
          </p:spPr>
        </p:cxnSp>
        <p:sp>
          <p:nvSpPr>
            <p:cNvPr id="340" name="Google Shape;340;p21"/>
            <p:cNvSpPr/>
            <p:nvPr/>
          </p:nvSpPr>
          <p:spPr>
            <a:xfrm>
              <a:off x="5346" y="10188"/>
              <a:ext cx="231" cy="232"/>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1" name="Google Shape;341;p21"/>
            <p:cNvSpPr/>
            <p:nvPr/>
          </p:nvSpPr>
          <p:spPr>
            <a:xfrm>
              <a:off x="3421" y="10343"/>
              <a:ext cx="231" cy="232"/>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342" name="Google Shape;342;p21"/>
            <p:cNvCxnSpPr/>
            <p:nvPr/>
          </p:nvCxnSpPr>
          <p:spPr>
            <a:xfrm>
              <a:off x="4962" y="9417"/>
              <a:ext cx="1001" cy="308"/>
            </a:xfrm>
            <a:prstGeom prst="straightConnector1">
              <a:avLst/>
            </a:prstGeom>
            <a:noFill/>
            <a:ln cap="flat" cmpd="sng" w="9525">
              <a:solidFill>
                <a:srgbClr val="000000"/>
              </a:solidFill>
              <a:prstDash val="solid"/>
              <a:miter lim="800000"/>
              <a:headEnd len="med" w="med" type="none"/>
              <a:tailEnd len="med" w="med" type="triangle"/>
            </a:ln>
          </p:spPr>
        </p:cxnSp>
        <p:cxnSp>
          <p:nvCxnSpPr>
            <p:cNvPr id="343" name="Google Shape;343;p21"/>
            <p:cNvCxnSpPr/>
            <p:nvPr/>
          </p:nvCxnSpPr>
          <p:spPr>
            <a:xfrm flipH="1">
              <a:off x="3883" y="9417"/>
              <a:ext cx="1078" cy="308"/>
            </a:xfrm>
            <a:prstGeom prst="straightConnector1">
              <a:avLst/>
            </a:prstGeom>
            <a:noFill/>
            <a:ln cap="flat" cmpd="sng" w="9525">
              <a:solidFill>
                <a:srgbClr val="000000"/>
              </a:solidFill>
              <a:prstDash val="solid"/>
              <a:miter lim="800000"/>
              <a:headEnd len="med" w="med" type="none"/>
              <a:tailEnd len="med" w="med" type="triangle"/>
            </a:ln>
          </p:spPr>
        </p:cxnSp>
        <p:sp>
          <p:nvSpPr>
            <p:cNvPr id="344" name="Google Shape;344;p21"/>
            <p:cNvSpPr txBox="1"/>
            <p:nvPr/>
          </p:nvSpPr>
          <p:spPr>
            <a:xfrm>
              <a:off x="5500" y="9064"/>
              <a:ext cx="617" cy="430"/>
            </a:xfrm>
            <a:prstGeom prst="rect">
              <a:avLst/>
            </a:prstGeom>
            <a:solidFill>
              <a:srgbClr val="FFFFFF"/>
            </a:soli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900"/>
                <a:buFont typeface="Arial"/>
                <a:buNone/>
              </a:pPr>
              <a:r>
                <a:rPr b="0" i="0" lang="en-US" sz="900" u="none">
                  <a:solidFill>
                    <a:schemeClr val="dk1"/>
                  </a:solidFill>
                  <a:latin typeface="Arial"/>
                  <a:ea typeface="Arial"/>
                  <a:cs typeface="Arial"/>
                  <a:sym typeface="Arial"/>
                </a:rPr>
                <a:t>Thư mục gốc</a:t>
              </a:r>
              <a:endParaRPr/>
            </a:p>
          </p:txBody>
        </p:sp>
        <p:sp>
          <p:nvSpPr>
            <p:cNvPr id="345" name="Google Shape;345;p21"/>
            <p:cNvSpPr txBox="1"/>
            <p:nvPr/>
          </p:nvSpPr>
          <p:spPr>
            <a:xfrm>
              <a:off x="3190" y="12118"/>
              <a:ext cx="3543" cy="154"/>
            </a:xfrm>
            <a:prstGeom prst="rect">
              <a:avLst/>
            </a:pr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6" name="Google Shape;346;p21"/>
            <p:cNvSpPr txBox="1"/>
            <p:nvPr/>
          </p:nvSpPr>
          <p:spPr>
            <a:xfrm>
              <a:off x="5577" y="11037"/>
              <a:ext cx="309" cy="23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347" name="Google Shape;347;p21"/>
            <p:cNvCxnSpPr/>
            <p:nvPr/>
          </p:nvCxnSpPr>
          <p:spPr>
            <a:xfrm>
              <a:off x="5731" y="11269"/>
              <a:ext cx="309" cy="386"/>
            </a:xfrm>
            <a:prstGeom prst="straightConnector1">
              <a:avLst/>
            </a:prstGeom>
            <a:noFill/>
            <a:ln cap="flat" cmpd="sng" w="9525">
              <a:solidFill>
                <a:srgbClr val="000000"/>
              </a:solidFill>
              <a:prstDash val="solid"/>
              <a:miter lim="800000"/>
              <a:headEnd len="med" w="med" type="none"/>
              <a:tailEnd len="med" w="med" type="triangle"/>
            </a:ln>
          </p:spPr>
        </p:cxnSp>
        <p:cxnSp>
          <p:nvCxnSpPr>
            <p:cNvPr id="348" name="Google Shape;348;p21"/>
            <p:cNvCxnSpPr/>
            <p:nvPr/>
          </p:nvCxnSpPr>
          <p:spPr>
            <a:xfrm flipH="1">
              <a:off x="5423" y="11269"/>
              <a:ext cx="308" cy="386"/>
            </a:xfrm>
            <a:prstGeom prst="straightConnector1">
              <a:avLst/>
            </a:prstGeom>
            <a:noFill/>
            <a:ln cap="flat" cmpd="sng" w="9525">
              <a:solidFill>
                <a:srgbClr val="000000"/>
              </a:solidFill>
              <a:prstDash val="solid"/>
              <a:miter lim="800000"/>
              <a:headEnd len="med" w="med" type="none"/>
              <a:tailEnd len="med" w="med" type="triangle"/>
            </a:ln>
          </p:spPr>
        </p:cxnSp>
        <p:sp>
          <p:nvSpPr>
            <p:cNvPr id="349" name="Google Shape;349;p21"/>
            <p:cNvSpPr/>
            <p:nvPr/>
          </p:nvSpPr>
          <p:spPr>
            <a:xfrm>
              <a:off x="5963" y="11655"/>
              <a:ext cx="231" cy="231"/>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0" name="Google Shape;350;p21"/>
            <p:cNvSpPr/>
            <p:nvPr/>
          </p:nvSpPr>
          <p:spPr>
            <a:xfrm>
              <a:off x="5269" y="11655"/>
              <a:ext cx="231" cy="231"/>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351" name="Google Shape;351;p21"/>
            <p:cNvCxnSpPr/>
            <p:nvPr/>
          </p:nvCxnSpPr>
          <p:spPr>
            <a:xfrm flipH="1">
              <a:off x="5731" y="10996"/>
              <a:ext cx="5" cy="386"/>
            </a:xfrm>
            <a:prstGeom prst="straightConnector1">
              <a:avLst/>
            </a:prstGeom>
            <a:noFill/>
            <a:ln cap="flat" cmpd="sng" w="9525">
              <a:solidFill>
                <a:srgbClr val="000000"/>
              </a:solidFill>
              <a:prstDash val="solid"/>
              <a:miter lim="800000"/>
              <a:headEnd len="med" w="med" type="none"/>
              <a:tailEnd len="med" w="med" type="triangle"/>
            </a:ln>
          </p:spPr>
        </p:cxnSp>
        <p:sp>
          <p:nvSpPr>
            <p:cNvPr id="352" name="Google Shape;352;p21"/>
            <p:cNvSpPr/>
            <p:nvPr/>
          </p:nvSpPr>
          <p:spPr>
            <a:xfrm>
              <a:off x="5620" y="11655"/>
              <a:ext cx="231" cy="231"/>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353" name="Google Shape;353;p21"/>
            <p:cNvCxnSpPr/>
            <p:nvPr/>
          </p:nvCxnSpPr>
          <p:spPr>
            <a:xfrm flipH="1">
              <a:off x="5731" y="9957"/>
              <a:ext cx="232" cy="1080"/>
            </a:xfrm>
            <a:prstGeom prst="straightConnector1">
              <a:avLst/>
            </a:prstGeom>
            <a:noFill/>
            <a:ln cap="flat" cmpd="sng" w="9525">
              <a:solidFill>
                <a:srgbClr val="000000"/>
              </a:solidFill>
              <a:prstDash val="solid"/>
              <a:miter lim="800000"/>
              <a:headEnd len="med" w="med" type="none"/>
              <a:tailEnd len="med" w="med" type="triangle"/>
            </a:ln>
          </p:spPr>
        </p:cxnSp>
        <p:cxnSp>
          <p:nvCxnSpPr>
            <p:cNvPr id="354" name="Google Shape;354;p21"/>
            <p:cNvCxnSpPr/>
            <p:nvPr/>
          </p:nvCxnSpPr>
          <p:spPr>
            <a:xfrm>
              <a:off x="3883" y="9957"/>
              <a:ext cx="1694" cy="1157"/>
            </a:xfrm>
            <a:prstGeom prst="straightConnector1">
              <a:avLst/>
            </a:prstGeom>
            <a:noFill/>
            <a:ln cap="flat" cmpd="sng" w="9525">
              <a:solidFill>
                <a:srgbClr val="000000"/>
              </a:solidFill>
              <a:prstDash val="solid"/>
              <a:miter lim="800000"/>
              <a:headEnd len="med" w="med" type="none"/>
              <a:tailEnd len="med" w="med" type="triangle"/>
            </a:ln>
          </p:spPr>
        </p:cxnSp>
      </p:grpSp>
      <p:sp>
        <p:nvSpPr>
          <p:cNvPr id="355" name="Google Shape;355;p2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2"/>
          <p:cNvSpPr txBox="1"/>
          <p:nvPr>
            <p:ph idx="1" type="body"/>
          </p:nvPr>
        </p:nvSpPr>
        <p:spPr>
          <a:xfrm>
            <a:off x="152400" y="1066800"/>
            <a:ext cx="89916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Mô tả vị trí của file trong thư mục</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Đường dẫn tuyệt đối: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Đường dẫn từ gốc của cây thư mục, đi qua các thư mục trung gian, dẫn tới file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C:\bc\bin\bc.exe </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Đường dẫn tương đối: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Tính từ thư mục hiện thời</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Thêm 2 khoản mục đặc biệt trong thư mục: “.” để biểu diễn thư mục hiện tại, và “..” cho thư mục mức trên.</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61" name="Google Shape;361;p2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THƯ MỤC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Đường dẫn</a:t>
            </a:r>
            <a:endParaRPr/>
          </a:p>
        </p:txBody>
      </p:sp>
      <p:sp>
        <p:nvSpPr>
          <p:cNvPr id="362" name="Google Shape;362;p22"/>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3" name="Google Shape;363;p2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4" name="Google Shape;364;p2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5" name="Google Shape;365;p2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6" name="Google Shape;366;p2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0" st="0"/>
                                            </p:txEl>
                                          </p:spTgt>
                                        </p:tgtEl>
                                        <p:attrNameLst>
                                          <p:attrName>style.visibility</p:attrName>
                                        </p:attrNameLst>
                                      </p:cBhvr>
                                      <p:to>
                                        <p:strVal val="visible"/>
                                      </p:to>
                                    </p:set>
                                    <p:animEffect filter="fade" transition="in">
                                      <p:cBhvr>
                                        <p:cTn dur="500"/>
                                        <p:tgtEl>
                                          <p:spTgt spid="3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1" st="1"/>
                                            </p:txEl>
                                          </p:spTgt>
                                        </p:tgtEl>
                                        <p:attrNameLst>
                                          <p:attrName>style.visibility</p:attrName>
                                        </p:attrNameLst>
                                      </p:cBhvr>
                                      <p:to>
                                        <p:strVal val="visible"/>
                                      </p:to>
                                    </p:set>
                                    <p:animEffect filter="fade" transition="in">
                                      <p:cBhvr>
                                        <p:cTn dur="500"/>
                                        <p:tgtEl>
                                          <p:spTgt spid="36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2" st="2"/>
                                            </p:txEl>
                                          </p:spTgt>
                                        </p:tgtEl>
                                        <p:attrNameLst>
                                          <p:attrName>style.visibility</p:attrName>
                                        </p:attrNameLst>
                                      </p:cBhvr>
                                      <p:to>
                                        <p:strVal val="visible"/>
                                      </p:to>
                                    </p:set>
                                    <p:animEffect filter="fade" transition="in">
                                      <p:cBhvr>
                                        <p:cTn dur="500"/>
                                        <p:tgtEl>
                                          <p:spTgt spid="36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3" st="3"/>
                                            </p:txEl>
                                          </p:spTgt>
                                        </p:tgtEl>
                                        <p:attrNameLst>
                                          <p:attrName>style.visibility</p:attrName>
                                        </p:attrNameLst>
                                      </p:cBhvr>
                                      <p:to>
                                        <p:strVal val="visible"/>
                                      </p:to>
                                    </p:set>
                                    <p:animEffect filter="fade" transition="in">
                                      <p:cBhvr>
                                        <p:cTn dur="500"/>
                                        <p:tgtEl>
                                          <p:spTgt spid="36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4" st="4"/>
                                            </p:txEl>
                                          </p:spTgt>
                                        </p:tgtEl>
                                        <p:attrNameLst>
                                          <p:attrName>style.visibility</p:attrName>
                                        </p:attrNameLst>
                                      </p:cBhvr>
                                      <p:to>
                                        <p:strVal val="visible"/>
                                      </p:to>
                                    </p:set>
                                    <p:animEffect filter="fade" transition="in">
                                      <p:cBhvr>
                                        <p:cTn dur="500"/>
                                        <p:tgtEl>
                                          <p:spTgt spid="36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5" st="5"/>
                                            </p:txEl>
                                          </p:spTgt>
                                        </p:tgtEl>
                                        <p:attrNameLst>
                                          <p:attrName>style.visibility</p:attrName>
                                        </p:attrNameLst>
                                      </p:cBhvr>
                                      <p:to>
                                        <p:strVal val="visible"/>
                                      </p:to>
                                    </p:set>
                                    <p:animEffect filter="fade" transition="in">
                                      <p:cBhvr>
                                        <p:cTn dur="500"/>
                                        <p:tgtEl>
                                          <p:spTgt spid="36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6" st="6"/>
                                            </p:txEl>
                                          </p:spTgt>
                                        </p:tgtEl>
                                        <p:attrNameLst>
                                          <p:attrName>style.visibility</p:attrName>
                                        </p:attrNameLst>
                                      </p:cBhvr>
                                      <p:to>
                                        <p:strVal val="visible"/>
                                      </p:to>
                                    </p:set>
                                    <p:animEffect filter="fade" transition="in">
                                      <p:cBhvr>
                                        <p:cTn dur="500"/>
                                        <p:tgtEl>
                                          <p:spTgt spid="36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7" st="7"/>
                                            </p:txEl>
                                          </p:spTgt>
                                        </p:tgtEl>
                                        <p:attrNameLst>
                                          <p:attrName>style.visibility</p:attrName>
                                        </p:attrNameLst>
                                      </p:cBhvr>
                                      <p:to>
                                        <p:strVal val="visible"/>
                                      </p:to>
                                    </p:set>
                                    <p:animEffect filter="fade" transition="in">
                                      <p:cBhvr>
                                        <p:cTn dur="500"/>
                                        <p:tgtEl>
                                          <p:spTgt spid="36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8" st="8"/>
                                            </p:txEl>
                                          </p:spTgt>
                                        </p:tgtEl>
                                        <p:attrNameLst>
                                          <p:attrName>style.visibility</p:attrName>
                                        </p:attrNameLst>
                                      </p:cBhvr>
                                      <p:to>
                                        <p:strVal val="visible"/>
                                      </p:to>
                                    </p:set>
                                    <p:animEffect filter="fade" transition="in">
                                      <p:cBhvr>
                                        <p:cTn dur="500"/>
                                        <p:tgtEl>
                                          <p:spTgt spid="36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9" st="9"/>
                                            </p:txEl>
                                          </p:spTgt>
                                        </p:tgtEl>
                                        <p:attrNameLst>
                                          <p:attrName>style.visibility</p:attrName>
                                        </p:attrNameLst>
                                      </p:cBhvr>
                                      <p:to>
                                        <p:strVal val="visible"/>
                                      </p:to>
                                    </p:set>
                                    <p:animEffect filter="fade" transition="in">
                                      <p:cBhvr>
                                        <p:cTn dur="500"/>
                                        <p:tgtEl>
                                          <p:spTgt spid="36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10" st="10"/>
                                            </p:txEl>
                                          </p:spTgt>
                                        </p:tgtEl>
                                        <p:attrNameLst>
                                          <p:attrName>style.visibility</p:attrName>
                                        </p:attrNameLst>
                                      </p:cBhvr>
                                      <p:to>
                                        <p:strVal val="visible"/>
                                      </p:to>
                                    </p:set>
                                    <p:animEffect filter="fade" transition="in">
                                      <p:cBhvr>
                                        <p:cTn dur="500"/>
                                        <p:tgtEl>
                                          <p:spTgt spid="36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11" st="11"/>
                                            </p:txEl>
                                          </p:spTgt>
                                        </p:tgtEl>
                                        <p:attrNameLst>
                                          <p:attrName>style.visibility</p:attrName>
                                        </p:attrNameLst>
                                      </p:cBhvr>
                                      <p:to>
                                        <p:strVal val="visible"/>
                                      </p:to>
                                    </p:set>
                                    <p:animEffect filter="fade" transition="in">
                                      <p:cBhvr>
                                        <p:cTn dur="500"/>
                                        <p:tgtEl>
                                          <p:spTgt spid="36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12" st="12"/>
                                            </p:txEl>
                                          </p:spTgt>
                                        </p:tgtEl>
                                        <p:attrNameLst>
                                          <p:attrName>style.visibility</p:attrName>
                                        </p:attrNameLst>
                                      </p:cBhvr>
                                      <p:to>
                                        <p:strVal val="visible"/>
                                      </p:to>
                                    </p:set>
                                    <p:animEffect filter="fade" transition="in">
                                      <p:cBhvr>
                                        <p:cTn dur="500"/>
                                        <p:tgtEl>
                                          <p:spTgt spid="360">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3"/>
          <p:cNvSpPr txBox="1"/>
          <p:nvPr>
            <p:ph idx="1" type="body"/>
          </p:nvPr>
        </p:nvSpPr>
        <p:spPr>
          <a:xfrm>
            <a:off x="152400" y="1066800"/>
            <a:ext cx="89916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Danh sách:</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Tổ chức thư mục dưới dạng danh sách các khoản mục</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Tìm kiếm khoản mục được thực hiện bằng cách duyệt lần lượt danh sách</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Thêm file mới vào thư mục:</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Duyệt cả thư mục để kiểm tra xem khoản mục với tên file như vậy đã có chưa</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Khoản mục mới được thêm vào cuối danh sách hoặc 1 ô trong bảng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Mở file, xóa file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Tìm kiếm trong danh sách chậm</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Lưu trữ thư mục trong bộ nhớ</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73" name="Google Shape;373;p23"/>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THƯ MỤC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Tổ chức bên trong của thư mục</a:t>
            </a:r>
            <a:endParaRPr/>
          </a:p>
        </p:txBody>
      </p:sp>
      <p:sp>
        <p:nvSpPr>
          <p:cNvPr id="374" name="Google Shape;374;p23"/>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5" name="Google Shape;375;p2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6" name="Google Shape;376;p2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7" name="Google Shape;377;p2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8" name="Google Shape;378;p2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4"/>
          <p:cNvSpPr txBox="1"/>
          <p:nvPr>
            <p:ph idx="1" type="body"/>
          </p:nvPr>
        </p:nvSpPr>
        <p:spPr>
          <a:xfrm>
            <a:off x="152400" y="1066800"/>
            <a:ext cx="89916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Cây nhị phân: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Tăng tốc độ tìm kiếm nhờ CTDL có hỗ trợ sắp xếp</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Hệ thống file NTFS của WinNT</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Bảng băm (hash table):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Dùng hàm băm để tính vị trí của khoản mục trong thư mục theo tên file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Thời gian tìm kiếm nhanh</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Hàm băm phụ thuộc vào kích thước của bảng băm =&gt; kích thước bảng cố định</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85" name="Google Shape;385;p24"/>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THƯ MỤC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Tổ chức bên trong của thư mục</a:t>
            </a:r>
            <a:endParaRPr/>
          </a:p>
        </p:txBody>
      </p:sp>
      <p:sp>
        <p:nvSpPr>
          <p:cNvPr id="386" name="Google Shape;386;p2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7" name="Google Shape;387;p2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8" name="Google Shape;388;p2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9" name="Google Shape;389;p2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5"/>
          <p:cNvSpPr txBox="1"/>
          <p:nvPr>
            <p:ph idx="1" type="body"/>
          </p:nvPr>
        </p:nvSpPr>
        <p:spPr>
          <a:xfrm>
            <a:off x="152400" y="762000"/>
            <a:ext cx="89916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Tổ chức thư mục của DOS:</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Mỗi đĩa logic có cây thư mục riêng, bắt đầu từ thư mục gốc </a:t>
            </a:r>
            <a:r>
              <a:rPr b="1" i="0" lang="en-US" sz="2400" u="none" cap="none" strike="noStrike">
                <a:solidFill>
                  <a:schemeClr val="dk2"/>
                </a:solidFill>
                <a:latin typeface="Times New Roman"/>
                <a:ea typeface="Times New Roman"/>
                <a:cs typeface="Times New Roman"/>
                <a:sym typeface="Times New Roman"/>
              </a:rPr>
              <a:t>ROOT</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Thư mục gốc được đặt ở phần đầu của đĩa, ngay sau sector khởi động </a:t>
            </a:r>
            <a:r>
              <a:rPr b="1" i="0" lang="en-US" sz="2400" u="none" cap="none" strike="noStrike">
                <a:solidFill>
                  <a:schemeClr val="dk2"/>
                </a:solidFill>
                <a:latin typeface="Times New Roman"/>
                <a:ea typeface="Times New Roman"/>
                <a:cs typeface="Times New Roman"/>
                <a:sym typeface="Times New Roman"/>
              </a:rPr>
              <a:t>BOOT</a:t>
            </a:r>
            <a:r>
              <a:rPr b="0" i="0" lang="en-US" sz="2400" u="none" cap="none" strike="noStrike">
                <a:solidFill>
                  <a:schemeClr val="dk2"/>
                </a:solidFill>
                <a:latin typeface="Times New Roman"/>
                <a:ea typeface="Times New Roman"/>
                <a:cs typeface="Times New Roman"/>
                <a:sym typeface="Times New Roman"/>
              </a:rPr>
              <a:t> và bảng </a:t>
            </a:r>
            <a:r>
              <a:rPr b="1" i="0" lang="en-US" sz="2400" u="none" cap="none" strike="noStrike">
                <a:solidFill>
                  <a:schemeClr val="dk2"/>
                </a:solidFill>
                <a:latin typeface="Times New Roman"/>
                <a:ea typeface="Times New Roman"/>
                <a:cs typeface="Times New Roman"/>
                <a:sym typeface="Times New Roman"/>
              </a:rPr>
              <a:t>FAT</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Thư mục gốc chứa files và các thư mục con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Thư mục con có thể chứa files và các thư mục cấp dưới nữa</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Được tổ chức dưới dạng bảng: mỗi khoản mục chiếm 1 dòng trong bảng và có kích thước cố định 32 bytes</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96" name="Google Shape;396;p2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THƯ MỤC </a:t>
            </a:r>
            <a:br>
              <a:rPr b="1" i="0" lang="en-US" sz="2800" u="none">
                <a:solidFill>
                  <a:srgbClr val="000066"/>
                </a:solidFill>
                <a:latin typeface="Times New Roman"/>
                <a:ea typeface="Times New Roman"/>
                <a:cs typeface="Times New Roman"/>
                <a:sym typeface="Times New Roman"/>
              </a:rPr>
            </a:br>
            <a:r>
              <a:rPr b="1" i="0" lang="en-US" sz="2800" u="none">
                <a:solidFill>
                  <a:srgbClr val="000066"/>
                </a:solidFill>
                <a:latin typeface="Times New Roman"/>
                <a:ea typeface="Times New Roman"/>
                <a:cs typeface="Times New Roman"/>
                <a:sym typeface="Times New Roman"/>
              </a:rPr>
              <a:t>5</a:t>
            </a:r>
            <a:r>
              <a:rPr b="1" i="0" lang="en-US" sz="2400" u="none">
                <a:solidFill>
                  <a:srgbClr val="000066"/>
                </a:solidFill>
                <a:latin typeface="Times New Roman"/>
                <a:ea typeface="Times New Roman"/>
                <a:cs typeface="Times New Roman"/>
                <a:sym typeface="Times New Roman"/>
              </a:rPr>
              <a:t>. Tổ chức bên trong của thư mục</a:t>
            </a:r>
            <a:endParaRPr/>
          </a:p>
        </p:txBody>
      </p:sp>
      <p:sp>
        <p:nvSpPr>
          <p:cNvPr id="397" name="Google Shape;397;p25"/>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8" name="Google Shape;398;p2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9" name="Google Shape;399;p2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00" name="Google Shape;400;p2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401" name="Google Shape;401;p25"/>
          <p:cNvPicPr preferRelativeResize="0"/>
          <p:nvPr/>
        </p:nvPicPr>
        <p:blipFill rotWithShape="1">
          <a:blip r:embed="rId3">
            <a:alphaModFix/>
          </a:blip>
          <a:srcRect b="0" l="0" r="0" t="0"/>
          <a:stretch/>
        </p:blipFill>
        <p:spPr>
          <a:xfrm>
            <a:off x="1943100" y="4495800"/>
            <a:ext cx="5067300" cy="1736725"/>
          </a:xfrm>
          <a:prstGeom prst="rect">
            <a:avLst/>
          </a:prstGeom>
          <a:noFill/>
          <a:ln>
            <a:noFill/>
          </a:ln>
        </p:spPr>
      </p:pic>
      <p:sp>
        <p:nvSpPr>
          <p:cNvPr id="402" name="Google Shape;402;p2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500"/>
                                        <p:tgtEl>
                                          <p:spTgt spid="4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26"/>
          <p:cNvSpPr txBox="1"/>
          <p:nvPr>
            <p:ph idx="1" type="body"/>
          </p:nvPr>
        </p:nvSpPr>
        <p:spPr>
          <a:xfrm>
            <a:off x="152400" y="1066800"/>
            <a:ext cx="89916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Tổ chức thư mục của Linux:</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Thư mục hệ thống file Ext2 của Linux có cách tổ chức đơn giản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Khoản mục chứa tên file và địa chỉ I-node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Thông tin còn lại về các thuộc tính file và vị trí các khối dữ liệu được lưu trên I-node chứ không phải thư mục</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Kích thước khoản mục phụ thuộc vào độ dài tên file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Phần đầu của khoản mục có trường cho biết kích thước khoản mục</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08" name="Google Shape;408;p2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THƯ MỤC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Tổ chức bên trong của thư mục</a:t>
            </a:r>
            <a:endParaRPr/>
          </a:p>
        </p:txBody>
      </p:sp>
      <p:sp>
        <p:nvSpPr>
          <p:cNvPr id="409" name="Google Shape;409;p26"/>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0" name="Google Shape;410;p2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1" name="Google Shape;411;p2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2" name="Google Shape;412;p2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413" name="Google Shape;413;p26"/>
          <p:cNvPicPr preferRelativeResize="0"/>
          <p:nvPr/>
        </p:nvPicPr>
        <p:blipFill rotWithShape="1">
          <a:blip r:embed="rId3">
            <a:alphaModFix/>
          </a:blip>
          <a:srcRect b="0" l="0" r="0" t="0"/>
          <a:stretch/>
        </p:blipFill>
        <p:spPr>
          <a:xfrm>
            <a:off x="2971800" y="4281487"/>
            <a:ext cx="2886075" cy="1704975"/>
          </a:xfrm>
          <a:prstGeom prst="rect">
            <a:avLst/>
          </a:prstGeom>
          <a:noFill/>
          <a:ln>
            <a:noFill/>
          </a:ln>
        </p:spPr>
      </p:pic>
      <p:sp>
        <p:nvSpPr>
          <p:cNvPr id="414" name="Google Shape;414;p2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7"/>
          <p:cNvSpPr txBox="1"/>
          <p:nvPr>
            <p:ph type="title"/>
          </p:nvPr>
        </p:nvSpPr>
        <p:spPr>
          <a:xfrm>
            <a:off x="457200" y="152400"/>
            <a:ext cx="8686800" cy="533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CẤP PHÁT KHÔNG GIAN CHO FILE</a:t>
            </a:r>
            <a:endParaRPr/>
          </a:p>
        </p:txBody>
      </p:sp>
      <p:sp>
        <p:nvSpPr>
          <p:cNvPr id="421" name="Google Shape;421;p27"/>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2" name="Google Shape;422;p2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3" name="Google Shape;423;p2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4" name="Google Shape;424;p27"/>
          <p:cNvSpPr txBox="1"/>
          <p:nvPr/>
        </p:nvSpPr>
        <p:spPr>
          <a:xfrm>
            <a:off x="38100" y="762000"/>
            <a:ext cx="8953500" cy="2133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Nhiệm vụ quan trọng của HĐH trong việc quản lý hệ thống file là cấp phát không gian trên đĩa và các thiết bị nhớ ngoài khác để lưu trữ file và thư mục</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Đồng thời, ghi lại vị trí các khối nhớ đã cấp phát để có thể tiến hành truy cập về sau.</a:t>
            </a:r>
            <a:endParaRPr/>
          </a:p>
        </p:txBody>
      </p:sp>
      <p:sp>
        <p:nvSpPr>
          <p:cNvPr id="425" name="Google Shape;425;p27"/>
          <p:cNvSpPr txBox="1"/>
          <p:nvPr>
            <p:ph idx="1" type="body"/>
          </p:nvPr>
        </p:nvSpPr>
        <p:spPr>
          <a:xfrm>
            <a:off x="4514850" y="2667000"/>
            <a:ext cx="4476750" cy="33575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400"/>
              <a:buFont typeface="Noto Sans Symbols"/>
              <a:buChar char="❖"/>
            </a:pPr>
            <a:r>
              <a:rPr b="0" i="0" lang="en-US" sz="2400" u="none">
                <a:solidFill>
                  <a:schemeClr val="dk2"/>
                </a:solidFill>
                <a:latin typeface="Tahoma"/>
                <a:ea typeface="Tahoma"/>
                <a:cs typeface="Tahoma"/>
                <a:sym typeface="Tahoma"/>
              </a:rPr>
              <a:t>Sector là đơn vị nhỏ nhất do chương trình điều khiển đĩa cho phép đọc hoặc ghi (khối vật lý) 1 sector=512byte</a:t>
            </a:r>
            <a:endParaRPr/>
          </a:p>
          <a:p>
            <a:pPr indent="-342900" lvl="0" marL="342900" marR="0" rtl="0" algn="just">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ahoma"/>
                <a:ea typeface="Tahoma"/>
                <a:cs typeface="Tahoma"/>
                <a:sym typeface="Tahoma"/>
              </a:rPr>
              <a:t>Cluster gồm một số khối vật lý, là đơn vị thông tin nhỏ nhất mà hệ điều hành cấp phát cho file (khối logic) 2KB-32KB</a:t>
            </a:r>
            <a:endParaRPr/>
          </a:p>
          <a:p>
            <a:pPr indent="-190500" lvl="0" marL="342900" marR="0" rtl="0" algn="l">
              <a:spcBef>
                <a:spcPts val="480"/>
              </a:spcBef>
              <a:spcAft>
                <a:spcPts val="0"/>
              </a:spcAft>
              <a:buClr>
                <a:schemeClr val="dk2"/>
              </a:buClr>
              <a:buSzPts val="2400"/>
              <a:buFont typeface="Noto Sans Symbols"/>
              <a:buNone/>
            </a:pPr>
            <a:r>
              <a:t/>
            </a:r>
            <a:endParaRPr b="0" i="0" sz="2400" u="none">
              <a:solidFill>
                <a:schemeClr val="dk2"/>
              </a:solidFill>
              <a:latin typeface="Tahoma"/>
              <a:ea typeface="Tahoma"/>
              <a:cs typeface="Tahoma"/>
              <a:sym typeface="Tahoma"/>
            </a:endParaRPr>
          </a:p>
        </p:txBody>
      </p:sp>
      <p:pic>
        <p:nvPicPr>
          <p:cNvPr id="426" name="Google Shape;426;p27"/>
          <p:cNvPicPr preferRelativeResize="0"/>
          <p:nvPr/>
        </p:nvPicPr>
        <p:blipFill rotWithShape="1">
          <a:blip r:embed="rId3">
            <a:alphaModFix/>
          </a:blip>
          <a:srcRect b="0" l="0" r="0" t="0"/>
          <a:stretch/>
        </p:blipFill>
        <p:spPr>
          <a:xfrm>
            <a:off x="381000" y="2895600"/>
            <a:ext cx="4133850" cy="2970212"/>
          </a:xfrm>
          <a:prstGeom prst="rect">
            <a:avLst/>
          </a:prstGeom>
          <a:noFill/>
          <a:ln cap="flat" cmpd="sng" w="9525">
            <a:solidFill>
              <a:schemeClr val="dk1"/>
            </a:solidFill>
            <a:prstDash val="solid"/>
            <a:miter lim="800000"/>
            <a:headEnd len="sm" w="sm" type="none"/>
            <a:tailEnd len="sm" w="sm" type="none"/>
          </a:ln>
        </p:spPr>
      </p:pic>
      <p:sp>
        <p:nvSpPr>
          <p:cNvPr id="427" name="Google Shape;427;p27"/>
          <p:cNvSpPr txBox="1"/>
          <p:nvPr/>
        </p:nvSpPr>
        <p:spPr>
          <a:xfrm>
            <a:off x="685800" y="5840412"/>
            <a:ext cx="3124200"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Tổ chức của đĩa cứng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8"/>
          <p:cNvSpPr txBox="1"/>
          <p:nvPr>
            <p:ph idx="1" type="body"/>
          </p:nvPr>
        </p:nvSpPr>
        <p:spPr>
          <a:xfrm>
            <a:off x="0" y="762000"/>
            <a:ext cx="91440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Mỗi file gồm 1 tập các khối,  HĐH chịu trách nhiệm cấp phát các khối cho file: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Không gian trên đĩa phải được cấp phát cho file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Cần theo dõi không gian trống sẵn sàng cho việc cấp phát</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Cần thực hiện sao cho tiết kiệm không gian trên đĩa và tăng tốc độ truy cập file</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Một số vấn đề:</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Không gian tối đa yêu cầu cấp phát cho file 1 lần là bao nhiêu?</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Không gian cấp phát cho file gọi là phần (partion). Kích thước phần ntn?</a:t>
            </a:r>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34" name="Google Shape;434;p28"/>
          <p:cNvSpPr txBox="1"/>
          <p:nvPr>
            <p:ph type="title"/>
          </p:nvPr>
        </p:nvSpPr>
        <p:spPr>
          <a:xfrm>
            <a:off x="457200" y="152400"/>
            <a:ext cx="8686800" cy="533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CẤP PHÁT KHÔNG GIAN CHO FILE</a:t>
            </a:r>
            <a:endParaRPr/>
          </a:p>
        </p:txBody>
      </p:sp>
      <p:sp>
        <p:nvSpPr>
          <p:cNvPr id="435" name="Google Shape;435;p28"/>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6" name="Google Shape;436;p2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7" name="Google Shape;437;p2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xEl>
                                              <p:pRg end="0" st="0"/>
                                            </p:txEl>
                                          </p:spTgt>
                                        </p:tgtEl>
                                        <p:attrNameLst>
                                          <p:attrName>style.visibility</p:attrName>
                                        </p:attrNameLst>
                                      </p:cBhvr>
                                      <p:to>
                                        <p:strVal val="visible"/>
                                      </p:to>
                                    </p:set>
                                    <p:animEffect filter="fade" transition="in">
                                      <p:cBhvr>
                                        <p:cTn dur="500"/>
                                        <p:tgtEl>
                                          <p:spTgt spid="4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xEl>
                                              <p:pRg end="1" st="1"/>
                                            </p:txEl>
                                          </p:spTgt>
                                        </p:tgtEl>
                                        <p:attrNameLst>
                                          <p:attrName>style.visibility</p:attrName>
                                        </p:attrNameLst>
                                      </p:cBhvr>
                                      <p:to>
                                        <p:strVal val="visible"/>
                                      </p:to>
                                    </p:set>
                                    <p:animEffect filter="fade" transition="in">
                                      <p:cBhvr>
                                        <p:cTn dur="500"/>
                                        <p:tgtEl>
                                          <p:spTgt spid="4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xEl>
                                              <p:pRg end="2" st="2"/>
                                            </p:txEl>
                                          </p:spTgt>
                                        </p:tgtEl>
                                        <p:attrNameLst>
                                          <p:attrName>style.visibility</p:attrName>
                                        </p:attrNameLst>
                                      </p:cBhvr>
                                      <p:to>
                                        <p:strVal val="visible"/>
                                      </p:to>
                                    </p:set>
                                    <p:animEffect filter="fade" transition="in">
                                      <p:cBhvr>
                                        <p:cTn dur="500"/>
                                        <p:tgtEl>
                                          <p:spTgt spid="4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xEl>
                                              <p:pRg end="3" st="3"/>
                                            </p:txEl>
                                          </p:spTgt>
                                        </p:tgtEl>
                                        <p:attrNameLst>
                                          <p:attrName>style.visibility</p:attrName>
                                        </p:attrNameLst>
                                      </p:cBhvr>
                                      <p:to>
                                        <p:strVal val="visible"/>
                                      </p:to>
                                    </p:set>
                                    <p:animEffect filter="fade" transition="in">
                                      <p:cBhvr>
                                        <p:cTn dur="500"/>
                                        <p:tgtEl>
                                          <p:spTgt spid="4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xEl>
                                              <p:pRg end="4" st="4"/>
                                            </p:txEl>
                                          </p:spTgt>
                                        </p:tgtEl>
                                        <p:attrNameLst>
                                          <p:attrName>style.visibility</p:attrName>
                                        </p:attrNameLst>
                                      </p:cBhvr>
                                      <p:to>
                                        <p:strVal val="visible"/>
                                      </p:to>
                                    </p:set>
                                    <p:animEffect filter="fade" transition="in">
                                      <p:cBhvr>
                                        <p:cTn dur="500"/>
                                        <p:tgtEl>
                                          <p:spTgt spid="43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xEl>
                                              <p:pRg end="5" st="5"/>
                                            </p:txEl>
                                          </p:spTgt>
                                        </p:tgtEl>
                                        <p:attrNameLst>
                                          <p:attrName>style.visibility</p:attrName>
                                        </p:attrNameLst>
                                      </p:cBhvr>
                                      <p:to>
                                        <p:strVal val="visible"/>
                                      </p:to>
                                    </p:set>
                                    <p:animEffect filter="fade" transition="in">
                                      <p:cBhvr>
                                        <p:cTn dur="500"/>
                                        <p:tgtEl>
                                          <p:spTgt spid="43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xEl>
                                              <p:pRg end="6" st="6"/>
                                            </p:txEl>
                                          </p:spTgt>
                                        </p:tgtEl>
                                        <p:attrNameLst>
                                          <p:attrName>style.visibility</p:attrName>
                                        </p:attrNameLst>
                                      </p:cBhvr>
                                      <p:to>
                                        <p:strVal val="visible"/>
                                      </p:to>
                                    </p:set>
                                    <p:animEffect filter="fade" transition="in">
                                      <p:cBhvr>
                                        <p:cTn dur="500"/>
                                        <p:tgtEl>
                                          <p:spTgt spid="43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xEl>
                                              <p:pRg end="7" st="7"/>
                                            </p:txEl>
                                          </p:spTgt>
                                        </p:tgtEl>
                                        <p:attrNameLst>
                                          <p:attrName>style.visibility</p:attrName>
                                        </p:attrNameLst>
                                      </p:cBhvr>
                                      <p:to>
                                        <p:strVal val="visible"/>
                                      </p:to>
                                    </p:set>
                                    <p:animEffect filter="fade" transition="in">
                                      <p:cBhvr>
                                        <p:cTn dur="500"/>
                                        <p:tgtEl>
                                          <p:spTgt spid="433">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29"/>
          <p:cNvSpPr txBox="1"/>
          <p:nvPr>
            <p:ph idx="1" type="body"/>
          </p:nvPr>
        </p:nvSpPr>
        <p:spPr>
          <a:xfrm>
            <a:off x="0" y="762000"/>
            <a:ext cx="91440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3000"/>
              <a:buFont typeface="Noto Sans Symbols"/>
              <a:buChar char="▪"/>
            </a:pPr>
            <a:r>
              <a:rPr b="0" i="0" lang="en-US" sz="3000" u="none">
                <a:solidFill>
                  <a:schemeClr val="dk2"/>
                </a:solidFill>
                <a:latin typeface="Times New Roman"/>
                <a:ea typeface="Times New Roman"/>
                <a:cs typeface="Times New Roman"/>
                <a:sym typeface="Times New Roman"/>
              </a:rPr>
              <a:t>Mỗi file được cấp phát 1 khoảng không gian gồm các khối liên tiếp trên đĩa </a:t>
            </a:r>
            <a:endParaRPr/>
          </a:p>
          <a:p>
            <a:pPr indent="-342900" lvl="0" marL="342900" marR="0" rtl="0" algn="l">
              <a:lnSpc>
                <a:spcPct val="100000"/>
              </a:lnSpc>
              <a:spcBef>
                <a:spcPts val="600"/>
              </a:spcBef>
              <a:spcAft>
                <a:spcPts val="0"/>
              </a:spcAft>
              <a:buClr>
                <a:schemeClr val="dk2"/>
              </a:buClr>
              <a:buSzPts val="3000"/>
              <a:buFont typeface="Noto Sans Symbols"/>
              <a:buChar char="▪"/>
            </a:pPr>
            <a:r>
              <a:rPr b="0" i="0" lang="en-US" sz="3000" u="none">
                <a:solidFill>
                  <a:schemeClr val="dk2"/>
                </a:solidFill>
                <a:latin typeface="Times New Roman"/>
                <a:ea typeface="Times New Roman"/>
                <a:cs typeface="Times New Roman"/>
                <a:sym typeface="Times New Roman"/>
              </a:rPr>
              <a:t>Vị trí file trên đĩa được xác định bởi vị trí khối đầu tiên và độ dài (số khối) mà file đó chiếm</a:t>
            </a:r>
            <a:endParaRPr/>
          </a:p>
          <a:p>
            <a:pPr indent="-342900" lvl="0" marL="342900" marR="0" rtl="0" algn="l">
              <a:lnSpc>
                <a:spcPct val="100000"/>
              </a:lnSpc>
              <a:spcBef>
                <a:spcPts val="600"/>
              </a:spcBef>
              <a:spcAft>
                <a:spcPts val="0"/>
              </a:spcAft>
              <a:buClr>
                <a:schemeClr val="dk2"/>
              </a:buClr>
              <a:buSzPts val="3000"/>
              <a:buFont typeface="Noto Sans Symbols"/>
              <a:buChar char="▪"/>
            </a:pPr>
            <a:r>
              <a:rPr b="0" i="0" lang="en-US" sz="3000" u="none">
                <a:solidFill>
                  <a:schemeClr val="dk2"/>
                </a:solidFill>
                <a:latin typeface="Times New Roman"/>
                <a:ea typeface="Times New Roman"/>
                <a:cs typeface="Times New Roman"/>
                <a:sym typeface="Times New Roman"/>
              </a:rPr>
              <a:t>Khi có yêu cầu cấp phát, HDH sẽ chọn 1 vùng trống có số lượng khối đủ cấp cho file đó</a:t>
            </a:r>
            <a:endParaRPr/>
          </a:p>
          <a:p>
            <a:pPr indent="-342900" lvl="0" marL="342900" marR="0" rtl="0" algn="l">
              <a:lnSpc>
                <a:spcPct val="100000"/>
              </a:lnSpc>
              <a:spcBef>
                <a:spcPts val="600"/>
              </a:spcBef>
              <a:spcAft>
                <a:spcPts val="0"/>
              </a:spcAft>
              <a:buClr>
                <a:schemeClr val="dk2"/>
              </a:buClr>
              <a:buSzPts val="3000"/>
              <a:buFont typeface="Noto Sans Symbols"/>
              <a:buChar char="▪"/>
            </a:pPr>
            <a:r>
              <a:rPr b="0" i="0" lang="en-US" sz="3000" u="none">
                <a:solidFill>
                  <a:schemeClr val="dk2"/>
                </a:solidFill>
                <a:latin typeface="Times New Roman"/>
                <a:ea typeface="Times New Roman"/>
                <a:cs typeface="Times New Roman"/>
                <a:sym typeface="Times New Roman"/>
              </a:rPr>
              <a:t>Bảng cấp phát file chỉ cần 1 khoản mục cho 1 file, chỉ ra khối bắt đầu, và độ dài của file tính = khối</a:t>
            </a:r>
            <a:endParaRPr/>
          </a:p>
          <a:p>
            <a:pPr indent="-342900" lvl="0" marL="342900" marR="0" rtl="0" algn="l">
              <a:lnSpc>
                <a:spcPct val="100000"/>
              </a:lnSpc>
              <a:spcBef>
                <a:spcPts val="600"/>
              </a:spcBef>
              <a:spcAft>
                <a:spcPts val="0"/>
              </a:spcAft>
              <a:buClr>
                <a:schemeClr val="dk2"/>
              </a:buClr>
              <a:buSzPts val="3000"/>
              <a:buFont typeface="Noto Sans Symbols"/>
              <a:buChar char="▪"/>
            </a:pPr>
            <a:r>
              <a:rPr b="0" i="0" lang="en-US" sz="3000" u="none">
                <a:solidFill>
                  <a:schemeClr val="dk2"/>
                </a:solidFill>
                <a:latin typeface="Times New Roman"/>
                <a:ea typeface="Times New Roman"/>
                <a:cs typeface="Times New Roman"/>
                <a:sym typeface="Times New Roman"/>
              </a:rPr>
              <a:t>Là cấp phát trước, sử dụng kích thước phần thay đổi</a:t>
            </a:r>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44" name="Google Shape;444;p29"/>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CẤP PHÁT KHÔNG GIAN CHO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Cấp phát các khối liên tiếp</a:t>
            </a:r>
            <a:endParaRPr/>
          </a:p>
        </p:txBody>
      </p:sp>
      <p:sp>
        <p:nvSpPr>
          <p:cNvPr id="445" name="Google Shape;445;p29"/>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6" name="Google Shape;446;p2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7" name="Google Shape;447;p2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0" st="0"/>
                                            </p:txEl>
                                          </p:spTgt>
                                        </p:tgtEl>
                                        <p:attrNameLst>
                                          <p:attrName>style.visibility</p:attrName>
                                        </p:attrNameLst>
                                      </p:cBhvr>
                                      <p:to>
                                        <p:strVal val="visible"/>
                                      </p:to>
                                    </p:set>
                                    <p:animEffect filter="fade" transition="in">
                                      <p:cBhvr>
                                        <p:cTn dur="500"/>
                                        <p:tgtEl>
                                          <p:spTgt spid="4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1" st="1"/>
                                            </p:txEl>
                                          </p:spTgt>
                                        </p:tgtEl>
                                        <p:attrNameLst>
                                          <p:attrName>style.visibility</p:attrName>
                                        </p:attrNameLst>
                                      </p:cBhvr>
                                      <p:to>
                                        <p:strVal val="visible"/>
                                      </p:to>
                                    </p:set>
                                    <p:animEffect filter="fade" transition="in">
                                      <p:cBhvr>
                                        <p:cTn dur="500"/>
                                        <p:tgtEl>
                                          <p:spTgt spid="4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2" st="2"/>
                                            </p:txEl>
                                          </p:spTgt>
                                        </p:tgtEl>
                                        <p:attrNameLst>
                                          <p:attrName>style.visibility</p:attrName>
                                        </p:attrNameLst>
                                      </p:cBhvr>
                                      <p:to>
                                        <p:strVal val="visible"/>
                                      </p:to>
                                    </p:set>
                                    <p:animEffect filter="fade" transition="in">
                                      <p:cBhvr>
                                        <p:cTn dur="500"/>
                                        <p:tgtEl>
                                          <p:spTgt spid="4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3" st="3"/>
                                            </p:txEl>
                                          </p:spTgt>
                                        </p:tgtEl>
                                        <p:attrNameLst>
                                          <p:attrName>style.visibility</p:attrName>
                                        </p:attrNameLst>
                                      </p:cBhvr>
                                      <p:to>
                                        <p:strVal val="visible"/>
                                      </p:to>
                                    </p:set>
                                    <p:animEffect filter="fade" transition="in">
                                      <p:cBhvr>
                                        <p:cTn dur="500"/>
                                        <p:tgtEl>
                                          <p:spTgt spid="4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4" st="4"/>
                                            </p:txEl>
                                          </p:spTgt>
                                        </p:tgtEl>
                                        <p:attrNameLst>
                                          <p:attrName>style.visibility</p:attrName>
                                        </p:attrNameLst>
                                      </p:cBhvr>
                                      <p:to>
                                        <p:strVal val="visible"/>
                                      </p:to>
                                    </p:set>
                                    <p:animEffect filter="fade" transition="in">
                                      <p:cBhvr>
                                        <p:cTn dur="500"/>
                                        <p:tgtEl>
                                          <p:spTgt spid="4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5" st="5"/>
                                            </p:txEl>
                                          </p:spTgt>
                                        </p:tgtEl>
                                        <p:attrNameLst>
                                          <p:attrName>style.visibility</p:attrName>
                                        </p:attrNameLst>
                                      </p:cBhvr>
                                      <p:to>
                                        <p:strVal val="visible"/>
                                      </p:to>
                                    </p:set>
                                    <p:animEffect filter="fade" transition="in">
                                      <p:cBhvr>
                                        <p:cTn dur="500"/>
                                        <p:tgtEl>
                                          <p:spTgt spid="44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6" st="6"/>
                                            </p:txEl>
                                          </p:spTgt>
                                        </p:tgtEl>
                                        <p:attrNameLst>
                                          <p:attrName>style.visibility</p:attrName>
                                        </p:attrNameLst>
                                      </p:cBhvr>
                                      <p:to>
                                        <p:strVal val="visible"/>
                                      </p:to>
                                    </p:set>
                                    <p:animEffect filter="fade" transition="in">
                                      <p:cBhvr>
                                        <p:cTn dur="500"/>
                                        <p:tgtEl>
                                          <p:spTgt spid="44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7" st="7"/>
                                            </p:txEl>
                                          </p:spTgt>
                                        </p:tgtEl>
                                        <p:attrNameLst>
                                          <p:attrName>style.visibility</p:attrName>
                                        </p:attrNameLst>
                                      </p:cBhvr>
                                      <p:to>
                                        <p:strVal val="visible"/>
                                      </p:to>
                                    </p:set>
                                    <p:animEffect filter="fade" transition="in">
                                      <p:cBhvr>
                                        <p:cTn dur="500"/>
                                        <p:tgtEl>
                                          <p:spTgt spid="443">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0"/>
          <p:cNvSpPr txBox="1"/>
          <p:nvPr>
            <p:ph idx="1" type="body"/>
          </p:nvPr>
        </p:nvSpPr>
        <p:spPr>
          <a:xfrm>
            <a:off x="1524000" y="3505200"/>
            <a:ext cx="9144000" cy="5791200"/>
          </a:xfrm>
          <a:prstGeom prst="rect">
            <a:avLst/>
          </a:prstGeom>
          <a:noFill/>
          <a:ln>
            <a:noFill/>
          </a:ln>
        </p:spPr>
        <p:txBody>
          <a:bodyPr anchorCtr="0" anchor="t" bIns="45700" lIns="91425" spcFirstLastPara="1" rIns="91425" wrap="square" tIns="45700">
            <a:noAutofit/>
          </a:bodyPr>
          <a:lstStyle/>
          <a:p>
            <a:pPr indent="-152400" lvl="0" marL="342900" marR="0" rtl="0" algn="l">
              <a:lnSpc>
                <a:spcPct val="100000"/>
              </a:lnSpc>
              <a:spcBef>
                <a:spcPts val="0"/>
              </a:spcBef>
              <a:spcAft>
                <a:spcPts val="0"/>
              </a:spcAft>
              <a:buClr>
                <a:schemeClr val="dk2"/>
              </a:buClr>
              <a:buSzPts val="3000"/>
              <a:buFont typeface="Noto Sans Symbols"/>
              <a:buNone/>
            </a:pPr>
            <a:r>
              <a:t/>
            </a:r>
            <a:endParaRPr b="0" i="0" sz="30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54" name="Google Shape;454;p30"/>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CẤP PHÁT KHÔNG GIAN CHO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Cấp phát các khối liên tiếp (tt)</a:t>
            </a:r>
            <a:endParaRPr/>
          </a:p>
        </p:txBody>
      </p:sp>
      <p:sp>
        <p:nvSpPr>
          <p:cNvPr id="455" name="Google Shape;455;p30"/>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6" name="Google Shape;456;p3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457" name="Google Shape;457;p30"/>
          <p:cNvPicPr preferRelativeResize="0"/>
          <p:nvPr/>
        </p:nvPicPr>
        <p:blipFill rotWithShape="1">
          <a:blip r:embed="rId3">
            <a:alphaModFix/>
          </a:blip>
          <a:srcRect b="0" l="0" r="0" t="0"/>
          <a:stretch/>
        </p:blipFill>
        <p:spPr>
          <a:xfrm>
            <a:off x="757237" y="1481137"/>
            <a:ext cx="7705725" cy="4267200"/>
          </a:xfrm>
          <a:prstGeom prst="rect">
            <a:avLst/>
          </a:prstGeom>
          <a:noFill/>
          <a:ln>
            <a:noFill/>
          </a:ln>
        </p:spPr>
      </p:pic>
      <p:sp>
        <p:nvSpPr>
          <p:cNvPr id="458" name="Google Shape;458;p3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9" name="Google Shape;459;p30"/>
          <p:cNvSpPr txBox="1"/>
          <p:nvPr/>
        </p:nvSpPr>
        <p:spPr>
          <a:xfrm>
            <a:off x="5105400" y="1295400"/>
            <a:ext cx="35052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Arial"/>
              <a:buNone/>
            </a:pPr>
            <a:r>
              <a:rPr b="0" i="0" lang="en-US" sz="1800" u="none">
                <a:solidFill>
                  <a:srgbClr val="FF0000"/>
                </a:solidFill>
                <a:latin typeface="Arial"/>
                <a:ea typeface="Arial"/>
                <a:cs typeface="Arial"/>
                <a:sym typeface="Arial"/>
              </a:rPr>
              <a:t>External fragmentation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500"/>
                                        <p:tgtEl>
                                          <p:spTgt spid="4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31"/>
          <p:cNvSpPr txBox="1"/>
          <p:nvPr>
            <p:ph idx="1" type="body"/>
          </p:nvPr>
        </p:nvSpPr>
        <p:spPr>
          <a:xfrm>
            <a:off x="0" y="381000"/>
            <a:ext cx="8763000" cy="579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Ưu điểm:</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Cho phép truy cập trực tiếp và tuần tự</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Đơn giản, tốc độ cao do tiết kiệm thời gian di chuyển đầu từ khi đọc các khối của file</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Nhược điểm:</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Phải biết trước kích thước file khi tạo</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Khó tìm ra khoảng không gian trông đủ lớn trên đĩa để cấp phát   cho file</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Sau thời gian sử dụng, các khối được cấp phát khi tạo file và giải phóng file khi xóa file sẽ tạo ravùng trống trên đĩa =&gt; khi có yêu cầu cấp phát hdh cần kiểm tra vùng trống. </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Gây phân mảnh ngoài: đó là hiện tượng vùng trống còn lại trên đĩa có kích thước quá nhỏ do vậy không thể cấp phát cho file có kích thước lơn hơn.  </a:t>
            </a:r>
            <a:endParaRPr/>
          </a:p>
          <a:p>
            <a:pPr indent="-146050" lvl="1" marL="742950" marR="0" rtl="0" algn="just">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33350" lvl="1" marL="742950" marR="0" rtl="0" algn="just">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66" name="Google Shape;466;p3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CẤP PHÁT KHÔNG GIAN CHO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Cấp phát các khối liên tiếp (tt)</a:t>
            </a:r>
            <a:endParaRPr/>
          </a:p>
        </p:txBody>
      </p:sp>
      <p:sp>
        <p:nvSpPr>
          <p:cNvPr id="467" name="Google Shape;467;p31"/>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68" name="Google Shape;468;p3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69" name="Google Shape;469;p3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xEl>
                                              <p:pRg end="0" st="0"/>
                                            </p:txEl>
                                          </p:spTgt>
                                        </p:tgtEl>
                                        <p:attrNameLst>
                                          <p:attrName>style.visibility</p:attrName>
                                        </p:attrNameLst>
                                      </p:cBhvr>
                                      <p:to>
                                        <p:strVal val="visible"/>
                                      </p:to>
                                    </p:set>
                                    <p:animEffect filter="fade" transition="in">
                                      <p:cBhvr>
                                        <p:cTn dur="500"/>
                                        <p:tgtEl>
                                          <p:spTgt spid="4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xEl>
                                              <p:pRg end="1" st="1"/>
                                            </p:txEl>
                                          </p:spTgt>
                                        </p:tgtEl>
                                        <p:attrNameLst>
                                          <p:attrName>style.visibility</p:attrName>
                                        </p:attrNameLst>
                                      </p:cBhvr>
                                      <p:to>
                                        <p:strVal val="visible"/>
                                      </p:to>
                                    </p:set>
                                    <p:animEffect filter="fade" transition="in">
                                      <p:cBhvr>
                                        <p:cTn dur="500"/>
                                        <p:tgtEl>
                                          <p:spTgt spid="4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xEl>
                                              <p:pRg end="2" st="2"/>
                                            </p:txEl>
                                          </p:spTgt>
                                        </p:tgtEl>
                                        <p:attrNameLst>
                                          <p:attrName>style.visibility</p:attrName>
                                        </p:attrNameLst>
                                      </p:cBhvr>
                                      <p:to>
                                        <p:strVal val="visible"/>
                                      </p:to>
                                    </p:set>
                                    <p:animEffect filter="fade" transition="in">
                                      <p:cBhvr>
                                        <p:cTn dur="500"/>
                                        <p:tgtEl>
                                          <p:spTgt spid="4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xEl>
                                              <p:pRg end="3" st="3"/>
                                            </p:txEl>
                                          </p:spTgt>
                                        </p:tgtEl>
                                        <p:attrNameLst>
                                          <p:attrName>style.visibility</p:attrName>
                                        </p:attrNameLst>
                                      </p:cBhvr>
                                      <p:to>
                                        <p:strVal val="visible"/>
                                      </p:to>
                                    </p:set>
                                    <p:animEffect filter="fade" transition="in">
                                      <p:cBhvr>
                                        <p:cTn dur="500"/>
                                        <p:tgtEl>
                                          <p:spTgt spid="4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xEl>
                                              <p:pRg end="4" st="4"/>
                                            </p:txEl>
                                          </p:spTgt>
                                        </p:tgtEl>
                                        <p:attrNameLst>
                                          <p:attrName>style.visibility</p:attrName>
                                        </p:attrNameLst>
                                      </p:cBhvr>
                                      <p:to>
                                        <p:strVal val="visible"/>
                                      </p:to>
                                    </p:set>
                                    <p:animEffect filter="fade" transition="in">
                                      <p:cBhvr>
                                        <p:cTn dur="500"/>
                                        <p:tgtEl>
                                          <p:spTgt spid="4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xEl>
                                              <p:pRg end="5" st="5"/>
                                            </p:txEl>
                                          </p:spTgt>
                                        </p:tgtEl>
                                        <p:attrNameLst>
                                          <p:attrName>style.visibility</p:attrName>
                                        </p:attrNameLst>
                                      </p:cBhvr>
                                      <p:to>
                                        <p:strVal val="visible"/>
                                      </p:to>
                                    </p:set>
                                    <p:animEffect filter="fade" transition="in">
                                      <p:cBhvr>
                                        <p:cTn dur="500"/>
                                        <p:tgtEl>
                                          <p:spTgt spid="4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xEl>
                                              <p:pRg end="6" st="6"/>
                                            </p:txEl>
                                          </p:spTgt>
                                        </p:tgtEl>
                                        <p:attrNameLst>
                                          <p:attrName>style.visibility</p:attrName>
                                        </p:attrNameLst>
                                      </p:cBhvr>
                                      <p:to>
                                        <p:strVal val="visible"/>
                                      </p:to>
                                    </p:set>
                                    <p:animEffect filter="fade" transition="in">
                                      <p:cBhvr>
                                        <p:cTn dur="500"/>
                                        <p:tgtEl>
                                          <p:spTgt spid="4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xEl>
                                              <p:pRg end="7" st="7"/>
                                            </p:txEl>
                                          </p:spTgt>
                                        </p:tgtEl>
                                        <p:attrNameLst>
                                          <p:attrName>style.visibility</p:attrName>
                                        </p:attrNameLst>
                                      </p:cBhvr>
                                      <p:to>
                                        <p:strVal val="visible"/>
                                      </p:to>
                                    </p:set>
                                    <p:animEffect filter="fade" transition="in">
                                      <p:cBhvr>
                                        <p:cTn dur="500"/>
                                        <p:tgtEl>
                                          <p:spTgt spid="46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xEl>
                                              <p:pRg end="8" st="8"/>
                                            </p:txEl>
                                          </p:spTgt>
                                        </p:tgtEl>
                                        <p:attrNameLst>
                                          <p:attrName>style.visibility</p:attrName>
                                        </p:attrNameLst>
                                      </p:cBhvr>
                                      <p:to>
                                        <p:strVal val="visible"/>
                                      </p:to>
                                    </p:set>
                                    <p:animEffect filter="fade" transition="in">
                                      <p:cBhvr>
                                        <p:cTn dur="500"/>
                                        <p:tgtEl>
                                          <p:spTgt spid="46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xEl>
                                              <p:pRg end="9" st="9"/>
                                            </p:txEl>
                                          </p:spTgt>
                                        </p:tgtEl>
                                        <p:attrNameLst>
                                          <p:attrName>style.visibility</p:attrName>
                                        </p:attrNameLst>
                                      </p:cBhvr>
                                      <p:to>
                                        <p:strVal val="visible"/>
                                      </p:to>
                                    </p:set>
                                    <p:animEffect filter="fade" transition="in">
                                      <p:cBhvr>
                                        <p:cTn dur="500"/>
                                        <p:tgtEl>
                                          <p:spTgt spid="46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xEl>
                                              <p:pRg end="10" st="10"/>
                                            </p:txEl>
                                          </p:spTgt>
                                        </p:tgtEl>
                                        <p:attrNameLst>
                                          <p:attrName>style.visibility</p:attrName>
                                        </p:attrNameLst>
                                      </p:cBhvr>
                                      <p:to>
                                        <p:strVal val="visible"/>
                                      </p:to>
                                    </p:set>
                                    <p:animEffect filter="fade" transition="in">
                                      <p:cBhvr>
                                        <p:cTn dur="500"/>
                                        <p:tgtEl>
                                          <p:spTgt spid="465">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2"/>
          <p:cNvSpPr txBox="1"/>
          <p:nvPr>
            <p:ph idx="1" type="body"/>
          </p:nvPr>
        </p:nvSpPr>
        <p:spPr>
          <a:xfrm>
            <a:off x="0" y="1066800"/>
            <a:ext cx="8991600" cy="579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 khối thuộc về mỗi file được kết nối với nhau thành danh sách kết nối; phần đầu mỗi khối chứa con trỏ trỏ tới khối tiếp theo</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 khối thuộc về 1 file có thể nằm ở vị trí bất kì trên đĩa</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Khoản mục của thư mục chứa con trỏ tới khối đầu tiên của file</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Khi file được cấp thêm khối mới, khối đó được thêm vào cuối danh sách</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HDH đọc lần lượt từng khối và sử dụng con trỏ để xác định khối tiếp theo</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76" name="Google Shape;476;p3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CẤP PHÁT KHÔNG GIAN CHO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Sử dụng danh sách kết nối</a:t>
            </a:r>
            <a:endParaRPr/>
          </a:p>
        </p:txBody>
      </p:sp>
      <p:sp>
        <p:nvSpPr>
          <p:cNvPr id="477" name="Google Shape;477;p32"/>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8" name="Google Shape;478;p3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9" name="Google Shape;479;p3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xEl>
                                              <p:pRg end="0" st="0"/>
                                            </p:txEl>
                                          </p:spTgt>
                                        </p:tgtEl>
                                        <p:attrNameLst>
                                          <p:attrName>style.visibility</p:attrName>
                                        </p:attrNameLst>
                                      </p:cBhvr>
                                      <p:to>
                                        <p:strVal val="visible"/>
                                      </p:to>
                                    </p:set>
                                    <p:animEffect filter="fade" transition="in">
                                      <p:cBhvr>
                                        <p:cTn dur="500"/>
                                        <p:tgtEl>
                                          <p:spTgt spid="4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xEl>
                                              <p:pRg end="1" st="1"/>
                                            </p:txEl>
                                          </p:spTgt>
                                        </p:tgtEl>
                                        <p:attrNameLst>
                                          <p:attrName>style.visibility</p:attrName>
                                        </p:attrNameLst>
                                      </p:cBhvr>
                                      <p:to>
                                        <p:strVal val="visible"/>
                                      </p:to>
                                    </p:set>
                                    <p:animEffect filter="fade" transition="in">
                                      <p:cBhvr>
                                        <p:cTn dur="500"/>
                                        <p:tgtEl>
                                          <p:spTgt spid="4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xEl>
                                              <p:pRg end="2" st="2"/>
                                            </p:txEl>
                                          </p:spTgt>
                                        </p:tgtEl>
                                        <p:attrNameLst>
                                          <p:attrName>style.visibility</p:attrName>
                                        </p:attrNameLst>
                                      </p:cBhvr>
                                      <p:to>
                                        <p:strVal val="visible"/>
                                      </p:to>
                                    </p:set>
                                    <p:animEffect filter="fade" transition="in">
                                      <p:cBhvr>
                                        <p:cTn dur="500"/>
                                        <p:tgtEl>
                                          <p:spTgt spid="4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xEl>
                                              <p:pRg end="3" st="3"/>
                                            </p:txEl>
                                          </p:spTgt>
                                        </p:tgtEl>
                                        <p:attrNameLst>
                                          <p:attrName>style.visibility</p:attrName>
                                        </p:attrNameLst>
                                      </p:cBhvr>
                                      <p:to>
                                        <p:strVal val="visible"/>
                                      </p:to>
                                    </p:set>
                                    <p:animEffect filter="fade" transition="in">
                                      <p:cBhvr>
                                        <p:cTn dur="500"/>
                                        <p:tgtEl>
                                          <p:spTgt spid="4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xEl>
                                              <p:pRg end="4" st="4"/>
                                            </p:txEl>
                                          </p:spTgt>
                                        </p:tgtEl>
                                        <p:attrNameLst>
                                          <p:attrName>style.visibility</p:attrName>
                                        </p:attrNameLst>
                                      </p:cBhvr>
                                      <p:to>
                                        <p:strVal val="visible"/>
                                      </p:to>
                                    </p:set>
                                    <p:animEffect filter="fade" transition="in">
                                      <p:cBhvr>
                                        <p:cTn dur="500"/>
                                        <p:tgtEl>
                                          <p:spTgt spid="47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xEl>
                                              <p:pRg end="5" st="5"/>
                                            </p:txEl>
                                          </p:spTgt>
                                        </p:tgtEl>
                                        <p:attrNameLst>
                                          <p:attrName>style.visibility</p:attrName>
                                        </p:attrNameLst>
                                      </p:cBhvr>
                                      <p:to>
                                        <p:strVal val="visible"/>
                                      </p:to>
                                    </p:set>
                                    <p:animEffect filter="fade" transition="in">
                                      <p:cBhvr>
                                        <p:cTn dur="500"/>
                                        <p:tgtEl>
                                          <p:spTgt spid="47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xEl>
                                              <p:pRg end="6" st="6"/>
                                            </p:txEl>
                                          </p:spTgt>
                                        </p:tgtEl>
                                        <p:attrNameLst>
                                          <p:attrName>style.visibility</p:attrName>
                                        </p:attrNameLst>
                                      </p:cBhvr>
                                      <p:to>
                                        <p:strVal val="visible"/>
                                      </p:to>
                                    </p:set>
                                    <p:animEffect filter="fade" transition="in">
                                      <p:cBhvr>
                                        <p:cTn dur="500"/>
                                        <p:tgtEl>
                                          <p:spTgt spid="47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xEl>
                                              <p:pRg end="7" st="7"/>
                                            </p:txEl>
                                          </p:spTgt>
                                        </p:tgtEl>
                                        <p:attrNameLst>
                                          <p:attrName>style.visibility</p:attrName>
                                        </p:attrNameLst>
                                      </p:cBhvr>
                                      <p:to>
                                        <p:strVal val="visible"/>
                                      </p:to>
                                    </p:set>
                                    <p:animEffect filter="fade" transition="in">
                                      <p:cBhvr>
                                        <p:cTn dur="500"/>
                                        <p:tgtEl>
                                          <p:spTgt spid="475">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3"/>
          <p:cNvSpPr txBox="1"/>
          <p:nvPr>
            <p:ph idx="1" type="body"/>
          </p:nvPr>
        </p:nvSpPr>
        <p:spPr>
          <a:xfrm>
            <a:off x="0" y="1066800"/>
            <a:ext cx="9144000" cy="5791200"/>
          </a:xfrm>
          <a:prstGeom prst="rect">
            <a:avLst/>
          </a:prstGeom>
          <a:noFill/>
          <a:ln>
            <a:noFill/>
          </a:ln>
        </p:spPr>
        <p:txBody>
          <a:bodyPr anchorCtr="0" anchor="t" bIns="45700" lIns="91425" spcFirstLastPara="1" rIns="91425" wrap="square" tIns="45700">
            <a:noAutofit/>
          </a:bodyPr>
          <a:lstStyle/>
          <a:p>
            <a:pPr indent="-165100" lvl="0" marL="342900" marR="0" rtl="0" algn="l">
              <a:lnSpc>
                <a:spcPct val="100000"/>
              </a:lnSpc>
              <a:spcBef>
                <a:spcPts val="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85" name="Google Shape;485;p33"/>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CẤP PHÁT KHÔNG GIAN CHO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Sử dụng danh sách kết nối (tt)</a:t>
            </a:r>
            <a:endParaRPr/>
          </a:p>
        </p:txBody>
      </p:sp>
      <p:sp>
        <p:nvSpPr>
          <p:cNvPr id="486" name="Google Shape;486;p33"/>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7" name="Google Shape;487;p3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488" name="Google Shape;488;p33"/>
          <p:cNvPicPr preferRelativeResize="0"/>
          <p:nvPr/>
        </p:nvPicPr>
        <p:blipFill rotWithShape="1">
          <a:blip r:embed="rId3">
            <a:alphaModFix/>
          </a:blip>
          <a:srcRect b="0" l="0" r="0" t="0"/>
          <a:stretch/>
        </p:blipFill>
        <p:spPr>
          <a:xfrm>
            <a:off x="490537" y="1219200"/>
            <a:ext cx="8162925" cy="4572000"/>
          </a:xfrm>
          <a:prstGeom prst="rect">
            <a:avLst/>
          </a:prstGeom>
          <a:noFill/>
          <a:ln>
            <a:noFill/>
          </a:ln>
        </p:spPr>
      </p:pic>
      <p:sp>
        <p:nvSpPr>
          <p:cNvPr id="489" name="Google Shape;489;p3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4"/>
          <p:cNvSpPr txBox="1"/>
          <p:nvPr>
            <p:ph idx="1" type="body"/>
          </p:nvPr>
        </p:nvSpPr>
        <p:spPr>
          <a:xfrm>
            <a:off x="0" y="990600"/>
            <a:ext cx="9144000" cy="5410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Ưu điểm:</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Do các khối thuộc về một file có thể nằm bất cứ chỗ nào trên đĩa, không nhất thiét phải nằm cạnh nhau</a:t>
            </a:r>
            <a:endParaRPr/>
          </a:p>
          <a:p>
            <a:pPr indent="-285750" lvl="1" marL="742950" marR="0" rtl="0" algn="just">
              <a:lnSpc>
                <a:spcPct val="100000"/>
              </a:lnSpc>
              <a:spcBef>
                <a:spcPts val="560"/>
              </a:spcBef>
              <a:spcAft>
                <a:spcPts val="0"/>
              </a:spcAft>
              <a:buClr>
                <a:schemeClr val="accent1"/>
              </a:buClr>
              <a:buSzPts val="2800"/>
              <a:buFont typeface="Noto Sans Symbols"/>
              <a:buNone/>
            </a:pPr>
            <a:r>
              <a:rPr b="0" i="0" lang="en-US" sz="2800" u="none" cap="none" strike="noStrike">
                <a:solidFill>
                  <a:schemeClr val="dk2"/>
                </a:solidFill>
                <a:latin typeface="Times New Roman"/>
                <a:ea typeface="Times New Roman"/>
                <a:cs typeface="Times New Roman"/>
                <a:sym typeface="Times New Roman"/>
              </a:rPr>
              <a:t>=&gt; Không bị phân mảnh ngoài</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Không yêu cầu biết trước kích thước file lúc tạo</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Dễ tìm vị trí cho file, khoản mục đơn giản</a:t>
            </a:r>
            <a:endParaRPr b="0" i="0" sz="3200" u="none" cap="none" strike="noStrike">
              <a:solidFill>
                <a:schemeClr val="dk2"/>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2"/>
              </a:buClr>
              <a:buSzPts val="3200"/>
              <a:buFont typeface="Noto Sans Symbols"/>
              <a:buNone/>
            </a:pPr>
            <a:r>
              <a:t/>
            </a:r>
            <a:endParaRPr b="0" i="0" sz="3200" u="none" cap="none" strike="noStrike">
              <a:solidFill>
                <a:schemeClr val="dk2"/>
              </a:solidFill>
              <a:latin typeface="Times New Roman"/>
              <a:ea typeface="Times New Roman"/>
              <a:cs typeface="Times New Roman"/>
              <a:sym typeface="Times New Roman"/>
            </a:endParaRPr>
          </a:p>
        </p:txBody>
      </p:sp>
      <p:sp>
        <p:nvSpPr>
          <p:cNvPr id="495" name="Google Shape;495;p34"/>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CẤP PHÁT KHÔNG GIAN CHO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Sử dụng danh sách kết nối (tt)</a:t>
            </a:r>
            <a:endParaRPr/>
          </a:p>
        </p:txBody>
      </p:sp>
      <p:sp>
        <p:nvSpPr>
          <p:cNvPr id="496" name="Google Shape;496;p34"/>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7" name="Google Shape;497;p3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8" name="Google Shape;498;p3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35"/>
          <p:cNvSpPr txBox="1"/>
          <p:nvPr>
            <p:ph idx="1" type="body"/>
          </p:nvPr>
        </p:nvSpPr>
        <p:spPr>
          <a:xfrm>
            <a:off x="-76200" y="685800"/>
            <a:ext cx="8915400" cy="5410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Nhược điểm:</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Để đọc một khối nào đó ta phải theo tất cả các con trỏ từ khối đầu tiên cho tới khối cần đọc =&gt; Không hỗ trợ truy cập trực tiếp.</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Con trỏ nằm ngay trong khối và khối là đơn vị nhỏ nhất có thể tiến hành đọc nên để xác định con trỏ, ta phải đọc cả khối =&gt; để đọc một khối ta phải đọc từ khối đầu tiên cho tới khối cần đọc.</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Trong trường hợp giá trị của con trỏ thay đổi =&gt; xác định khối nào thuộc file nào sẽ không chính xác =&gt; giảm độ tin cậy và tính toàn vẹn của hệ thống file</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Tốc độ truy cập không cao </a:t>
            </a:r>
            <a:endParaRPr/>
          </a:p>
          <a:p>
            <a:pPr indent="-120650" lvl="1" marL="742950" marR="0" rtl="0" algn="just">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04" name="Google Shape;504;p3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CẤP PHÁT KHÔNG GIAN CHO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Sử dụng danh sách kết nối (tt)</a:t>
            </a:r>
            <a:endParaRPr/>
          </a:p>
        </p:txBody>
      </p:sp>
      <p:sp>
        <p:nvSpPr>
          <p:cNvPr id="505" name="Google Shape;505;p35"/>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6" name="Google Shape;506;p3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7" name="Google Shape;507;p3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0" st="0"/>
                                            </p:txEl>
                                          </p:spTgt>
                                        </p:tgtEl>
                                        <p:attrNameLst>
                                          <p:attrName>style.visibility</p:attrName>
                                        </p:attrNameLst>
                                      </p:cBhvr>
                                      <p:to>
                                        <p:strVal val="visible"/>
                                      </p:to>
                                    </p:set>
                                    <p:animEffect filter="fade" transition="in">
                                      <p:cBhvr>
                                        <p:cTn dur="500"/>
                                        <p:tgtEl>
                                          <p:spTgt spid="5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1" st="1"/>
                                            </p:txEl>
                                          </p:spTgt>
                                        </p:tgtEl>
                                        <p:attrNameLst>
                                          <p:attrName>style.visibility</p:attrName>
                                        </p:attrNameLst>
                                      </p:cBhvr>
                                      <p:to>
                                        <p:strVal val="visible"/>
                                      </p:to>
                                    </p:set>
                                    <p:animEffect filter="fade" transition="in">
                                      <p:cBhvr>
                                        <p:cTn dur="500"/>
                                        <p:tgtEl>
                                          <p:spTgt spid="5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2" st="2"/>
                                            </p:txEl>
                                          </p:spTgt>
                                        </p:tgtEl>
                                        <p:attrNameLst>
                                          <p:attrName>style.visibility</p:attrName>
                                        </p:attrNameLst>
                                      </p:cBhvr>
                                      <p:to>
                                        <p:strVal val="visible"/>
                                      </p:to>
                                    </p:set>
                                    <p:animEffect filter="fade" transition="in">
                                      <p:cBhvr>
                                        <p:cTn dur="500"/>
                                        <p:tgtEl>
                                          <p:spTgt spid="5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3" st="3"/>
                                            </p:txEl>
                                          </p:spTgt>
                                        </p:tgtEl>
                                        <p:attrNameLst>
                                          <p:attrName>style.visibility</p:attrName>
                                        </p:attrNameLst>
                                      </p:cBhvr>
                                      <p:to>
                                        <p:strVal val="visible"/>
                                      </p:to>
                                    </p:set>
                                    <p:animEffect filter="fade" transition="in">
                                      <p:cBhvr>
                                        <p:cTn dur="500"/>
                                        <p:tgtEl>
                                          <p:spTgt spid="5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4" st="4"/>
                                            </p:txEl>
                                          </p:spTgt>
                                        </p:tgtEl>
                                        <p:attrNameLst>
                                          <p:attrName>style.visibility</p:attrName>
                                        </p:attrNameLst>
                                      </p:cBhvr>
                                      <p:to>
                                        <p:strVal val="visible"/>
                                      </p:to>
                                    </p:set>
                                    <p:animEffect filter="fade" transition="in">
                                      <p:cBhvr>
                                        <p:cTn dur="500"/>
                                        <p:tgtEl>
                                          <p:spTgt spid="5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5" st="5"/>
                                            </p:txEl>
                                          </p:spTgt>
                                        </p:tgtEl>
                                        <p:attrNameLst>
                                          <p:attrName>style.visibility</p:attrName>
                                        </p:attrNameLst>
                                      </p:cBhvr>
                                      <p:to>
                                        <p:strVal val="visible"/>
                                      </p:to>
                                    </p:set>
                                    <p:animEffect filter="fade" transition="in">
                                      <p:cBhvr>
                                        <p:cTn dur="500"/>
                                        <p:tgtEl>
                                          <p:spTgt spid="5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6" st="6"/>
                                            </p:txEl>
                                          </p:spTgt>
                                        </p:tgtEl>
                                        <p:attrNameLst>
                                          <p:attrName>style.visibility</p:attrName>
                                        </p:attrNameLst>
                                      </p:cBhvr>
                                      <p:to>
                                        <p:strVal val="visible"/>
                                      </p:to>
                                    </p:set>
                                    <p:animEffect filter="fade" transition="in">
                                      <p:cBhvr>
                                        <p:cTn dur="500"/>
                                        <p:tgtEl>
                                          <p:spTgt spid="50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7" st="7"/>
                                            </p:txEl>
                                          </p:spTgt>
                                        </p:tgtEl>
                                        <p:attrNameLst>
                                          <p:attrName>style.visibility</p:attrName>
                                        </p:attrNameLst>
                                      </p:cBhvr>
                                      <p:to>
                                        <p:strVal val="visible"/>
                                      </p:to>
                                    </p:set>
                                    <p:animEffect filter="fade" transition="in">
                                      <p:cBhvr>
                                        <p:cTn dur="500"/>
                                        <p:tgtEl>
                                          <p:spTgt spid="503">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6"/>
          <p:cNvSpPr txBox="1"/>
          <p:nvPr>
            <p:ph idx="1" type="body"/>
          </p:nvPr>
        </p:nvSpPr>
        <p:spPr>
          <a:xfrm>
            <a:off x="0" y="914400"/>
            <a:ext cx="91440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Bảng chỉ số: mỗi ô của bảng ứng với 1 khối của đĩa </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Con trỏ tới khối tiếp theo của file được chứa trong ô tương ứng của bảng</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Mỗi đĩa logic có 1 bảng chỉ số được lưu ở vị trí xác định</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Kích thước mỗi ô trên bảng phụ thuộc vào số lượng khối trên đĩa</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14" name="Google Shape;514;p3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CẤP PHÁT KHÔNG GIAN CHO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Sử dụng danh sách kết nối trên bảng chỉ số</a:t>
            </a:r>
            <a:endParaRPr/>
          </a:p>
        </p:txBody>
      </p:sp>
      <p:sp>
        <p:nvSpPr>
          <p:cNvPr id="515" name="Google Shape;515;p36"/>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6" name="Google Shape;516;p3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517" name="Google Shape;517;p36"/>
          <p:cNvPicPr preferRelativeResize="0"/>
          <p:nvPr/>
        </p:nvPicPr>
        <p:blipFill rotWithShape="1">
          <a:blip r:embed="rId3">
            <a:alphaModFix/>
          </a:blip>
          <a:srcRect b="0" l="0" r="0" t="0"/>
          <a:stretch/>
        </p:blipFill>
        <p:spPr>
          <a:xfrm>
            <a:off x="1768475" y="3657600"/>
            <a:ext cx="6918325" cy="2362200"/>
          </a:xfrm>
          <a:prstGeom prst="rect">
            <a:avLst/>
          </a:prstGeom>
          <a:noFill/>
          <a:ln>
            <a:noFill/>
          </a:ln>
        </p:spPr>
      </p:pic>
      <p:sp>
        <p:nvSpPr>
          <p:cNvPr id="518" name="Google Shape;518;p3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0" st="0"/>
                                            </p:txEl>
                                          </p:spTgt>
                                        </p:tgtEl>
                                        <p:attrNameLst>
                                          <p:attrName>style.visibility</p:attrName>
                                        </p:attrNameLst>
                                      </p:cBhvr>
                                      <p:to>
                                        <p:strVal val="visible"/>
                                      </p:to>
                                    </p:set>
                                    <p:animEffect filter="fade" transition="in">
                                      <p:cBhvr>
                                        <p:cTn dur="500"/>
                                        <p:tgtEl>
                                          <p:spTgt spid="5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1" st="1"/>
                                            </p:txEl>
                                          </p:spTgt>
                                        </p:tgtEl>
                                        <p:attrNameLst>
                                          <p:attrName>style.visibility</p:attrName>
                                        </p:attrNameLst>
                                      </p:cBhvr>
                                      <p:to>
                                        <p:strVal val="visible"/>
                                      </p:to>
                                    </p:set>
                                    <p:animEffect filter="fade" transition="in">
                                      <p:cBhvr>
                                        <p:cTn dur="500"/>
                                        <p:tgtEl>
                                          <p:spTgt spid="5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2" st="2"/>
                                            </p:txEl>
                                          </p:spTgt>
                                        </p:tgtEl>
                                        <p:attrNameLst>
                                          <p:attrName>style.visibility</p:attrName>
                                        </p:attrNameLst>
                                      </p:cBhvr>
                                      <p:to>
                                        <p:strVal val="visible"/>
                                      </p:to>
                                    </p:set>
                                    <p:animEffect filter="fade" transition="in">
                                      <p:cBhvr>
                                        <p:cTn dur="500"/>
                                        <p:tgtEl>
                                          <p:spTgt spid="5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3" st="3"/>
                                            </p:txEl>
                                          </p:spTgt>
                                        </p:tgtEl>
                                        <p:attrNameLst>
                                          <p:attrName>style.visibility</p:attrName>
                                        </p:attrNameLst>
                                      </p:cBhvr>
                                      <p:to>
                                        <p:strVal val="visible"/>
                                      </p:to>
                                    </p:set>
                                    <p:animEffect filter="fade" transition="in">
                                      <p:cBhvr>
                                        <p:cTn dur="500"/>
                                        <p:tgtEl>
                                          <p:spTgt spid="5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4" st="4"/>
                                            </p:txEl>
                                          </p:spTgt>
                                        </p:tgtEl>
                                        <p:attrNameLst>
                                          <p:attrName>style.visibility</p:attrName>
                                        </p:attrNameLst>
                                      </p:cBhvr>
                                      <p:to>
                                        <p:strVal val="visible"/>
                                      </p:to>
                                    </p:set>
                                    <p:animEffect filter="fade" transition="in">
                                      <p:cBhvr>
                                        <p:cTn dur="500"/>
                                        <p:tgtEl>
                                          <p:spTgt spid="5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5" st="5"/>
                                            </p:txEl>
                                          </p:spTgt>
                                        </p:tgtEl>
                                        <p:attrNameLst>
                                          <p:attrName>style.visibility</p:attrName>
                                        </p:attrNameLst>
                                      </p:cBhvr>
                                      <p:to>
                                        <p:strVal val="visible"/>
                                      </p:to>
                                    </p:set>
                                    <p:animEffect filter="fade" transition="in">
                                      <p:cBhvr>
                                        <p:cTn dur="500"/>
                                        <p:tgtEl>
                                          <p:spTgt spid="51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xEl>
                                              <p:pRg end="6" st="6"/>
                                            </p:txEl>
                                          </p:spTgt>
                                        </p:tgtEl>
                                        <p:attrNameLst>
                                          <p:attrName>style.visibility</p:attrName>
                                        </p:attrNameLst>
                                      </p:cBhvr>
                                      <p:to>
                                        <p:strVal val="visible"/>
                                      </p:to>
                                    </p:set>
                                    <p:animEffect filter="fade" transition="in">
                                      <p:cBhvr>
                                        <p:cTn dur="500"/>
                                        <p:tgtEl>
                                          <p:spTgt spid="51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7"/>
          <p:cNvSpPr txBox="1"/>
          <p:nvPr>
            <p:ph idx="1" type="body"/>
          </p:nvPr>
        </p:nvSpPr>
        <p:spPr>
          <a:xfrm>
            <a:off x="304800" y="762000"/>
            <a:ext cx="8686800" cy="5791200"/>
          </a:xfrm>
          <a:prstGeom prst="rect">
            <a:avLst/>
          </a:prstGeom>
          <a:blipFill rotWithShape="1">
            <a:blip r:embed="rId3">
              <a:alphaModFix/>
            </a:blip>
            <a:stretch>
              <a:fillRect b="0" l="-1192" r="0" t="-1052"/>
            </a:stretch>
          </a:blip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cap="none" strike="noStrike">
              <a:latin typeface="Arial"/>
              <a:ea typeface="Arial"/>
              <a:cs typeface="Arial"/>
              <a:sym typeface="Arial"/>
            </a:endParaRPr>
          </a:p>
        </p:txBody>
      </p:sp>
      <p:sp>
        <p:nvSpPr>
          <p:cNvPr id="525" name="Google Shape;525;p37"/>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CẤP PHÁT KHÔNG GIAN CHO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Sử dụng danh sách kết nối trên bảng chỉ số (tt)</a:t>
            </a:r>
            <a:endParaRPr/>
          </a:p>
        </p:txBody>
      </p:sp>
      <p:sp>
        <p:nvSpPr>
          <p:cNvPr id="526" name="Google Shape;526;p37"/>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7" name="Google Shape;527;p3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8" name="Google Shape;528;p3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38"/>
          <p:cNvSpPr txBox="1"/>
          <p:nvPr>
            <p:ph idx="1" type="body"/>
          </p:nvPr>
        </p:nvSpPr>
        <p:spPr>
          <a:xfrm>
            <a:off x="0" y="1066800"/>
            <a:ext cx="91440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Tất cả con trỏ tới các khối thuộc về 1 file được tập trung 1 chỗ</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Mỗi file có một mảng riêng của mình chứa trong một khối gọi là khối chỉ mục (I-node)</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Mảng chứa thuộc tính của file và vị trí các khối của file trên đĩa</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Ô thứ i của mảng chứa con trỏ tới khối thứ i của file</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Khoản mục của file trong thư mục chứa con trỏ tới khối chỉ mục này</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35" name="Google Shape;535;p38"/>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CẤP PHÁT KHÔNG GIAN CHO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Sử dụng khối chỉ mục (index block/ node)</a:t>
            </a:r>
            <a:endParaRPr/>
          </a:p>
        </p:txBody>
      </p:sp>
      <p:sp>
        <p:nvSpPr>
          <p:cNvPr id="536" name="Google Shape;536;p38"/>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37" name="Google Shape;537;p3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38" name="Google Shape;538;p3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0" st="0"/>
                                            </p:txEl>
                                          </p:spTgt>
                                        </p:tgtEl>
                                        <p:attrNameLst>
                                          <p:attrName>style.visibility</p:attrName>
                                        </p:attrNameLst>
                                      </p:cBhvr>
                                      <p:to>
                                        <p:strVal val="visible"/>
                                      </p:to>
                                    </p:set>
                                    <p:animEffect filter="fade" transition="in">
                                      <p:cBhvr>
                                        <p:cTn dur="500"/>
                                        <p:tgtEl>
                                          <p:spTgt spid="5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1" st="1"/>
                                            </p:txEl>
                                          </p:spTgt>
                                        </p:tgtEl>
                                        <p:attrNameLst>
                                          <p:attrName>style.visibility</p:attrName>
                                        </p:attrNameLst>
                                      </p:cBhvr>
                                      <p:to>
                                        <p:strVal val="visible"/>
                                      </p:to>
                                    </p:set>
                                    <p:animEffect filter="fade" transition="in">
                                      <p:cBhvr>
                                        <p:cTn dur="500"/>
                                        <p:tgtEl>
                                          <p:spTgt spid="5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2" st="2"/>
                                            </p:txEl>
                                          </p:spTgt>
                                        </p:tgtEl>
                                        <p:attrNameLst>
                                          <p:attrName>style.visibility</p:attrName>
                                        </p:attrNameLst>
                                      </p:cBhvr>
                                      <p:to>
                                        <p:strVal val="visible"/>
                                      </p:to>
                                    </p:set>
                                    <p:animEffect filter="fade" transition="in">
                                      <p:cBhvr>
                                        <p:cTn dur="500"/>
                                        <p:tgtEl>
                                          <p:spTgt spid="5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3" st="3"/>
                                            </p:txEl>
                                          </p:spTgt>
                                        </p:tgtEl>
                                        <p:attrNameLst>
                                          <p:attrName>style.visibility</p:attrName>
                                        </p:attrNameLst>
                                      </p:cBhvr>
                                      <p:to>
                                        <p:strVal val="visible"/>
                                      </p:to>
                                    </p:set>
                                    <p:animEffect filter="fade" transition="in">
                                      <p:cBhvr>
                                        <p:cTn dur="500"/>
                                        <p:tgtEl>
                                          <p:spTgt spid="5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4" st="4"/>
                                            </p:txEl>
                                          </p:spTgt>
                                        </p:tgtEl>
                                        <p:attrNameLst>
                                          <p:attrName>style.visibility</p:attrName>
                                        </p:attrNameLst>
                                      </p:cBhvr>
                                      <p:to>
                                        <p:strVal val="visible"/>
                                      </p:to>
                                    </p:set>
                                    <p:animEffect filter="fade" transition="in">
                                      <p:cBhvr>
                                        <p:cTn dur="500"/>
                                        <p:tgtEl>
                                          <p:spTgt spid="5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5" st="5"/>
                                            </p:txEl>
                                          </p:spTgt>
                                        </p:tgtEl>
                                        <p:attrNameLst>
                                          <p:attrName>style.visibility</p:attrName>
                                        </p:attrNameLst>
                                      </p:cBhvr>
                                      <p:to>
                                        <p:strVal val="visible"/>
                                      </p:to>
                                    </p:set>
                                    <p:animEffect filter="fade" transition="in">
                                      <p:cBhvr>
                                        <p:cTn dur="500"/>
                                        <p:tgtEl>
                                          <p:spTgt spid="5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6" st="6"/>
                                            </p:txEl>
                                          </p:spTgt>
                                        </p:tgtEl>
                                        <p:attrNameLst>
                                          <p:attrName>style.visibility</p:attrName>
                                        </p:attrNameLst>
                                      </p:cBhvr>
                                      <p:to>
                                        <p:strVal val="visible"/>
                                      </p:to>
                                    </p:set>
                                    <p:animEffect filter="fade" transition="in">
                                      <p:cBhvr>
                                        <p:cTn dur="500"/>
                                        <p:tgtEl>
                                          <p:spTgt spid="53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7" st="7"/>
                                            </p:txEl>
                                          </p:spTgt>
                                        </p:tgtEl>
                                        <p:attrNameLst>
                                          <p:attrName>style.visibility</p:attrName>
                                        </p:attrNameLst>
                                      </p:cBhvr>
                                      <p:to>
                                        <p:strVal val="visible"/>
                                      </p:to>
                                    </p:set>
                                    <p:animEffect filter="fade" transition="in">
                                      <p:cBhvr>
                                        <p:cTn dur="500"/>
                                        <p:tgtEl>
                                          <p:spTgt spid="534">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39"/>
          <p:cNvSpPr txBox="1"/>
          <p:nvPr>
            <p:ph idx="1" type="body"/>
          </p:nvPr>
        </p:nvSpPr>
        <p:spPr>
          <a:xfrm>
            <a:off x="0" y="1066800"/>
            <a:ext cx="9144000" cy="5791200"/>
          </a:xfrm>
          <a:prstGeom prst="rect">
            <a:avLst/>
          </a:prstGeom>
          <a:noFill/>
          <a:ln>
            <a:noFill/>
          </a:ln>
        </p:spPr>
        <p:txBody>
          <a:bodyPr anchorCtr="0" anchor="t" bIns="45700" lIns="91425" spcFirstLastPara="1" rIns="91425" wrap="square" tIns="45700">
            <a:noAutofit/>
          </a:bodyPr>
          <a:lstStyle/>
          <a:p>
            <a:pPr indent="-165100" lvl="0" marL="342900" marR="0" rtl="0" algn="l">
              <a:lnSpc>
                <a:spcPct val="100000"/>
              </a:lnSpc>
              <a:spcBef>
                <a:spcPts val="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45" name="Google Shape;545;p39"/>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CẤP PHÁT KHÔNG GIAN CHO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Sử dụng khối chỉ mục (index block/ node)</a:t>
            </a:r>
            <a:endParaRPr/>
          </a:p>
        </p:txBody>
      </p:sp>
      <p:sp>
        <p:nvSpPr>
          <p:cNvPr id="546" name="Google Shape;546;p39"/>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7" name="Google Shape;547;p3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548" name="Google Shape;548;p39"/>
          <p:cNvPicPr preferRelativeResize="0"/>
          <p:nvPr/>
        </p:nvPicPr>
        <p:blipFill rotWithShape="1">
          <a:blip r:embed="rId3">
            <a:alphaModFix/>
          </a:blip>
          <a:srcRect b="0" l="0" r="0" t="0"/>
          <a:stretch/>
        </p:blipFill>
        <p:spPr>
          <a:xfrm>
            <a:off x="1171575" y="2044700"/>
            <a:ext cx="6753225" cy="3797300"/>
          </a:xfrm>
          <a:prstGeom prst="rect">
            <a:avLst/>
          </a:prstGeom>
          <a:noFill/>
          <a:ln>
            <a:noFill/>
          </a:ln>
        </p:spPr>
      </p:pic>
      <p:sp>
        <p:nvSpPr>
          <p:cNvPr id="549" name="Google Shape;549;p3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40"/>
          <p:cNvSpPr txBox="1"/>
          <p:nvPr>
            <p:ph idx="1" type="body"/>
          </p:nvPr>
        </p:nvSpPr>
        <p:spPr>
          <a:xfrm>
            <a:off x="0" y="1066800"/>
            <a:ext cx="9144000" cy="5791200"/>
          </a:xfrm>
          <a:prstGeom prst="rect">
            <a:avLst/>
          </a:prstGeom>
          <a:noFill/>
          <a:ln>
            <a:noFill/>
          </a:ln>
        </p:spPr>
        <p:txBody>
          <a:bodyPr anchorCtr="0" anchor="t" bIns="45700" lIns="91425" spcFirstLastPara="1" rIns="91425" wrap="square" tIns="45700">
            <a:noAutofit/>
          </a:bodyPr>
          <a:lstStyle/>
          <a:p>
            <a:pPr indent="-165100" lvl="0" marL="342900" marR="0" rtl="0" algn="l">
              <a:lnSpc>
                <a:spcPct val="100000"/>
              </a:lnSpc>
              <a:spcBef>
                <a:spcPts val="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Chọn kích thước I-node: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Nhỏ: tiết kiệm không gian nhưng không đủ con trỏ tới các khối nếu file lớn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Lớn: với file nhỏ chỉ chiếm 1 vài ô thì lãng phí</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Giải pháp:</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Thay đổi kích thước i-node = sử dụng danh sách kết nối</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Sử dụng I-node có cấu trúc nhiều mức</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56" name="Google Shape;556;p40"/>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CẤP PHÁT KHÔNG GIAN CHO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Sử dụng khối chỉ mục (index block/ node)</a:t>
            </a:r>
            <a:endParaRPr/>
          </a:p>
        </p:txBody>
      </p:sp>
      <p:sp>
        <p:nvSpPr>
          <p:cNvPr id="557" name="Google Shape;557;p4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8" name="Google Shape;558;p4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41"/>
          <p:cNvSpPr txBox="1"/>
          <p:nvPr>
            <p:ph idx="1" type="body"/>
          </p:nvPr>
        </p:nvSpPr>
        <p:spPr>
          <a:xfrm>
            <a:off x="381000" y="914400"/>
            <a:ext cx="9144000" cy="5791200"/>
          </a:xfrm>
          <a:prstGeom prst="rect">
            <a:avLst/>
          </a:prstGeom>
          <a:noFill/>
          <a:ln>
            <a:noFill/>
          </a:ln>
        </p:spPr>
        <p:txBody>
          <a:bodyPr anchorCtr="0" anchor="t" bIns="45700" lIns="91425" spcFirstLastPara="1" rIns="91425" wrap="square" tIns="45700">
            <a:noAutofit/>
          </a:bodyPr>
          <a:lstStyle/>
          <a:p>
            <a:pPr indent="-215900" lvl="0" marL="342900" marR="0" rtl="0" algn="l">
              <a:lnSpc>
                <a:spcPct val="100000"/>
              </a:lnSpc>
              <a:spcBef>
                <a:spcPts val="0"/>
              </a:spcBef>
              <a:spcAft>
                <a:spcPts val="0"/>
              </a:spcAft>
              <a:buClr>
                <a:schemeClr val="dk2"/>
              </a:buClr>
              <a:buSzPts val="2000"/>
              <a:buFont typeface="Noto Sans Symbols"/>
              <a:buNone/>
            </a:pPr>
            <a:r>
              <a:t/>
            </a:r>
            <a:endParaRPr b="0" i="0" sz="20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Ưu điểm:</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Cho phép truy cập trực tiếp</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Các khối thuộc 1 file không cần nằm liên tiếp nhau</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Nhược điểm:</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Tốc độ truy cập file chậm</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65" name="Google Shape;565;p4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CẤP PHÁT KHÔNG GIAN CHO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Sử dụng khối chỉ mục (index block/ node)</a:t>
            </a:r>
            <a:endParaRPr/>
          </a:p>
        </p:txBody>
      </p:sp>
      <p:sp>
        <p:nvSpPr>
          <p:cNvPr id="566" name="Google Shape;566;p41"/>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7" name="Google Shape;567;p4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8" name="Google Shape;568;p4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pic>
        <p:nvPicPr>
          <p:cNvPr id="573" name="Google Shape;573;p42"/>
          <p:cNvPicPr preferRelativeResize="0"/>
          <p:nvPr/>
        </p:nvPicPr>
        <p:blipFill rotWithShape="1">
          <a:blip r:embed="rId3">
            <a:alphaModFix/>
          </a:blip>
          <a:srcRect b="8224" l="0" r="0" t="0"/>
          <a:stretch/>
        </p:blipFill>
        <p:spPr>
          <a:xfrm>
            <a:off x="833437" y="914400"/>
            <a:ext cx="7777162" cy="4800600"/>
          </a:xfrm>
          <a:prstGeom prst="rect">
            <a:avLst/>
          </a:prstGeom>
          <a:noFill/>
          <a:ln>
            <a:noFill/>
          </a:ln>
        </p:spPr>
      </p:pic>
      <p:sp>
        <p:nvSpPr>
          <p:cNvPr id="574" name="Google Shape;574;p4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CẤP PHÁT KHÔNG GIAN CHO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Sử dụng khối chỉ mục (index block/ node)</a:t>
            </a:r>
            <a:endParaRPr/>
          </a:p>
        </p:txBody>
      </p:sp>
      <p:sp>
        <p:nvSpPr>
          <p:cNvPr id="575" name="Google Shape;575;p4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3"/>
          <p:cNvSpPr txBox="1"/>
          <p:nvPr>
            <p:ph idx="1" type="body"/>
          </p:nvPr>
        </p:nvSpPr>
        <p:spPr>
          <a:xfrm>
            <a:off x="152400" y="914400"/>
            <a:ext cx="8763000" cy="5181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Arial"/>
                <a:ea typeface="Arial"/>
                <a:cs typeface="Arial"/>
                <a:sym typeface="Arial"/>
              </a:rPr>
              <a:t>Không gian trên đĩa được cấp phát theo từng khối không phân chia. Để quản lý hiệu quả không gian trên đĩa, ngoài phương pháp cấp phát khối nhớ cho file, cần chú ý:</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Arial"/>
                <a:ea typeface="Arial"/>
                <a:cs typeface="Arial"/>
                <a:sym typeface="Arial"/>
              </a:rPr>
              <a:t>Lựa chọn kích thước cho khối</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Arial"/>
                <a:ea typeface="Arial"/>
                <a:cs typeface="Arial"/>
                <a:sym typeface="Arial"/>
              </a:rPr>
              <a:t>Quản lý khối trống</a:t>
            </a:r>
            <a:endParaRPr/>
          </a:p>
          <a:p>
            <a:pPr indent="-342900" lvl="0" marL="342900" marR="0" rtl="0" algn="l">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Arial"/>
                <a:ea typeface="Arial"/>
                <a:cs typeface="Arial"/>
                <a:sym typeface="Arial"/>
              </a:rPr>
              <a:t>Kích thước khối:</a:t>
            </a:r>
            <a:endParaRPr/>
          </a:p>
          <a:p>
            <a:pPr indent="-342900" lvl="0" marL="342900" marR="0" rtl="0" algn="l">
              <a:lnSpc>
                <a:spcPct val="100000"/>
              </a:lnSpc>
              <a:spcBef>
                <a:spcPts val="520"/>
              </a:spcBef>
              <a:spcAft>
                <a:spcPts val="0"/>
              </a:spcAft>
              <a:buClr>
                <a:schemeClr val="dk2"/>
              </a:buClr>
              <a:buSzPts val="2600"/>
              <a:buFont typeface="Noto Sans Symbols"/>
              <a:buNone/>
            </a:pPr>
            <a:r>
              <a:rPr b="0" i="0" lang="en-US" sz="2600" u="none">
                <a:solidFill>
                  <a:schemeClr val="dk2"/>
                </a:solidFill>
                <a:latin typeface="Arial"/>
                <a:ea typeface="Arial"/>
                <a:cs typeface="Arial"/>
                <a:sym typeface="Arial"/>
              </a:rPr>
              <a:t>Khối là đơn vị cấp phát nhỏ nhất của hệ điều hành, mỗi file bao gồm một số nguyên các khối nhớ. </a:t>
            </a:r>
            <a:endParaRPr/>
          </a:p>
        </p:txBody>
      </p:sp>
      <p:sp>
        <p:nvSpPr>
          <p:cNvPr id="582" name="Google Shape;582;p43"/>
          <p:cNvSpPr txBox="1"/>
          <p:nvPr>
            <p:ph type="title"/>
          </p:nvPr>
        </p:nvSpPr>
        <p:spPr>
          <a:xfrm>
            <a:off x="457200" y="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 QUẢN LÝ KHÔNG GIAN TRỐNG TRÊN ĐĨA</a:t>
            </a:r>
            <a:endParaRPr/>
          </a:p>
        </p:txBody>
      </p:sp>
      <p:sp>
        <p:nvSpPr>
          <p:cNvPr id="583" name="Google Shape;583;p4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4" name="Google Shape;584;p4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44"/>
          <p:cNvSpPr txBox="1"/>
          <p:nvPr>
            <p:ph idx="1" type="body"/>
          </p:nvPr>
        </p:nvSpPr>
        <p:spPr>
          <a:xfrm>
            <a:off x="0" y="762000"/>
            <a:ext cx="9144000" cy="5791200"/>
          </a:xfrm>
          <a:prstGeom prst="rect">
            <a:avLst/>
          </a:prstGeom>
          <a:noFill/>
          <a:ln>
            <a:noFill/>
          </a:ln>
        </p:spPr>
        <p:txBody>
          <a:bodyPr anchorCtr="0" anchor="t" bIns="45700" lIns="91425" spcFirstLastPara="1" rIns="91425" wrap="square" tIns="45700">
            <a:noAutofit/>
          </a:bodyPr>
          <a:lstStyle/>
          <a:p>
            <a:pPr indent="-285750" lvl="1" marL="742950" marR="0" rtl="0" algn="l">
              <a:lnSpc>
                <a:spcPct val="100000"/>
              </a:lnSpc>
              <a:spcBef>
                <a:spcPts val="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Kích thước khối lớn: </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Giảm kích thước bảng chỉ mục, tăng tốc độ đọc file; </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Bị phân mảnh trong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Kích thước khối nhỏ:</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Mỗi file chiếm nhiều khối nhớ, nằm rải rác trên đĩa</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Thời gian đọc file lâu</a:t>
            </a:r>
            <a:endParaRPr b="0" i="0" sz="2600" u="none" cap="none" strike="noStrik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Chọn kích thước khối tùy thuộc:</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Kích thước đĩa: đĩa lớn, chọn kích thước khối lớn =&gt; thời gian truy cập nhanh, đơn giản hóa việc quản lý</a:t>
            </a:r>
            <a:endParaRPr/>
          </a:p>
          <a:p>
            <a:pPr indent="-228600" lvl="2" marL="1143000" marR="0" rtl="0" algn="l">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Kích thước file: hệ thống sử dụng nhiều file lớn, kích thước tăng và ngược</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Kích thước khối thường là lũy thừa 2 của sector và nằm trong khoảng từ 512B tới 32 KB</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91" name="Google Shape;591;p44"/>
          <p:cNvSpPr txBox="1"/>
          <p:nvPr>
            <p:ph type="title"/>
          </p:nvPr>
        </p:nvSpPr>
        <p:spPr>
          <a:xfrm>
            <a:off x="457200" y="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 QUẢN LÝ KHÔNG GIAN TRỐNG TRÊN ĐĨA</a:t>
            </a:r>
            <a:endParaRPr/>
          </a:p>
        </p:txBody>
      </p:sp>
      <p:sp>
        <p:nvSpPr>
          <p:cNvPr id="592" name="Google Shape;592;p44"/>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3" name="Google Shape;593;p4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4" name="Google Shape;594;p4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0" st="0"/>
                                            </p:txEl>
                                          </p:spTgt>
                                        </p:tgtEl>
                                        <p:attrNameLst>
                                          <p:attrName>style.visibility</p:attrName>
                                        </p:attrNameLst>
                                      </p:cBhvr>
                                      <p:to>
                                        <p:strVal val="visible"/>
                                      </p:to>
                                    </p:set>
                                    <p:animEffect filter="fade" transition="in">
                                      <p:cBhvr>
                                        <p:cTn dur="500"/>
                                        <p:tgtEl>
                                          <p:spTgt spid="5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1" st="1"/>
                                            </p:txEl>
                                          </p:spTgt>
                                        </p:tgtEl>
                                        <p:attrNameLst>
                                          <p:attrName>style.visibility</p:attrName>
                                        </p:attrNameLst>
                                      </p:cBhvr>
                                      <p:to>
                                        <p:strVal val="visible"/>
                                      </p:to>
                                    </p:set>
                                    <p:animEffect filter="fade" transition="in">
                                      <p:cBhvr>
                                        <p:cTn dur="500"/>
                                        <p:tgtEl>
                                          <p:spTgt spid="5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2" st="2"/>
                                            </p:txEl>
                                          </p:spTgt>
                                        </p:tgtEl>
                                        <p:attrNameLst>
                                          <p:attrName>style.visibility</p:attrName>
                                        </p:attrNameLst>
                                      </p:cBhvr>
                                      <p:to>
                                        <p:strVal val="visible"/>
                                      </p:to>
                                    </p:set>
                                    <p:animEffect filter="fade" transition="in">
                                      <p:cBhvr>
                                        <p:cTn dur="500"/>
                                        <p:tgtEl>
                                          <p:spTgt spid="5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3" st="3"/>
                                            </p:txEl>
                                          </p:spTgt>
                                        </p:tgtEl>
                                        <p:attrNameLst>
                                          <p:attrName>style.visibility</p:attrName>
                                        </p:attrNameLst>
                                      </p:cBhvr>
                                      <p:to>
                                        <p:strVal val="visible"/>
                                      </p:to>
                                    </p:set>
                                    <p:animEffect filter="fade" transition="in">
                                      <p:cBhvr>
                                        <p:cTn dur="500"/>
                                        <p:tgtEl>
                                          <p:spTgt spid="5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4" st="4"/>
                                            </p:txEl>
                                          </p:spTgt>
                                        </p:tgtEl>
                                        <p:attrNameLst>
                                          <p:attrName>style.visibility</p:attrName>
                                        </p:attrNameLst>
                                      </p:cBhvr>
                                      <p:to>
                                        <p:strVal val="visible"/>
                                      </p:to>
                                    </p:set>
                                    <p:animEffect filter="fade" transition="in">
                                      <p:cBhvr>
                                        <p:cTn dur="500"/>
                                        <p:tgtEl>
                                          <p:spTgt spid="5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5" st="5"/>
                                            </p:txEl>
                                          </p:spTgt>
                                        </p:tgtEl>
                                        <p:attrNameLst>
                                          <p:attrName>style.visibility</p:attrName>
                                        </p:attrNameLst>
                                      </p:cBhvr>
                                      <p:to>
                                        <p:strVal val="visible"/>
                                      </p:to>
                                    </p:set>
                                    <p:animEffect filter="fade" transition="in">
                                      <p:cBhvr>
                                        <p:cTn dur="500"/>
                                        <p:tgtEl>
                                          <p:spTgt spid="5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6" st="6"/>
                                            </p:txEl>
                                          </p:spTgt>
                                        </p:tgtEl>
                                        <p:attrNameLst>
                                          <p:attrName>style.visibility</p:attrName>
                                        </p:attrNameLst>
                                      </p:cBhvr>
                                      <p:to>
                                        <p:strVal val="visible"/>
                                      </p:to>
                                    </p:set>
                                    <p:animEffect filter="fade" transition="in">
                                      <p:cBhvr>
                                        <p:cTn dur="500"/>
                                        <p:tgtEl>
                                          <p:spTgt spid="59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7" st="7"/>
                                            </p:txEl>
                                          </p:spTgt>
                                        </p:tgtEl>
                                        <p:attrNameLst>
                                          <p:attrName>style.visibility</p:attrName>
                                        </p:attrNameLst>
                                      </p:cBhvr>
                                      <p:to>
                                        <p:strVal val="visible"/>
                                      </p:to>
                                    </p:set>
                                    <p:animEffect filter="fade" transition="in">
                                      <p:cBhvr>
                                        <p:cTn dur="500"/>
                                        <p:tgtEl>
                                          <p:spTgt spid="59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8" st="8"/>
                                            </p:txEl>
                                          </p:spTgt>
                                        </p:tgtEl>
                                        <p:attrNameLst>
                                          <p:attrName>style.visibility</p:attrName>
                                        </p:attrNameLst>
                                      </p:cBhvr>
                                      <p:to>
                                        <p:strVal val="visible"/>
                                      </p:to>
                                    </p:set>
                                    <p:animEffect filter="fade" transition="in">
                                      <p:cBhvr>
                                        <p:cTn dur="500"/>
                                        <p:tgtEl>
                                          <p:spTgt spid="59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9" st="9"/>
                                            </p:txEl>
                                          </p:spTgt>
                                        </p:tgtEl>
                                        <p:attrNameLst>
                                          <p:attrName>style.visibility</p:attrName>
                                        </p:attrNameLst>
                                      </p:cBhvr>
                                      <p:to>
                                        <p:strVal val="visible"/>
                                      </p:to>
                                    </p:set>
                                    <p:animEffect filter="fade" transition="in">
                                      <p:cBhvr>
                                        <p:cTn dur="500"/>
                                        <p:tgtEl>
                                          <p:spTgt spid="59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10" st="10"/>
                                            </p:txEl>
                                          </p:spTgt>
                                        </p:tgtEl>
                                        <p:attrNameLst>
                                          <p:attrName>style.visibility</p:attrName>
                                        </p:attrNameLst>
                                      </p:cBhvr>
                                      <p:to>
                                        <p:strVal val="visible"/>
                                      </p:to>
                                    </p:set>
                                    <p:animEffect filter="fade" transition="in">
                                      <p:cBhvr>
                                        <p:cTn dur="500"/>
                                        <p:tgtEl>
                                          <p:spTgt spid="59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11" st="11"/>
                                            </p:txEl>
                                          </p:spTgt>
                                        </p:tgtEl>
                                        <p:attrNameLst>
                                          <p:attrName>style.visibility</p:attrName>
                                        </p:attrNameLst>
                                      </p:cBhvr>
                                      <p:to>
                                        <p:strVal val="visible"/>
                                      </p:to>
                                    </p:set>
                                    <p:animEffect filter="fade" transition="in">
                                      <p:cBhvr>
                                        <p:cTn dur="500"/>
                                        <p:tgtEl>
                                          <p:spTgt spid="59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12" st="12"/>
                                            </p:txEl>
                                          </p:spTgt>
                                        </p:tgtEl>
                                        <p:attrNameLst>
                                          <p:attrName>style.visibility</p:attrName>
                                        </p:attrNameLst>
                                      </p:cBhvr>
                                      <p:to>
                                        <p:strVal val="visible"/>
                                      </p:to>
                                    </p:set>
                                    <p:animEffect filter="fade" transition="in">
                                      <p:cBhvr>
                                        <p:cTn dur="500"/>
                                        <p:tgtEl>
                                          <p:spTgt spid="590">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xEl>
                                              <p:pRg end="13" st="13"/>
                                            </p:txEl>
                                          </p:spTgt>
                                        </p:tgtEl>
                                        <p:attrNameLst>
                                          <p:attrName>style.visibility</p:attrName>
                                        </p:attrNameLst>
                                      </p:cBhvr>
                                      <p:to>
                                        <p:strVal val="visible"/>
                                      </p:to>
                                    </p:set>
                                    <p:animEffect filter="fade" transition="in">
                                      <p:cBhvr>
                                        <p:cTn dur="500"/>
                                        <p:tgtEl>
                                          <p:spTgt spid="590">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45"/>
          <p:cNvSpPr txBox="1"/>
          <p:nvPr>
            <p:ph idx="1" type="body"/>
          </p:nvPr>
        </p:nvSpPr>
        <p:spPr>
          <a:xfrm>
            <a:off x="152400" y="685800"/>
            <a:ext cx="8839200" cy="579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Để có thể cấp phát khối nhớ trên đĩa cho file, HDH cần biết khối nào hiện đang trống. Các khối trống bao gồm những khối chưa được cấp phát lần nào hoặc cấp phát rồi nhưng đã được giải phóng.</a:t>
            </a:r>
            <a:endParaRPr/>
          </a:p>
          <a:p>
            <a:pPr indent="-342900" lvl="0" marL="342900" marR="0" rtl="0" algn="just">
              <a:lnSpc>
                <a:spcPct val="100000"/>
              </a:lnSpc>
              <a:spcBef>
                <a:spcPts val="560"/>
              </a:spcBef>
              <a:spcAft>
                <a:spcPts val="0"/>
              </a:spcAft>
              <a:buClr>
                <a:schemeClr val="dk2"/>
              </a:buClr>
              <a:buSzPts val="2800"/>
              <a:buFont typeface="Noto Sans Symbols"/>
              <a:buNone/>
            </a:pPr>
            <a:r>
              <a:rPr b="1" i="0" lang="en-US" sz="2800" u="none">
                <a:solidFill>
                  <a:schemeClr val="dk2"/>
                </a:solidFill>
                <a:latin typeface="Times New Roman"/>
                <a:ea typeface="Times New Roman"/>
                <a:cs typeface="Times New Roman"/>
                <a:sym typeface="Times New Roman"/>
              </a:rPr>
              <a:t>1. Bảng bit</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Vector bit là mảng 1 chiều</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Mỗi ô có kích thước 1 bit tương ứng với một khối trên đĩa</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Khối được cấp phát có bít tương ứng là 0, khối trống: 1 hoặc ngược lại</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Dễ tìm 1 hoặc nhóm các khối trống liên tiếp</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Với đĩa có kích thước lớn, đọc toàn bộ vector bit vào MEM có thể đòi hỏi khá nhiều không gian nhớ</a:t>
            </a:r>
            <a:endParaRPr/>
          </a:p>
          <a:p>
            <a:pPr indent="-190500" lvl="0" marL="342900" marR="0" rtl="0" algn="just">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just">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just">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just">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just">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01" name="Google Shape;601;p4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 QUẢN LÝ KHÔNG GIAN TRỐNG TRÊN ĐĨA </a:t>
            </a:r>
            <a:br>
              <a:rPr b="1" i="0" lang="en-US" sz="2800" u="none">
                <a:solidFill>
                  <a:srgbClr val="000066"/>
                </a:solidFill>
                <a:latin typeface="Times New Roman"/>
                <a:ea typeface="Times New Roman"/>
                <a:cs typeface="Times New Roman"/>
                <a:sym typeface="Times New Roman"/>
              </a:rPr>
            </a:br>
            <a:endParaRPr/>
          </a:p>
        </p:txBody>
      </p:sp>
      <p:sp>
        <p:nvSpPr>
          <p:cNvPr id="602" name="Google Shape;602;p45"/>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3" name="Google Shape;603;p4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4" name="Google Shape;604;p4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xEl>
                                              <p:pRg end="0" st="0"/>
                                            </p:txEl>
                                          </p:spTgt>
                                        </p:tgtEl>
                                        <p:attrNameLst>
                                          <p:attrName>style.visibility</p:attrName>
                                        </p:attrNameLst>
                                      </p:cBhvr>
                                      <p:to>
                                        <p:strVal val="visible"/>
                                      </p:to>
                                    </p:set>
                                    <p:animEffect filter="fade" transition="in">
                                      <p:cBhvr>
                                        <p:cTn dur="500"/>
                                        <p:tgtEl>
                                          <p:spTgt spid="6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xEl>
                                              <p:pRg end="1" st="1"/>
                                            </p:txEl>
                                          </p:spTgt>
                                        </p:tgtEl>
                                        <p:attrNameLst>
                                          <p:attrName>style.visibility</p:attrName>
                                        </p:attrNameLst>
                                      </p:cBhvr>
                                      <p:to>
                                        <p:strVal val="visible"/>
                                      </p:to>
                                    </p:set>
                                    <p:animEffect filter="fade" transition="in">
                                      <p:cBhvr>
                                        <p:cTn dur="500"/>
                                        <p:tgtEl>
                                          <p:spTgt spid="6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xEl>
                                              <p:pRg end="2" st="2"/>
                                            </p:txEl>
                                          </p:spTgt>
                                        </p:tgtEl>
                                        <p:attrNameLst>
                                          <p:attrName>style.visibility</p:attrName>
                                        </p:attrNameLst>
                                      </p:cBhvr>
                                      <p:to>
                                        <p:strVal val="visible"/>
                                      </p:to>
                                    </p:set>
                                    <p:animEffect filter="fade" transition="in">
                                      <p:cBhvr>
                                        <p:cTn dur="500"/>
                                        <p:tgtEl>
                                          <p:spTgt spid="6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xEl>
                                              <p:pRg end="3" st="3"/>
                                            </p:txEl>
                                          </p:spTgt>
                                        </p:tgtEl>
                                        <p:attrNameLst>
                                          <p:attrName>style.visibility</p:attrName>
                                        </p:attrNameLst>
                                      </p:cBhvr>
                                      <p:to>
                                        <p:strVal val="visible"/>
                                      </p:to>
                                    </p:set>
                                    <p:animEffect filter="fade" transition="in">
                                      <p:cBhvr>
                                        <p:cTn dur="500"/>
                                        <p:tgtEl>
                                          <p:spTgt spid="6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xEl>
                                              <p:pRg end="4" st="4"/>
                                            </p:txEl>
                                          </p:spTgt>
                                        </p:tgtEl>
                                        <p:attrNameLst>
                                          <p:attrName>style.visibility</p:attrName>
                                        </p:attrNameLst>
                                      </p:cBhvr>
                                      <p:to>
                                        <p:strVal val="visible"/>
                                      </p:to>
                                    </p:set>
                                    <p:animEffect filter="fade" transition="in">
                                      <p:cBhvr>
                                        <p:cTn dur="500"/>
                                        <p:tgtEl>
                                          <p:spTgt spid="6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xEl>
                                              <p:pRg end="5" st="5"/>
                                            </p:txEl>
                                          </p:spTgt>
                                        </p:tgtEl>
                                        <p:attrNameLst>
                                          <p:attrName>style.visibility</p:attrName>
                                        </p:attrNameLst>
                                      </p:cBhvr>
                                      <p:to>
                                        <p:strVal val="visible"/>
                                      </p:to>
                                    </p:set>
                                    <p:animEffect filter="fade" transition="in">
                                      <p:cBhvr>
                                        <p:cTn dur="500"/>
                                        <p:tgtEl>
                                          <p:spTgt spid="60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xEl>
                                              <p:pRg end="6" st="6"/>
                                            </p:txEl>
                                          </p:spTgt>
                                        </p:tgtEl>
                                        <p:attrNameLst>
                                          <p:attrName>style.visibility</p:attrName>
                                        </p:attrNameLst>
                                      </p:cBhvr>
                                      <p:to>
                                        <p:strVal val="visible"/>
                                      </p:to>
                                    </p:set>
                                    <p:animEffect filter="fade" transition="in">
                                      <p:cBhvr>
                                        <p:cTn dur="500"/>
                                        <p:tgtEl>
                                          <p:spTgt spid="60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xEl>
                                              <p:pRg end="7" st="7"/>
                                            </p:txEl>
                                          </p:spTgt>
                                        </p:tgtEl>
                                        <p:attrNameLst>
                                          <p:attrName>style.visibility</p:attrName>
                                        </p:attrNameLst>
                                      </p:cBhvr>
                                      <p:to>
                                        <p:strVal val="visible"/>
                                      </p:to>
                                    </p:set>
                                    <p:animEffect filter="fade" transition="in">
                                      <p:cBhvr>
                                        <p:cTn dur="500"/>
                                        <p:tgtEl>
                                          <p:spTgt spid="60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xEl>
                                              <p:pRg end="8" st="8"/>
                                            </p:txEl>
                                          </p:spTgt>
                                        </p:tgtEl>
                                        <p:attrNameLst>
                                          <p:attrName>style.visibility</p:attrName>
                                        </p:attrNameLst>
                                      </p:cBhvr>
                                      <p:to>
                                        <p:strVal val="visible"/>
                                      </p:to>
                                    </p:set>
                                    <p:animEffect filter="fade" transition="in">
                                      <p:cBhvr>
                                        <p:cTn dur="500"/>
                                        <p:tgtEl>
                                          <p:spTgt spid="60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xEl>
                                              <p:pRg end="9" st="9"/>
                                            </p:txEl>
                                          </p:spTgt>
                                        </p:tgtEl>
                                        <p:attrNameLst>
                                          <p:attrName>style.visibility</p:attrName>
                                        </p:attrNameLst>
                                      </p:cBhvr>
                                      <p:to>
                                        <p:strVal val="visible"/>
                                      </p:to>
                                    </p:set>
                                    <p:animEffect filter="fade" transition="in">
                                      <p:cBhvr>
                                        <p:cTn dur="500"/>
                                        <p:tgtEl>
                                          <p:spTgt spid="60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xEl>
                                              <p:pRg end="10" st="10"/>
                                            </p:txEl>
                                          </p:spTgt>
                                        </p:tgtEl>
                                        <p:attrNameLst>
                                          <p:attrName>style.visibility</p:attrName>
                                        </p:attrNameLst>
                                      </p:cBhvr>
                                      <p:to>
                                        <p:strVal val="visible"/>
                                      </p:to>
                                    </p:set>
                                    <p:animEffect filter="fade" transition="in">
                                      <p:cBhvr>
                                        <p:cTn dur="500"/>
                                        <p:tgtEl>
                                          <p:spTgt spid="60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xEl>
                                              <p:pRg end="11" st="11"/>
                                            </p:txEl>
                                          </p:spTgt>
                                        </p:tgtEl>
                                        <p:attrNameLst>
                                          <p:attrName>style.visibility</p:attrName>
                                        </p:attrNameLst>
                                      </p:cBhvr>
                                      <p:to>
                                        <p:strVal val="visible"/>
                                      </p:to>
                                    </p:set>
                                    <p:animEffect filter="fade" transition="in">
                                      <p:cBhvr>
                                        <p:cTn dur="500"/>
                                        <p:tgtEl>
                                          <p:spTgt spid="60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xEl>
                                              <p:pRg end="12" st="12"/>
                                            </p:txEl>
                                          </p:spTgt>
                                        </p:tgtEl>
                                        <p:attrNameLst>
                                          <p:attrName>style.visibility</p:attrName>
                                        </p:attrNameLst>
                                      </p:cBhvr>
                                      <p:to>
                                        <p:strVal val="visible"/>
                                      </p:to>
                                    </p:set>
                                    <p:animEffect filter="fade" transition="in">
                                      <p:cBhvr>
                                        <p:cTn dur="500"/>
                                        <p:tgtEl>
                                          <p:spTgt spid="600">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46"/>
          <p:cNvSpPr txBox="1"/>
          <p:nvPr>
            <p:ph idx="1" type="body"/>
          </p:nvPr>
        </p:nvSpPr>
        <p:spPr>
          <a:xfrm>
            <a:off x="152400" y="838200"/>
            <a:ext cx="8839200" cy="5638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Arial"/>
                <a:ea typeface="Arial"/>
                <a:cs typeface="Arial"/>
                <a:sym typeface="Arial"/>
              </a:rPr>
              <a:t>Ví dụ: Trong trường hợp sau, các khối 0, 1, 8, 9, 10 đã được cấp phát, các khối còn lại chưa bị sử dụng:</a:t>
            </a:r>
            <a:endParaRPr/>
          </a:p>
          <a:p>
            <a:pPr indent="-342900" lvl="0" marL="342900" marR="0" rtl="0" algn="just">
              <a:lnSpc>
                <a:spcPct val="100000"/>
              </a:lnSpc>
              <a:spcBef>
                <a:spcPts val="560"/>
              </a:spcBef>
              <a:spcAft>
                <a:spcPts val="0"/>
              </a:spcAft>
              <a:buClr>
                <a:schemeClr val="dk2"/>
              </a:buClr>
              <a:buSzPts val="2800"/>
              <a:buFont typeface="Noto Sans Symbols"/>
              <a:buNone/>
            </a:pPr>
            <a:r>
              <a:rPr b="0" i="0" lang="en-US" sz="2800" u="none">
                <a:solidFill>
                  <a:schemeClr val="dk2"/>
                </a:solidFill>
                <a:latin typeface="Arial"/>
                <a:ea typeface="Arial"/>
                <a:cs typeface="Arial"/>
                <a:sym typeface="Arial"/>
              </a:rPr>
              <a:t>00111111000111111... </a:t>
            </a:r>
            <a:br>
              <a:rPr b="0" i="0" lang="en-US" sz="2400" u="none">
                <a:solidFill>
                  <a:schemeClr val="dk2"/>
                </a:solidFill>
                <a:latin typeface="Arial"/>
                <a:ea typeface="Arial"/>
                <a:cs typeface="Arial"/>
                <a:sym typeface="Arial"/>
              </a:rPr>
            </a:br>
            <a:endParaRPr b="0" i="0" sz="2400" u="none">
              <a:solidFill>
                <a:schemeClr val="dk2"/>
              </a:solidFill>
              <a:latin typeface="Times New Roman"/>
              <a:ea typeface="Times New Roman"/>
              <a:cs typeface="Times New Roman"/>
              <a:sym typeface="Times New Roman"/>
            </a:endParaRPr>
          </a:p>
          <a:p>
            <a:pPr indent="-158750" lvl="1" marL="742950" marR="0" rtl="0" algn="just">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just">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just">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just">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11" name="Google Shape;611;p4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 QUẢN LÝ KHÔNG GIAN TRỐNG TRÊN ĐĨA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Bảng bit</a:t>
            </a:r>
            <a:br>
              <a:rPr b="1" i="0" lang="en-US" sz="2400" u="none">
                <a:solidFill>
                  <a:srgbClr val="000066"/>
                </a:solidFill>
                <a:latin typeface="Times New Roman"/>
                <a:ea typeface="Times New Roman"/>
                <a:cs typeface="Times New Roman"/>
                <a:sym typeface="Times New Roman"/>
              </a:rPr>
            </a:br>
            <a:endParaRPr/>
          </a:p>
        </p:txBody>
      </p:sp>
      <p:sp>
        <p:nvSpPr>
          <p:cNvPr id="612" name="Google Shape;612;p46"/>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3" name="Google Shape;613;p4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4" name="Google Shape;614;p4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47"/>
          <p:cNvSpPr txBox="1"/>
          <p:nvPr>
            <p:ph idx="1" type="body"/>
          </p:nvPr>
        </p:nvSpPr>
        <p:spPr>
          <a:xfrm>
            <a:off x="0" y="1066800"/>
            <a:ext cx="9144000" cy="579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 khối trống được liên kết với nhau thành danh sách</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Mỗi khối trống chứa con trỏ chỉ tới khối trống tiếp theo</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Địa chỉ khối trống đầu tiên được lưu ở vị trí đặc biệt trên đĩa và được HDH giữ trong MEM khi cần làm việc với các file</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Đòi hỏi truy cập lần lượt khi cần duyệt danh sách này</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HDH có thể cấp phát ngay các khối ở đầu danh sách</a:t>
            </a:r>
            <a:endParaRPr/>
          </a:p>
          <a:p>
            <a:pPr indent="-3429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21" name="Google Shape;621;p47"/>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 QUẢN LÝ KHÔNG GIAN TRỐNG TRÊN ĐĨA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2. Danh sách kết nối</a:t>
            </a:r>
            <a:endParaRPr/>
          </a:p>
        </p:txBody>
      </p:sp>
      <p:sp>
        <p:nvSpPr>
          <p:cNvPr id="622" name="Google Shape;622;p47"/>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3" name="Google Shape;623;p4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4" name="Google Shape;624;p4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xEl>
                                              <p:pRg end="0" st="0"/>
                                            </p:txEl>
                                          </p:spTgt>
                                        </p:tgtEl>
                                        <p:attrNameLst>
                                          <p:attrName>style.visibility</p:attrName>
                                        </p:attrNameLst>
                                      </p:cBhvr>
                                      <p:to>
                                        <p:strVal val="visible"/>
                                      </p:to>
                                    </p:set>
                                    <p:animEffect filter="fade" transition="in">
                                      <p:cBhvr>
                                        <p:cTn dur="500"/>
                                        <p:tgtEl>
                                          <p:spTgt spid="6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xEl>
                                              <p:pRg end="1" st="1"/>
                                            </p:txEl>
                                          </p:spTgt>
                                        </p:tgtEl>
                                        <p:attrNameLst>
                                          <p:attrName>style.visibility</p:attrName>
                                        </p:attrNameLst>
                                      </p:cBhvr>
                                      <p:to>
                                        <p:strVal val="visible"/>
                                      </p:to>
                                    </p:set>
                                    <p:animEffect filter="fade" transition="in">
                                      <p:cBhvr>
                                        <p:cTn dur="500"/>
                                        <p:tgtEl>
                                          <p:spTgt spid="6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xEl>
                                              <p:pRg end="2" st="2"/>
                                            </p:txEl>
                                          </p:spTgt>
                                        </p:tgtEl>
                                        <p:attrNameLst>
                                          <p:attrName>style.visibility</p:attrName>
                                        </p:attrNameLst>
                                      </p:cBhvr>
                                      <p:to>
                                        <p:strVal val="visible"/>
                                      </p:to>
                                    </p:set>
                                    <p:animEffect filter="fade" transition="in">
                                      <p:cBhvr>
                                        <p:cTn dur="500"/>
                                        <p:tgtEl>
                                          <p:spTgt spid="6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xEl>
                                              <p:pRg end="3" st="3"/>
                                            </p:txEl>
                                          </p:spTgt>
                                        </p:tgtEl>
                                        <p:attrNameLst>
                                          <p:attrName>style.visibility</p:attrName>
                                        </p:attrNameLst>
                                      </p:cBhvr>
                                      <p:to>
                                        <p:strVal val="visible"/>
                                      </p:to>
                                    </p:set>
                                    <p:animEffect filter="fade" transition="in">
                                      <p:cBhvr>
                                        <p:cTn dur="500"/>
                                        <p:tgtEl>
                                          <p:spTgt spid="62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xEl>
                                              <p:pRg end="4" st="4"/>
                                            </p:txEl>
                                          </p:spTgt>
                                        </p:tgtEl>
                                        <p:attrNameLst>
                                          <p:attrName>style.visibility</p:attrName>
                                        </p:attrNameLst>
                                      </p:cBhvr>
                                      <p:to>
                                        <p:strVal val="visible"/>
                                      </p:to>
                                    </p:set>
                                    <p:animEffect filter="fade" transition="in">
                                      <p:cBhvr>
                                        <p:cTn dur="500"/>
                                        <p:tgtEl>
                                          <p:spTgt spid="62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xEl>
                                              <p:pRg end="5" st="5"/>
                                            </p:txEl>
                                          </p:spTgt>
                                        </p:tgtEl>
                                        <p:attrNameLst>
                                          <p:attrName>style.visibility</p:attrName>
                                        </p:attrNameLst>
                                      </p:cBhvr>
                                      <p:to>
                                        <p:strVal val="visible"/>
                                      </p:to>
                                    </p:set>
                                    <p:animEffect filter="fade" transition="in">
                                      <p:cBhvr>
                                        <p:cTn dur="500"/>
                                        <p:tgtEl>
                                          <p:spTgt spid="62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xEl>
                                              <p:pRg end="6" st="6"/>
                                            </p:txEl>
                                          </p:spTgt>
                                        </p:tgtEl>
                                        <p:attrNameLst>
                                          <p:attrName>style.visibility</p:attrName>
                                        </p:attrNameLst>
                                      </p:cBhvr>
                                      <p:to>
                                        <p:strVal val="visible"/>
                                      </p:to>
                                    </p:set>
                                    <p:animEffect filter="fade" transition="in">
                                      <p:cBhvr>
                                        <p:cTn dur="500"/>
                                        <p:tgtEl>
                                          <p:spTgt spid="62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xEl>
                                              <p:pRg end="7" st="7"/>
                                            </p:txEl>
                                          </p:spTgt>
                                        </p:tgtEl>
                                        <p:attrNameLst>
                                          <p:attrName>style.visibility</p:attrName>
                                        </p:attrNameLst>
                                      </p:cBhvr>
                                      <p:to>
                                        <p:strVal val="visible"/>
                                      </p:to>
                                    </p:set>
                                    <p:animEffect filter="fade" transition="in">
                                      <p:cBhvr>
                                        <p:cTn dur="500"/>
                                        <p:tgtEl>
                                          <p:spTgt spid="62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xEl>
                                              <p:pRg end="8" st="8"/>
                                            </p:txEl>
                                          </p:spTgt>
                                        </p:tgtEl>
                                        <p:attrNameLst>
                                          <p:attrName>style.visibility</p:attrName>
                                        </p:attrNameLst>
                                      </p:cBhvr>
                                      <p:to>
                                        <p:strVal val="visible"/>
                                      </p:to>
                                    </p:set>
                                    <p:animEffect filter="fade" transition="in">
                                      <p:cBhvr>
                                        <p:cTn dur="500"/>
                                        <p:tgtEl>
                                          <p:spTgt spid="62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xEl>
                                              <p:pRg end="9" st="9"/>
                                            </p:txEl>
                                          </p:spTgt>
                                        </p:tgtEl>
                                        <p:attrNameLst>
                                          <p:attrName>style.visibility</p:attrName>
                                        </p:attrNameLst>
                                      </p:cBhvr>
                                      <p:to>
                                        <p:strVal val="visible"/>
                                      </p:to>
                                    </p:set>
                                    <p:animEffect filter="fade" transition="in">
                                      <p:cBhvr>
                                        <p:cTn dur="500"/>
                                        <p:tgtEl>
                                          <p:spTgt spid="62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0">
                                            <p:txEl>
                                              <p:pRg end="10" st="10"/>
                                            </p:txEl>
                                          </p:spTgt>
                                        </p:tgtEl>
                                        <p:attrNameLst>
                                          <p:attrName>style.visibility</p:attrName>
                                        </p:attrNameLst>
                                      </p:cBhvr>
                                      <p:to>
                                        <p:strVal val="visible"/>
                                      </p:to>
                                    </p:set>
                                    <p:animEffect filter="fade" transition="in">
                                      <p:cBhvr>
                                        <p:cTn dur="500"/>
                                        <p:tgtEl>
                                          <p:spTgt spid="620">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48"/>
          <p:cNvSpPr txBox="1"/>
          <p:nvPr>
            <p:ph idx="1" type="body"/>
          </p:nvPr>
        </p:nvSpPr>
        <p:spPr>
          <a:xfrm>
            <a:off x="0" y="1066800"/>
            <a:ext cx="9144000" cy="5791200"/>
          </a:xfrm>
          <a:prstGeom prst="rect">
            <a:avLst/>
          </a:prstGeom>
          <a:noFill/>
          <a:ln>
            <a:noFill/>
          </a:ln>
        </p:spPr>
        <p:txBody>
          <a:bodyPr anchorCtr="0" anchor="t" bIns="45700" lIns="91425" spcFirstLastPara="1" rIns="91425" wrap="square" tIns="45700">
            <a:noAutofit/>
          </a:bodyPr>
          <a:lstStyle/>
          <a:p>
            <a:pPr indent="-165100" lvl="0" marL="342900" marR="0" rtl="0" algn="l">
              <a:lnSpc>
                <a:spcPct val="100000"/>
              </a:lnSpc>
              <a:spcBef>
                <a:spcPts val="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 khối nằm liền nhau thường được cấp phát và giải phóng đồng thời</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Lưu vị trí khối trống đầu tiên của vùng các khối trống liên tiếp và số lượng các khối trống nằm liền sau đó</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Thông tin trên được lưu vào danh sách riêng</a:t>
            </a:r>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31" name="Google Shape;631;p48"/>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 QUẢN LÝ KHÔNG GIAN TRỐNG TRÊN ĐĨA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 danh sách vùng trống</a:t>
            </a:r>
            <a:endParaRPr/>
          </a:p>
        </p:txBody>
      </p:sp>
      <p:sp>
        <p:nvSpPr>
          <p:cNvPr id="632" name="Google Shape;632;p48"/>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33" name="Google Shape;633;p4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34" name="Google Shape;634;p4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49"/>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 ĐỘ TIN CẬY CỦA HỆ THỐNG FILE</a:t>
            </a:r>
            <a:br>
              <a:rPr b="1" i="0" lang="en-US" sz="2800" u="none">
                <a:solidFill>
                  <a:srgbClr val="000066"/>
                </a:solidFill>
                <a:latin typeface="Times New Roman"/>
                <a:ea typeface="Times New Roman"/>
                <a:cs typeface="Times New Roman"/>
                <a:sym typeface="Times New Roman"/>
              </a:rPr>
            </a:br>
            <a:endParaRPr/>
          </a:p>
        </p:txBody>
      </p:sp>
      <p:sp>
        <p:nvSpPr>
          <p:cNvPr id="641" name="Google Shape;641;p4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42" name="Google Shape;642;p4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43" name="Google Shape;643;p49"/>
          <p:cNvSpPr txBox="1"/>
          <p:nvPr>
            <p:ph idx="1" type="body"/>
          </p:nvPr>
        </p:nvSpPr>
        <p:spPr>
          <a:xfrm>
            <a:off x="457200" y="762000"/>
            <a:ext cx="8229600" cy="5486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File là nơi lưu trữ thông tin rất quan trọng đối với người dùng, thậm chí quan trọng với chính bản thân hệ thống tính toán. </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Hệ thống file phải có tính bền vững cao, phải đảm bảo lưu trữ thông tin sao cho thông tin được toàn vẹn và không bị mất mát.</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Thông tin của hệ thống file lưu trên đĩa và các thết bị nhớ ngoài khác có thể bị sai lệch, mất mát do:	</a:t>
            </a:r>
            <a:endParaRPr/>
          </a:p>
          <a:p>
            <a:pPr indent="-285750" lvl="1" marL="742950" marR="0" rtl="0" algn="just">
              <a:lnSpc>
                <a:spcPct val="100000"/>
              </a:lnSpc>
              <a:spcBef>
                <a:spcPts val="440"/>
              </a:spcBef>
              <a:spcAft>
                <a:spcPts val="0"/>
              </a:spcAft>
              <a:buClr>
                <a:schemeClr val="accent1"/>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Lỗi phàn cứng/phần mềm</a:t>
            </a:r>
            <a:endParaRPr/>
          </a:p>
          <a:p>
            <a:pPr indent="-285750" lvl="1" marL="742950" marR="0" rtl="0" algn="just">
              <a:lnSpc>
                <a:spcPct val="100000"/>
              </a:lnSpc>
              <a:spcBef>
                <a:spcPts val="440"/>
              </a:spcBef>
              <a:spcAft>
                <a:spcPts val="0"/>
              </a:spcAft>
              <a:buClr>
                <a:schemeClr val="accent1"/>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Lỗi sự cố kỹ thuật</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Mặc dù không thể ngăn chặn các sự cố như vậy =&gt; cũng cần được xây dựng sao cho có khả năng phát hiện và khắc phục hậu quả trong khả năng cao nhất</a:t>
            </a:r>
            <a:endParaRPr b="0" i="0" sz="2200" u="none" cap="none" strike="noStrike">
              <a:solidFill>
                <a:schemeClr val="dk2"/>
              </a:solidFill>
              <a:latin typeface="Times New Roman"/>
              <a:ea typeface="Times New Roman"/>
              <a:cs typeface="Times New Roman"/>
              <a:sym typeface="Times New Roman"/>
            </a:endParaRPr>
          </a:p>
          <a:p>
            <a:pPr indent="-203200" lvl="0" marL="342900" marR="0" rtl="0" algn="l">
              <a:spcBef>
                <a:spcPts val="440"/>
              </a:spcBef>
              <a:spcAft>
                <a:spcPts val="0"/>
              </a:spcAft>
              <a:buClr>
                <a:schemeClr val="dk2"/>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50"/>
          <p:cNvSpPr txBox="1"/>
          <p:nvPr>
            <p:ph idx="1" type="body"/>
          </p:nvPr>
        </p:nvSpPr>
        <p:spPr>
          <a:xfrm>
            <a:off x="381000" y="838200"/>
            <a:ext cx="8382000" cy="5029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Trong quá trình sản xuất cũng như sử dụng, đĩa có thể chứa các khối hỏng, không thể dùng cho đọc/ghi thông tin.</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Đĩa mềm, các khối hỏng thường xuất hiện trong quá trình sử dụng</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Đĩa cứng: thường có các khối hỏng ngay trong quá trình sản xuất. Những khối hỏng này được nhà sản xuất phát hiện trong quá trình kiểm tra đĩa và được lưu trong danh sách khối hỏng đi cùng với đĩa</a:t>
            </a:r>
            <a:endParaRPr b="0" i="0" sz="24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50" name="Google Shape;650;p50"/>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 ĐỘ TIN CẬY CỦA HỆ THỐNG FILE</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Phát hiện &amp; loại trừ các khối hỏng</a:t>
            </a:r>
            <a:endParaRPr/>
          </a:p>
        </p:txBody>
      </p:sp>
      <p:sp>
        <p:nvSpPr>
          <p:cNvPr id="651" name="Google Shape;651;p50"/>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52" name="Google Shape;652;p5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53" name="Google Shape;653;p5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51"/>
          <p:cNvSpPr txBox="1"/>
          <p:nvPr>
            <p:ph idx="1" type="body"/>
          </p:nvPr>
        </p:nvSpPr>
        <p:spPr>
          <a:xfrm>
            <a:off x="0" y="1066800"/>
            <a:ext cx="91440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Phát hiện và loại trừ khối hỏng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Phương pháp 1:</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Một sector trên đĩa được dành riêng chứa danh sách các khối hỏng</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Một số khối không hỏng được dành riêng để dự trữ</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Các khối hỏng sẽ được thay thế bởi các khối dự trữ bằng cách thay thế địa chỉ </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Truy cập tới khối hỏng thành truy cập tới khối dự trữ</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Phương pháp 2:</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Tập trung tất cả các khối hỏng thành 1 file</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=&gt; được coi như đã cấp phát và không được sử dụng nữa</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60" name="Google Shape;660;p5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 ĐỘ TIN CẬY CỦA HỆ THỐNG FILE</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Phát hiện &amp; loại trừ các khối hỏng</a:t>
            </a:r>
            <a:endParaRPr/>
          </a:p>
        </p:txBody>
      </p:sp>
      <p:sp>
        <p:nvSpPr>
          <p:cNvPr id="661" name="Google Shape;661;p51"/>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62" name="Google Shape;662;p5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63" name="Google Shape;663;p5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52"/>
          <p:cNvSpPr txBox="1"/>
          <p:nvPr>
            <p:ph idx="1" type="body"/>
          </p:nvPr>
        </p:nvSpPr>
        <p:spPr>
          <a:xfrm>
            <a:off x="0" y="685800"/>
            <a:ext cx="91440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Tạo ra một bản sao của đĩa trên một vật mang khác</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Sao lưu toàn bộ (full backup):</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Ghi toàn bộ thông tin trên đĩa ra vật mang tin khác</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Chắc chắn nhưng tốn nhiều thời gian</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Sao lưu tăng dần (incremental backup):</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Được sử dụng sau khi đã tiến hành full backup ít nhất 1 lần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Chỉ ghi lại các file đã bị thay đổi sau lần sao lưu cuối cùng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Hệ thống lưu trữ thông tin về các lần lưu trữ file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DOS: file thay đổi, archive bit =1</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Kết hợp:</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Full backup: hàng tuần/ tháng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Incremental backup: hàng ngày</a:t>
            </a:r>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70" name="Google Shape;670;p5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 ĐỘ TIN CẬY CỦA HỆ THỐNG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Sao dự phòng</a:t>
            </a:r>
            <a:endParaRPr/>
          </a:p>
        </p:txBody>
      </p:sp>
      <p:sp>
        <p:nvSpPr>
          <p:cNvPr id="671" name="Google Shape;671;p52"/>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72" name="Google Shape;672;p5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73" name="Google Shape;673;p5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0" st="0"/>
                                            </p:txEl>
                                          </p:spTgt>
                                        </p:tgtEl>
                                        <p:attrNameLst>
                                          <p:attrName>style.visibility</p:attrName>
                                        </p:attrNameLst>
                                      </p:cBhvr>
                                      <p:to>
                                        <p:strVal val="visible"/>
                                      </p:to>
                                    </p:set>
                                    <p:animEffect filter="fade" transition="in">
                                      <p:cBhvr>
                                        <p:cTn dur="500"/>
                                        <p:tgtEl>
                                          <p:spTgt spid="6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1" st="1"/>
                                            </p:txEl>
                                          </p:spTgt>
                                        </p:tgtEl>
                                        <p:attrNameLst>
                                          <p:attrName>style.visibility</p:attrName>
                                        </p:attrNameLst>
                                      </p:cBhvr>
                                      <p:to>
                                        <p:strVal val="visible"/>
                                      </p:to>
                                    </p:set>
                                    <p:animEffect filter="fade" transition="in">
                                      <p:cBhvr>
                                        <p:cTn dur="500"/>
                                        <p:tgtEl>
                                          <p:spTgt spid="6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2" st="2"/>
                                            </p:txEl>
                                          </p:spTgt>
                                        </p:tgtEl>
                                        <p:attrNameLst>
                                          <p:attrName>style.visibility</p:attrName>
                                        </p:attrNameLst>
                                      </p:cBhvr>
                                      <p:to>
                                        <p:strVal val="visible"/>
                                      </p:to>
                                    </p:set>
                                    <p:animEffect filter="fade" transition="in">
                                      <p:cBhvr>
                                        <p:cTn dur="500"/>
                                        <p:tgtEl>
                                          <p:spTgt spid="6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3" st="3"/>
                                            </p:txEl>
                                          </p:spTgt>
                                        </p:tgtEl>
                                        <p:attrNameLst>
                                          <p:attrName>style.visibility</p:attrName>
                                        </p:attrNameLst>
                                      </p:cBhvr>
                                      <p:to>
                                        <p:strVal val="visible"/>
                                      </p:to>
                                    </p:set>
                                    <p:animEffect filter="fade" transition="in">
                                      <p:cBhvr>
                                        <p:cTn dur="500"/>
                                        <p:tgtEl>
                                          <p:spTgt spid="6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4" st="4"/>
                                            </p:txEl>
                                          </p:spTgt>
                                        </p:tgtEl>
                                        <p:attrNameLst>
                                          <p:attrName>style.visibility</p:attrName>
                                        </p:attrNameLst>
                                      </p:cBhvr>
                                      <p:to>
                                        <p:strVal val="visible"/>
                                      </p:to>
                                    </p:set>
                                    <p:animEffect filter="fade" transition="in">
                                      <p:cBhvr>
                                        <p:cTn dur="500"/>
                                        <p:tgtEl>
                                          <p:spTgt spid="6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5" st="5"/>
                                            </p:txEl>
                                          </p:spTgt>
                                        </p:tgtEl>
                                        <p:attrNameLst>
                                          <p:attrName>style.visibility</p:attrName>
                                        </p:attrNameLst>
                                      </p:cBhvr>
                                      <p:to>
                                        <p:strVal val="visible"/>
                                      </p:to>
                                    </p:set>
                                    <p:animEffect filter="fade" transition="in">
                                      <p:cBhvr>
                                        <p:cTn dur="500"/>
                                        <p:tgtEl>
                                          <p:spTgt spid="66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6" st="6"/>
                                            </p:txEl>
                                          </p:spTgt>
                                        </p:tgtEl>
                                        <p:attrNameLst>
                                          <p:attrName>style.visibility</p:attrName>
                                        </p:attrNameLst>
                                      </p:cBhvr>
                                      <p:to>
                                        <p:strVal val="visible"/>
                                      </p:to>
                                    </p:set>
                                    <p:animEffect filter="fade" transition="in">
                                      <p:cBhvr>
                                        <p:cTn dur="500"/>
                                        <p:tgtEl>
                                          <p:spTgt spid="66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7" st="7"/>
                                            </p:txEl>
                                          </p:spTgt>
                                        </p:tgtEl>
                                        <p:attrNameLst>
                                          <p:attrName>style.visibility</p:attrName>
                                        </p:attrNameLst>
                                      </p:cBhvr>
                                      <p:to>
                                        <p:strVal val="visible"/>
                                      </p:to>
                                    </p:set>
                                    <p:animEffect filter="fade" transition="in">
                                      <p:cBhvr>
                                        <p:cTn dur="500"/>
                                        <p:tgtEl>
                                          <p:spTgt spid="66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8" st="8"/>
                                            </p:txEl>
                                          </p:spTgt>
                                        </p:tgtEl>
                                        <p:attrNameLst>
                                          <p:attrName>style.visibility</p:attrName>
                                        </p:attrNameLst>
                                      </p:cBhvr>
                                      <p:to>
                                        <p:strVal val="visible"/>
                                      </p:to>
                                    </p:set>
                                    <p:animEffect filter="fade" transition="in">
                                      <p:cBhvr>
                                        <p:cTn dur="500"/>
                                        <p:tgtEl>
                                          <p:spTgt spid="66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9" st="9"/>
                                            </p:txEl>
                                          </p:spTgt>
                                        </p:tgtEl>
                                        <p:attrNameLst>
                                          <p:attrName>style.visibility</p:attrName>
                                        </p:attrNameLst>
                                      </p:cBhvr>
                                      <p:to>
                                        <p:strVal val="visible"/>
                                      </p:to>
                                    </p:set>
                                    <p:animEffect filter="fade" transition="in">
                                      <p:cBhvr>
                                        <p:cTn dur="500"/>
                                        <p:tgtEl>
                                          <p:spTgt spid="66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10" st="10"/>
                                            </p:txEl>
                                          </p:spTgt>
                                        </p:tgtEl>
                                        <p:attrNameLst>
                                          <p:attrName>style.visibility</p:attrName>
                                        </p:attrNameLst>
                                      </p:cBhvr>
                                      <p:to>
                                        <p:strVal val="visible"/>
                                      </p:to>
                                    </p:set>
                                    <p:animEffect filter="fade" transition="in">
                                      <p:cBhvr>
                                        <p:cTn dur="500"/>
                                        <p:tgtEl>
                                          <p:spTgt spid="66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11" st="11"/>
                                            </p:txEl>
                                          </p:spTgt>
                                        </p:tgtEl>
                                        <p:attrNameLst>
                                          <p:attrName>style.visibility</p:attrName>
                                        </p:attrNameLst>
                                      </p:cBhvr>
                                      <p:to>
                                        <p:strVal val="visible"/>
                                      </p:to>
                                    </p:set>
                                    <p:animEffect filter="fade" transition="in">
                                      <p:cBhvr>
                                        <p:cTn dur="500"/>
                                        <p:tgtEl>
                                          <p:spTgt spid="66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12" st="12"/>
                                            </p:txEl>
                                          </p:spTgt>
                                        </p:tgtEl>
                                        <p:attrNameLst>
                                          <p:attrName>style.visibility</p:attrName>
                                        </p:attrNameLst>
                                      </p:cBhvr>
                                      <p:to>
                                        <p:strVal val="visible"/>
                                      </p:to>
                                    </p:set>
                                    <p:animEffect filter="fade" transition="in">
                                      <p:cBhvr>
                                        <p:cTn dur="500"/>
                                        <p:tgtEl>
                                          <p:spTgt spid="66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13" st="13"/>
                                            </p:txEl>
                                          </p:spTgt>
                                        </p:tgtEl>
                                        <p:attrNameLst>
                                          <p:attrName>style.visibility</p:attrName>
                                        </p:attrNameLst>
                                      </p:cBhvr>
                                      <p:to>
                                        <p:strVal val="visible"/>
                                      </p:to>
                                    </p:set>
                                    <p:animEffect filter="fade" transition="in">
                                      <p:cBhvr>
                                        <p:cTn dur="500"/>
                                        <p:tgtEl>
                                          <p:spTgt spid="66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14" st="14"/>
                                            </p:txEl>
                                          </p:spTgt>
                                        </p:tgtEl>
                                        <p:attrNameLst>
                                          <p:attrName>style.visibility</p:attrName>
                                        </p:attrNameLst>
                                      </p:cBhvr>
                                      <p:to>
                                        <p:strVal val="visible"/>
                                      </p:to>
                                    </p:set>
                                    <p:animEffect filter="fade" transition="in">
                                      <p:cBhvr>
                                        <p:cTn dur="500"/>
                                        <p:tgtEl>
                                          <p:spTgt spid="669">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15" st="15"/>
                                            </p:txEl>
                                          </p:spTgt>
                                        </p:tgtEl>
                                        <p:attrNameLst>
                                          <p:attrName>style.visibility</p:attrName>
                                        </p:attrNameLst>
                                      </p:cBhvr>
                                      <p:to>
                                        <p:strVal val="visible"/>
                                      </p:to>
                                    </p:set>
                                    <p:animEffect filter="fade" transition="in">
                                      <p:cBhvr>
                                        <p:cTn dur="500"/>
                                        <p:tgtEl>
                                          <p:spTgt spid="669">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16" st="16"/>
                                            </p:txEl>
                                          </p:spTgt>
                                        </p:tgtEl>
                                        <p:attrNameLst>
                                          <p:attrName>style.visibility</p:attrName>
                                        </p:attrNameLst>
                                      </p:cBhvr>
                                      <p:to>
                                        <p:strVal val="visible"/>
                                      </p:to>
                                    </p:set>
                                    <p:animEffect filter="fade" transition="in">
                                      <p:cBhvr>
                                        <p:cTn dur="500"/>
                                        <p:tgtEl>
                                          <p:spTgt spid="669">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17" st="17"/>
                                            </p:txEl>
                                          </p:spTgt>
                                        </p:tgtEl>
                                        <p:attrNameLst>
                                          <p:attrName>style.visibility</p:attrName>
                                        </p:attrNameLst>
                                      </p:cBhvr>
                                      <p:to>
                                        <p:strVal val="visible"/>
                                      </p:to>
                                    </p:set>
                                    <p:animEffect filter="fade" transition="in">
                                      <p:cBhvr>
                                        <p:cTn dur="500"/>
                                        <p:tgtEl>
                                          <p:spTgt spid="669">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9">
                                            <p:txEl>
                                              <p:pRg end="18" st="18"/>
                                            </p:txEl>
                                          </p:spTgt>
                                        </p:tgtEl>
                                        <p:attrNameLst>
                                          <p:attrName>style.visibility</p:attrName>
                                        </p:attrNameLst>
                                      </p:cBhvr>
                                      <p:to>
                                        <p:strVal val="visible"/>
                                      </p:to>
                                    </p:set>
                                    <p:animEffect filter="fade" transition="in">
                                      <p:cBhvr>
                                        <p:cTn dur="500"/>
                                        <p:tgtEl>
                                          <p:spTgt spid="669">
                                            <p:txEl>
                                              <p:pRg end="18" st="1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53"/>
          <p:cNvSpPr txBox="1"/>
          <p:nvPr>
            <p:ph idx="1" type="body"/>
          </p:nvPr>
        </p:nvSpPr>
        <p:spPr>
          <a:xfrm>
            <a:off x="0" y="1066800"/>
            <a:ext cx="8915400" cy="579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Hệ thống file chứa nhiều CTDL có mối liên kết =&gt; thông tin về liên kết bị hư hại, tính toàn vẹn của hệ thống bị phá vỡ =&gt; đứt đoạn, không biết lưu ở khối nào tiếp theo</a:t>
            </a:r>
            <a:endParaRPr/>
          </a:p>
          <a:p>
            <a:pPr indent="-342900" lvl="0" marL="342900" marR="0" rtl="0" algn="just">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Các khối không có mặt trong danh sách các khối trống, đồng thời cũng không có mặt trong một file nào</a:t>
            </a:r>
            <a:endParaRPr/>
          </a:p>
          <a:p>
            <a:pPr indent="-342900" lvl="0" marL="342900" marR="0" rtl="0" algn="just">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Một khối có thể vừa thuộc về một file nào đó vừa có mặt trong danh sách khối trống</a:t>
            </a:r>
            <a:endParaRPr/>
          </a:p>
          <a:p>
            <a:pPr indent="-342900" lvl="0" marL="342900" marR="0" rtl="0" algn="just">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HDH có các chương trình kiểm tra tính toàn vẹn của hệ thống file, được chạy khi hệ thống khởi động, đặc biệt là sau sự cố</a:t>
            </a:r>
            <a:endParaRPr/>
          </a:p>
          <a:p>
            <a:pPr indent="-342900" lvl="0" marL="342900" marR="0" rtl="0" algn="just">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Ví dụ:  chương trình SCANDISK củ WIN hoặc DOS</a:t>
            </a:r>
            <a:endParaRPr/>
          </a:p>
          <a:p>
            <a:pPr indent="-184150" lvl="1" marL="742950" marR="0" rtl="0" algn="just">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33350" lvl="1" marL="742950" marR="0" rtl="0" algn="just">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58750" lvl="1" marL="742950" marR="0" rtl="0" algn="just">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just">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just">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just">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80" name="Google Shape;680;p53"/>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 ĐỘ TIN CẬY CỦA HỆ THỐNG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Kiểm tra tính toàn vẹn của hệ thống file</a:t>
            </a:r>
            <a:endParaRPr/>
          </a:p>
        </p:txBody>
      </p:sp>
      <p:sp>
        <p:nvSpPr>
          <p:cNvPr id="681" name="Google Shape;681;p53"/>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82" name="Google Shape;682;p5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83" name="Google Shape;683;p5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xEl>
                                              <p:pRg end="0" st="0"/>
                                            </p:txEl>
                                          </p:spTgt>
                                        </p:tgtEl>
                                        <p:attrNameLst>
                                          <p:attrName>style.visibility</p:attrName>
                                        </p:attrNameLst>
                                      </p:cBhvr>
                                      <p:to>
                                        <p:strVal val="visible"/>
                                      </p:to>
                                    </p:set>
                                    <p:animEffect filter="fade" transition="in">
                                      <p:cBhvr>
                                        <p:cTn dur="500"/>
                                        <p:tgtEl>
                                          <p:spTgt spid="6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xEl>
                                              <p:pRg end="1" st="1"/>
                                            </p:txEl>
                                          </p:spTgt>
                                        </p:tgtEl>
                                        <p:attrNameLst>
                                          <p:attrName>style.visibility</p:attrName>
                                        </p:attrNameLst>
                                      </p:cBhvr>
                                      <p:to>
                                        <p:strVal val="visible"/>
                                      </p:to>
                                    </p:set>
                                    <p:animEffect filter="fade" transition="in">
                                      <p:cBhvr>
                                        <p:cTn dur="500"/>
                                        <p:tgtEl>
                                          <p:spTgt spid="6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xEl>
                                              <p:pRg end="2" st="2"/>
                                            </p:txEl>
                                          </p:spTgt>
                                        </p:tgtEl>
                                        <p:attrNameLst>
                                          <p:attrName>style.visibility</p:attrName>
                                        </p:attrNameLst>
                                      </p:cBhvr>
                                      <p:to>
                                        <p:strVal val="visible"/>
                                      </p:to>
                                    </p:set>
                                    <p:animEffect filter="fade" transition="in">
                                      <p:cBhvr>
                                        <p:cTn dur="500"/>
                                        <p:tgtEl>
                                          <p:spTgt spid="6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xEl>
                                              <p:pRg end="3" st="3"/>
                                            </p:txEl>
                                          </p:spTgt>
                                        </p:tgtEl>
                                        <p:attrNameLst>
                                          <p:attrName>style.visibility</p:attrName>
                                        </p:attrNameLst>
                                      </p:cBhvr>
                                      <p:to>
                                        <p:strVal val="visible"/>
                                      </p:to>
                                    </p:set>
                                    <p:animEffect filter="fade" transition="in">
                                      <p:cBhvr>
                                        <p:cTn dur="500"/>
                                        <p:tgtEl>
                                          <p:spTgt spid="6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xEl>
                                              <p:pRg end="4" st="4"/>
                                            </p:txEl>
                                          </p:spTgt>
                                        </p:tgtEl>
                                        <p:attrNameLst>
                                          <p:attrName>style.visibility</p:attrName>
                                        </p:attrNameLst>
                                      </p:cBhvr>
                                      <p:to>
                                        <p:strVal val="visible"/>
                                      </p:to>
                                    </p:set>
                                    <p:animEffect filter="fade" transition="in">
                                      <p:cBhvr>
                                        <p:cTn dur="500"/>
                                        <p:tgtEl>
                                          <p:spTgt spid="67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xEl>
                                              <p:pRg end="5" st="5"/>
                                            </p:txEl>
                                          </p:spTgt>
                                        </p:tgtEl>
                                        <p:attrNameLst>
                                          <p:attrName>style.visibility</p:attrName>
                                        </p:attrNameLst>
                                      </p:cBhvr>
                                      <p:to>
                                        <p:strVal val="visible"/>
                                      </p:to>
                                    </p:set>
                                    <p:animEffect filter="fade" transition="in">
                                      <p:cBhvr>
                                        <p:cTn dur="500"/>
                                        <p:tgtEl>
                                          <p:spTgt spid="67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xEl>
                                              <p:pRg end="6" st="6"/>
                                            </p:txEl>
                                          </p:spTgt>
                                        </p:tgtEl>
                                        <p:attrNameLst>
                                          <p:attrName>style.visibility</p:attrName>
                                        </p:attrNameLst>
                                      </p:cBhvr>
                                      <p:to>
                                        <p:strVal val="visible"/>
                                      </p:to>
                                    </p:set>
                                    <p:animEffect filter="fade" transition="in">
                                      <p:cBhvr>
                                        <p:cTn dur="500"/>
                                        <p:tgtEl>
                                          <p:spTgt spid="67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xEl>
                                              <p:pRg end="7" st="7"/>
                                            </p:txEl>
                                          </p:spTgt>
                                        </p:tgtEl>
                                        <p:attrNameLst>
                                          <p:attrName>style.visibility</p:attrName>
                                        </p:attrNameLst>
                                      </p:cBhvr>
                                      <p:to>
                                        <p:strVal val="visible"/>
                                      </p:to>
                                    </p:set>
                                    <p:animEffect filter="fade" transition="in">
                                      <p:cBhvr>
                                        <p:cTn dur="500"/>
                                        <p:tgtEl>
                                          <p:spTgt spid="67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xEl>
                                              <p:pRg end="8" st="8"/>
                                            </p:txEl>
                                          </p:spTgt>
                                        </p:tgtEl>
                                        <p:attrNameLst>
                                          <p:attrName>style.visibility</p:attrName>
                                        </p:attrNameLst>
                                      </p:cBhvr>
                                      <p:to>
                                        <p:strVal val="visible"/>
                                      </p:to>
                                    </p:set>
                                    <p:animEffect filter="fade" transition="in">
                                      <p:cBhvr>
                                        <p:cTn dur="500"/>
                                        <p:tgtEl>
                                          <p:spTgt spid="67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xEl>
                                              <p:pRg end="9" st="9"/>
                                            </p:txEl>
                                          </p:spTgt>
                                        </p:tgtEl>
                                        <p:attrNameLst>
                                          <p:attrName>style.visibility</p:attrName>
                                        </p:attrNameLst>
                                      </p:cBhvr>
                                      <p:to>
                                        <p:strVal val="visible"/>
                                      </p:to>
                                    </p:set>
                                    <p:animEffect filter="fade" transition="in">
                                      <p:cBhvr>
                                        <p:cTn dur="500"/>
                                        <p:tgtEl>
                                          <p:spTgt spid="67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xEl>
                                              <p:pRg end="10" st="10"/>
                                            </p:txEl>
                                          </p:spTgt>
                                        </p:tgtEl>
                                        <p:attrNameLst>
                                          <p:attrName>style.visibility</p:attrName>
                                        </p:attrNameLst>
                                      </p:cBhvr>
                                      <p:to>
                                        <p:strVal val="visible"/>
                                      </p:to>
                                    </p:set>
                                    <p:animEffect filter="fade" transition="in">
                                      <p:cBhvr>
                                        <p:cTn dur="500"/>
                                        <p:tgtEl>
                                          <p:spTgt spid="67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xEl>
                                              <p:pRg end="11" st="11"/>
                                            </p:txEl>
                                          </p:spTgt>
                                        </p:tgtEl>
                                        <p:attrNameLst>
                                          <p:attrName>style.visibility</p:attrName>
                                        </p:attrNameLst>
                                      </p:cBhvr>
                                      <p:to>
                                        <p:strVal val="visible"/>
                                      </p:to>
                                    </p:set>
                                    <p:animEffect filter="fade" transition="in">
                                      <p:cBhvr>
                                        <p:cTn dur="500"/>
                                        <p:tgtEl>
                                          <p:spTgt spid="679">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54"/>
          <p:cNvSpPr txBox="1"/>
          <p:nvPr>
            <p:ph idx="1" type="body"/>
          </p:nvPr>
        </p:nvSpPr>
        <p:spPr>
          <a:xfrm>
            <a:off x="0" y="762000"/>
            <a:ext cx="91440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Ví dụ trong hệ UNIX:</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Tạo hai số đếm cho mỗi khối</a:t>
            </a:r>
            <a:r>
              <a:rPr b="0" i="0" lang="en-US" sz="2000" u="none" cap="none" strike="noStrike">
                <a:solidFill>
                  <a:schemeClr val="dk2"/>
                </a:solidFill>
                <a:latin typeface="Times New Roman"/>
                <a:ea typeface="Times New Roman"/>
                <a:cs typeface="Times New Roman"/>
                <a:sym typeface="Times New Roman"/>
              </a:rPr>
              <a:t>:</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Số đếm thứ nhất: số lần khối đó xuất hiện trong danh sách khối trống. </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Số đếm thứ hai: số lần khối xuất hiện trong file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Tất cả số đếm được khởi tạo bằng 0</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Duyệt danh sách khối trống và toàn bộ i-node của các file</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Một khối xuất hiện trong danh sách khối trống, số đếm tương ứng thứ nhất được tăng một đơn vị</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Nếu khối xuất hiện trong i-node của file, số đếm tương ứng thứ hai được tăng một đơn vị</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Tổng 2 số đếm =1</a:t>
            </a:r>
            <a:endParaRPr b="0" i="0" sz="20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90" name="Google Shape;690;p54"/>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 ĐỘ TIN CẬY CỦA HỆ THỐNG FILE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Kiểm tra tính toàn vẹn của hệ thống file</a:t>
            </a:r>
            <a:endParaRPr/>
          </a:p>
        </p:txBody>
      </p:sp>
      <p:sp>
        <p:nvSpPr>
          <p:cNvPr id="691" name="Google Shape;691;p5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692" name="Google Shape;692;p54"/>
          <p:cNvPicPr preferRelativeResize="0"/>
          <p:nvPr/>
        </p:nvPicPr>
        <p:blipFill rotWithShape="1">
          <a:blip r:embed="rId3">
            <a:alphaModFix/>
          </a:blip>
          <a:srcRect b="0" l="0" r="0" t="0"/>
          <a:stretch/>
        </p:blipFill>
        <p:spPr>
          <a:xfrm>
            <a:off x="3432175" y="4362450"/>
            <a:ext cx="5337175" cy="1885950"/>
          </a:xfrm>
          <a:prstGeom prst="rect">
            <a:avLst/>
          </a:prstGeom>
          <a:noFill/>
          <a:ln>
            <a:noFill/>
          </a:ln>
        </p:spPr>
      </p:pic>
      <p:sp>
        <p:nvSpPr>
          <p:cNvPr id="693" name="Google Shape;693;p5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55"/>
          <p:cNvSpPr txBox="1"/>
          <p:nvPr>
            <p:ph idx="1" type="body"/>
          </p:nvPr>
        </p:nvSpPr>
        <p:spPr>
          <a:xfrm>
            <a:off x="152400" y="1066800"/>
            <a:ext cx="8839200" cy="579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Mặc dù có thể kiểm tra tính toàn vẹn của các liên kết trong hệ thống file. Tuy nhiên, kiểm tra toàn bộ hệ thống file đòi hỏi nhiều thời gian. Việc kiểm tra chỉ cho phép phát hiện lỗi sau khi đã xảy ra và không đảm bảo khôi phục dữ liệu đối với một số lỗi.</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Giao tác (transaction) là một tập hợp các thao tác cần phải được thực hiện trọn vẹn cùng với nhau</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Với hệ thống file: mỗi giao tác sẽ bao gồm những thao tác thay đổi liên kết cần thực hiện cùng nhau (Ví dụ các thao tác cập nhật liên kết liên quan với một khối trên đĩa)</a:t>
            </a:r>
            <a:endParaRPr/>
          </a:p>
        </p:txBody>
      </p:sp>
      <p:sp>
        <p:nvSpPr>
          <p:cNvPr id="700" name="Google Shape;700;p55"/>
          <p:cNvSpPr txBox="1"/>
          <p:nvPr>
            <p:ph type="title"/>
          </p:nvPr>
        </p:nvSpPr>
        <p:spPr>
          <a:xfrm>
            <a:off x="0" y="-76200"/>
            <a:ext cx="91440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900"/>
              <a:buFont typeface="Times New Roman"/>
              <a:buNone/>
            </a:pPr>
            <a:r>
              <a:rPr b="1" i="0" lang="en-US" sz="2900" u="none">
                <a:solidFill>
                  <a:srgbClr val="000066"/>
                </a:solidFill>
                <a:latin typeface="Times New Roman"/>
                <a:ea typeface="Times New Roman"/>
                <a:cs typeface="Times New Roman"/>
                <a:sym typeface="Times New Roman"/>
              </a:rPr>
              <a:t>VII. ĐỘ TIN CẬY CỦA HỆ THỐNG FILE </a:t>
            </a:r>
            <a:br>
              <a:rPr b="1" i="0" lang="en-US" sz="2500" u="none">
                <a:solidFill>
                  <a:srgbClr val="000066"/>
                </a:solidFill>
                <a:latin typeface="Times New Roman"/>
                <a:ea typeface="Times New Roman"/>
                <a:cs typeface="Times New Roman"/>
                <a:sym typeface="Times New Roman"/>
              </a:rPr>
            </a:br>
            <a:r>
              <a:rPr b="1" i="0" lang="en-US" sz="2200" u="none">
                <a:solidFill>
                  <a:srgbClr val="000066"/>
                </a:solidFill>
                <a:latin typeface="Times New Roman"/>
                <a:ea typeface="Times New Roman"/>
                <a:cs typeface="Times New Roman"/>
                <a:sym typeface="Times New Roman"/>
              </a:rPr>
              <a:t>4. Đảm bảo tính toàn vẹn bằng cách sử dụng giao tác</a:t>
            </a:r>
            <a:endParaRPr/>
          </a:p>
        </p:txBody>
      </p:sp>
      <p:sp>
        <p:nvSpPr>
          <p:cNvPr id="701" name="Google Shape;701;p55"/>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02" name="Google Shape;702;p5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03" name="Google Shape;703;p5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9">
                                            <p:txEl>
                                              <p:pRg end="0" st="0"/>
                                            </p:txEl>
                                          </p:spTgt>
                                        </p:tgtEl>
                                        <p:attrNameLst>
                                          <p:attrName>style.visibility</p:attrName>
                                        </p:attrNameLst>
                                      </p:cBhvr>
                                      <p:to>
                                        <p:strVal val="visible"/>
                                      </p:to>
                                    </p:set>
                                    <p:animEffect filter="fade" transition="in">
                                      <p:cBhvr>
                                        <p:cTn dur="500"/>
                                        <p:tgtEl>
                                          <p:spTgt spid="6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9">
                                            <p:txEl>
                                              <p:pRg end="1" st="1"/>
                                            </p:txEl>
                                          </p:spTgt>
                                        </p:tgtEl>
                                        <p:attrNameLst>
                                          <p:attrName>style.visibility</p:attrName>
                                        </p:attrNameLst>
                                      </p:cBhvr>
                                      <p:to>
                                        <p:strVal val="visible"/>
                                      </p:to>
                                    </p:set>
                                    <p:animEffect filter="fade" transition="in">
                                      <p:cBhvr>
                                        <p:cTn dur="500"/>
                                        <p:tgtEl>
                                          <p:spTgt spid="6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9">
                                            <p:txEl>
                                              <p:pRg end="2" st="2"/>
                                            </p:txEl>
                                          </p:spTgt>
                                        </p:tgtEl>
                                        <p:attrNameLst>
                                          <p:attrName>style.visibility</p:attrName>
                                        </p:attrNameLst>
                                      </p:cBhvr>
                                      <p:to>
                                        <p:strVal val="visible"/>
                                      </p:to>
                                    </p:set>
                                    <p:animEffect filter="fade" transition="in">
                                      <p:cBhvr>
                                        <p:cTn dur="500"/>
                                        <p:tgtEl>
                                          <p:spTgt spid="69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56"/>
          <p:cNvSpPr txBox="1"/>
          <p:nvPr>
            <p:ph idx="1" type="body"/>
          </p:nvPr>
        </p:nvSpPr>
        <p:spPr>
          <a:xfrm>
            <a:off x="152400" y="1066800"/>
            <a:ext cx="8839200" cy="579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Toàn bộ trạng thái hệ thống file được ghi lại trong file log</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Mỗi khi thực hiện giao tác, hệ thống kiểm tra xem giao tác có được thực hiện trọn vẹn không.</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Nếu giao tác không được thực hiện trọn vẹn, HDH sử dụng thông tin từ log để khôi phục hệ thống file về trạng thái không lỗi trước khi thực hiện giao tác</a:t>
            </a:r>
            <a:endParaRPr/>
          </a:p>
          <a:p>
            <a:pPr indent="-165100" lvl="0" marL="342900" marR="0" rtl="0" algn="l">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p:txBody>
      </p:sp>
      <p:sp>
        <p:nvSpPr>
          <p:cNvPr id="710" name="Google Shape;710;p56"/>
          <p:cNvSpPr txBox="1"/>
          <p:nvPr>
            <p:ph type="title"/>
          </p:nvPr>
        </p:nvSpPr>
        <p:spPr>
          <a:xfrm>
            <a:off x="0" y="-76200"/>
            <a:ext cx="9144000" cy="7620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900"/>
              <a:buFont typeface="Times New Roman"/>
              <a:buNone/>
            </a:pPr>
            <a:r>
              <a:rPr b="1" i="0" lang="en-US" sz="2900" u="none">
                <a:solidFill>
                  <a:srgbClr val="000066"/>
                </a:solidFill>
                <a:latin typeface="Times New Roman"/>
                <a:ea typeface="Times New Roman"/>
                <a:cs typeface="Times New Roman"/>
                <a:sym typeface="Times New Roman"/>
              </a:rPr>
              <a:t>VII. ĐỘ TIN CẬY CỦA HỆ THỐNG FILE </a:t>
            </a:r>
            <a:br>
              <a:rPr b="1" i="0" lang="en-US" sz="2500" u="none">
                <a:solidFill>
                  <a:srgbClr val="000066"/>
                </a:solidFill>
                <a:latin typeface="Times New Roman"/>
                <a:ea typeface="Times New Roman"/>
                <a:cs typeface="Times New Roman"/>
                <a:sym typeface="Times New Roman"/>
              </a:rPr>
            </a:br>
            <a:r>
              <a:rPr b="1" i="0" lang="en-US" sz="2200" u="none">
                <a:solidFill>
                  <a:srgbClr val="000066"/>
                </a:solidFill>
                <a:latin typeface="Times New Roman"/>
                <a:ea typeface="Times New Roman"/>
                <a:cs typeface="Times New Roman"/>
                <a:sym typeface="Times New Roman"/>
              </a:rPr>
              <a:t>4. Đảm bảo tính toàn vẹn bằng cách sử dụng giao tác</a:t>
            </a:r>
            <a:endParaRPr/>
          </a:p>
        </p:txBody>
      </p:sp>
      <p:sp>
        <p:nvSpPr>
          <p:cNvPr id="711" name="Google Shape;711;p56"/>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12" name="Google Shape;712;p5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13" name="Google Shape;713;p5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9">
                                            <p:txEl>
                                              <p:pRg end="0" st="0"/>
                                            </p:txEl>
                                          </p:spTgt>
                                        </p:tgtEl>
                                        <p:attrNameLst>
                                          <p:attrName>style.visibility</p:attrName>
                                        </p:attrNameLst>
                                      </p:cBhvr>
                                      <p:to>
                                        <p:strVal val="visible"/>
                                      </p:to>
                                    </p:set>
                                    <p:animEffect filter="fade" transition="in">
                                      <p:cBhvr>
                                        <p:cTn dur="500"/>
                                        <p:tgtEl>
                                          <p:spTgt spid="7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9">
                                            <p:txEl>
                                              <p:pRg end="1" st="1"/>
                                            </p:txEl>
                                          </p:spTgt>
                                        </p:tgtEl>
                                        <p:attrNameLst>
                                          <p:attrName>style.visibility</p:attrName>
                                        </p:attrNameLst>
                                      </p:cBhvr>
                                      <p:to>
                                        <p:strVal val="visible"/>
                                      </p:to>
                                    </p:set>
                                    <p:animEffect filter="fade" transition="in">
                                      <p:cBhvr>
                                        <p:cTn dur="500"/>
                                        <p:tgtEl>
                                          <p:spTgt spid="7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9">
                                            <p:txEl>
                                              <p:pRg end="2" st="2"/>
                                            </p:txEl>
                                          </p:spTgt>
                                        </p:tgtEl>
                                        <p:attrNameLst>
                                          <p:attrName>style.visibility</p:attrName>
                                        </p:attrNameLst>
                                      </p:cBhvr>
                                      <p:to>
                                        <p:strVal val="visible"/>
                                      </p:to>
                                    </p:set>
                                    <p:animEffect filter="fade" transition="in">
                                      <p:cBhvr>
                                        <p:cTn dur="500"/>
                                        <p:tgtEl>
                                          <p:spTgt spid="7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9">
                                            <p:txEl>
                                              <p:pRg end="3" st="3"/>
                                            </p:txEl>
                                          </p:spTgt>
                                        </p:tgtEl>
                                        <p:attrNameLst>
                                          <p:attrName>style.visibility</p:attrName>
                                        </p:attrNameLst>
                                      </p:cBhvr>
                                      <p:to>
                                        <p:strVal val="visible"/>
                                      </p:to>
                                    </p:set>
                                    <p:animEffect filter="fade" transition="in">
                                      <p:cBhvr>
                                        <p:cTn dur="500"/>
                                        <p:tgtEl>
                                          <p:spTgt spid="70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57"/>
          <p:cNvSpPr txBox="1"/>
          <p:nvPr>
            <p:ph idx="1" type="body"/>
          </p:nvPr>
        </p:nvSpPr>
        <p:spPr>
          <a:xfrm>
            <a:off x="0" y="1054100"/>
            <a:ext cx="8763000" cy="5041900"/>
          </a:xfrm>
          <a:prstGeom prst="rect">
            <a:avLst/>
          </a:prstGeom>
          <a:noFill/>
          <a:ln>
            <a:noFill/>
          </a:ln>
        </p:spPr>
        <p:txBody>
          <a:bodyPr anchorCtr="0" anchor="t" bIns="45700" lIns="91425" spcFirstLastPara="1" rIns="91425" wrap="square" tIns="45700">
            <a:noAutofit/>
          </a:bodyPr>
          <a:lstStyle/>
          <a:p>
            <a:pPr indent="-285750" lvl="1" marL="742950" marR="0" rtl="0" algn="just">
              <a:lnSpc>
                <a:spcPct val="100000"/>
              </a:lnSpc>
              <a:spcBef>
                <a:spcPts val="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Ngăn cản việc truy cập trái phép các thông tin lưu trữ trong file và thư mục</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Đối với hệ thống nhỏ dành cho một người dùng vấn đề bảo mật tương đối đơn giản, có thể thực hiện bằng các biện pháp vật lý =&gt; Không cho người khác tiếp cận tới hệ thống,</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Trong những hệ thống tính toán đa người dùng, việc bảo mật cho file và thư mục thực hiện bằng:</a:t>
            </a:r>
            <a:endParaRPr/>
          </a:p>
          <a:p>
            <a:pPr indent="-228600" lvl="2" marL="1143000" marR="0" rtl="0" algn="just">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2"/>
                </a:solidFill>
                <a:latin typeface="Times New Roman"/>
                <a:ea typeface="Times New Roman"/>
                <a:cs typeface="Times New Roman"/>
                <a:sym typeface="Times New Roman"/>
              </a:rPr>
              <a:t>Kiểm soát các thao tác truy cập tới file hoặc thư mục</a:t>
            </a:r>
            <a:endParaRPr/>
          </a:p>
          <a:p>
            <a:pPr indent="-228600" lvl="2" marL="1143000" marR="0" rtl="0" algn="just">
              <a:lnSpc>
                <a:spcPct val="100000"/>
              </a:lnSpc>
              <a:spcBef>
                <a:spcPts val="480"/>
              </a:spcBef>
              <a:spcAft>
                <a:spcPts val="0"/>
              </a:spcAft>
              <a:buClr>
                <a:schemeClr val="accent2"/>
              </a:buClr>
              <a:buSzPts val="2400"/>
              <a:buFont typeface="Times New Roman"/>
              <a:buChar char="•"/>
            </a:pPr>
            <a:r>
              <a:rPr b="0" i="0" lang="en-US" sz="2400" u="none" cap="none" strike="noStrike">
                <a:solidFill>
                  <a:schemeClr val="dk2"/>
                </a:solidFill>
                <a:latin typeface="Times New Roman"/>
                <a:ea typeface="Times New Roman"/>
                <a:cs typeface="Times New Roman"/>
                <a:sym typeface="Times New Roman"/>
              </a:rPr>
              <a:t>Dùng mật khẩu =&gt; Người dùng phải nhớ nhiều mật khẩu =&gt; Mỗi khi thao tác với tài nguyên lại gõ mật khẩu</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20" name="Google Shape;720;p57"/>
          <p:cNvSpPr txBox="1"/>
          <p:nvPr>
            <p:ph type="title"/>
          </p:nvPr>
        </p:nvSpPr>
        <p:spPr>
          <a:xfrm>
            <a:off x="457200" y="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VIII. BẢO MẬT CHO HỆ THỐNG FILE</a:t>
            </a:r>
            <a:endParaRPr/>
          </a:p>
        </p:txBody>
      </p:sp>
      <p:sp>
        <p:nvSpPr>
          <p:cNvPr id="721" name="Google Shape;721;p57"/>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22" name="Google Shape;722;p5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23" name="Google Shape;723;p5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0" st="0"/>
                                            </p:txEl>
                                          </p:spTgt>
                                        </p:tgtEl>
                                        <p:attrNameLst>
                                          <p:attrName>style.visibility</p:attrName>
                                        </p:attrNameLst>
                                      </p:cBhvr>
                                      <p:to>
                                        <p:strVal val="visible"/>
                                      </p:to>
                                    </p:set>
                                    <p:animEffect filter="fade" transition="in">
                                      <p:cBhvr>
                                        <p:cTn dur="500"/>
                                        <p:tgtEl>
                                          <p:spTgt spid="7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1" st="1"/>
                                            </p:txEl>
                                          </p:spTgt>
                                        </p:tgtEl>
                                        <p:attrNameLst>
                                          <p:attrName>style.visibility</p:attrName>
                                        </p:attrNameLst>
                                      </p:cBhvr>
                                      <p:to>
                                        <p:strVal val="visible"/>
                                      </p:to>
                                    </p:set>
                                    <p:animEffect filter="fade" transition="in">
                                      <p:cBhvr>
                                        <p:cTn dur="500"/>
                                        <p:tgtEl>
                                          <p:spTgt spid="7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2" st="2"/>
                                            </p:txEl>
                                          </p:spTgt>
                                        </p:tgtEl>
                                        <p:attrNameLst>
                                          <p:attrName>style.visibility</p:attrName>
                                        </p:attrNameLst>
                                      </p:cBhvr>
                                      <p:to>
                                        <p:strVal val="visible"/>
                                      </p:to>
                                    </p:set>
                                    <p:animEffect filter="fade" transition="in">
                                      <p:cBhvr>
                                        <p:cTn dur="500"/>
                                        <p:tgtEl>
                                          <p:spTgt spid="7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3" st="3"/>
                                            </p:txEl>
                                          </p:spTgt>
                                        </p:tgtEl>
                                        <p:attrNameLst>
                                          <p:attrName>style.visibility</p:attrName>
                                        </p:attrNameLst>
                                      </p:cBhvr>
                                      <p:to>
                                        <p:strVal val="visible"/>
                                      </p:to>
                                    </p:set>
                                    <p:animEffect filter="fade" transition="in">
                                      <p:cBhvr>
                                        <p:cTn dur="500"/>
                                        <p:tgtEl>
                                          <p:spTgt spid="7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4" st="4"/>
                                            </p:txEl>
                                          </p:spTgt>
                                        </p:tgtEl>
                                        <p:attrNameLst>
                                          <p:attrName>style.visibility</p:attrName>
                                        </p:attrNameLst>
                                      </p:cBhvr>
                                      <p:to>
                                        <p:strVal val="visible"/>
                                      </p:to>
                                    </p:set>
                                    <p:animEffect filter="fade" transition="in">
                                      <p:cBhvr>
                                        <p:cTn dur="500"/>
                                        <p:tgtEl>
                                          <p:spTgt spid="7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5" st="5"/>
                                            </p:txEl>
                                          </p:spTgt>
                                        </p:tgtEl>
                                        <p:attrNameLst>
                                          <p:attrName>style.visibility</p:attrName>
                                        </p:attrNameLst>
                                      </p:cBhvr>
                                      <p:to>
                                        <p:strVal val="visible"/>
                                      </p:to>
                                    </p:set>
                                    <p:animEffect filter="fade" transition="in">
                                      <p:cBhvr>
                                        <p:cTn dur="500"/>
                                        <p:tgtEl>
                                          <p:spTgt spid="7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6" st="6"/>
                                            </p:txEl>
                                          </p:spTgt>
                                        </p:tgtEl>
                                        <p:attrNameLst>
                                          <p:attrName>style.visibility</p:attrName>
                                        </p:attrNameLst>
                                      </p:cBhvr>
                                      <p:to>
                                        <p:strVal val="visible"/>
                                      </p:to>
                                    </p:set>
                                    <p:animEffect filter="fade" transition="in">
                                      <p:cBhvr>
                                        <p:cTn dur="500"/>
                                        <p:tgtEl>
                                          <p:spTgt spid="71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7" st="7"/>
                                            </p:txEl>
                                          </p:spTgt>
                                        </p:tgtEl>
                                        <p:attrNameLst>
                                          <p:attrName>style.visibility</p:attrName>
                                        </p:attrNameLst>
                                      </p:cBhvr>
                                      <p:to>
                                        <p:strVal val="visible"/>
                                      </p:to>
                                    </p:set>
                                    <p:animEffect filter="fade" transition="in">
                                      <p:cBhvr>
                                        <p:cTn dur="500"/>
                                        <p:tgtEl>
                                          <p:spTgt spid="71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8" st="8"/>
                                            </p:txEl>
                                          </p:spTgt>
                                        </p:tgtEl>
                                        <p:attrNameLst>
                                          <p:attrName>style.visibility</p:attrName>
                                        </p:attrNameLst>
                                      </p:cBhvr>
                                      <p:to>
                                        <p:strVal val="visible"/>
                                      </p:to>
                                    </p:set>
                                    <p:animEffect filter="fade" transition="in">
                                      <p:cBhvr>
                                        <p:cTn dur="500"/>
                                        <p:tgtEl>
                                          <p:spTgt spid="71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9" st="9"/>
                                            </p:txEl>
                                          </p:spTgt>
                                        </p:tgtEl>
                                        <p:attrNameLst>
                                          <p:attrName>style.visibility</p:attrName>
                                        </p:attrNameLst>
                                      </p:cBhvr>
                                      <p:to>
                                        <p:strVal val="visible"/>
                                      </p:to>
                                    </p:set>
                                    <p:animEffect filter="fade" transition="in">
                                      <p:cBhvr>
                                        <p:cTn dur="500"/>
                                        <p:tgtEl>
                                          <p:spTgt spid="71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10" st="10"/>
                                            </p:txEl>
                                          </p:spTgt>
                                        </p:tgtEl>
                                        <p:attrNameLst>
                                          <p:attrName>style.visibility</p:attrName>
                                        </p:attrNameLst>
                                      </p:cBhvr>
                                      <p:to>
                                        <p:strVal val="visible"/>
                                      </p:to>
                                    </p:set>
                                    <p:animEffect filter="fade" transition="in">
                                      <p:cBhvr>
                                        <p:cTn dur="500"/>
                                        <p:tgtEl>
                                          <p:spTgt spid="719">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58"/>
          <p:cNvSpPr txBox="1"/>
          <p:nvPr>
            <p:ph idx="1" type="body"/>
          </p:nvPr>
        </p:nvSpPr>
        <p:spPr>
          <a:xfrm>
            <a:off x="0" y="762000"/>
            <a:ext cx="89916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Sử dụng danh sách quản lý truy cập ACL (Access Control List)</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Mỗi file được gán danh sách đi kèm, chứa thông tin định danh người dùng và các quyền người đó được thực hiện với file</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ACL thường được lưu trữ như thuộc tính của file/ thư mục</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Thường được sử dụng cùng với cơ chế đăng nhập</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Các quyền truy cập cơ bản:</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Quyền đọc (r): người có quyền này được phép đọc nội dung file</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Quyền ghi, thay đổi (w): được phép ghi vào file, tức là thay đổi nội dung file</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Quyền xóa: được phép xóa file, quyền này tương đương với quyền thay đổi file</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Quyền thay đổi chủ file (change owner)</a:t>
            </a:r>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30" name="Google Shape;730;p58"/>
          <p:cNvSpPr txBox="1"/>
          <p:nvPr>
            <p:ph type="title"/>
          </p:nvPr>
        </p:nvSpPr>
        <p:spPr>
          <a:xfrm>
            <a:off x="457200" y="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VIII. BẢO MẬT CHO HỆ THỐNG FILE</a:t>
            </a:r>
            <a:endParaRPr/>
          </a:p>
        </p:txBody>
      </p:sp>
      <p:sp>
        <p:nvSpPr>
          <p:cNvPr id="731" name="Google Shape;731;p58"/>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32" name="Google Shape;732;p5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33" name="Google Shape;733;p5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xEl>
                                              <p:pRg end="0" st="0"/>
                                            </p:txEl>
                                          </p:spTgt>
                                        </p:tgtEl>
                                        <p:attrNameLst>
                                          <p:attrName>style.visibility</p:attrName>
                                        </p:attrNameLst>
                                      </p:cBhvr>
                                      <p:to>
                                        <p:strVal val="visible"/>
                                      </p:to>
                                    </p:set>
                                    <p:animEffect filter="fade" transition="in">
                                      <p:cBhvr>
                                        <p:cTn dur="500"/>
                                        <p:tgtEl>
                                          <p:spTgt spid="72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xEl>
                                              <p:pRg end="1" st="1"/>
                                            </p:txEl>
                                          </p:spTgt>
                                        </p:tgtEl>
                                        <p:attrNameLst>
                                          <p:attrName>style.visibility</p:attrName>
                                        </p:attrNameLst>
                                      </p:cBhvr>
                                      <p:to>
                                        <p:strVal val="visible"/>
                                      </p:to>
                                    </p:set>
                                    <p:animEffect filter="fade" transition="in">
                                      <p:cBhvr>
                                        <p:cTn dur="500"/>
                                        <p:tgtEl>
                                          <p:spTgt spid="72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xEl>
                                              <p:pRg end="2" st="2"/>
                                            </p:txEl>
                                          </p:spTgt>
                                        </p:tgtEl>
                                        <p:attrNameLst>
                                          <p:attrName>style.visibility</p:attrName>
                                        </p:attrNameLst>
                                      </p:cBhvr>
                                      <p:to>
                                        <p:strVal val="visible"/>
                                      </p:to>
                                    </p:set>
                                    <p:animEffect filter="fade" transition="in">
                                      <p:cBhvr>
                                        <p:cTn dur="500"/>
                                        <p:tgtEl>
                                          <p:spTgt spid="72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xEl>
                                              <p:pRg end="3" st="3"/>
                                            </p:txEl>
                                          </p:spTgt>
                                        </p:tgtEl>
                                        <p:attrNameLst>
                                          <p:attrName>style.visibility</p:attrName>
                                        </p:attrNameLst>
                                      </p:cBhvr>
                                      <p:to>
                                        <p:strVal val="visible"/>
                                      </p:to>
                                    </p:set>
                                    <p:animEffect filter="fade" transition="in">
                                      <p:cBhvr>
                                        <p:cTn dur="500"/>
                                        <p:tgtEl>
                                          <p:spTgt spid="72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xEl>
                                              <p:pRg end="4" st="4"/>
                                            </p:txEl>
                                          </p:spTgt>
                                        </p:tgtEl>
                                        <p:attrNameLst>
                                          <p:attrName>style.visibility</p:attrName>
                                        </p:attrNameLst>
                                      </p:cBhvr>
                                      <p:to>
                                        <p:strVal val="visible"/>
                                      </p:to>
                                    </p:set>
                                    <p:animEffect filter="fade" transition="in">
                                      <p:cBhvr>
                                        <p:cTn dur="500"/>
                                        <p:tgtEl>
                                          <p:spTgt spid="72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xEl>
                                              <p:pRg end="5" st="5"/>
                                            </p:txEl>
                                          </p:spTgt>
                                        </p:tgtEl>
                                        <p:attrNameLst>
                                          <p:attrName>style.visibility</p:attrName>
                                        </p:attrNameLst>
                                      </p:cBhvr>
                                      <p:to>
                                        <p:strVal val="visible"/>
                                      </p:to>
                                    </p:set>
                                    <p:animEffect filter="fade" transition="in">
                                      <p:cBhvr>
                                        <p:cTn dur="500"/>
                                        <p:tgtEl>
                                          <p:spTgt spid="72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xEl>
                                              <p:pRg end="6" st="6"/>
                                            </p:txEl>
                                          </p:spTgt>
                                        </p:tgtEl>
                                        <p:attrNameLst>
                                          <p:attrName>style.visibility</p:attrName>
                                        </p:attrNameLst>
                                      </p:cBhvr>
                                      <p:to>
                                        <p:strVal val="visible"/>
                                      </p:to>
                                    </p:set>
                                    <p:animEffect filter="fade" transition="in">
                                      <p:cBhvr>
                                        <p:cTn dur="500"/>
                                        <p:tgtEl>
                                          <p:spTgt spid="72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xEl>
                                              <p:pRg end="7" st="7"/>
                                            </p:txEl>
                                          </p:spTgt>
                                        </p:tgtEl>
                                        <p:attrNameLst>
                                          <p:attrName>style.visibility</p:attrName>
                                        </p:attrNameLst>
                                      </p:cBhvr>
                                      <p:to>
                                        <p:strVal val="visible"/>
                                      </p:to>
                                    </p:set>
                                    <p:animEffect filter="fade" transition="in">
                                      <p:cBhvr>
                                        <p:cTn dur="500"/>
                                        <p:tgtEl>
                                          <p:spTgt spid="72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xEl>
                                              <p:pRg end="8" st="8"/>
                                            </p:txEl>
                                          </p:spTgt>
                                        </p:tgtEl>
                                        <p:attrNameLst>
                                          <p:attrName>style.visibility</p:attrName>
                                        </p:attrNameLst>
                                      </p:cBhvr>
                                      <p:to>
                                        <p:strVal val="visible"/>
                                      </p:to>
                                    </p:set>
                                    <p:animEffect filter="fade" transition="in">
                                      <p:cBhvr>
                                        <p:cTn dur="500"/>
                                        <p:tgtEl>
                                          <p:spTgt spid="72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xEl>
                                              <p:pRg end="9" st="9"/>
                                            </p:txEl>
                                          </p:spTgt>
                                        </p:tgtEl>
                                        <p:attrNameLst>
                                          <p:attrName>style.visibility</p:attrName>
                                        </p:attrNameLst>
                                      </p:cBhvr>
                                      <p:to>
                                        <p:strVal val="visible"/>
                                      </p:to>
                                    </p:set>
                                    <p:animEffect filter="fade" transition="in">
                                      <p:cBhvr>
                                        <p:cTn dur="500"/>
                                        <p:tgtEl>
                                          <p:spTgt spid="72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xEl>
                                              <p:pRg end="10" st="10"/>
                                            </p:txEl>
                                          </p:spTgt>
                                        </p:tgtEl>
                                        <p:attrNameLst>
                                          <p:attrName>style.visibility</p:attrName>
                                        </p:attrNameLst>
                                      </p:cBhvr>
                                      <p:to>
                                        <p:strVal val="visible"/>
                                      </p:to>
                                    </p:set>
                                    <p:animEffect filter="fade" transition="in">
                                      <p:cBhvr>
                                        <p:cTn dur="500"/>
                                        <p:tgtEl>
                                          <p:spTgt spid="72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xEl>
                                              <p:pRg end="11" st="11"/>
                                            </p:txEl>
                                          </p:spTgt>
                                        </p:tgtEl>
                                        <p:attrNameLst>
                                          <p:attrName>style.visibility</p:attrName>
                                        </p:attrNameLst>
                                      </p:cBhvr>
                                      <p:to>
                                        <p:strVal val="visible"/>
                                      </p:to>
                                    </p:set>
                                    <p:animEffect filter="fade" transition="in">
                                      <p:cBhvr>
                                        <p:cTn dur="500"/>
                                        <p:tgtEl>
                                          <p:spTgt spid="729">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59"/>
          <p:cNvSpPr txBox="1"/>
          <p:nvPr>
            <p:ph idx="1" type="body"/>
          </p:nvPr>
        </p:nvSpPr>
        <p:spPr>
          <a:xfrm>
            <a:off x="0" y="762000"/>
            <a:ext cx="89916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Sử dụng danh sách quản lý truy cập ACL (Access Control List)</a:t>
            </a:r>
            <a:endParaRPr b="0" i="0" sz="20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40" name="Google Shape;740;p59"/>
          <p:cNvSpPr txBox="1"/>
          <p:nvPr>
            <p:ph type="title"/>
          </p:nvPr>
        </p:nvSpPr>
        <p:spPr>
          <a:xfrm>
            <a:off x="457200" y="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VIII. BẢO MẬT CHO HỆ THỐNG FILE</a:t>
            </a:r>
            <a:endParaRPr/>
          </a:p>
        </p:txBody>
      </p:sp>
      <p:sp>
        <p:nvSpPr>
          <p:cNvPr id="741" name="Google Shape;741;p59"/>
          <p:cNvSpPr txBox="1"/>
          <p:nvPr/>
        </p:nvSpPr>
        <p:spPr>
          <a:xfrm>
            <a:off x="8385175" y="6473825"/>
            <a:ext cx="758825"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42" name="Google Shape;742;p5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43" name="Google Shape;743;p5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744" name="Google Shape;744;p59"/>
          <p:cNvPicPr preferRelativeResize="0"/>
          <p:nvPr/>
        </p:nvPicPr>
        <p:blipFill rotWithShape="1">
          <a:blip r:embed="rId3">
            <a:alphaModFix/>
          </a:blip>
          <a:srcRect b="24136" l="0" r="0" t="0"/>
          <a:stretch/>
        </p:blipFill>
        <p:spPr>
          <a:xfrm>
            <a:off x="838200" y="2133600"/>
            <a:ext cx="7567612" cy="167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9">
                                            <p:txEl>
                                              <p:pRg end="0" st="0"/>
                                            </p:txEl>
                                          </p:spTgt>
                                        </p:tgtEl>
                                        <p:attrNameLst>
                                          <p:attrName>style.visibility</p:attrName>
                                        </p:attrNameLst>
                                      </p:cBhvr>
                                      <p:to>
                                        <p:strVal val="visible"/>
                                      </p:to>
                                    </p:set>
                                    <p:animEffect filter="fade" transition="in">
                                      <p:cBhvr>
                                        <p:cTn dur="500"/>
                                        <p:tgtEl>
                                          <p:spTgt spid="7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9">
                                            <p:txEl>
                                              <p:pRg end="1" st="1"/>
                                            </p:txEl>
                                          </p:spTgt>
                                        </p:tgtEl>
                                        <p:attrNameLst>
                                          <p:attrName>style.visibility</p:attrName>
                                        </p:attrNameLst>
                                      </p:cBhvr>
                                      <p:to>
                                        <p:strVal val="visible"/>
                                      </p:to>
                                    </p:set>
                                    <p:animEffect filter="fade" transition="in">
                                      <p:cBhvr>
                                        <p:cTn dur="500"/>
                                        <p:tgtEl>
                                          <p:spTgt spid="7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9">
                                            <p:txEl>
                                              <p:pRg end="2" st="2"/>
                                            </p:txEl>
                                          </p:spTgt>
                                        </p:tgtEl>
                                        <p:attrNameLst>
                                          <p:attrName>style.visibility</p:attrName>
                                        </p:attrNameLst>
                                      </p:cBhvr>
                                      <p:to>
                                        <p:strVal val="visible"/>
                                      </p:to>
                                    </p:set>
                                    <p:animEffect filter="fade" transition="in">
                                      <p:cBhvr>
                                        <p:cTn dur="500"/>
                                        <p:tgtEl>
                                          <p:spTgt spid="73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60"/>
          <p:cNvSpPr txBox="1"/>
          <p:nvPr>
            <p:ph idx="1" type="body"/>
          </p:nvPr>
        </p:nvSpPr>
        <p:spPr>
          <a:xfrm>
            <a:off x="266700" y="862012"/>
            <a:ext cx="8420100" cy="5410200"/>
          </a:xfrm>
          <a:prstGeom prst="rect">
            <a:avLst/>
          </a:prstGeom>
          <a:noFill/>
          <a:ln>
            <a:noFill/>
          </a:ln>
        </p:spPr>
        <p:txBody>
          <a:bodyPr anchorCtr="0" anchor="t" bIns="45700" lIns="91425" spcFirstLastPara="1" rIns="91425" wrap="square" tIns="45700">
            <a:noAutofit/>
          </a:bodyPr>
          <a:lstStyle/>
          <a:p>
            <a:pPr indent="-346075" lvl="0" marL="346075" marR="0" rtl="0" algn="just">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Hệ thống FAT được thiết kế để sử dụng trong HDH DOS, sau đó đã được sử dụng trong một số phiên bản của HDH Window 3.0,3.1,95/98.</a:t>
            </a:r>
            <a:endParaRPr/>
          </a:p>
          <a:p>
            <a:pPr indent="-346075" lvl="0" marL="346075"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Hiện nay, FAT vẫn là hệ thống thông dụng, được  sử dụng trong hầu hết các HDH hiện nay để quản lý thẻ nhớ, đĩa mềm, đĩa CD </a:t>
            </a:r>
            <a:endParaRPr/>
          </a:p>
          <a:p>
            <a:pPr indent="-346075" lvl="0" marL="346075"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3 phiên bản: FAT12, FAT16, FAT32</a:t>
            </a:r>
            <a:endParaRPr/>
          </a:p>
          <a:p>
            <a:pPr indent="-346075" lvl="0" marL="346075"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Chữ số chỉ kích thước ô bảng FAT tương ứng 12, 16 và 32 bit</a:t>
            </a:r>
            <a:endParaRPr/>
          </a:p>
          <a:p>
            <a:pPr indent="-346075" lvl="0" marL="346075"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Hiện nay, FAT32 thường được sử dụng cho đĩa cứng, FAT16 được sử dụng cho thiết bị nhớ ngoài có dung lượng nhỏ như CD, thẻ nhớ ngoài.</a:t>
            </a:r>
            <a:endParaRPr/>
          </a:p>
        </p:txBody>
      </p:sp>
      <p:sp>
        <p:nvSpPr>
          <p:cNvPr id="750" name="Google Shape;750;p60"/>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IX. HỆ THỐNG FILE FAT</a:t>
            </a:r>
            <a:endParaRPr/>
          </a:p>
        </p:txBody>
      </p:sp>
      <p:sp>
        <p:nvSpPr>
          <p:cNvPr id="751" name="Google Shape;751;p6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graphicFrame>
        <p:nvGraphicFramePr>
          <p:cNvPr id="756" name="Google Shape;756;p61"/>
          <p:cNvGraphicFramePr/>
          <p:nvPr/>
        </p:nvGraphicFramePr>
        <p:xfrm>
          <a:off x="76200" y="2408237"/>
          <a:ext cx="3000000" cy="3000000"/>
        </p:xfrm>
        <a:graphic>
          <a:graphicData uri="http://schemas.openxmlformats.org/drawingml/2006/table">
            <a:tbl>
              <a:tblPr>
                <a:noFill/>
                <a:tableStyleId>{77A3F56E-7CED-415A-B550-721C6FEC8064}</a:tableStyleId>
              </a:tblPr>
              <a:tblGrid>
                <a:gridCol w="1682750"/>
                <a:gridCol w="993775"/>
                <a:gridCol w="1069975"/>
                <a:gridCol w="2147875"/>
                <a:gridCol w="2840025"/>
              </a:tblGrid>
              <a:tr h="639750">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Boot sector</a:t>
                      </a:r>
                      <a:endParaRPr b="1" i="0" sz="1000" u="none">
                        <a:solidFill>
                          <a:schemeClr val="dk1"/>
                        </a:solidFill>
                        <a:latin typeface="Times New Roman"/>
                        <a:ea typeface="Times New Roman"/>
                        <a:cs typeface="Times New Roman"/>
                        <a:sym typeface="Times New Roman"/>
                      </a:endParaRPr>
                    </a:p>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và các khối dự phòng</a:t>
                      </a:r>
                      <a:endParaRPr/>
                    </a:p>
                  </a:txBody>
                  <a:tcPr marT="45600" marB="456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Bảng FAT1</a:t>
                      </a:r>
                      <a:endParaRPr/>
                    </a:p>
                  </a:txBody>
                  <a:tcPr marT="45600" marB="456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Bảng FAT2</a:t>
                      </a:r>
                      <a:endParaRPr/>
                    </a:p>
                  </a:txBody>
                  <a:tcPr marT="45600" marB="456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Thư mục gốc</a:t>
                      </a:r>
                      <a:endParaRPr b="1" i="0" sz="1000" u="none">
                        <a:solidFill>
                          <a:schemeClr val="dk1"/>
                        </a:solidFill>
                        <a:latin typeface="Times New Roman"/>
                        <a:ea typeface="Times New Roman"/>
                        <a:cs typeface="Times New Roman"/>
                        <a:sym typeface="Times New Roman"/>
                      </a:endParaRPr>
                    </a:p>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(chỉ có trên FAT12 và FAT16)</a:t>
                      </a:r>
                      <a:endParaRPr/>
                    </a:p>
                  </a:txBody>
                  <a:tcPr marT="45600" marB="456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Phần còn lại cho tới cuối đĩa</a:t>
                      </a:r>
                      <a:endParaRPr b="1" i="0" sz="1000" u="none">
                        <a:solidFill>
                          <a:schemeClr val="dk1"/>
                        </a:solidFill>
                        <a:latin typeface="Times New Roman"/>
                        <a:ea typeface="Times New Roman"/>
                        <a:cs typeface="Times New Roman"/>
                        <a:sym typeface="Times New Roman"/>
                      </a:endParaRPr>
                    </a:p>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chứa các file và thư mục của đĩa lô gic</a:t>
                      </a:r>
                      <a:endParaRPr/>
                    </a:p>
                  </a:txBody>
                  <a:tcPr marT="45600" marB="456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57" name="Google Shape;757;p61"/>
          <p:cNvSpPr txBox="1"/>
          <p:nvPr>
            <p:ph type="title"/>
          </p:nvPr>
        </p:nvSpPr>
        <p:spPr>
          <a:xfrm>
            <a:off x="304800" y="0"/>
            <a:ext cx="8686800" cy="8382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500"/>
              <a:buFont typeface="Times New Roman"/>
              <a:buNone/>
            </a:pPr>
            <a:r>
              <a:rPr b="1" i="0" lang="en-US" sz="2500" u="none">
                <a:solidFill>
                  <a:srgbClr val="000066"/>
                </a:solidFill>
                <a:latin typeface="Times New Roman"/>
                <a:ea typeface="Times New Roman"/>
                <a:cs typeface="Times New Roman"/>
                <a:sym typeface="Times New Roman"/>
              </a:rPr>
              <a:t>IX. HỆ THỐNG FILE FAT</a:t>
            </a:r>
            <a:br>
              <a:rPr b="1" i="0" lang="en-US" sz="2500" u="none">
                <a:solidFill>
                  <a:srgbClr val="000066"/>
                </a:solidFill>
                <a:latin typeface="Times New Roman"/>
                <a:ea typeface="Times New Roman"/>
                <a:cs typeface="Times New Roman"/>
                <a:sym typeface="Times New Roman"/>
              </a:rPr>
            </a:br>
            <a:r>
              <a:rPr b="1" i="0" lang="en-US" sz="2200" u="none">
                <a:solidFill>
                  <a:srgbClr val="000066"/>
                </a:solidFill>
                <a:latin typeface="Times New Roman"/>
                <a:ea typeface="Times New Roman"/>
                <a:cs typeface="Times New Roman"/>
                <a:sym typeface="Times New Roman"/>
              </a:rPr>
              <a:t>1. ĐĨA LOGIC</a:t>
            </a:r>
            <a:endParaRPr/>
          </a:p>
        </p:txBody>
      </p:sp>
      <p:sp>
        <p:nvSpPr>
          <p:cNvPr id="758" name="Google Shape;758;p61"/>
          <p:cNvSpPr txBox="1"/>
          <p:nvPr>
            <p:ph idx="1" type="body"/>
          </p:nvPr>
        </p:nvSpPr>
        <p:spPr>
          <a:xfrm>
            <a:off x="76200" y="504825"/>
            <a:ext cx="8639175" cy="5286375"/>
          </a:xfrm>
          <a:prstGeom prst="rect">
            <a:avLst/>
          </a:prstGeom>
          <a:noFill/>
          <a:ln>
            <a:noFill/>
          </a:ln>
        </p:spPr>
        <p:txBody>
          <a:bodyPr anchorCtr="0" anchor="t" bIns="45700" lIns="91425" spcFirstLastPara="1" rIns="91425" wrap="square" tIns="45700">
            <a:noAutofit/>
          </a:bodyPr>
          <a:lstStyle/>
          <a:p>
            <a:pPr indent="-609600" lvl="0" marL="609600" rtl="0" algn="l">
              <a:lnSpc>
                <a:spcPct val="100000"/>
              </a:lnSpc>
              <a:spcBef>
                <a:spcPts val="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Đơn vị tổ chức trong hệ thống file FAT là đĩa logic. </a:t>
            </a:r>
            <a:endParaRPr/>
          </a:p>
          <a:p>
            <a:pPr indent="-609600" lvl="0" marL="60960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Đơn vị cấp phát không gian trên đĩa (khối logic) là các </a:t>
            </a:r>
            <a:r>
              <a:rPr b="0" i="0" lang="en-US" sz="2400" u="none">
                <a:solidFill>
                  <a:srgbClr val="FF0000"/>
                </a:solidFill>
                <a:latin typeface="Times New Roman"/>
                <a:ea typeface="Times New Roman"/>
                <a:cs typeface="Times New Roman"/>
                <a:sym typeface="Times New Roman"/>
              </a:rPr>
              <a:t>cluster</a:t>
            </a:r>
            <a:r>
              <a:rPr b="0" i="0" lang="en-US" sz="2400" u="none">
                <a:solidFill>
                  <a:schemeClr val="dk2"/>
                </a:solidFill>
                <a:latin typeface="Times New Roman"/>
                <a:ea typeface="Times New Roman"/>
                <a:cs typeface="Times New Roman"/>
                <a:sym typeface="Times New Roman"/>
              </a:rPr>
              <a:t>. Mà mỗi cluster chứa một số lượng sector bằng lũy thừa của 2.</a:t>
            </a:r>
            <a:endParaRPr/>
          </a:p>
          <a:p>
            <a:pPr indent="-609600" lvl="0" marL="60960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Thông tin trên đĩa logic được tổ chức:</a:t>
            </a:r>
            <a:endParaRPr/>
          </a:p>
          <a:p>
            <a:pPr indent="-609600" lvl="0" marL="609600" rtl="0" algn="l">
              <a:lnSpc>
                <a:spcPct val="100000"/>
              </a:lnSpc>
              <a:spcBef>
                <a:spcPts val="480"/>
              </a:spcBef>
              <a:spcAft>
                <a:spcPts val="0"/>
              </a:spcAft>
              <a:buSzPts val="2400"/>
              <a:buNone/>
            </a:pPr>
            <a:r>
              <a:t/>
            </a:r>
            <a:endParaRPr b="0" i="0" sz="2400" u="none">
              <a:solidFill>
                <a:schemeClr val="dk2"/>
              </a:solidFill>
              <a:latin typeface="Times New Roman"/>
              <a:ea typeface="Times New Roman"/>
              <a:cs typeface="Times New Roman"/>
              <a:sym typeface="Times New Roman"/>
            </a:endParaRPr>
          </a:p>
          <a:p>
            <a:pPr indent="-609600" lvl="0" marL="60960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Boot sector: </a:t>
            </a:r>
            <a:endParaRPr/>
          </a:p>
          <a:p>
            <a:pPr indent="-533400" lvl="1" marL="990600" rtl="0" algn="l">
              <a:lnSpc>
                <a:spcPct val="100000"/>
              </a:lnSpc>
              <a:spcBef>
                <a:spcPts val="480"/>
              </a:spcBef>
              <a:spcAft>
                <a:spcPts val="0"/>
              </a:spcAft>
              <a:buClr>
                <a:schemeClr val="accent1"/>
              </a:buClr>
              <a:buSzPts val="2400"/>
              <a:buFont typeface="Noto Sans Symbols"/>
              <a:buChar char="▪"/>
            </a:pPr>
            <a:r>
              <a:rPr b="0" i="0" lang="en-US" sz="2400" u="none">
                <a:solidFill>
                  <a:schemeClr val="dk2"/>
                </a:solidFill>
                <a:latin typeface="Times New Roman"/>
                <a:ea typeface="Times New Roman"/>
                <a:cs typeface="Times New Roman"/>
                <a:sym typeface="Times New Roman"/>
              </a:rPr>
              <a:t>Sector đầu tiên của đĩa logic</a:t>
            </a:r>
            <a:endParaRPr/>
          </a:p>
          <a:p>
            <a:pPr indent="-533400" lvl="1" marL="990600" rtl="0" algn="l">
              <a:lnSpc>
                <a:spcPct val="100000"/>
              </a:lnSpc>
              <a:spcBef>
                <a:spcPts val="480"/>
              </a:spcBef>
              <a:spcAft>
                <a:spcPts val="0"/>
              </a:spcAft>
              <a:buClr>
                <a:schemeClr val="accent1"/>
              </a:buClr>
              <a:buSzPts val="2400"/>
              <a:buFont typeface="Noto Sans Symbols"/>
              <a:buChar char="▪"/>
            </a:pPr>
            <a:r>
              <a:rPr b="0" i="0" lang="en-US" sz="2400" u="none">
                <a:solidFill>
                  <a:schemeClr val="dk2"/>
                </a:solidFill>
                <a:latin typeface="Times New Roman"/>
                <a:ea typeface="Times New Roman"/>
                <a:cs typeface="Times New Roman"/>
                <a:sym typeface="Times New Roman"/>
              </a:rPr>
              <a:t>Chứa thông tin mô tả cấu trúc đĩa logic: kích thước sector, cluster, kích thước bảng FAT</a:t>
            </a:r>
            <a:endParaRPr/>
          </a:p>
          <a:p>
            <a:pPr indent="-533400" lvl="1" marL="990600" rtl="0" algn="l">
              <a:lnSpc>
                <a:spcPct val="100000"/>
              </a:lnSpc>
              <a:spcBef>
                <a:spcPts val="480"/>
              </a:spcBef>
              <a:spcAft>
                <a:spcPts val="0"/>
              </a:spcAft>
              <a:buClr>
                <a:schemeClr val="accent1"/>
              </a:buClr>
              <a:buSzPts val="2400"/>
              <a:buFont typeface="Noto Sans Symbols"/>
              <a:buChar char="▪"/>
            </a:pPr>
            <a:r>
              <a:rPr b="0" i="0" lang="en-US" sz="2400" u="none">
                <a:solidFill>
                  <a:schemeClr val="dk2"/>
                </a:solidFill>
                <a:latin typeface="Times New Roman"/>
                <a:ea typeface="Times New Roman"/>
                <a:cs typeface="Times New Roman"/>
                <a:sym typeface="Times New Roman"/>
              </a:rPr>
              <a:t>Chứa mã chương trình mồi để tải HĐH nếu đĩa logic là đĩa khởi động</a:t>
            </a:r>
            <a:endParaRPr/>
          </a:p>
        </p:txBody>
      </p:sp>
      <p:sp>
        <p:nvSpPr>
          <p:cNvPr id="759" name="Google Shape;759;p6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0" st="0"/>
                                            </p:txEl>
                                          </p:spTgt>
                                        </p:tgtEl>
                                        <p:attrNameLst>
                                          <p:attrName>style.visibility</p:attrName>
                                        </p:attrNameLst>
                                      </p:cBhvr>
                                      <p:to>
                                        <p:strVal val="visible"/>
                                      </p:to>
                                    </p:set>
                                    <p:animEffect filter="fade" transition="in">
                                      <p:cBhvr>
                                        <p:cTn dur="500"/>
                                        <p:tgtEl>
                                          <p:spTgt spid="7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1" st="1"/>
                                            </p:txEl>
                                          </p:spTgt>
                                        </p:tgtEl>
                                        <p:attrNameLst>
                                          <p:attrName>style.visibility</p:attrName>
                                        </p:attrNameLst>
                                      </p:cBhvr>
                                      <p:to>
                                        <p:strVal val="visible"/>
                                      </p:to>
                                    </p:set>
                                    <p:animEffect filter="fade" transition="in">
                                      <p:cBhvr>
                                        <p:cTn dur="500"/>
                                        <p:tgtEl>
                                          <p:spTgt spid="7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2" st="2"/>
                                            </p:txEl>
                                          </p:spTgt>
                                        </p:tgtEl>
                                        <p:attrNameLst>
                                          <p:attrName>style.visibility</p:attrName>
                                        </p:attrNameLst>
                                      </p:cBhvr>
                                      <p:to>
                                        <p:strVal val="visible"/>
                                      </p:to>
                                    </p:set>
                                    <p:animEffect filter="fade" transition="in">
                                      <p:cBhvr>
                                        <p:cTn dur="500"/>
                                        <p:tgtEl>
                                          <p:spTgt spid="7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3" st="3"/>
                                            </p:txEl>
                                          </p:spTgt>
                                        </p:tgtEl>
                                        <p:attrNameLst>
                                          <p:attrName>style.visibility</p:attrName>
                                        </p:attrNameLst>
                                      </p:cBhvr>
                                      <p:to>
                                        <p:strVal val="visible"/>
                                      </p:to>
                                    </p:set>
                                    <p:animEffect filter="fade" transition="in">
                                      <p:cBhvr>
                                        <p:cTn dur="500"/>
                                        <p:tgtEl>
                                          <p:spTgt spid="7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4" st="4"/>
                                            </p:txEl>
                                          </p:spTgt>
                                        </p:tgtEl>
                                        <p:attrNameLst>
                                          <p:attrName>style.visibility</p:attrName>
                                        </p:attrNameLst>
                                      </p:cBhvr>
                                      <p:to>
                                        <p:strVal val="visible"/>
                                      </p:to>
                                    </p:set>
                                    <p:animEffect filter="fade" transition="in">
                                      <p:cBhvr>
                                        <p:cTn dur="500"/>
                                        <p:tgtEl>
                                          <p:spTgt spid="7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5" st="5"/>
                                            </p:txEl>
                                          </p:spTgt>
                                        </p:tgtEl>
                                        <p:attrNameLst>
                                          <p:attrName>style.visibility</p:attrName>
                                        </p:attrNameLst>
                                      </p:cBhvr>
                                      <p:to>
                                        <p:strVal val="visible"/>
                                      </p:to>
                                    </p:set>
                                    <p:animEffect filter="fade" transition="in">
                                      <p:cBhvr>
                                        <p:cTn dur="500"/>
                                        <p:tgtEl>
                                          <p:spTgt spid="7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6" st="6"/>
                                            </p:txEl>
                                          </p:spTgt>
                                        </p:tgtEl>
                                        <p:attrNameLst>
                                          <p:attrName>style.visibility</p:attrName>
                                        </p:attrNameLst>
                                      </p:cBhvr>
                                      <p:to>
                                        <p:strVal val="visible"/>
                                      </p:to>
                                    </p:set>
                                    <p:animEffect filter="fade" transition="in">
                                      <p:cBhvr>
                                        <p:cTn dur="500"/>
                                        <p:tgtEl>
                                          <p:spTgt spid="7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7" st="7"/>
                                            </p:txEl>
                                          </p:spTgt>
                                        </p:tgtEl>
                                        <p:attrNameLst>
                                          <p:attrName>style.visibility</p:attrName>
                                        </p:attrNameLst>
                                      </p:cBhvr>
                                      <p:to>
                                        <p:strVal val="visible"/>
                                      </p:to>
                                    </p:set>
                                    <p:animEffect filter="fade" transition="in">
                                      <p:cBhvr>
                                        <p:cTn dur="500"/>
                                        <p:tgtEl>
                                          <p:spTgt spid="758">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graphicFrame>
        <p:nvGraphicFramePr>
          <p:cNvPr id="764" name="Google Shape;764;p62"/>
          <p:cNvGraphicFramePr/>
          <p:nvPr/>
        </p:nvGraphicFramePr>
        <p:xfrm>
          <a:off x="242887" y="1143000"/>
          <a:ext cx="3000000" cy="3000000"/>
        </p:xfrm>
        <a:graphic>
          <a:graphicData uri="http://schemas.openxmlformats.org/drawingml/2006/table">
            <a:tbl>
              <a:tblPr>
                <a:noFill/>
                <a:tableStyleId>{77A3F56E-7CED-415A-B550-721C6FEC8064}</a:tableStyleId>
              </a:tblPr>
              <a:tblGrid>
                <a:gridCol w="1684325"/>
                <a:gridCol w="996950"/>
                <a:gridCol w="1071550"/>
                <a:gridCol w="2151050"/>
                <a:gridCol w="2844800"/>
              </a:tblGrid>
              <a:tr h="685800">
                <a:tc>
                  <a:txBody>
                    <a:bodyPr/>
                    <a:lstStyle/>
                    <a:p>
                      <a:pPr indent="-342900" lvl="0" marL="34290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Boot sector</a:t>
                      </a:r>
                      <a:endParaRPr b="0" i="0" sz="1000" u="none">
                        <a:solidFill>
                          <a:schemeClr val="dk1"/>
                        </a:solidFill>
                        <a:latin typeface="Times New Roman"/>
                        <a:ea typeface="Times New Roman"/>
                        <a:cs typeface="Times New Roman"/>
                        <a:sym typeface="Times New Roman"/>
                      </a:endParaRPr>
                    </a:p>
                    <a:p>
                      <a:pPr indent="-342900" lvl="0" marL="34290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và các khối dự phòng</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Bảng FAT1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Bảng FAT2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Thư mục gốc</a:t>
                      </a:r>
                      <a:endParaRPr b="0" i="0" sz="1000" u="none">
                        <a:solidFill>
                          <a:schemeClr val="dk1"/>
                        </a:solidFill>
                        <a:latin typeface="Times New Roman"/>
                        <a:ea typeface="Times New Roman"/>
                        <a:cs typeface="Times New Roman"/>
                        <a:sym typeface="Times New Roman"/>
                      </a:endParaRPr>
                    </a:p>
                    <a:p>
                      <a:pPr indent="-342900" lvl="0" marL="34290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(chỉ có trên FAT12 và FAT16)</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Phần còn lại cho tới cuối đĩa</a:t>
                      </a:r>
                      <a:endParaRPr b="0" i="0" sz="1000" u="none">
                        <a:solidFill>
                          <a:schemeClr val="dk1"/>
                        </a:solidFill>
                        <a:latin typeface="Times New Roman"/>
                        <a:ea typeface="Times New Roman"/>
                        <a:cs typeface="Times New Roman"/>
                        <a:sym typeface="Times New Roman"/>
                      </a:endParaRPr>
                    </a:p>
                    <a:p>
                      <a:pPr indent="-342900" lvl="0" marL="342900" marR="0" rtl="0" algn="ctr">
                        <a:lnSpc>
                          <a:spcPct val="100000"/>
                        </a:lnSpc>
                        <a:spcBef>
                          <a:spcPts val="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chứa các file và thư mục của đĩa lô gic</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65" name="Google Shape;765;p62"/>
          <p:cNvSpPr txBox="1"/>
          <p:nvPr>
            <p:ph type="title"/>
          </p:nvPr>
        </p:nvSpPr>
        <p:spPr>
          <a:xfrm>
            <a:off x="304800" y="0"/>
            <a:ext cx="8686800" cy="8382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500"/>
              <a:buFont typeface="Times New Roman"/>
              <a:buNone/>
            </a:pPr>
            <a:r>
              <a:rPr b="1" i="0" lang="en-US" sz="2500" u="none">
                <a:solidFill>
                  <a:srgbClr val="000066"/>
                </a:solidFill>
                <a:latin typeface="Times New Roman"/>
                <a:ea typeface="Times New Roman"/>
                <a:cs typeface="Times New Roman"/>
                <a:sym typeface="Times New Roman"/>
              </a:rPr>
              <a:t>IX. HỆ THỐNG FILE FAT</a:t>
            </a:r>
            <a:br>
              <a:rPr b="1" i="0" lang="en-US" sz="2500" u="none">
                <a:solidFill>
                  <a:srgbClr val="000066"/>
                </a:solidFill>
                <a:latin typeface="Times New Roman"/>
                <a:ea typeface="Times New Roman"/>
                <a:cs typeface="Times New Roman"/>
                <a:sym typeface="Times New Roman"/>
              </a:rPr>
            </a:br>
            <a:r>
              <a:rPr b="1" i="0" lang="en-US" sz="2200" u="none">
                <a:solidFill>
                  <a:srgbClr val="000066"/>
                </a:solidFill>
                <a:latin typeface="Times New Roman"/>
                <a:ea typeface="Times New Roman"/>
                <a:cs typeface="Times New Roman"/>
                <a:sym typeface="Times New Roman"/>
              </a:rPr>
              <a:t>1. ĐĨA LOGIC</a:t>
            </a:r>
            <a:endParaRPr/>
          </a:p>
        </p:txBody>
      </p:sp>
      <p:sp>
        <p:nvSpPr>
          <p:cNvPr id="766" name="Google Shape;766;p62"/>
          <p:cNvSpPr txBox="1"/>
          <p:nvPr>
            <p:ph idx="1" type="body"/>
          </p:nvPr>
        </p:nvSpPr>
        <p:spPr>
          <a:xfrm>
            <a:off x="152400" y="774700"/>
            <a:ext cx="8534400" cy="5486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400"/>
              <a:buNone/>
            </a:pPr>
            <a:r>
              <a:t/>
            </a:r>
            <a:endParaRPr b="0" i="0" sz="2400" u="none">
              <a:solidFill>
                <a:schemeClr val="dk2"/>
              </a:solidFill>
              <a:latin typeface="Times New Roman"/>
              <a:ea typeface="Times New Roman"/>
              <a:cs typeface="Times New Roman"/>
              <a:sym typeface="Times New Roman"/>
            </a:endParaRPr>
          </a:p>
          <a:p>
            <a:pPr indent="0" lvl="0" marL="0" rtl="0" algn="l">
              <a:lnSpc>
                <a:spcPct val="100000"/>
              </a:lnSpc>
              <a:spcBef>
                <a:spcPts val="480"/>
              </a:spcBef>
              <a:spcAft>
                <a:spcPts val="0"/>
              </a:spcAft>
              <a:buSzPts val="2400"/>
              <a:buNone/>
            </a:pPr>
            <a:r>
              <a:t/>
            </a:r>
            <a:endParaRPr b="0" i="0" sz="2400" u="none">
              <a:solidFill>
                <a:schemeClr val="dk2"/>
              </a:solidFill>
              <a:latin typeface="Times New Roman"/>
              <a:ea typeface="Times New Roman"/>
              <a:cs typeface="Times New Roman"/>
              <a:sym typeface="Times New Roman"/>
            </a:endParaRPr>
          </a:p>
          <a:p>
            <a:pPr indent="0" lvl="0" marL="0" rtl="0" algn="l">
              <a:lnSpc>
                <a:spcPct val="100000"/>
              </a:lnSpc>
              <a:spcBef>
                <a:spcPts val="480"/>
              </a:spcBef>
              <a:spcAft>
                <a:spcPts val="0"/>
              </a:spcAft>
              <a:buSzPts val="2400"/>
              <a:buNone/>
            </a:pPr>
            <a:r>
              <a:t/>
            </a:r>
            <a:endParaRPr b="0" i="0" sz="2400" u="none">
              <a:solidFill>
                <a:schemeClr val="dk2"/>
              </a:solidFill>
              <a:latin typeface="Times New Roman"/>
              <a:ea typeface="Times New Roman"/>
              <a:cs typeface="Times New Roman"/>
              <a:sym typeface="Times New Roman"/>
            </a:endParaRPr>
          </a:p>
          <a:p>
            <a:pPr indent="-152400" lvl="0" marL="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FAT: bảng chỉ số quản lý cấp phát khối cho file. Do thông tin vùng này rất quan trọng nên HDH thường duy trì hai bảng FAT, trong đó một bảng là bản sao của bảng kia. Số lượng FAT cóthể thay đổi và được ghi ở Boot sector.</a:t>
            </a:r>
            <a:endParaRPr/>
          </a:p>
          <a:p>
            <a:pPr indent="-152400" lvl="0" marL="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Thư mục gốc ROOT: vùng này chứa các thư mục gốc, tức là thư mục trên cùng của đĩa. Kích thước vùng này bằng số lượng tối đa khoản mục trong thư mục gốc và được ghi trong boot sector. FAT32 không dùng vùng này mà lưu trữ thư mục gốc như các file trong thư mục thông thường.</a:t>
            </a:r>
            <a:endParaRPr/>
          </a:p>
          <a:p>
            <a:pPr indent="-152400" lvl="0" marL="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Vùng dữ liệu: chứa các file và thư mục của đĩa logic</a:t>
            </a:r>
            <a:endParaRPr/>
          </a:p>
          <a:p>
            <a:pPr indent="-190500" lvl="0" marL="342900" rtl="0" algn="l">
              <a:spcBef>
                <a:spcPts val="480"/>
              </a:spcBef>
              <a:spcAft>
                <a:spcPts val="0"/>
              </a:spcAft>
              <a:buSzPts val="2400"/>
              <a:buNone/>
            </a:pPr>
            <a:r>
              <a:t/>
            </a:r>
            <a:endParaRPr b="0" i="0" sz="2400" u="none">
              <a:solidFill>
                <a:schemeClr val="dk2"/>
              </a:solidFill>
              <a:latin typeface="Times New Roman"/>
              <a:ea typeface="Times New Roman"/>
              <a:cs typeface="Times New Roman"/>
              <a:sym typeface="Times New Roman"/>
            </a:endParaRPr>
          </a:p>
        </p:txBody>
      </p:sp>
      <p:sp>
        <p:nvSpPr>
          <p:cNvPr id="767" name="Google Shape;767;p6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graphicFrame>
        <p:nvGraphicFramePr>
          <p:cNvPr id="772" name="Google Shape;772;p63"/>
          <p:cNvGraphicFramePr/>
          <p:nvPr/>
        </p:nvGraphicFramePr>
        <p:xfrm>
          <a:off x="228600" y="1374775"/>
          <a:ext cx="3000000" cy="3000000"/>
        </p:xfrm>
        <a:graphic>
          <a:graphicData uri="http://schemas.openxmlformats.org/drawingml/2006/table">
            <a:tbl>
              <a:tblPr>
                <a:noFill/>
                <a:tableStyleId>{77A3F56E-7CED-415A-B550-721C6FEC8064}</a:tableStyleId>
              </a:tblPr>
              <a:tblGrid>
                <a:gridCol w="636575"/>
                <a:gridCol w="717550"/>
                <a:gridCol w="7485050"/>
              </a:tblGrid>
              <a:tr h="274625">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Vị trí</a:t>
                      </a:r>
                      <a:endParaRPr/>
                    </a:p>
                  </a:txBody>
                  <a:tcPr marT="45700" marB="457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Độ dài</a:t>
                      </a:r>
                      <a:endParaRPr/>
                    </a:p>
                  </a:txBody>
                  <a:tcPr marT="45700" marB="457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Ý nghĩa</a:t>
                      </a:r>
                      <a:endParaRPr/>
                    </a:p>
                  </a:txBody>
                  <a:tcPr marT="45700" marB="457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57200">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0</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3</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Lệnh Jump. Chỉ thị cho CPU bỏ qua phần thông tin và nhẩy tới thực hiện phần mã mồi của hệ điều hành nếu đây là đĩa mồi hệ điều hành.</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3</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8</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Tên hãng sản xuất, bổ sung dấu trắng ở cuối cho đủ 8B. Ví dụ: IBM  3.3, MSDOS5.0.v.v.</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57200">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11</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Bytes per sector. Kích thước sector tính bằng byte. Giá trị thường gặp là 512 đối với đĩa cứng.</a:t>
                      </a:r>
                      <a:endParaRPr/>
                    </a:p>
                    <a:p>
                      <a:pPr indent="-342900" lvl="0" marL="34290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Đây cũng là vị trí bắt đầu của Khối Thông số BIOS (BIOS Parameter Block, viết tắt là BPB)</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13</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Sectors per cluster. Số sector trong một cluster, luôn là lũy thừa của 2 và không lớn hơn 128.</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5900">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14</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Reserved sectors. Số lượng sector dành cho vùng đầu đĩa đến trước FAT, bao gồm boot sector và các sector dự phòng.</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16</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Số lượng bảng FAT. Thường bằng 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17</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Số khoản mục tối đa trong thự mục gốc ROOT. Chỉ sử dụng cho FAT12 và FAT16. Bằng 0 với FAT32.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8925">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19</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Total sector. Tổng số sector trên đĩa. Nếu bằng không thì số lượng sector được ghi bằng 4 byte tại vị trí 0x20.</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21</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Mô tả loại đĩa. Ví dụ 0xF0 là đĩa mềm 3.5” hai mặt với 80 rãnh trên mỗi mặt, 0xF1 là đĩa cứng .v.v.</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Sectors per FAT. Kích thước FAT tính bằng sector (đối với FAT12/16)</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050">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24</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Sectors per track. Số sector trên một rãnh.</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26</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Number of heads. Số lượng đầu đọc (mặt đĩa được sử dụng)</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28</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4</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Hidden sectors. Số lượng sector ẩn.</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32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4</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Total sector. Tổng số sector trên đĩa cho trường hợp có nhiều hơn 65535.</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73" name="Google Shape;773;p63"/>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IX. HỆ THỐNG FILE FAT</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BOOT SECTOR</a:t>
            </a:r>
            <a:endParaRPr/>
          </a:p>
        </p:txBody>
      </p:sp>
      <p:sp>
        <p:nvSpPr>
          <p:cNvPr id="774" name="Google Shape;774;p63"/>
          <p:cNvSpPr txBox="1"/>
          <p:nvPr/>
        </p:nvSpPr>
        <p:spPr>
          <a:xfrm>
            <a:off x="178350" y="775888"/>
            <a:ext cx="8534400" cy="585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2"/>
              </a:buClr>
              <a:buSzPts val="1800"/>
              <a:buFont typeface="Arial"/>
              <a:buNone/>
            </a:pPr>
            <a:r>
              <a:rPr b="0" i="0" lang="en-US" sz="1600" u="none">
                <a:solidFill>
                  <a:schemeClr val="dk2"/>
                </a:solidFill>
                <a:latin typeface="Arial"/>
                <a:ea typeface="Arial"/>
                <a:cs typeface="Arial"/>
                <a:sym typeface="Arial"/>
              </a:rPr>
              <a:t>Boot sector là sector đầu tiên trên đĩa và chứa thông tin mô tả cấu trúc đĩa cùng với mã để tài HDH đối với đĩa mồi HDH. Cấu trúc cụ thể của boot sector như sau: 32 Byte đầu tiên</a:t>
            </a:r>
            <a:endParaRPr sz="1200"/>
          </a:p>
        </p:txBody>
      </p:sp>
      <p:sp>
        <p:nvSpPr>
          <p:cNvPr id="775" name="Google Shape;775;p6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graphicFrame>
        <p:nvGraphicFramePr>
          <p:cNvPr id="780" name="Google Shape;780;p64"/>
          <p:cNvGraphicFramePr/>
          <p:nvPr/>
        </p:nvGraphicFramePr>
        <p:xfrm>
          <a:off x="304800" y="1524000"/>
          <a:ext cx="3000000" cy="3000000"/>
        </p:xfrm>
        <a:graphic>
          <a:graphicData uri="http://schemas.openxmlformats.org/drawingml/2006/table">
            <a:tbl>
              <a:tblPr>
                <a:noFill/>
                <a:tableStyleId>{77A3F56E-7CED-415A-B550-721C6FEC8064}</a:tableStyleId>
              </a:tblPr>
              <a:tblGrid>
                <a:gridCol w="762000"/>
                <a:gridCol w="762000"/>
                <a:gridCol w="7162800"/>
              </a:tblGrid>
              <a:tr h="304800">
                <a:tc>
                  <a:txBody>
                    <a:bodyPr/>
                    <a:lstStyle/>
                    <a:p>
                      <a:pPr indent="0" lvl="0" marL="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Vị trí</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Độ dài</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Ý nghĩa</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39725">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36</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Số thứ tự vật lý của đĩa (0: đĩa mềm, 80h: đĩa cứng .v.v.)</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38150">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37</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Dự phòng</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38150">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38</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Dấu hiệu của phần mã mồi. Chứa giá trị 0x29 (ký tự ‘)’) hoặc 0x28.</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39725">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39</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4</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Số xê ri của đĩa (Volume Serial Number) được tạo lúc format đĩa</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38150">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43</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11</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Volume Label: Nhãn của đĩa được tạo khi format.</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38150">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54</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8</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Tên hệ thống file FAT, ví dụ "FAT12 ", "FAT16 " </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92125">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62</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448</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Mã mồi hệ điều hành, đây là phần chương trình tải hệ điều hành khi khởi động.</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38150">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510</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Dấu hiệu Boot sector (0x55 0xAA)</a:t>
                      </a:r>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81" name="Google Shape;781;p64"/>
          <p:cNvSpPr txBox="1"/>
          <p:nvPr>
            <p:ph type="title"/>
          </p:nvPr>
        </p:nvSpPr>
        <p:spPr>
          <a:xfrm>
            <a:off x="457200" y="-76200"/>
            <a:ext cx="8686800" cy="914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IX. HỆ THỐNG FILE FAT</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BOOT SECTOR</a:t>
            </a:r>
            <a:endParaRPr/>
          </a:p>
        </p:txBody>
      </p:sp>
      <p:sp>
        <p:nvSpPr>
          <p:cNvPr id="782" name="Google Shape;782;p64"/>
          <p:cNvSpPr txBox="1"/>
          <p:nvPr/>
        </p:nvSpPr>
        <p:spPr>
          <a:xfrm>
            <a:off x="1219200" y="723900"/>
            <a:ext cx="8153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400"/>
              <a:buFont typeface="Arial"/>
              <a:buNone/>
            </a:pPr>
            <a:r>
              <a:rPr b="0" i="0" lang="en-US" sz="2400" u="none">
                <a:solidFill>
                  <a:schemeClr val="dk2"/>
                </a:solidFill>
                <a:latin typeface="Arial"/>
                <a:ea typeface="Arial"/>
                <a:cs typeface="Arial"/>
                <a:sym typeface="Arial"/>
              </a:rPr>
              <a:t>Các byte tiếp theo với FAT12/16</a:t>
            </a:r>
            <a:endParaRPr/>
          </a:p>
        </p:txBody>
      </p:sp>
      <p:sp>
        <p:nvSpPr>
          <p:cNvPr id="783" name="Google Shape;783;p6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graphicFrame>
        <p:nvGraphicFramePr>
          <p:cNvPr id="788" name="Google Shape;788;p65"/>
          <p:cNvGraphicFramePr/>
          <p:nvPr/>
        </p:nvGraphicFramePr>
        <p:xfrm>
          <a:off x="304800" y="1371600"/>
          <a:ext cx="3000000" cy="3000000"/>
        </p:xfrm>
        <a:graphic>
          <a:graphicData uri="http://schemas.openxmlformats.org/drawingml/2006/table">
            <a:tbl>
              <a:tblPr>
                <a:noFill/>
                <a:tableStyleId>{77A3F56E-7CED-415A-B550-721C6FEC8064}</a:tableStyleId>
              </a:tblPr>
              <a:tblGrid>
                <a:gridCol w="625475"/>
                <a:gridCol w="625475"/>
                <a:gridCol w="6673850"/>
              </a:tblGrid>
              <a:tr h="304800">
                <a:tc>
                  <a:txBody>
                    <a:bodyPr/>
                    <a:lstStyle/>
                    <a:p>
                      <a:pPr indent="0" lvl="0" marL="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Vị trí</a:t>
                      </a:r>
                      <a:endParaRPr/>
                    </a:p>
                  </a:txBody>
                  <a:tcPr marT="45700" marB="457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Độ dài</a:t>
                      </a:r>
                      <a:endParaRPr/>
                    </a:p>
                  </a:txBody>
                  <a:tcPr marT="45700" marB="457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Ý nghĩa</a:t>
                      </a:r>
                      <a:endParaRPr/>
                    </a:p>
                  </a:txBody>
                  <a:tcPr marT="45700" marB="457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36</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4</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Sectors per FAT. Kích thước FAT tính bằng sector.</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0x28</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Cờ của FAT</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050">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0x2a</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Version. Phiên bản.</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0x2c</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4</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Số thứ tự của cluster đầu tiên của thư  mục gốc root.</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33375">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0x30</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Số sector của Information Sector. Đây là phần nằm trong số sector dự phòng ngay sau boot sector.</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0x32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Số thứ tự sector đầu tiên của bản sao của boot sector (nếu có)</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0x34</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Dự phòng</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050">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0x40</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Số thứ tự vật lý của đĩa</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0x41</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Dự phòng</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0x42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Dấu hiệu của phần mã mồi mở rộng.</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0x43</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4</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Số xê ri của đĩa (Volume Serial Number)</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0x47</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11</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Volume Label</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3050">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0x52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8</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"FAT32"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0x5a</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420</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Mã mồi hệ điều hành</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4625">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0x1FE</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a:solidFill>
                            <a:schemeClr val="dk1"/>
                          </a:solidFill>
                          <a:latin typeface="Times New Roman"/>
                          <a:ea typeface="Times New Roman"/>
                          <a:cs typeface="Times New Roman"/>
                          <a:sym typeface="Times New Roman"/>
                        </a:rPr>
                        <a:t>Dấu hiệu Boot sector (0x55 0xAA)</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789" name="Google Shape;789;p6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IX. HỆ THỐNG FILE FAT</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BOOT SECTOR</a:t>
            </a:r>
            <a:endParaRPr/>
          </a:p>
        </p:txBody>
      </p:sp>
      <p:sp>
        <p:nvSpPr>
          <p:cNvPr id="790" name="Google Shape;790;p65"/>
          <p:cNvSpPr txBox="1"/>
          <p:nvPr/>
        </p:nvSpPr>
        <p:spPr>
          <a:xfrm>
            <a:off x="609600" y="838200"/>
            <a:ext cx="8153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400"/>
              <a:buFont typeface="Arial"/>
              <a:buNone/>
            </a:pPr>
            <a:r>
              <a:rPr b="0" i="0" lang="en-US" sz="2400" u="none">
                <a:solidFill>
                  <a:schemeClr val="dk2"/>
                </a:solidFill>
                <a:latin typeface="Arial"/>
                <a:ea typeface="Arial"/>
                <a:cs typeface="Arial"/>
                <a:sym typeface="Arial"/>
              </a:rPr>
              <a:t>Các byte tiếp theo với FAT32</a:t>
            </a:r>
            <a:endParaRPr/>
          </a:p>
        </p:txBody>
      </p:sp>
      <p:sp>
        <p:nvSpPr>
          <p:cNvPr id="791" name="Google Shape;791;p6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66"/>
          <p:cNvSpPr txBox="1"/>
          <p:nvPr>
            <p:ph idx="1" type="body"/>
          </p:nvPr>
        </p:nvSpPr>
        <p:spPr>
          <a:xfrm>
            <a:off x="0" y="1219200"/>
            <a:ext cx="9144000" cy="5410200"/>
          </a:xfrm>
          <a:prstGeom prst="rect">
            <a:avLst/>
          </a:prstGeom>
          <a:noFill/>
          <a:ln>
            <a:noFill/>
          </a:ln>
        </p:spPr>
        <p:txBody>
          <a:bodyPr anchorCtr="0" anchor="t" bIns="45700" lIns="91425" spcFirstLastPara="1" rIns="91425" wrap="square" tIns="45700">
            <a:noAutofit/>
          </a:bodyPr>
          <a:lstStyle/>
          <a:p>
            <a:pPr indent="-609600" lvl="0" marL="6096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Quản lý các cluster trên đĩa và các file theo nguyên tắc: </a:t>
            </a:r>
            <a:endParaRPr/>
          </a:p>
          <a:p>
            <a:pPr indent="-533400" lvl="1" marL="99060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Các khối thuộc cùng 1 file được liên kết thành 1 danh sách</a:t>
            </a:r>
            <a:endParaRPr/>
          </a:p>
          <a:p>
            <a:pPr indent="-533400" lvl="1" marL="99060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Con trỏ được chứa trong ô tương ứng của bảng FAT</a:t>
            </a:r>
            <a:endParaRPr/>
          </a:p>
          <a:p>
            <a:pPr indent="-609600" lvl="0" marL="6096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Mỗi ô trong bảng FAT tương ứng với một cluster trên đĩa, chứa 1 trong các thông tin:</a:t>
            </a:r>
            <a:endParaRPr/>
          </a:p>
          <a:p>
            <a:pPr indent="-533400" lvl="1" marL="99060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STT cluster tiếp theo trong danh sách các khối của file</a:t>
            </a:r>
            <a:endParaRPr/>
          </a:p>
          <a:p>
            <a:pPr indent="-533400" lvl="1" marL="99060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Dấu hiệu kết thúc nếu ô tương ứng với cluster cuối cùng của file</a:t>
            </a:r>
            <a:endParaRPr/>
          </a:p>
          <a:p>
            <a:pPr indent="-533400" lvl="1" marL="99060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Dấu hiệu đánh dấu cluster hỏng, không được sử dụng</a:t>
            </a:r>
            <a:endParaRPr/>
          </a:p>
          <a:p>
            <a:pPr indent="-533400" lvl="1" marL="99060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Dấu hiệu đánh dấu cluster dự phòng</a:t>
            </a:r>
            <a:endParaRPr/>
          </a:p>
          <a:p>
            <a:pPr indent="-533400" lvl="1" marL="99060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Bằng 0 nếu cluster trống, chưa cấp phát cho file nào</a:t>
            </a:r>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97" name="Google Shape;797;p66"/>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IX. HỆ THỐNG FILE FAT</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BẢNG FAT</a:t>
            </a:r>
            <a:endParaRPr/>
          </a:p>
        </p:txBody>
      </p:sp>
      <p:sp>
        <p:nvSpPr>
          <p:cNvPr id="798" name="Google Shape;798;p6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xEl>
                                              <p:pRg end="0" st="0"/>
                                            </p:txEl>
                                          </p:spTgt>
                                        </p:tgtEl>
                                        <p:attrNameLst>
                                          <p:attrName>style.visibility</p:attrName>
                                        </p:attrNameLst>
                                      </p:cBhvr>
                                      <p:to>
                                        <p:strVal val="visible"/>
                                      </p:to>
                                    </p:set>
                                    <p:animEffect filter="fade" transition="in">
                                      <p:cBhvr>
                                        <p:cTn dur="500"/>
                                        <p:tgtEl>
                                          <p:spTgt spid="7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xEl>
                                              <p:pRg end="1" st="1"/>
                                            </p:txEl>
                                          </p:spTgt>
                                        </p:tgtEl>
                                        <p:attrNameLst>
                                          <p:attrName>style.visibility</p:attrName>
                                        </p:attrNameLst>
                                      </p:cBhvr>
                                      <p:to>
                                        <p:strVal val="visible"/>
                                      </p:to>
                                    </p:set>
                                    <p:animEffect filter="fade" transition="in">
                                      <p:cBhvr>
                                        <p:cTn dur="500"/>
                                        <p:tgtEl>
                                          <p:spTgt spid="7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xEl>
                                              <p:pRg end="2" st="2"/>
                                            </p:txEl>
                                          </p:spTgt>
                                        </p:tgtEl>
                                        <p:attrNameLst>
                                          <p:attrName>style.visibility</p:attrName>
                                        </p:attrNameLst>
                                      </p:cBhvr>
                                      <p:to>
                                        <p:strVal val="visible"/>
                                      </p:to>
                                    </p:set>
                                    <p:animEffect filter="fade" transition="in">
                                      <p:cBhvr>
                                        <p:cTn dur="500"/>
                                        <p:tgtEl>
                                          <p:spTgt spid="7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xEl>
                                              <p:pRg end="3" st="3"/>
                                            </p:txEl>
                                          </p:spTgt>
                                        </p:tgtEl>
                                        <p:attrNameLst>
                                          <p:attrName>style.visibility</p:attrName>
                                        </p:attrNameLst>
                                      </p:cBhvr>
                                      <p:to>
                                        <p:strVal val="visible"/>
                                      </p:to>
                                    </p:set>
                                    <p:animEffect filter="fade" transition="in">
                                      <p:cBhvr>
                                        <p:cTn dur="500"/>
                                        <p:tgtEl>
                                          <p:spTgt spid="7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xEl>
                                              <p:pRg end="4" st="4"/>
                                            </p:txEl>
                                          </p:spTgt>
                                        </p:tgtEl>
                                        <p:attrNameLst>
                                          <p:attrName>style.visibility</p:attrName>
                                        </p:attrNameLst>
                                      </p:cBhvr>
                                      <p:to>
                                        <p:strVal val="visible"/>
                                      </p:to>
                                    </p:set>
                                    <p:animEffect filter="fade" transition="in">
                                      <p:cBhvr>
                                        <p:cTn dur="500"/>
                                        <p:tgtEl>
                                          <p:spTgt spid="79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xEl>
                                              <p:pRg end="5" st="5"/>
                                            </p:txEl>
                                          </p:spTgt>
                                        </p:tgtEl>
                                        <p:attrNameLst>
                                          <p:attrName>style.visibility</p:attrName>
                                        </p:attrNameLst>
                                      </p:cBhvr>
                                      <p:to>
                                        <p:strVal val="visible"/>
                                      </p:to>
                                    </p:set>
                                    <p:animEffect filter="fade" transition="in">
                                      <p:cBhvr>
                                        <p:cTn dur="500"/>
                                        <p:tgtEl>
                                          <p:spTgt spid="79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xEl>
                                              <p:pRg end="6" st="6"/>
                                            </p:txEl>
                                          </p:spTgt>
                                        </p:tgtEl>
                                        <p:attrNameLst>
                                          <p:attrName>style.visibility</p:attrName>
                                        </p:attrNameLst>
                                      </p:cBhvr>
                                      <p:to>
                                        <p:strVal val="visible"/>
                                      </p:to>
                                    </p:set>
                                    <p:animEffect filter="fade" transition="in">
                                      <p:cBhvr>
                                        <p:cTn dur="500"/>
                                        <p:tgtEl>
                                          <p:spTgt spid="79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xEl>
                                              <p:pRg end="7" st="7"/>
                                            </p:txEl>
                                          </p:spTgt>
                                        </p:tgtEl>
                                        <p:attrNameLst>
                                          <p:attrName>style.visibility</p:attrName>
                                        </p:attrNameLst>
                                      </p:cBhvr>
                                      <p:to>
                                        <p:strVal val="visible"/>
                                      </p:to>
                                    </p:set>
                                    <p:animEffect filter="fade" transition="in">
                                      <p:cBhvr>
                                        <p:cTn dur="500"/>
                                        <p:tgtEl>
                                          <p:spTgt spid="79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xEl>
                                              <p:pRg end="8" st="8"/>
                                            </p:txEl>
                                          </p:spTgt>
                                        </p:tgtEl>
                                        <p:attrNameLst>
                                          <p:attrName>style.visibility</p:attrName>
                                        </p:attrNameLst>
                                      </p:cBhvr>
                                      <p:to>
                                        <p:strVal val="visible"/>
                                      </p:to>
                                    </p:set>
                                    <p:animEffect filter="fade" transition="in">
                                      <p:cBhvr>
                                        <p:cTn dur="500"/>
                                        <p:tgtEl>
                                          <p:spTgt spid="79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xEl>
                                              <p:pRg end="9" st="9"/>
                                            </p:txEl>
                                          </p:spTgt>
                                        </p:tgtEl>
                                        <p:attrNameLst>
                                          <p:attrName>style.visibility</p:attrName>
                                        </p:attrNameLst>
                                      </p:cBhvr>
                                      <p:to>
                                        <p:strVal val="visible"/>
                                      </p:to>
                                    </p:set>
                                    <p:animEffect filter="fade" transition="in">
                                      <p:cBhvr>
                                        <p:cTn dur="500"/>
                                        <p:tgtEl>
                                          <p:spTgt spid="796">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graphicFrame>
        <p:nvGraphicFramePr>
          <p:cNvPr id="803" name="Google Shape;803;p67"/>
          <p:cNvGraphicFramePr/>
          <p:nvPr/>
        </p:nvGraphicFramePr>
        <p:xfrm>
          <a:off x="685800" y="2590800"/>
          <a:ext cx="3000000" cy="3000000"/>
        </p:xfrm>
        <a:graphic>
          <a:graphicData uri="http://schemas.openxmlformats.org/drawingml/2006/table">
            <a:tbl>
              <a:tblPr>
                <a:noFill/>
                <a:tableStyleId>{77A3F56E-7CED-415A-B550-721C6FEC8064}</a:tableStyleId>
              </a:tblPr>
              <a:tblGrid>
                <a:gridCol w="1476375"/>
                <a:gridCol w="1474775"/>
                <a:gridCol w="2581275"/>
                <a:gridCol w="2468550"/>
              </a:tblGrid>
              <a:tr h="304800">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FAT12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FAT16</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FAT32</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Ý nghĩa</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60375">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0x000</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0x0000</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0x00000000</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Cluster trống</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17525">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0x001</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0x0001</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0x00000001</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Cluster dự phòng, không được sử dụng</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31825">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0x002</a:t>
                      </a:r>
                      <a:r>
                        <a:rPr b="0" i="0" lang="en-US" sz="1400" u="none">
                          <a:solidFill>
                            <a:schemeClr val="dk1"/>
                          </a:solidFill>
                          <a:latin typeface="Arial"/>
                          <a:ea typeface="Arial"/>
                          <a:cs typeface="Arial"/>
                          <a:sym typeface="Arial"/>
                        </a:rPr>
                        <a:t>–</a:t>
                      </a:r>
                      <a:r>
                        <a:rPr b="0" i="0" lang="en-US" sz="1400" u="none">
                          <a:solidFill>
                            <a:schemeClr val="dk1"/>
                          </a:solidFill>
                          <a:latin typeface="Times New Roman"/>
                          <a:ea typeface="Times New Roman"/>
                          <a:cs typeface="Times New Roman"/>
                          <a:sym typeface="Times New Roman"/>
                        </a:rPr>
                        <a:t>0xFEF</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0x0002</a:t>
                      </a:r>
                      <a:r>
                        <a:rPr b="0" i="0" lang="en-US" sz="1400" u="none">
                          <a:solidFill>
                            <a:schemeClr val="dk1"/>
                          </a:solidFill>
                          <a:latin typeface="Arial"/>
                          <a:ea typeface="Arial"/>
                          <a:cs typeface="Arial"/>
                          <a:sym typeface="Arial"/>
                        </a:rPr>
                        <a:t>–</a:t>
                      </a:r>
                      <a:r>
                        <a:rPr b="0" i="0" lang="en-US" sz="1400" u="none">
                          <a:solidFill>
                            <a:schemeClr val="dk1"/>
                          </a:solidFill>
                          <a:latin typeface="Times New Roman"/>
                          <a:ea typeface="Times New Roman"/>
                          <a:cs typeface="Times New Roman"/>
                          <a:sym typeface="Times New Roman"/>
                        </a:rPr>
                        <a:t>0xFFEF</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0x00000002</a:t>
                      </a:r>
                      <a:r>
                        <a:rPr b="0" i="0" lang="en-US" sz="1400" u="none">
                          <a:solidFill>
                            <a:schemeClr val="dk1"/>
                          </a:solidFill>
                          <a:latin typeface="Arial"/>
                          <a:ea typeface="Arial"/>
                          <a:cs typeface="Arial"/>
                          <a:sym typeface="Arial"/>
                        </a:rPr>
                        <a:t>–</a:t>
                      </a:r>
                      <a:r>
                        <a:rPr b="0" i="0" lang="en-US" sz="1400" u="none">
                          <a:solidFill>
                            <a:schemeClr val="dk1"/>
                          </a:solidFill>
                          <a:latin typeface="Times New Roman"/>
                          <a:ea typeface="Times New Roman"/>
                          <a:cs typeface="Times New Roman"/>
                          <a:sym typeface="Times New Roman"/>
                        </a:rPr>
                        <a:t>0x0FFFFFEF</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Cluster đã được cấp cho file. Chứa số thứ tự cluster tiếp theo của file.</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6375">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0xFF0</a:t>
                      </a:r>
                      <a:r>
                        <a:rPr b="0" i="0" lang="en-US" sz="1400" u="none">
                          <a:solidFill>
                            <a:schemeClr val="dk1"/>
                          </a:solidFill>
                          <a:latin typeface="Arial"/>
                          <a:ea typeface="Arial"/>
                          <a:cs typeface="Arial"/>
                          <a:sym typeface="Arial"/>
                        </a:rPr>
                        <a:t>–</a:t>
                      </a:r>
                      <a:r>
                        <a:rPr b="0" i="0" lang="en-US" sz="1400" u="none">
                          <a:solidFill>
                            <a:schemeClr val="dk1"/>
                          </a:solidFill>
                          <a:latin typeface="Times New Roman"/>
                          <a:ea typeface="Times New Roman"/>
                          <a:cs typeface="Times New Roman"/>
                          <a:sym typeface="Times New Roman"/>
                        </a:rPr>
                        <a:t>0xFF6</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0xFFF0</a:t>
                      </a:r>
                      <a:r>
                        <a:rPr b="0" i="0" lang="en-US" sz="1400" u="none">
                          <a:solidFill>
                            <a:schemeClr val="dk1"/>
                          </a:solidFill>
                          <a:latin typeface="Arial"/>
                          <a:ea typeface="Arial"/>
                          <a:cs typeface="Arial"/>
                          <a:sym typeface="Arial"/>
                        </a:rPr>
                        <a:t>–</a:t>
                      </a:r>
                      <a:r>
                        <a:rPr b="0" i="0" lang="en-US" sz="1400" u="none">
                          <a:solidFill>
                            <a:schemeClr val="dk1"/>
                          </a:solidFill>
                          <a:latin typeface="Times New Roman"/>
                          <a:ea typeface="Times New Roman"/>
                          <a:cs typeface="Times New Roman"/>
                          <a:sym typeface="Times New Roman"/>
                        </a:rPr>
                        <a:t>0xFFF6</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0x0FFFFFF0</a:t>
                      </a:r>
                      <a:r>
                        <a:rPr b="0" i="0" lang="en-US" sz="1400" u="none">
                          <a:solidFill>
                            <a:schemeClr val="dk1"/>
                          </a:solidFill>
                          <a:latin typeface="Arial"/>
                          <a:ea typeface="Arial"/>
                          <a:cs typeface="Arial"/>
                          <a:sym typeface="Arial"/>
                        </a:rPr>
                        <a:t>–</a:t>
                      </a:r>
                      <a:r>
                        <a:rPr b="0" i="0" lang="en-US" sz="1400" u="none">
                          <a:solidFill>
                            <a:schemeClr val="dk1"/>
                          </a:solidFill>
                          <a:latin typeface="Times New Roman"/>
                          <a:ea typeface="Times New Roman"/>
                          <a:cs typeface="Times New Roman"/>
                          <a:sym typeface="Times New Roman"/>
                        </a:rPr>
                        <a:t>0x0FFFFFF6</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Cluster dự phòng</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58775">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0xFF7</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0xFFF7</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0x0FFFFFF7</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Cluster hỏng.</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04800">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0xFF8</a:t>
                      </a:r>
                      <a:r>
                        <a:rPr b="0" i="0" lang="en-US" sz="1400" u="none">
                          <a:solidFill>
                            <a:schemeClr val="dk1"/>
                          </a:solidFill>
                          <a:latin typeface="Arial"/>
                          <a:ea typeface="Arial"/>
                          <a:cs typeface="Arial"/>
                          <a:sym typeface="Arial"/>
                        </a:rPr>
                        <a:t>–</a:t>
                      </a:r>
                      <a:r>
                        <a:rPr b="0" i="0" lang="en-US" sz="1400" u="none">
                          <a:solidFill>
                            <a:schemeClr val="dk1"/>
                          </a:solidFill>
                          <a:latin typeface="Times New Roman"/>
                          <a:ea typeface="Times New Roman"/>
                          <a:cs typeface="Times New Roman"/>
                          <a:sym typeface="Times New Roman"/>
                        </a:rPr>
                        <a:t>0xFFF</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0xFFF8</a:t>
                      </a:r>
                      <a:r>
                        <a:rPr b="0" i="0" lang="en-US" sz="1400" u="none">
                          <a:solidFill>
                            <a:schemeClr val="dk1"/>
                          </a:solidFill>
                          <a:latin typeface="Arial"/>
                          <a:ea typeface="Arial"/>
                          <a:cs typeface="Arial"/>
                          <a:sym typeface="Arial"/>
                        </a:rPr>
                        <a:t>–</a:t>
                      </a:r>
                      <a:r>
                        <a:rPr b="0" i="0" lang="en-US" sz="1400" u="none">
                          <a:solidFill>
                            <a:schemeClr val="dk1"/>
                          </a:solidFill>
                          <a:latin typeface="Times New Roman"/>
                          <a:ea typeface="Times New Roman"/>
                          <a:cs typeface="Times New Roman"/>
                          <a:sym typeface="Times New Roman"/>
                        </a:rPr>
                        <a:t>0xFFFF</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0x0FFFFFF8</a:t>
                      </a:r>
                      <a:r>
                        <a:rPr b="0" i="0" lang="en-US" sz="1400" u="none">
                          <a:solidFill>
                            <a:schemeClr val="dk1"/>
                          </a:solidFill>
                          <a:latin typeface="Arial"/>
                          <a:ea typeface="Arial"/>
                          <a:cs typeface="Arial"/>
                          <a:sym typeface="Arial"/>
                        </a:rPr>
                        <a:t>–</a:t>
                      </a:r>
                      <a:r>
                        <a:rPr b="0" i="0" lang="en-US" sz="1400" u="none">
                          <a:solidFill>
                            <a:schemeClr val="dk1"/>
                          </a:solidFill>
                          <a:latin typeface="Times New Roman"/>
                          <a:ea typeface="Times New Roman"/>
                          <a:cs typeface="Times New Roman"/>
                          <a:sym typeface="Times New Roman"/>
                        </a:rPr>
                        <a:t>0x0FFFFFFF</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Cluster cuối c</a:t>
                      </a:r>
                      <a:r>
                        <a:rPr b="0" i="0" lang="en-US" sz="1400" u="none">
                          <a:solidFill>
                            <a:schemeClr val="dk1"/>
                          </a:solidFill>
                          <a:latin typeface="Arial"/>
                          <a:ea typeface="Arial"/>
                          <a:cs typeface="Arial"/>
                          <a:sym typeface="Arial"/>
                        </a:rPr>
                        <a:t>ù</a:t>
                      </a:r>
                      <a:r>
                        <a:rPr b="0" i="0" lang="en-US" sz="1400" u="none">
                          <a:solidFill>
                            <a:schemeClr val="dk1"/>
                          </a:solidFill>
                          <a:latin typeface="Times New Roman"/>
                          <a:ea typeface="Times New Roman"/>
                          <a:cs typeface="Times New Roman"/>
                          <a:sym typeface="Times New Roman"/>
                        </a:rPr>
                        <a:t>ng của file</a:t>
                      </a:r>
                      <a:endParaRPr/>
                    </a:p>
                  </a:txBody>
                  <a:tcPr marT="45700" marB="45700"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804" name="Google Shape;804;p67"/>
          <p:cNvSpPr txBox="1"/>
          <p:nvPr>
            <p:ph type="title"/>
          </p:nvPr>
        </p:nvSpPr>
        <p:spPr>
          <a:xfrm>
            <a:off x="304800" y="0"/>
            <a:ext cx="8686800" cy="8382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500"/>
              <a:buFont typeface="Times New Roman"/>
              <a:buNone/>
            </a:pPr>
            <a:r>
              <a:rPr b="1" i="0" lang="en-US" sz="2500" u="none">
                <a:solidFill>
                  <a:srgbClr val="000066"/>
                </a:solidFill>
                <a:latin typeface="Times New Roman"/>
                <a:ea typeface="Times New Roman"/>
                <a:cs typeface="Times New Roman"/>
                <a:sym typeface="Times New Roman"/>
              </a:rPr>
              <a:t>IX. HỆ THỐNG FILE FAT</a:t>
            </a:r>
            <a:br>
              <a:rPr b="1" i="0" lang="en-US" sz="2500" u="none">
                <a:solidFill>
                  <a:srgbClr val="000066"/>
                </a:solidFill>
                <a:latin typeface="Times New Roman"/>
                <a:ea typeface="Times New Roman"/>
                <a:cs typeface="Times New Roman"/>
                <a:sym typeface="Times New Roman"/>
              </a:rPr>
            </a:br>
            <a:r>
              <a:rPr b="1" i="0" lang="en-US" sz="2200" u="none">
                <a:solidFill>
                  <a:srgbClr val="000066"/>
                </a:solidFill>
                <a:latin typeface="Times New Roman"/>
                <a:ea typeface="Times New Roman"/>
                <a:cs typeface="Times New Roman"/>
                <a:sym typeface="Times New Roman"/>
              </a:rPr>
              <a:t>BẢNG FAT</a:t>
            </a:r>
            <a:endParaRPr/>
          </a:p>
        </p:txBody>
      </p:sp>
      <p:sp>
        <p:nvSpPr>
          <p:cNvPr id="805" name="Google Shape;805;p67"/>
          <p:cNvSpPr txBox="1"/>
          <p:nvPr>
            <p:ph idx="1" type="body"/>
          </p:nvPr>
        </p:nvSpPr>
        <p:spPr>
          <a:xfrm>
            <a:off x="304800" y="1282700"/>
            <a:ext cx="8845550" cy="838200"/>
          </a:xfrm>
          <a:prstGeom prst="rect">
            <a:avLst/>
          </a:prstGeom>
          <a:noFill/>
          <a:ln>
            <a:noFill/>
          </a:ln>
        </p:spPr>
        <p:txBody>
          <a:bodyPr anchorCtr="0" anchor="t" bIns="45700" lIns="91425" spcFirstLastPara="1" rIns="91425" wrap="square" tIns="45700">
            <a:noAutofit/>
          </a:bodyPr>
          <a:lstStyle/>
          <a:p>
            <a:pPr indent="-533400" lvl="1" marL="990600" rtl="0" algn="l">
              <a:lnSpc>
                <a:spcPct val="100000"/>
              </a:lnSpc>
              <a:spcBef>
                <a:spcPts val="0"/>
              </a:spcBef>
              <a:spcAft>
                <a:spcPts val="0"/>
              </a:spcAft>
              <a:buClr>
                <a:schemeClr val="accent1"/>
              </a:buClr>
              <a:buSzPts val="2200"/>
              <a:buFont typeface="Noto Sans Symbols"/>
              <a:buChar char="▪"/>
            </a:pPr>
            <a:r>
              <a:rPr b="0" i="0" lang="en-US" sz="2200" u="none">
                <a:solidFill>
                  <a:schemeClr val="dk2"/>
                </a:solidFill>
                <a:latin typeface="Times New Roman"/>
                <a:ea typeface="Times New Roman"/>
                <a:cs typeface="Times New Roman"/>
                <a:sym typeface="Times New Roman"/>
              </a:rPr>
              <a:t>Cluster đầu tiên của vùng dữ liệu được đánh STT là 2</a:t>
            </a:r>
            <a:endParaRPr/>
          </a:p>
          <a:p>
            <a:pPr indent="-533400" lvl="1" marL="990600" rtl="0" algn="l">
              <a:lnSpc>
                <a:spcPct val="100000"/>
              </a:lnSpc>
              <a:spcBef>
                <a:spcPts val="440"/>
              </a:spcBef>
              <a:spcAft>
                <a:spcPts val="0"/>
              </a:spcAft>
              <a:buClr>
                <a:schemeClr val="accent1"/>
              </a:buClr>
              <a:buSzPts val="2200"/>
              <a:buFont typeface="Noto Sans Symbols"/>
              <a:buChar char="▪"/>
            </a:pPr>
            <a:r>
              <a:rPr b="0" i="0" lang="en-US" sz="2200" u="none">
                <a:solidFill>
                  <a:schemeClr val="dk2"/>
                </a:solidFill>
                <a:latin typeface="Times New Roman"/>
                <a:ea typeface="Times New Roman"/>
                <a:cs typeface="Times New Roman"/>
                <a:sym typeface="Times New Roman"/>
              </a:rPr>
              <a:t>2 ô đầu tiên của bảng FAT không dùng để quản lý cluster</a:t>
            </a:r>
            <a:endParaRPr/>
          </a:p>
        </p:txBody>
      </p:sp>
      <p:sp>
        <p:nvSpPr>
          <p:cNvPr id="806" name="Google Shape;806;p6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5">
                                            <p:txEl>
                                              <p:pRg end="0" st="0"/>
                                            </p:txEl>
                                          </p:spTgt>
                                        </p:tgtEl>
                                        <p:attrNameLst>
                                          <p:attrName>style.visibility</p:attrName>
                                        </p:attrNameLst>
                                      </p:cBhvr>
                                      <p:to>
                                        <p:strVal val="visible"/>
                                      </p:to>
                                    </p:set>
                                    <p:animEffect filter="fade" transition="in">
                                      <p:cBhvr>
                                        <p:cTn dur="500"/>
                                        <p:tgtEl>
                                          <p:spTgt spid="8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5">
                                            <p:txEl>
                                              <p:pRg end="1" st="1"/>
                                            </p:txEl>
                                          </p:spTgt>
                                        </p:tgtEl>
                                        <p:attrNameLst>
                                          <p:attrName>style.visibility</p:attrName>
                                        </p:attrNameLst>
                                      </p:cBhvr>
                                      <p:to>
                                        <p:strVal val="visible"/>
                                      </p:to>
                                    </p:set>
                                    <p:animEffect filter="fade" transition="in">
                                      <p:cBhvr>
                                        <p:cTn dur="500"/>
                                        <p:tgtEl>
                                          <p:spTgt spid="805">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68"/>
          <p:cNvSpPr txBox="1"/>
          <p:nvPr>
            <p:ph idx="1" type="body"/>
          </p:nvPr>
        </p:nvSpPr>
        <p:spPr>
          <a:xfrm>
            <a:off x="38100" y="838200"/>
            <a:ext cx="9144000" cy="5410200"/>
          </a:xfrm>
          <a:prstGeom prst="rect">
            <a:avLst/>
          </a:prstGeom>
          <a:noFill/>
          <a:ln>
            <a:noFill/>
          </a:ln>
        </p:spPr>
        <p:txBody>
          <a:bodyPr anchorCtr="0" anchor="t" bIns="45700" lIns="91425" spcFirstLastPara="1" rIns="91425" wrap="square" tIns="45700">
            <a:noAutofit/>
          </a:bodyPr>
          <a:lstStyle/>
          <a:p>
            <a:pPr indent="-431800" lvl="0" marL="609600" marR="0" rtl="0" algn="l">
              <a:lnSpc>
                <a:spcPct val="100000"/>
              </a:lnSpc>
              <a:spcBef>
                <a:spcPts val="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609600" lvl="0" marL="6096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Mỗi thư mục được lưu trong bảng thư mục, thực chất là 1 file đặc biệt chứa các khoản mục của thư mục</a:t>
            </a:r>
            <a:endParaRPr/>
          </a:p>
          <a:p>
            <a:pPr indent="-609600" lvl="0" marL="6096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Mỗi khoản mục chứa thông tin về một file hoặc thư mục con của thư mục đang xét</a:t>
            </a:r>
            <a:endParaRPr/>
          </a:p>
          <a:p>
            <a:pPr indent="-609600" lvl="0" marL="6096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Với FAT12/16, thư mục trên cùng của đĩa được chứa trong 1 vùng đặc biệt gọi là thư mục gốc</a:t>
            </a:r>
            <a:endParaRPr/>
          </a:p>
          <a:p>
            <a:pPr indent="-609600" lvl="0" marL="6096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 thư mục mức thấp hơn/ thư mục gốc của FAT32 được chứa trong vùng dữ liệu trên đĩa cùng với các file</a:t>
            </a:r>
            <a:endParaRPr/>
          </a:p>
          <a:p>
            <a:pPr indent="-609600" lvl="0" marL="6096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Mỗi thư mục gồm các khoản mục 32 byte xếp liền nhau</a:t>
            </a:r>
            <a:endParaRPr/>
          </a:p>
          <a:p>
            <a:pPr indent="-165100" lvl="0" marL="342900" marR="0" rtl="0" algn="l">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p:txBody>
      </p:sp>
      <p:sp>
        <p:nvSpPr>
          <p:cNvPr id="812" name="Google Shape;812;p68"/>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IX. HỆ THỐNG FILE FAT</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THƯ MỤC GỐC (ROOT)</a:t>
            </a:r>
            <a:endParaRPr/>
          </a:p>
        </p:txBody>
      </p:sp>
      <p:sp>
        <p:nvSpPr>
          <p:cNvPr id="813" name="Google Shape;813;p6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graphicFrame>
        <p:nvGraphicFramePr>
          <p:cNvPr id="818" name="Google Shape;818;p69"/>
          <p:cNvGraphicFramePr/>
          <p:nvPr/>
        </p:nvGraphicFramePr>
        <p:xfrm>
          <a:off x="152400" y="830262"/>
          <a:ext cx="3000000" cy="3000000"/>
        </p:xfrm>
        <a:graphic>
          <a:graphicData uri="http://schemas.openxmlformats.org/drawingml/2006/table">
            <a:tbl>
              <a:tblPr>
                <a:noFill/>
                <a:tableStyleId>{77A3F56E-7CED-415A-B550-721C6FEC8064}</a:tableStyleId>
              </a:tblPr>
              <a:tblGrid>
                <a:gridCol w="698500"/>
                <a:gridCol w="696900"/>
                <a:gridCol w="2171700"/>
                <a:gridCol w="2301875"/>
                <a:gridCol w="2970200"/>
              </a:tblGrid>
              <a:tr h="290500">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Vị trí</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Độ dài</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342900" lvl="0" marL="342900" marR="0" rtl="0" algn="ctr">
                        <a:lnSpc>
                          <a:spcPct val="100000"/>
                        </a:lnSpc>
                        <a:spcBef>
                          <a:spcPts val="0"/>
                        </a:spcBef>
                        <a:spcAft>
                          <a:spcPts val="0"/>
                        </a:spcAft>
                        <a:buClr>
                          <a:schemeClr val="dk1"/>
                        </a:buClr>
                        <a:buSzPts val="1200"/>
                        <a:buFont typeface="Times New Roman"/>
                        <a:buNone/>
                      </a:pPr>
                      <a:r>
                        <a:rPr b="1" i="0" lang="en-US" sz="1200" u="none">
                          <a:solidFill>
                            <a:schemeClr val="dk1"/>
                          </a:solidFill>
                          <a:latin typeface="Times New Roman"/>
                          <a:ea typeface="Times New Roman"/>
                          <a:cs typeface="Times New Roman"/>
                          <a:sym typeface="Times New Roman"/>
                        </a:rPr>
                        <a:t>Mô tả</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r>
              <a:tr h="315900">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Tên file, thêm bằng dấu trắng ở cuối nếu ngắn hơn 8 byte</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r>
              <a:tr h="315900">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3 </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Phần mở rộng, thêm bằng dấu trắng ở cuối nếu ngắn hơn 3 byte</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r>
              <a:tr h="320675">
                <a:tc rowSpan="3">
                  <a:txBody>
                    <a:bodyPr/>
                    <a:lstStyle/>
                    <a:p>
                      <a:pPr indent="-342900" lvl="0" marL="342900" marR="0" rtl="0" algn="ctr">
                        <a:lnSpc>
                          <a:spcPct val="100000"/>
                        </a:lnSpc>
                        <a:spcBef>
                          <a:spcPts val="0"/>
                        </a:spcBef>
                        <a:spcAft>
                          <a:spcPts val="0"/>
                        </a:spcAft>
                        <a:buClr>
                          <a:schemeClr val="dk1"/>
                        </a:buClr>
                        <a:buSzPts val="1300"/>
                        <a:buFont typeface="Arial"/>
                        <a:buNone/>
                      </a:pPr>
                      <a:r>
                        <a:t/>
                      </a:r>
                      <a:endParaRPr b="0" i="0" sz="1300" u="none">
                        <a:solidFill>
                          <a:schemeClr val="dk1"/>
                        </a:solidFill>
                        <a:latin typeface="Times New Roman"/>
                        <a:ea typeface="Times New Roman"/>
                        <a:cs typeface="Times New Roman"/>
                        <a:sym typeface="Times New Roman"/>
                      </a:endParaRPr>
                    </a:p>
                    <a:p>
                      <a:pPr indent="-342900" lvl="0" marL="342900" marR="0" rtl="0" algn="ctr">
                        <a:lnSpc>
                          <a:spcPct val="100000"/>
                        </a:lnSpc>
                        <a:spcBef>
                          <a:spcPts val="0"/>
                        </a:spcBef>
                        <a:spcAft>
                          <a:spcPts val="0"/>
                        </a:spcAft>
                        <a:buClr>
                          <a:schemeClr val="dk1"/>
                        </a:buClr>
                        <a:buSzPts val="1300"/>
                        <a:buFont typeface="Arial"/>
                        <a:buNone/>
                      </a:pPr>
                      <a:r>
                        <a:t/>
                      </a:r>
                      <a:endParaRPr b="0" i="0" sz="1300" u="none">
                        <a:solidFill>
                          <a:schemeClr val="dk1"/>
                        </a:solidFill>
                        <a:latin typeface="Times New Roman"/>
                        <a:ea typeface="Times New Roman"/>
                        <a:cs typeface="Times New Roman"/>
                        <a:sym typeface="Times New Roman"/>
                      </a:endParaRPr>
                    </a:p>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11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rowSpan="3">
                  <a:txBody>
                    <a:bodyPr/>
                    <a:lstStyle/>
                    <a:p>
                      <a:pPr indent="-342900" lvl="0" marL="342900" marR="0" rtl="0" algn="ctr">
                        <a:lnSpc>
                          <a:spcPct val="100000"/>
                        </a:lnSpc>
                        <a:spcBef>
                          <a:spcPts val="0"/>
                        </a:spcBef>
                        <a:spcAft>
                          <a:spcPts val="0"/>
                        </a:spcAft>
                        <a:buClr>
                          <a:schemeClr val="dk1"/>
                        </a:buClr>
                        <a:buSzPts val="1300"/>
                        <a:buFont typeface="Arial"/>
                        <a:buNone/>
                      </a:pPr>
                      <a:r>
                        <a:t/>
                      </a:r>
                      <a:endParaRPr b="0" i="0" sz="1300" u="none">
                        <a:solidFill>
                          <a:schemeClr val="dk1"/>
                        </a:solidFill>
                        <a:latin typeface="Times New Roman"/>
                        <a:ea typeface="Times New Roman"/>
                        <a:cs typeface="Times New Roman"/>
                        <a:sym typeface="Times New Roman"/>
                      </a:endParaRPr>
                    </a:p>
                    <a:p>
                      <a:pPr indent="-342900" lvl="0" marL="342900" marR="0" rtl="0" algn="ctr">
                        <a:lnSpc>
                          <a:spcPct val="100000"/>
                        </a:lnSpc>
                        <a:spcBef>
                          <a:spcPts val="0"/>
                        </a:spcBef>
                        <a:spcAft>
                          <a:spcPts val="0"/>
                        </a:spcAft>
                        <a:buClr>
                          <a:schemeClr val="dk1"/>
                        </a:buClr>
                        <a:buSzPts val="1300"/>
                        <a:buFont typeface="Arial"/>
                        <a:buNone/>
                      </a:pPr>
                      <a:r>
                        <a:t/>
                      </a:r>
                      <a:endParaRPr b="0" i="0" sz="1300" u="none">
                        <a:solidFill>
                          <a:schemeClr val="dk1"/>
                        </a:solidFill>
                        <a:latin typeface="Times New Roman"/>
                        <a:ea typeface="Times New Roman"/>
                        <a:cs typeface="Times New Roman"/>
                        <a:sym typeface="Times New Roman"/>
                      </a:endParaRPr>
                    </a:p>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Byte thuộc tính của file. Các bit của byte này nếu bằng 1 sẽ có ý nghĩa như sau:</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r>
              <a:tr h="685800">
                <a:tc vMerge="1"/>
                <a:tc vMerge="1"/>
                <a:tc>
                  <a:txBody>
                    <a:bodyPr/>
                    <a:lstStyle/>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Bit 0: file chỉ được đọc; </a:t>
                      </a:r>
                      <a:endParaRPr/>
                    </a:p>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Bit 1: file ẩn; </a:t>
                      </a:r>
                      <a:endParaRPr/>
                    </a:p>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Bit 2: file hệ thống; </a:t>
                      </a:r>
                      <a:endParaRPr/>
                    </a:p>
                  </a:txBody>
                  <a:tcPr marT="45725" marB="45725" marR="91450" marL="91450">
                    <a:lnL cap="flat" cmpd="sng" w="12700">
                      <a:solidFill>
                        <a:srgbClr val="000000"/>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Bit 3: Volume label; </a:t>
                      </a:r>
                      <a:endParaRPr/>
                    </a:p>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Bit 4: thư mục con</a:t>
                      </a:r>
                      <a:endParaRPr/>
                    </a:p>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Bit 5: archive;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Bit 6: thiết bị nhớ khác (dùng cho hệ điều hành); </a:t>
                      </a:r>
                      <a:endParaRPr/>
                    </a:p>
                    <a:p>
                      <a:pPr indent="0" lvl="0" marL="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Bit 7: không sử dụng</a:t>
                      </a:r>
                      <a:endParaRPr/>
                    </a:p>
                  </a:txBody>
                  <a:tcPr marT="45725" marB="45725" marR="91450" marL="91450">
                    <a:lnL cap="flat" cmpd="sng" w="12700">
                      <a:solidFill>
                        <a:schemeClr val="dk1"/>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8925">
                <a:tc vMerge="1"/>
                <a:tc vMerge="1"/>
                <a:tc gridSpan="3">
                  <a:txBody>
                    <a:bodyPr/>
                    <a:lstStyle/>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Byte thuộc tính bằng 0x0F là dấu hiệu của file tên dài.</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r>
              <a:tr h="315900">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12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Dự phòng</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r>
              <a:tr h="317500">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13</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Thời gian tạo file tính theo đơn vị 10ms, giá trị từ 0 đến 199</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r>
              <a:tr h="317500">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14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Thời gian tạo file theo format sau: bit 15-11: giờ (0-23); bit 10-5: phút (0-59); bit 4-0: giây/2 (0-29)</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r>
              <a:tr h="292100">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16</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Ngày tạo file theo format sau. </a:t>
                      </a:r>
                      <a:r>
                        <a:rPr b="0" i="1" lang="en-US" sz="1300" u="none">
                          <a:solidFill>
                            <a:schemeClr val="dk1"/>
                          </a:solidFill>
                          <a:latin typeface="Times New Roman"/>
                          <a:ea typeface="Times New Roman"/>
                          <a:cs typeface="Times New Roman"/>
                          <a:sym typeface="Times New Roman"/>
                        </a:rPr>
                        <a:t>Bit 15-9</a:t>
                      </a:r>
                      <a:r>
                        <a:rPr b="0" i="0" lang="en-US" sz="1300" u="none">
                          <a:solidFill>
                            <a:schemeClr val="dk1"/>
                          </a:solidFill>
                          <a:latin typeface="Times New Roman"/>
                          <a:ea typeface="Times New Roman"/>
                          <a:cs typeface="Times New Roman"/>
                          <a:sym typeface="Times New Roman"/>
                        </a:rPr>
                        <a:t>: năm (0-1980, 127 =2107); </a:t>
                      </a:r>
                      <a:r>
                        <a:rPr b="0" i="1" lang="en-US" sz="1300" u="none">
                          <a:solidFill>
                            <a:schemeClr val="dk1"/>
                          </a:solidFill>
                          <a:latin typeface="Times New Roman"/>
                          <a:ea typeface="Times New Roman"/>
                          <a:cs typeface="Times New Roman"/>
                          <a:sym typeface="Times New Roman"/>
                        </a:rPr>
                        <a:t>bit 8-5</a:t>
                      </a:r>
                      <a:r>
                        <a:rPr b="0" i="0" lang="en-US" sz="1300" u="none">
                          <a:solidFill>
                            <a:schemeClr val="dk1"/>
                          </a:solidFill>
                          <a:latin typeface="Times New Roman"/>
                          <a:ea typeface="Times New Roman"/>
                          <a:cs typeface="Times New Roman"/>
                          <a:sym typeface="Times New Roman"/>
                        </a:rPr>
                        <a:t>: tháng (1-12); </a:t>
                      </a:r>
                      <a:r>
                        <a:rPr b="0" i="1" lang="en-US" sz="1300" u="none">
                          <a:solidFill>
                            <a:schemeClr val="dk1"/>
                          </a:solidFill>
                          <a:latin typeface="Times New Roman"/>
                          <a:ea typeface="Times New Roman"/>
                          <a:cs typeface="Times New Roman"/>
                          <a:sym typeface="Times New Roman"/>
                        </a:rPr>
                        <a:t>bit 4-0</a:t>
                      </a:r>
                      <a:r>
                        <a:rPr b="0" i="0" lang="en-US" sz="1300" u="none">
                          <a:solidFill>
                            <a:schemeClr val="dk1"/>
                          </a:solidFill>
                          <a:latin typeface="Times New Roman"/>
                          <a:ea typeface="Times New Roman"/>
                          <a:cs typeface="Times New Roman"/>
                          <a:sym typeface="Times New Roman"/>
                        </a:rPr>
                        <a:t>: ngày (1-31)</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r>
              <a:tr h="315900">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18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Ngày truy cập cuối, theo format như ngày tạo file</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r>
              <a:tr h="314325">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20</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2 byte cao của số thứ tự cluster đầu tiên của file trong FAT32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r>
              <a:tr h="315900">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22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Thời gian sửa file lần cuối, theo format thời gian tạo file</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r>
              <a:tr h="315900">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24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Ngày sửa file lần cuôi, theo format như ngày tạo file</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r>
              <a:tr h="315900">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26</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2</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Số thứ tự cluster đầu tiên của file trong FAT12/16. </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r>
              <a:tr h="317500">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28</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4</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342900" lvl="0" marL="342900" marR="0" rtl="0" algn="just">
                        <a:lnSpc>
                          <a:spcPct val="100000"/>
                        </a:lnSpc>
                        <a:spcBef>
                          <a:spcPts val="0"/>
                        </a:spcBef>
                        <a:spcAft>
                          <a:spcPts val="0"/>
                        </a:spcAft>
                        <a:buClr>
                          <a:schemeClr val="dk1"/>
                        </a:buClr>
                        <a:buSzPts val="1300"/>
                        <a:buFont typeface="Times New Roman"/>
                        <a:buNone/>
                      </a:pPr>
                      <a:r>
                        <a:rPr b="0" i="0" lang="en-US" sz="1300" u="none">
                          <a:solidFill>
                            <a:schemeClr val="dk1"/>
                          </a:solidFill>
                          <a:latin typeface="Times New Roman"/>
                          <a:ea typeface="Times New Roman"/>
                          <a:cs typeface="Times New Roman"/>
                          <a:sym typeface="Times New Roman"/>
                        </a:rPr>
                        <a:t>Kích thước file tính bằng byte. Bằng 0 với thư mục con</a:t>
                      </a:r>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r>
            </a:tbl>
          </a:graphicData>
        </a:graphic>
      </p:graphicFrame>
      <p:sp>
        <p:nvSpPr>
          <p:cNvPr id="819" name="Google Shape;819;p69"/>
          <p:cNvSpPr txBox="1"/>
          <p:nvPr>
            <p:ph type="title"/>
          </p:nvPr>
        </p:nvSpPr>
        <p:spPr>
          <a:xfrm>
            <a:off x="304800" y="0"/>
            <a:ext cx="8686800" cy="8382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000066"/>
              </a:buClr>
              <a:buSzPts val="2500"/>
              <a:buFont typeface="Times New Roman"/>
              <a:buNone/>
            </a:pPr>
            <a:r>
              <a:rPr b="1" i="0" lang="en-US" sz="2500" u="none">
                <a:solidFill>
                  <a:srgbClr val="000066"/>
                </a:solidFill>
                <a:latin typeface="Times New Roman"/>
                <a:ea typeface="Times New Roman"/>
                <a:cs typeface="Times New Roman"/>
                <a:sym typeface="Times New Roman"/>
              </a:rPr>
              <a:t>IX. HỆ THỐNG FILE FAT</a:t>
            </a:r>
            <a:br>
              <a:rPr b="1" i="0" lang="en-US" sz="2500" u="none">
                <a:solidFill>
                  <a:srgbClr val="000066"/>
                </a:solidFill>
                <a:latin typeface="Times New Roman"/>
                <a:ea typeface="Times New Roman"/>
                <a:cs typeface="Times New Roman"/>
                <a:sym typeface="Times New Roman"/>
              </a:rPr>
            </a:br>
            <a:r>
              <a:rPr b="1" i="0" lang="en-US" sz="2200" u="none">
                <a:solidFill>
                  <a:srgbClr val="000066"/>
                </a:solidFill>
                <a:latin typeface="Times New Roman"/>
                <a:ea typeface="Times New Roman"/>
                <a:cs typeface="Times New Roman"/>
                <a:sym typeface="Times New Roman"/>
              </a:rPr>
              <a:t>THƯ MỤC GỐC (ROOT)</a:t>
            </a:r>
            <a:endParaRPr/>
          </a:p>
        </p:txBody>
      </p:sp>
      <p:sp>
        <p:nvSpPr>
          <p:cNvPr id="820" name="Google Shape;820;p6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70"/>
          <p:cNvSpPr txBox="1"/>
          <p:nvPr>
            <p:ph idx="1" type="body"/>
          </p:nvPr>
        </p:nvSpPr>
        <p:spPr>
          <a:xfrm>
            <a:off x="0" y="1219200"/>
            <a:ext cx="9144000" cy="5410200"/>
          </a:xfrm>
          <a:prstGeom prst="rect">
            <a:avLst/>
          </a:prstGeom>
          <a:noFill/>
          <a:ln>
            <a:noFill/>
          </a:ln>
        </p:spPr>
        <p:txBody>
          <a:bodyPr anchorCtr="0" anchor="t" bIns="45700" lIns="91425" spcFirstLastPara="1" rIns="91425" wrap="square" tIns="45700">
            <a:noAutofit/>
          </a:bodyPr>
          <a:lstStyle/>
          <a:p>
            <a:pPr indent="-609600" lvl="0" marL="609600" marR="0" rtl="0" algn="l">
              <a:lnSpc>
                <a:spcPct val="100000"/>
              </a:lnSpc>
              <a:spcBef>
                <a:spcPts val="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int absread(int drive, int nsects, long lsect, void *buffer)</a:t>
            </a:r>
            <a:endParaRPr/>
          </a:p>
          <a:p>
            <a:pPr indent="-533400" lvl="1" marL="990600" marR="0" rtl="0" algn="l">
              <a:lnSpc>
                <a:spcPct val="100000"/>
              </a:lnSpc>
              <a:spcBef>
                <a:spcPts val="440"/>
              </a:spcBef>
              <a:spcAft>
                <a:spcPts val="0"/>
              </a:spcAft>
              <a:buClr>
                <a:schemeClr val="accent1"/>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drive: ổ đĩa cần đọc, A: 0, B:1, C:2</a:t>
            </a:r>
            <a:endParaRPr/>
          </a:p>
          <a:p>
            <a:pPr indent="-533400" lvl="1" marL="990600" marR="0" rtl="0" algn="l">
              <a:lnSpc>
                <a:spcPct val="100000"/>
              </a:lnSpc>
              <a:spcBef>
                <a:spcPts val="440"/>
              </a:spcBef>
              <a:spcAft>
                <a:spcPts val="0"/>
              </a:spcAft>
              <a:buClr>
                <a:schemeClr val="accent1"/>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nsects: số sector cần đọc</a:t>
            </a:r>
            <a:endParaRPr/>
          </a:p>
          <a:p>
            <a:pPr indent="-533400" lvl="1" marL="990600" marR="0" rtl="0" algn="l">
              <a:lnSpc>
                <a:spcPct val="100000"/>
              </a:lnSpc>
              <a:spcBef>
                <a:spcPts val="440"/>
              </a:spcBef>
              <a:spcAft>
                <a:spcPts val="0"/>
              </a:spcAft>
              <a:buClr>
                <a:schemeClr val="accent1"/>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lsect: vị trí sector bắt đầu đọc</a:t>
            </a:r>
            <a:endParaRPr/>
          </a:p>
          <a:p>
            <a:pPr indent="-533400" lvl="1" marL="990600" marR="0" rtl="0" algn="l">
              <a:lnSpc>
                <a:spcPct val="100000"/>
              </a:lnSpc>
              <a:spcBef>
                <a:spcPts val="440"/>
              </a:spcBef>
              <a:spcAft>
                <a:spcPts val="0"/>
              </a:spcAft>
              <a:buClr>
                <a:schemeClr val="accent1"/>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buffer: vùng nhớ lưu nội dung thông tin cần đọc</a:t>
            </a:r>
            <a:endParaRPr/>
          </a:p>
        </p:txBody>
      </p:sp>
      <p:sp>
        <p:nvSpPr>
          <p:cNvPr id="826" name="Google Shape;826;p70"/>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IX. HỆ THỐNG FILE FAT</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HÀM ĐỌC ĐĨA</a:t>
            </a:r>
            <a:endParaRPr/>
          </a:p>
        </p:txBody>
      </p:sp>
      <p:sp>
        <p:nvSpPr>
          <p:cNvPr id="827" name="Google Shape;827;p7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71"/>
          <p:cNvSpPr txBox="1"/>
          <p:nvPr>
            <p:ph idx="1" type="body"/>
          </p:nvPr>
        </p:nvSpPr>
        <p:spPr>
          <a:xfrm>
            <a:off x="0" y="1219200"/>
            <a:ext cx="9144000" cy="5410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2"/>
              </a:buClr>
              <a:buSzPts val="2400"/>
              <a:buFont typeface="Noto Sans Symbols"/>
              <a:buNone/>
            </a:pPr>
            <a:r>
              <a:rPr b="1" i="0" lang="en-US" sz="2400" u="none">
                <a:solidFill>
                  <a:schemeClr val="dk2"/>
                </a:solidFill>
                <a:latin typeface="Arial"/>
                <a:ea typeface="Arial"/>
                <a:cs typeface="Arial"/>
                <a:sym typeface="Arial"/>
              </a:rPr>
              <a:t>Sinh viên viết chương trình trên C/C++ để thực hiện các nội dung sau:</a:t>
            </a:r>
            <a:endParaRPr/>
          </a:p>
          <a:p>
            <a:pPr indent="-152400" lvl="0" marL="0" marR="0" rtl="0" algn="just">
              <a:lnSpc>
                <a:spcPct val="150000"/>
              </a:lnSpc>
              <a:spcBef>
                <a:spcPts val="480"/>
              </a:spcBef>
              <a:spcAft>
                <a:spcPts val="0"/>
              </a:spcAft>
              <a:buClr>
                <a:schemeClr val="dk2"/>
              </a:buClr>
              <a:buSzPts val="2400"/>
              <a:buFont typeface="Arial"/>
              <a:buAutoNum type="arabicPeriod"/>
            </a:pPr>
            <a:r>
              <a:rPr b="1" i="0" lang="en-US" sz="2400" u="none">
                <a:solidFill>
                  <a:schemeClr val="dk2"/>
                </a:solidFill>
                <a:latin typeface="Arial"/>
                <a:ea typeface="Arial"/>
                <a:cs typeface="Arial"/>
                <a:sym typeface="Arial"/>
              </a:rPr>
              <a:t>Đọc và in</a:t>
            </a:r>
            <a:r>
              <a:rPr b="0" i="0" lang="en-US" sz="2400" u="none">
                <a:solidFill>
                  <a:schemeClr val="dk2"/>
                </a:solidFill>
                <a:latin typeface="Arial"/>
                <a:ea typeface="Arial"/>
                <a:cs typeface="Arial"/>
                <a:sym typeface="Arial"/>
              </a:rPr>
              <a:t> thông tin từ BOOT.</a:t>
            </a:r>
            <a:endParaRPr/>
          </a:p>
          <a:p>
            <a:pPr indent="-152400" lvl="0" marL="0" marR="0" rtl="0" algn="just">
              <a:lnSpc>
                <a:spcPct val="150000"/>
              </a:lnSpc>
              <a:spcBef>
                <a:spcPts val="480"/>
              </a:spcBef>
              <a:spcAft>
                <a:spcPts val="0"/>
              </a:spcAft>
              <a:buClr>
                <a:schemeClr val="dk2"/>
              </a:buClr>
              <a:buSzPts val="2400"/>
              <a:buFont typeface="Arial"/>
              <a:buAutoNum type="arabicPeriod"/>
            </a:pPr>
            <a:r>
              <a:rPr b="1" i="0" lang="en-US" sz="2400" u="none">
                <a:solidFill>
                  <a:schemeClr val="dk2"/>
                </a:solidFill>
                <a:latin typeface="Arial"/>
                <a:ea typeface="Arial"/>
                <a:cs typeface="Arial"/>
                <a:sym typeface="Arial"/>
              </a:rPr>
              <a:t>Đọc, phân tích, hiển thị</a:t>
            </a:r>
            <a:r>
              <a:rPr b="0" i="0" lang="en-US" sz="2400" u="none">
                <a:solidFill>
                  <a:schemeClr val="dk2"/>
                </a:solidFill>
                <a:latin typeface="Arial"/>
                <a:ea typeface="Arial"/>
                <a:cs typeface="Arial"/>
                <a:sym typeface="Arial"/>
              </a:rPr>
              <a:t> nội dung bảng FAT.</a:t>
            </a:r>
            <a:endParaRPr/>
          </a:p>
          <a:p>
            <a:pPr indent="-152400" lvl="0" marL="0" marR="0" rtl="0" algn="just">
              <a:lnSpc>
                <a:spcPct val="150000"/>
              </a:lnSpc>
              <a:spcBef>
                <a:spcPts val="480"/>
              </a:spcBef>
              <a:spcAft>
                <a:spcPts val="0"/>
              </a:spcAft>
              <a:buClr>
                <a:schemeClr val="dk2"/>
              </a:buClr>
              <a:buSzPts val="2400"/>
              <a:buFont typeface="Arial"/>
              <a:buAutoNum type="arabicPeriod"/>
            </a:pPr>
            <a:r>
              <a:rPr b="1" i="0" lang="en-US" sz="2400" u="none">
                <a:solidFill>
                  <a:schemeClr val="dk2"/>
                </a:solidFill>
                <a:latin typeface="Arial"/>
                <a:ea typeface="Arial"/>
                <a:cs typeface="Arial"/>
                <a:sym typeface="Arial"/>
              </a:rPr>
              <a:t>Đọc, phân tích, hiển thị</a:t>
            </a:r>
            <a:r>
              <a:rPr b="0" i="0" lang="en-US" sz="2400" u="none">
                <a:solidFill>
                  <a:schemeClr val="dk2"/>
                </a:solidFill>
                <a:latin typeface="Arial"/>
                <a:ea typeface="Arial"/>
                <a:cs typeface="Arial"/>
                <a:sym typeface="Arial"/>
              </a:rPr>
              <a:t> ROOT.</a:t>
            </a:r>
            <a:endParaRPr/>
          </a:p>
          <a:p>
            <a:pPr indent="-152400" lvl="0" marL="0" marR="0" rtl="0" algn="just">
              <a:lnSpc>
                <a:spcPct val="150000"/>
              </a:lnSpc>
              <a:spcBef>
                <a:spcPts val="480"/>
              </a:spcBef>
              <a:spcAft>
                <a:spcPts val="0"/>
              </a:spcAft>
              <a:buClr>
                <a:schemeClr val="dk2"/>
              </a:buClr>
              <a:buSzPts val="2400"/>
              <a:buFont typeface="Arial"/>
              <a:buAutoNum type="arabicPeriod"/>
            </a:pPr>
            <a:r>
              <a:rPr b="0" i="0" lang="en-US" sz="2400" u="none">
                <a:solidFill>
                  <a:schemeClr val="dk2"/>
                </a:solidFill>
                <a:latin typeface="Arial"/>
                <a:ea typeface="Arial"/>
                <a:cs typeface="Arial"/>
                <a:sym typeface="Arial"/>
              </a:rPr>
              <a:t>Duyệt số thứ tự hoặc nội dung các </a:t>
            </a:r>
            <a:r>
              <a:rPr b="1" i="0" lang="en-US" sz="2400" u="none">
                <a:solidFill>
                  <a:schemeClr val="dk2"/>
                </a:solidFill>
                <a:latin typeface="Arial"/>
                <a:ea typeface="Arial"/>
                <a:cs typeface="Arial"/>
                <a:sym typeface="Arial"/>
              </a:rPr>
              <a:t>cluster</a:t>
            </a:r>
            <a:r>
              <a:rPr b="0" i="0" lang="en-US" sz="2400" u="none">
                <a:solidFill>
                  <a:schemeClr val="dk2"/>
                </a:solidFill>
                <a:latin typeface="Arial"/>
                <a:ea typeface="Arial"/>
                <a:cs typeface="Arial"/>
                <a:sym typeface="Arial"/>
              </a:rPr>
              <a:t> của file cho trước.</a:t>
            </a:r>
            <a:endParaRPr/>
          </a:p>
        </p:txBody>
      </p:sp>
      <p:sp>
        <p:nvSpPr>
          <p:cNvPr id="834" name="Google Shape;834;p71"/>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IX. HỆ THỐNG FILE FAT</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BÀI TẬP THỰC HÀNH </a:t>
            </a:r>
            <a:endParaRPr/>
          </a:p>
        </p:txBody>
      </p:sp>
      <p:sp>
        <p:nvSpPr>
          <p:cNvPr id="835" name="Google Shape;835;p7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
                                            <p:txEl>
                                              <p:pRg end="0" st="0"/>
                                            </p:txEl>
                                          </p:spTgt>
                                        </p:tgtEl>
                                        <p:attrNameLst>
                                          <p:attrName>style.visibility</p:attrName>
                                        </p:attrNameLst>
                                      </p:cBhvr>
                                      <p:to>
                                        <p:strVal val="visible"/>
                                      </p:to>
                                    </p:set>
                                    <p:animEffect filter="fade" transition="in">
                                      <p:cBhvr>
                                        <p:cTn dur="500"/>
                                        <p:tgtEl>
                                          <p:spTgt spid="8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
                                            <p:txEl>
                                              <p:pRg end="1" st="1"/>
                                            </p:txEl>
                                          </p:spTgt>
                                        </p:tgtEl>
                                        <p:attrNameLst>
                                          <p:attrName>style.visibility</p:attrName>
                                        </p:attrNameLst>
                                      </p:cBhvr>
                                      <p:to>
                                        <p:strVal val="visible"/>
                                      </p:to>
                                    </p:set>
                                    <p:animEffect filter="fade" transition="in">
                                      <p:cBhvr>
                                        <p:cTn dur="500"/>
                                        <p:tgtEl>
                                          <p:spTgt spid="8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
                                            <p:txEl>
                                              <p:pRg end="2" st="2"/>
                                            </p:txEl>
                                          </p:spTgt>
                                        </p:tgtEl>
                                        <p:attrNameLst>
                                          <p:attrName>style.visibility</p:attrName>
                                        </p:attrNameLst>
                                      </p:cBhvr>
                                      <p:to>
                                        <p:strVal val="visible"/>
                                      </p:to>
                                    </p:set>
                                    <p:animEffect filter="fade" transition="in">
                                      <p:cBhvr>
                                        <p:cTn dur="500"/>
                                        <p:tgtEl>
                                          <p:spTgt spid="8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
                                            <p:txEl>
                                              <p:pRg end="3" st="3"/>
                                            </p:txEl>
                                          </p:spTgt>
                                        </p:tgtEl>
                                        <p:attrNameLst>
                                          <p:attrName>style.visibility</p:attrName>
                                        </p:attrNameLst>
                                      </p:cBhvr>
                                      <p:to>
                                        <p:strVal val="visible"/>
                                      </p:to>
                                    </p:set>
                                    <p:animEffect filter="fade" transition="in">
                                      <p:cBhvr>
                                        <p:cTn dur="500"/>
                                        <p:tgtEl>
                                          <p:spTgt spid="8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
                                            <p:txEl>
                                              <p:pRg end="4" st="4"/>
                                            </p:txEl>
                                          </p:spTgt>
                                        </p:tgtEl>
                                        <p:attrNameLst>
                                          <p:attrName>style.visibility</p:attrName>
                                        </p:attrNameLst>
                                      </p:cBhvr>
                                      <p:to>
                                        <p:strVal val="visible"/>
                                      </p:to>
                                    </p:set>
                                    <p:animEffect filter="fade" transition="in">
                                      <p:cBhvr>
                                        <p:cTn dur="500"/>
                                        <p:tgtEl>
                                          <p:spTgt spid="83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0" name="Shape 840"/>
        <p:cNvGrpSpPr/>
        <p:nvPr/>
      </p:nvGrpSpPr>
      <p:grpSpPr>
        <a:xfrm>
          <a:off x="0" y="0"/>
          <a:ext cx="0" cy="0"/>
          <a:chOff x="0" y="0"/>
          <a:chExt cx="0" cy="0"/>
        </a:xfrm>
      </p:grpSpPr>
      <p:sp>
        <p:nvSpPr>
          <p:cNvPr id="841" name="Google Shape;841;p72"/>
          <p:cNvSpPr txBox="1"/>
          <p:nvPr>
            <p:ph idx="1" type="body"/>
          </p:nvPr>
        </p:nvSpPr>
        <p:spPr>
          <a:xfrm>
            <a:off x="0" y="1219200"/>
            <a:ext cx="9144000" cy="5410200"/>
          </a:xfrm>
          <a:prstGeom prst="rect">
            <a:avLst/>
          </a:prstGeom>
          <a:noFill/>
          <a:ln>
            <a:noFill/>
          </a:ln>
        </p:spPr>
        <p:txBody>
          <a:bodyPr anchorCtr="0" anchor="t" bIns="45700" lIns="91425" spcFirstLastPara="1" rIns="91425" wrap="square" tIns="45700">
            <a:noAutofit/>
          </a:bodyPr>
          <a:lstStyle/>
          <a:p>
            <a:pPr indent="-609600" lvl="0" marL="609600" marR="0" rtl="0" algn="l">
              <a:lnSpc>
                <a:spcPct val="100000"/>
              </a:lnSpc>
              <a:spcBef>
                <a:spcPts val="0"/>
              </a:spcBef>
              <a:spcAft>
                <a:spcPts val="0"/>
              </a:spcAft>
              <a:buClr>
                <a:schemeClr val="dk2"/>
              </a:buClr>
              <a:buSzPts val="2400"/>
              <a:buFont typeface="Noto Sans Symbols"/>
              <a:buAutoNum type="arabicPeriod"/>
            </a:pPr>
            <a:r>
              <a:rPr b="0" i="0" lang="en-US" sz="2400" u="none">
                <a:solidFill>
                  <a:schemeClr val="dk2"/>
                </a:solidFill>
                <a:latin typeface="Times New Roman"/>
                <a:ea typeface="Times New Roman"/>
                <a:cs typeface="Times New Roman"/>
                <a:sym typeface="Times New Roman"/>
              </a:rPr>
              <a:t>Viết chương trình để hiển thị thông tin boot sector</a:t>
            </a:r>
            <a:endParaRPr/>
          </a:p>
          <a:p>
            <a:pPr indent="-609600" lvl="0" marL="609600" marR="0" rtl="0" algn="l">
              <a:lnSpc>
                <a:spcPct val="100000"/>
              </a:lnSpc>
              <a:spcBef>
                <a:spcPts val="480"/>
              </a:spcBef>
              <a:spcAft>
                <a:spcPts val="0"/>
              </a:spcAft>
              <a:buClr>
                <a:schemeClr val="dk2"/>
              </a:buClr>
              <a:buSzPts val="2400"/>
              <a:buFont typeface="Noto Sans Symbols"/>
              <a:buAutoNum type="arabicPeriod"/>
            </a:pPr>
            <a:r>
              <a:rPr b="0" i="0" lang="en-US" sz="2400" u="none">
                <a:solidFill>
                  <a:schemeClr val="dk2"/>
                </a:solidFill>
                <a:latin typeface="Times New Roman"/>
                <a:ea typeface="Times New Roman"/>
                <a:cs typeface="Times New Roman"/>
                <a:sym typeface="Times New Roman"/>
              </a:rPr>
              <a:t>Viết chương trình đọc FAT và in nội dung 100 ô fat đầu tiên lên màn hình</a:t>
            </a:r>
            <a:endParaRPr/>
          </a:p>
          <a:p>
            <a:pPr indent="-609600" lvl="0" marL="609600" marR="0" rtl="0" algn="l">
              <a:lnSpc>
                <a:spcPct val="100000"/>
              </a:lnSpc>
              <a:spcBef>
                <a:spcPts val="480"/>
              </a:spcBef>
              <a:spcAft>
                <a:spcPts val="0"/>
              </a:spcAft>
              <a:buClr>
                <a:schemeClr val="dk2"/>
              </a:buClr>
              <a:buSzPts val="2400"/>
              <a:buFont typeface="Noto Sans Symbols"/>
              <a:buAutoNum type="arabicPeriod"/>
            </a:pPr>
            <a:r>
              <a:rPr b="0" i="0" lang="en-US" sz="2400" u="none">
                <a:solidFill>
                  <a:schemeClr val="dk2"/>
                </a:solidFill>
                <a:latin typeface="Times New Roman"/>
                <a:ea typeface="Times New Roman"/>
                <a:cs typeface="Times New Roman"/>
                <a:sym typeface="Times New Roman"/>
              </a:rPr>
              <a:t>Viết chương trình đọc ROOT và in nội dung giống lệnh DIR</a:t>
            </a:r>
            <a:endParaRPr/>
          </a:p>
          <a:p>
            <a:pPr indent="-609600" lvl="0" marL="609600" marR="0" rtl="0" algn="l">
              <a:lnSpc>
                <a:spcPct val="100000"/>
              </a:lnSpc>
              <a:spcBef>
                <a:spcPts val="480"/>
              </a:spcBef>
              <a:spcAft>
                <a:spcPts val="0"/>
              </a:spcAft>
              <a:buClr>
                <a:schemeClr val="dk2"/>
              </a:buClr>
              <a:buSzPts val="2400"/>
              <a:buFont typeface="Noto Sans Symbols"/>
              <a:buAutoNum type="arabicPeriod"/>
            </a:pPr>
            <a:r>
              <a:rPr b="0" i="0" lang="en-US" sz="2400" u="none">
                <a:solidFill>
                  <a:schemeClr val="dk2"/>
                </a:solidFill>
                <a:latin typeface="Times New Roman"/>
                <a:ea typeface="Times New Roman"/>
                <a:cs typeface="Times New Roman"/>
                <a:sym typeface="Times New Roman"/>
              </a:rPr>
              <a:t>Cho 1 tên file thuộc ROOT. Viết chương trình tìm tất cả các cluster của file đó</a:t>
            </a:r>
            <a:endParaRPr/>
          </a:p>
          <a:p>
            <a:pPr indent="-609600" lvl="0" marL="609600" marR="0" rtl="0" algn="l">
              <a:lnSpc>
                <a:spcPct val="100000"/>
              </a:lnSpc>
              <a:spcBef>
                <a:spcPts val="480"/>
              </a:spcBef>
              <a:spcAft>
                <a:spcPts val="0"/>
              </a:spcAft>
              <a:buClr>
                <a:schemeClr val="dk2"/>
              </a:buClr>
              <a:buSzPts val="2400"/>
              <a:buFont typeface="Noto Sans Symbols"/>
              <a:buAutoNum type="arabicPeriod"/>
            </a:pPr>
            <a:r>
              <a:rPr b="0" i="0" lang="en-US" sz="2400" u="none">
                <a:solidFill>
                  <a:schemeClr val="dk2"/>
                </a:solidFill>
                <a:latin typeface="Times New Roman"/>
                <a:ea typeface="Times New Roman"/>
                <a:cs typeface="Times New Roman"/>
                <a:sym typeface="Times New Roman"/>
              </a:rPr>
              <a:t>Viết chương trình đếm số cluster trống trong 100 cluster đầu tiên của ổ đĩa</a:t>
            </a:r>
            <a:endParaRPr/>
          </a:p>
        </p:txBody>
      </p:sp>
      <p:sp>
        <p:nvSpPr>
          <p:cNvPr id="842" name="Google Shape;842;p72"/>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IX. HỆ THỐNG FILE FAT</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BÀI TẬP THỰC HÀNH </a:t>
            </a:r>
            <a:endParaRPr/>
          </a:p>
        </p:txBody>
      </p:sp>
      <p:sp>
        <p:nvSpPr>
          <p:cNvPr id="843" name="Google Shape;843;p7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1">
                                            <p:txEl>
                                              <p:pRg end="0" st="0"/>
                                            </p:txEl>
                                          </p:spTgt>
                                        </p:tgtEl>
                                        <p:attrNameLst>
                                          <p:attrName>style.visibility</p:attrName>
                                        </p:attrNameLst>
                                      </p:cBhvr>
                                      <p:to>
                                        <p:strVal val="visible"/>
                                      </p:to>
                                    </p:set>
                                    <p:animEffect filter="fade" transition="in">
                                      <p:cBhvr>
                                        <p:cTn dur="500"/>
                                        <p:tgtEl>
                                          <p:spTgt spid="8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1">
                                            <p:txEl>
                                              <p:pRg end="1" st="1"/>
                                            </p:txEl>
                                          </p:spTgt>
                                        </p:tgtEl>
                                        <p:attrNameLst>
                                          <p:attrName>style.visibility</p:attrName>
                                        </p:attrNameLst>
                                      </p:cBhvr>
                                      <p:to>
                                        <p:strVal val="visible"/>
                                      </p:to>
                                    </p:set>
                                    <p:animEffect filter="fade" transition="in">
                                      <p:cBhvr>
                                        <p:cTn dur="500"/>
                                        <p:tgtEl>
                                          <p:spTgt spid="8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1">
                                            <p:txEl>
                                              <p:pRg end="2" st="2"/>
                                            </p:txEl>
                                          </p:spTgt>
                                        </p:tgtEl>
                                        <p:attrNameLst>
                                          <p:attrName>style.visibility</p:attrName>
                                        </p:attrNameLst>
                                      </p:cBhvr>
                                      <p:to>
                                        <p:strVal val="visible"/>
                                      </p:to>
                                    </p:set>
                                    <p:animEffect filter="fade" transition="in">
                                      <p:cBhvr>
                                        <p:cTn dur="500"/>
                                        <p:tgtEl>
                                          <p:spTgt spid="8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1">
                                            <p:txEl>
                                              <p:pRg end="3" st="3"/>
                                            </p:txEl>
                                          </p:spTgt>
                                        </p:tgtEl>
                                        <p:attrNameLst>
                                          <p:attrName>style.visibility</p:attrName>
                                        </p:attrNameLst>
                                      </p:cBhvr>
                                      <p:to>
                                        <p:strVal val="visible"/>
                                      </p:to>
                                    </p:set>
                                    <p:animEffect filter="fade" transition="in">
                                      <p:cBhvr>
                                        <p:cTn dur="500"/>
                                        <p:tgtEl>
                                          <p:spTgt spid="8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1">
                                            <p:txEl>
                                              <p:pRg end="4" st="4"/>
                                            </p:txEl>
                                          </p:spTgt>
                                        </p:tgtEl>
                                        <p:attrNameLst>
                                          <p:attrName>style.visibility</p:attrName>
                                        </p:attrNameLst>
                                      </p:cBhvr>
                                      <p:to>
                                        <p:strVal val="visible"/>
                                      </p:to>
                                    </p:set>
                                    <p:animEffect filter="fade" transition="in">
                                      <p:cBhvr>
                                        <p:cTn dur="500"/>
                                        <p:tgtEl>
                                          <p:spTgt spid="84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7" name="Shape 847"/>
        <p:cNvGrpSpPr/>
        <p:nvPr/>
      </p:nvGrpSpPr>
      <p:grpSpPr>
        <a:xfrm>
          <a:off x="0" y="0"/>
          <a:ext cx="0" cy="0"/>
          <a:chOff x="0" y="0"/>
          <a:chExt cx="0" cy="0"/>
        </a:xfrm>
      </p:grpSpPr>
      <p:sp>
        <p:nvSpPr>
          <p:cNvPr id="848" name="Google Shape;848;p73"/>
          <p:cNvSpPr txBox="1"/>
          <p:nvPr>
            <p:ph idx="1" type="body"/>
          </p:nvPr>
        </p:nvSpPr>
        <p:spPr>
          <a:xfrm>
            <a:off x="0" y="1219200"/>
            <a:ext cx="9144000" cy="541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Cho 1 tên file thuộc ROOT. Viết chương trình tìm tất cả các cluster của file đó</a:t>
            </a:r>
            <a:endParaRPr/>
          </a:p>
          <a:p>
            <a:pPr indent="-152400" lvl="0" marL="0" marR="0" rtl="0" algn="l">
              <a:lnSpc>
                <a:spcPct val="100000"/>
              </a:lnSpc>
              <a:spcBef>
                <a:spcPts val="480"/>
              </a:spcBef>
              <a:spcAft>
                <a:spcPts val="0"/>
              </a:spcAft>
              <a:buClr>
                <a:schemeClr val="dk2"/>
              </a:buClr>
              <a:buSzPts val="2400"/>
              <a:buFont typeface="Noto Sans Symbols"/>
              <a:buAutoNum type="arabicPeriod"/>
            </a:pPr>
            <a:r>
              <a:rPr b="0" i="0" lang="en-US" sz="2400" u="none">
                <a:solidFill>
                  <a:schemeClr val="dk2"/>
                </a:solidFill>
                <a:latin typeface="Times New Roman"/>
                <a:ea typeface="Times New Roman"/>
                <a:cs typeface="Times New Roman"/>
                <a:sym typeface="Times New Roman"/>
              </a:rPr>
              <a:t>Đọc Boot sector: lưu vào  bs</a:t>
            </a:r>
            <a:endParaRPr/>
          </a:p>
          <a:p>
            <a:pPr indent="-152400" lvl="0" marL="0" marR="0" rtl="0" algn="l">
              <a:lnSpc>
                <a:spcPct val="100000"/>
              </a:lnSpc>
              <a:spcBef>
                <a:spcPts val="480"/>
              </a:spcBef>
              <a:spcAft>
                <a:spcPts val="0"/>
              </a:spcAft>
              <a:buClr>
                <a:schemeClr val="dk2"/>
              </a:buClr>
              <a:buSzPts val="2400"/>
              <a:buFont typeface="Noto Sans Symbols"/>
              <a:buAutoNum type="arabicPeriod"/>
            </a:pPr>
            <a:r>
              <a:rPr b="0" i="0" lang="en-US" sz="2400" u="none">
                <a:solidFill>
                  <a:schemeClr val="dk2"/>
                </a:solidFill>
                <a:latin typeface="Times New Roman"/>
                <a:ea typeface="Times New Roman"/>
                <a:cs typeface="Times New Roman"/>
                <a:sym typeface="Times New Roman"/>
              </a:rPr>
              <a:t>Đọc ROOT: lưu trong ROOT</a:t>
            </a:r>
            <a:endParaRPr/>
          </a:p>
          <a:p>
            <a:pPr indent="-152400" lvl="0" marL="0" marR="0" rtl="0" algn="l">
              <a:lnSpc>
                <a:spcPct val="100000"/>
              </a:lnSpc>
              <a:spcBef>
                <a:spcPts val="480"/>
              </a:spcBef>
              <a:spcAft>
                <a:spcPts val="0"/>
              </a:spcAft>
              <a:buClr>
                <a:schemeClr val="dk2"/>
              </a:buClr>
              <a:buSzPts val="2400"/>
              <a:buFont typeface="Noto Sans Symbols"/>
              <a:buAutoNum type="arabicPeriod"/>
            </a:pPr>
            <a:r>
              <a:rPr b="0" i="0" lang="en-US" sz="2400" u="none">
                <a:solidFill>
                  <a:schemeClr val="dk2"/>
                </a:solidFill>
                <a:latin typeface="Times New Roman"/>
                <a:ea typeface="Times New Roman"/>
                <a:cs typeface="Times New Roman"/>
                <a:sym typeface="Times New Roman"/>
              </a:rPr>
              <a:t>Đọc bảng FAT: lưu trong mảng FAT</a:t>
            </a:r>
            <a:endParaRPr/>
          </a:p>
          <a:p>
            <a:pPr indent="-152400" lvl="0" marL="0" marR="0" rtl="0" algn="l">
              <a:lnSpc>
                <a:spcPct val="100000"/>
              </a:lnSpc>
              <a:spcBef>
                <a:spcPts val="480"/>
              </a:spcBef>
              <a:spcAft>
                <a:spcPts val="0"/>
              </a:spcAft>
              <a:buClr>
                <a:schemeClr val="dk2"/>
              </a:buClr>
              <a:buSzPts val="2400"/>
              <a:buFont typeface="Noto Sans Symbols"/>
              <a:buAutoNum type="arabicPeriod"/>
            </a:pPr>
            <a:r>
              <a:rPr b="0" i="0" lang="en-US" sz="2400" u="none">
                <a:solidFill>
                  <a:schemeClr val="dk2"/>
                </a:solidFill>
                <a:latin typeface="Times New Roman"/>
                <a:ea typeface="Times New Roman"/>
                <a:cs typeface="Times New Roman"/>
                <a:sym typeface="Times New Roman"/>
              </a:rPr>
              <a:t>Giả sử tên file đưa vào lưu trong chuỗi tenfile;</a:t>
            </a:r>
            <a:endParaRPr/>
          </a:p>
          <a:p>
            <a:pPr indent="-152400" lvl="0" marL="0" marR="0" rtl="0" algn="l">
              <a:lnSpc>
                <a:spcPct val="100000"/>
              </a:lnSpc>
              <a:spcBef>
                <a:spcPts val="480"/>
              </a:spcBef>
              <a:spcAft>
                <a:spcPts val="0"/>
              </a:spcAft>
              <a:buClr>
                <a:schemeClr val="dk2"/>
              </a:buClr>
              <a:buSzPts val="2400"/>
              <a:buFont typeface="Noto Sans Symbols"/>
              <a:buAutoNum type="arabicPeriod"/>
            </a:pPr>
            <a:r>
              <a:rPr b="0" i="0" lang="en-US" sz="2400" u="none">
                <a:solidFill>
                  <a:schemeClr val="dk2"/>
                </a:solidFill>
                <a:latin typeface="Times New Roman"/>
                <a:ea typeface="Times New Roman"/>
                <a:cs typeface="Times New Roman"/>
                <a:sym typeface="Times New Roman"/>
              </a:rPr>
              <a:t>Kiểm tra xem file “tenfile” có nằm trong thư mục gốc???</a:t>
            </a:r>
            <a:endParaRPr/>
          </a:p>
          <a:p>
            <a:pPr indent="-609600" lvl="1" marL="1009650" marR="0" rtl="0" algn="l">
              <a:lnSpc>
                <a:spcPct val="100000"/>
              </a:lnSpc>
              <a:spcBef>
                <a:spcPts val="440"/>
              </a:spcBef>
              <a:spcAft>
                <a:spcPts val="0"/>
              </a:spcAft>
              <a:buClr>
                <a:schemeClr val="accent1"/>
              </a:buClr>
              <a:buSzPts val="2200"/>
              <a:buFont typeface="Noto Sans Symbols"/>
              <a:buAutoNum type="arabicPeriod"/>
            </a:pPr>
            <a:r>
              <a:rPr b="0" i="0" lang="en-US" sz="2200" u="none" cap="none" strike="noStrike">
                <a:solidFill>
                  <a:schemeClr val="dk2"/>
                </a:solidFill>
                <a:latin typeface="Times New Roman"/>
                <a:ea typeface="Times New Roman"/>
                <a:cs typeface="Times New Roman"/>
                <a:sym typeface="Times New Roman"/>
              </a:rPr>
              <a:t>- duyệt lần lượt các khoản mục (i từ 0 tới bs-&gt;root_entries) xem có khoản mục nào mà ROOT[i]-&gt;filename trùng với “tenfile” nhập vào hay không??</a:t>
            </a:r>
            <a:endParaRPr/>
          </a:p>
          <a:p>
            <a:pPr indent="-609600" lvl="1" marL="1009650" marR="0" rtl="0" algn="l">
              <a:lnSpc>
                <a:spcPct val="100000"/>
              </a:lnSpc>
              <a:spcBef>
                <a:spcPts val="440"/>
              </a:spcBef>
              <a:spcAft>
                <a:spcPts val="0"/>
              </a:spcAft>
              <a:buClr>
                <a:schemeClr val="accent1"/>
              </a:buClr>
              <a:buSzPts val="2200"/>
              <a:buFont typeface="Noto Sans Symbols"/>
              <a:buAutoNum type="arabicPeriod"/>
            </a:pPr>
            <a:r>
              <a:rPr b="0" i="0" lang="en-US" sz="2200" u="none" cap="none" strike="noStrike">
                <a:solidFill>
                  <a:schemeClr val="dk2"/>
                </a:solidFill>
                <a:latin typeface="Times New Roman"/>
                <a:ea typeface="Times New Roman"/>
                <a:cs typeface="Times New Roman"/>
                <a:sym typeface="Times New Roman"/>
              </a:rPr>
              <a:t>Giả sử ROOT[i]-&gt;filename ==“tenfile” =&gt; khoản mục i trong thư mục gốc quản lý “tenfile” đang xét</a:t>
            </a:r>
            <a:endParaRPr/>
          </a:p>
          <a:p>
            <a:pPr indent="-203200" lvl="0" marL="342900" marR="0" rtl="0" algn="l">
              <a:spcBef>
                <a:spcPts val="440"/>
              </a:spcBef>
              <a:spcAft>
                <a:spcPts val="0"/>
              </a:spcAft>
              <a:buClr>
                <a:schemeClr val="dk2"/>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p:txBody>
      </p:sp>
      <p:sp>
        <p:nvSpPr>
          <p:cNvPr id="849" name="Google Shape;849;p73"/>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IX. HỆ THỐNG FILE FAT</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BÀI TẬP THỰC HÀNH </a:t>
            </a:r>
            <a:endParaRPr/>
          </a:p>
        </p:txBody>
      </p:sp>
      <p:sp>
        <p:nvSpPr>
          <p:cNvPr id="850" name="Google Shape;850;p7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8">
                                            <p:txEl>
                                              <p:pRg end="0" st="0"/>
                                            </p:txEl>
                                          </p:spTgt>
                                        </p:tgtEl>
                                        <p:attrNameLst>
                                          <p:attrName>style.visibility</p:attrName>
                                        </p:attrNameLst>
                                      </p:cBhvr>
                                      <p:to>
                                        <p:strVal val="visible"/>
                                      </p:to>
                                    </p:set>
                                    <p:animEffect filter="fade" transition="in">
                                      <p:cBhvr>
                                        <p:cTn dur="500"/>
                                        <p:tgtEl>
                                          <p:spTgt spid="84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8">
                                            <p:txEl>
                                              <p:pRg end="1" st="1"/>
                                            </p:txEl>
                                          </p:spTgt>
                                        </p:tgtEl>
                                        <p:attrNameLst>
                                          <p:attrName>style.visibility</p:attrName>
                                        </p:attrNameLst>
                                      </p:cBhvr>
                                      <p:to>
                                        <p:strVal val="visible"/>
                                      </p:to>
                                    </p:set>
                                    <p:animEffect filter="fade" transition="in">
                                      <p:cBhvr>
                                        <p:cTn dur="500"/>
                                        <p:tgtEl>
                                          <p:spTgt spid="84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8">
                                            <p:txEl>
                                              <p:pRg end="2" st="2"/>
                                            </p:txEl>
                                          </p:spTgt>
                                        </p:tgtEl>
                                        <p:attrNameLst>
                                          <p:attrName>style.visibility</p:attrName>
                                        </p:attrNameLst>
                                      </p:cBhvr>
                                      <p:to>
                                        <p:strVal val="visible"/>
                                      </p:to>
                                    </p:set>
                                    <p:animEffect filter="fade" transition="in">
                                      <p:cBhvr>
                                        <p:cTn dur="500"/>
                                        <p:tgtEl>
                                          <p:spTgt spid="84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8">
                                            <p:txEl>
                                              <p:pRg end="3" st="3"/>
                                            </p:txEl>
                                          </p:spTgt>
                                        </p:tgtEl>
                                        <p:attrNameLst>
                                          <p:attrName>style.visibility</p:attrName>
                                        </p:attrNameLst>
                                      </p:cBhvr>
                                      <p:to>
                                        <p:strVal val="visible"/>
                                      </p:to>
                                    </p:set>
                                    <p:animEffect filter="fade" transition="in">
                                      <p:cBhvr>
                                        <p:cTn dur="500"/>
                                        <p:tgtEl>
                                          <p:spTgt spid="84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8">
                                            <p:txEl>
                                              <p:pRg end="4" st="4"/>
                                            </p:txEl>
                                          </p:spTgt>
                                        </p:tgtEl>
                                        <p:attrNameLst>
                                          <p:attrName>style.visibility</p:attrName>
                                        </p:attrNameLst>
                                      </p:cBhvr>
                                      <p:to>
                                        <p:strVal val="visible"/>
                                      </p:to>
                                    </p:set>
                                    <p:animEffect filter="fade" transition="in">
                                      <p:cBhvr>
                                        <p:cTn dur="500"/>
                                        <p:tgtEl>
                                          <p:spTgt spid="84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8">
                                            <p:txEl>
                                              <p:pRg end="5" st="5"/>
                                            </p:txEl>
                                          </p:spTgt>
                                        </p:tgtEl>
                                        <p:attrNameLst>
                                          <p:attrName>style.visibility</p:attrName>
                                        </p:attrNameLst>
                                      </p:cBhvr>
                                      <p:to>
                                        <p:strVal val="visible"/>
                                      </p:to>
                                    </p:set>
                                    <p:animEffect filter="fade" transition="in">
                                      <p:cBhvr>
                                        <p:cTn dur="500"/>
                                        <p:tgtEl>
                                          <p:spTgt spid="84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8">
                                            <p:txEl>
                                              <p:pRg end="6" st="6"/>
                                            </p:txEl>
                                          </p:spTgt>
                                        </p:tgtEl>
                                        <p:attrNameLst>
                                          <p:attrName>style.visibility</p:attrName>
                                        </p:attrNameLst>
                                      </p:cBhvr>
                                      <p:to>
                                        <p:strVal val="visible"/>
                                      </p:to>
                                    </p:set>
                                    <p:animEffect filter="fade" transition="in">
                                      <p:cBhvr>
                                        <p:cTn dur="500"/>
                                        <p:tgtEl>
                                          <p:spTgt spid="84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8">
                                            <p:txEl>
                                              <p:pRg end="7" st="7"/>
                                            </p:txEl>
                                          </p:spTgt>
                                        </p:tgtEl>
                                        <p:attrNameLst>
                                          <p:attrName>style.visibility</p:attrName>
                                        </p:attrNameLst>
                                      </p:cBhvr>
                                      <p:to>
                                        <p:strVal val="visible"/>
                                      </p:to>
                                    </p:set>
                                    <p:animEffect filter="fade" transition="in">
                                      <p:cBhvr>
                                        <p:cTn dur="500"/>
                                        <p:tgtEl>
                                          <p:spTgt spid="84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8">
                                            <p:txEl>
                                              <p:pRg end="8" st="8"/>
                                            </p:txEl>
                                          </p:spTgt>
                                        </p:tgtEl>
                                        <p:attrNameLst>
                                          <p:attrName>style.visibility</p:attrName>
                                        </p:attrNameLst>
                                      </p:cBhvr>
                                      <p:to>
                                        <p:strVal val="visible"/>
                                      </p:to>
                                    </p:set>
                                    <p:animEffect filter="fade" transition="in">
                                      <p:cBhvr>
                                        <p:cTn dur="500"/>
                                        <p:tgtEl>
                                          <p:spTgt spid="848">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4" name="Shape 854"/>
        <p:cNvGrpSpPr/>
        <p:nvPr/>
      </p:nvGrpSpPr>
      <p:grpSpPr>
        <a:xfrm>
          <a:off x="0" y="0"/>
          <a:ext cx="0" cy="0"/>
          <a:chOff x="0" y="0"/>
          <a:chExt cx="0" cy="0"/>
        </a:xfrm>
      </p:grpSpPr>
      <p:sp>
        <p:nvSpPr>
          <p:cNvPr id="855" name="Google Shape;855;p74"/>
          <p:cNvSpPr txBox="1"/>
          <p:nvPr>
            <p:ph idx="1" type="body"/>
          </p:nvPr>
        </p:nvSpPr>
        <p:spPr>
          <a:xfrm>
            <a:off x="0" y="1219200"/>
            <a:ext cx="9144000" cy="541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Viết chương trình đếm số cluster trống của ổ đĩa</a:t>
            </a:r>
            <a:endParaRPr/>
          </a:p>
          <a:p>
            <a:pPr indent="-152400" lvl="0" marL="0" marR="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đọc boot sector   absread (2, 1, 0, bs);</a:t>
            </a:r>
            <a:endParaRPr/>
          </a:p>
          <a:p>
            <a:pPr indent="-152400" lvl="0" marL="0" marR="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Đoc FAT            absread(2,  bs-&gt;sector_per_FAT, bs-&gt;reserverd_sector, FAT);</a:t>
            </a:r>
            <a:endParaRPr/>
          </a:p>
          <a:p>
            <a:pPr indent="-152400" lvl="0" marL="0" marR="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Int dem=0;</a:t>
            </a:r>
            <a:endParaRPr/>
          </a:p>
          <a:p>
            <a:pPr indent="-152400" lvl="0" marL="0" marR="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For (int I =2; i&lt;(bs-&gt;sector_per_FAT * bs-&gt;bytes_per_sector)/2; i++)</a:t>
            </a:r>
            <a:endParaRPr/>
          </a:p>
          <a:p>
            <a:pPr indent="-152400" lvl="0" marL="0" marR="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If (FAT[i]==0) dem++;</a:t>
            </a:r>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p:txBody>
      </p:sp>
      <p:sp>
        <p:nvSpPr>
          <p:cNvPr id="856" name="Google Shape;856;p74"/>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IX. HỆ THỐNG FILE FAT</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BÀI TẬP THỰC HÀNH </a:t>
            </a:r>
            <a:endParaRPr/>
          </a:p>
        </p:txBody>
      </p:sp>
      <p:sp>
        <p:nvSpPr>
          <p:cNvPr id="857" name="Google Shape;857;p7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
                                            <p:txEl>
                                              <p:pRg end="0" st="0"/>
                                            </p:txEl>
                                          </p:spTgt>
                                        </p:tgtEl>
                                        <p:attrNameLst>
                                          <p:attrName>style.visibility</p:attrName>
                                        </p:attrNameLst>
                                      </p:cBhvr>
                                      <p:to>
                                        <p:strVal val="visible"/>
                                      </p:to>
                                    </p:set>
                                    <p:animEffect filter="fade" transition="in">
                                      <p:cBhvr>
                                        <p:cTn dur="500"/>
                                        <p:tgtEl>
                                          <p:spTgt spid="8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
                                            <p:txEl>
                                              <p:pRg end="1" st="1"/>
                                            </p:txEl>
                                          </p:spTgt>
                                        </p:tgtEl>
                                        <p:attrNameLst>
                                          <p:attrName>style.visibility</p:attrName>
                                        </p:attrNameLst>
                                      </p:cBhvr>
                                      <p:to>
                                        <p:strVal val="visible"/>
                                      </p:to>
                                    </p:set>
                                    <p:animEffect filter="fade" transition="in">
                                      <p:cBhvr>
                                        <p:cTn dur="500"/>
                                        <p:tgtEl>
                                          <p:spTgt spid="8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
                                            <p:txEl>
                                              <p:pRg end="2" st="2"/>
                                            </p:txEl>
                                          </p:spTgt>
                                        </p:tgtEl>
                                        <p:attrNameLst>
                                          <p:attrName>style.visibility</p:attrName>
                                        </p:attrNameLst>
                                      </p:cBhvr>
                                      <p:to>
                                        <p:strVal val="visible"/>
                                      </p:to>
                                    </p:set>
                                    <p:animEffect filter="fade" transition="in">
                                      <p:cBhvr>
                                        <p:cTn dur="500"/>
                                        <p:tgtEl>
                                          <p:spTgt spid="8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
                                            <p:txEl>
                                              <p:pRg end="3" st="3"/>
                                            </p:txEl>
                                          </p:spTgt>
                                        </p:tgtEl>
                                        <p:attrNameLst>
                                          <p:attrName>style.visibility</p:attrName>
                                        </p:attrNameLst>
                                      </p:cBhvr>
                                      <p:to>
                                        <p:strVal val="visible"/>
                                      </p:to>
                                    </p:set>
                                    <p:animEffect filter="fade" transition="in">
                                      <p:cBhvr>
                                        <p:cTn dur="500"/>
                                        <p:tgtEl>
                                          <p:spTgt spid="85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
                                            <p:txEl>
                                              <p:pRg end="4" st="4"/>
                                            </p:txEl>
                                          </p:spTgt>
                                        </p:tgtEl>
                                        <p:attrNameLst>
                                          <p:attrName>style.visibility</p:attrName>
                                        </p:attrNameLst>
                                      </p:cBhvr>
                                      <p:to>
                                        <p:strVal val="visible"/>
                                      </p:to>
                                    </p:set>
                                    <p:animEffect filter="fade" transition="in">
                                      <p:cBhvr>
                                        <p:cTn dur="500"/>
                                        <p:tgtEl>
                                          <p:spTgt spid="85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
                                            <p:txEl>
                                              <p:pRg end="5" st="5"/>
                                            </p:txEl>
                                          </p:spTgt>
                                        </p:tgtEl>
                                        <p:attrNameLst>
                                          <p:attrName>style.visibility</p:attrName>
                                        </p:attrNameLst>
                                      </p:cBhvr>
                                      <p:to>
                                        <p:strVal val="visible"/>
                                      </p:to>
                                    </p:set>
                                    <p:animEffect filter="fade" transition="in">
                                      <p:cBhvr>
                                        <p:cTn dur="500"/>
                                        <p:tgtEl>
                                          <p:spTgt spid="85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
                                            <p:txEl>
                                              <p:pRg end="6" st="6"/>
                                            </p:txEl>
                                          </p:spTgt>
                                        </p:tgtEl>
                                        <p:attrNameLst>
                                          <p:attrName>style.visibility</p:attrName>
                                        </p:attrNameLst>
                                      </p:cBhvr>
                                      <p:to>
                                        <p:strVal val="visible"/>
                                      </p:to>
                                    </p:set>
                                    <p:animEffect filter="fade" transition="in">
                                      <p:cBhvr>
                                        <p:cTn dur="500"/>
                                        <p:tgtEl>
                                          <p:spTgt spid="85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
                                            <p:txEl>
                                              <p:pRg end="7" st="7"/>
                                            </p:txEl>
                                          </p:spTgt>
                                        </p:tgtEl>
                                        <p:attrNameLst>
                                          <p:attrName>style.visibility</p:attrName>
                                        </p:attrNameLst>
                                      </p:cBhvr>
                                      <p:to>
                                        <p:strVal val="visible"/>
                                      </p:to>
                                    </p:set>
                                    <p:animEffect filter="fade" transition="in">
                                      <p:cBhvr>
                                        <p:cTn dur="500"/>
                                        <p:tgtEl>
                                          <p:spTgt spid="85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
                                            <p:txEl>
                                              <p:pRg end="8" st="8"/>
                                            </p:txEl>
                                          </p:spTgt>
                                        </p:tgtEl>
                                        <p:attrNameLst>
                                          <p:attrName>style.visibility</p:attrName>
                                        </p:attrNameLst>
                                      </p:cBhvr>
                                      <p:to>
                                        <p:strVal val="visible"/>
                                      </p:to>
                                    </p:set>
                                    <p:animEffect filter="fade" transition="in">
                                      <p:cBhvr>
                                        <p:cTn dur="500"/>
                                        <p:tgtEl>
                                          <p:spTgt spid="855">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1" name="Shape 861"/>
        <p:cNvGrpSpPr/>
        <p:nvPr/>
      </p:nvGrpSpPr>
      <p:grpSpPr>
        <a:xfrm>
          <a:off x="0" y="0"/>
          <a:ext cx="0" cy="0"/>
          <a:chOff x="0" y="0"/>
          <a:chExt cx="0" cy="0"/>
        </a:xfrm>
      </p:grpSpPr>
      <p:sp>
        <p:nvSpPr>
          <p:cNvPr id="862" name="Google Shape;862;p75"/>
          <p:cNvSpPr txBox="1"/>
          <p:nvPr>
            <p:ph idx="1" type="body"/>
          </p:nvPr>
        </p:nvSpPr>
        <p:spPr>
          <a:xfrm>
            <a:off x="0" y="1219200"/>
            <a:ext cx="9144000" cy="541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Hệ thống FAT16</a:t>
            </a:r>
            <a:endParaRPr/>
          </a:p>
          <a:p>
            <a:pPr indent="0" lvl="0" marL="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Bài 1: Viết đoạn chương trình đếm số cluster trống trong 100 cluster đầu tiên của ổ đĩa D.</a:t>
            </a:r>
            <a:endParaRPr/>
          </a:p>
          <a:p>
            <a:pPr indent="0" lvl="0" marL="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Bài 2: Viết đoạn chương trình in nội dung của 50 ô FAT đầu tiên của ổ đĩa C ra màn hình</a:t>
            </a:r>
            <a:endParaRPr/>
          </a:p>
          <a:p>
            <a:pPr indent="0" lvl="0" marL="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Bài 3: Giả sử bảng FAT đã được đọc vào bộ nhớ tại địa chỉ &lt;&lt; int *fat&gt;&gt; . Giả sử một file được lưu trữ trên cluster đầu tiên là n. Viết đoạn chương trình liệt kê các cluster thuộc về file đó.</a:t>
            </a:r>
            <a:endParaRPr/>
          </a:p>
          <a:p>
            <a:pPr indent="-190500" lvl="0" marL="342900" marR="0" rtl="0" algn="l">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p:txBody>
      </p:sp>
      <p:sp>
        <p:nvSpPr>
          <p:cNvPr id="863" name="Google Shape;863;p75"/>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KIỂM TRA</a:t>
            </a:r>
            <a:endParaRPr/>
          </a:p>
        </p:txBody>
      </p:sp>
      <p:sp>
        <p:nvSpPr>
          <p:cNvPr id="864" name="Google Shape;864;p7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213TGp_natural_light_v2">
  <a:themeElements>
    <a:clrScheme name="213TGp_natural_light_v2 2">
      <a:dk1>
        <a:srgbClr val="000000"/>
      </a:dk1>
      <a:lt1>
        <a:srgbClr val="FFFFFF"/>
      </a:lt1>
      <a:dk2>
        <a:srgbClr val="003399"/>
      </a:dk2>
      <a:lt2>
        <a:srgbClr val="C0C0C0"/>
      </a:lt2>
      <a:accent1>
        <a:srgbClr val="5E9CDA"/>
      </a:accent1>
      <a:accent2>
        <a:srgbClr val="93C052"/>
      </a:accent2>
      <a:accent3>
        <a:srgbClr val="FFFFFF"/>
      </a:accent3>
      <a:accent4>
        <a:srgbClr val="000000"/>
      </a:accent4>
      <a:accent5>
        <a:srgbClr val="B6CBEA"/>
      </a:accent5>
      <a:accent6>
        <a:srgbClr val="85AE49"/>
      </a:accent6>
      <a:hlink>
        <a:srgbClr val="FF9933"/>
      </a:hlink>
      <a:folHlink>
        <a:srgbClr val="855AD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Nguyen Thi Ngoc Vinh</dc:creator>
</cp:coreProperties>
</file>
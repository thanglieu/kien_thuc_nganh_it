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Lst>
  <p:sldSz cy="6858000" cx="9144000"/>
  <p:notesSz cx="6858000" cy="9144000"/>
  <p:embeddedFontLst>
    <p:embeddedFont>
      <p:font typeface="Monda"/>
      <p:regular r:id="rId114"/>
      <p:bold r:id="rId1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16" roundtripDataSignature="AMtx7mhliWwMj5yaIrDVS+yF+IxpA63b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28A9BA-1566-4610-BFC4-80AE836C2761}">
  <a:tblStyle styleId="{4128A9BA-1566-4610-BFC4-80AE836C276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6" Type="http://customschemas.google.com/relationships/presentationmetadata" Target="metadata"/><Relationship Id="rId115" Type="http://schemas.openxmlformats.org/officeDocument/2006/relationships/font" Target="fonts/Monda-bold.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Monda-regular.fntdata"/><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Hoạt động quan trọng nhất của máy tính là thực hiện các chương trình. Dể phục vụ hoạt động này, hệ điều hành cần tạo môi trường cho chương trình thực hiện và quản lý các chương trình một cách hiệu quả. </a:t>
            </a:r>
            <a:endParaRPr/>
          </a:p>
        </p:txBody>
      </p:sp>
      <p:sp>
        <p:nvSpPr>
          <p:cNvPr id="72" name="Google Shape;72;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 name="Google Shape;7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 name="Google Shape;8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8" name="Google Shape;88;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 name="Google Shape;9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Chạy là khi các lệnh của tiến trình được CPU thực hiện và không chạy là trong trường hợp ngược lại.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sẵn sàng: HĐH cấp phát CPU cho tiến trình khác, do kết quả điều độ hoặc do ngắt xảy ra, tiến trình hiện thời chuyển sang trạng thái sẵn sàng và chờ được cấp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end: khi tt đã thực hiện xong.</a:t>
            </a:r>
            <a:endParaRPr/>
          </a:p>
        </p:txBody>
      </p:sp>
      <p:sp>
        <p:nvSpPr>
          <p:cNvPr id="100" name="Google Shape;10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9" name="Google Shape;12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Chạy là khi các lệnh của tiến trình được CPU thực hiện và không chạy là trong trường hợp ngược lại.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sẵn sàng: HĐH cấp phát CPU cho tiến trình khác, do kết quả điều độ hoặc do ngắt xảy ra, tiến trình hiện thời chuyển sang trạng thái sẵn sàng và chờ được cấp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Chạy -&gt; end: khi tt đã thực hiện xong.</a:t>
            </a:r>
            <a:endParaRPr/>
          </a:p>
        </p:txBody>
      </p:sp>
      <p:sp>
        <p:nvSpPr>
          <p:cNvPr id="130" name="Google Shape;13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9" name="Google Shape;16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0" name="Google Shape;18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4" name="Google Shape;21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6" name="Google Shape;23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7" name="Google Shape;24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9" name="Google Shape;26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0" name="Google Shape;28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Bình thường 1 tiến trình tương ứng với 1 chuối lệnh và được thực hiện lần lượt</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1 tiến trình được chia thành nhiều chuỗi lệnh, mỗi chuối lệnh tương ứng với 1 luồng.</a:t>
            </a:r>
            <a:endParaRPr/>
          </a:p>
        </p:txBody>
      </p:sp>
      <p:sp>
        <p:nvSpPr>
          <p:cNvPr id="281" name="Google Shape;281;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2" name="Google Shape;29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3" name="Google Shape;30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4" name="Google Shape;31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5" name="Google Shape;32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Bình thường 1 tiến trình tương ứng với 1 chuối lệnh và được thực hiện lần lượt</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1 tiến trình được chia thành nhiều chuỗi lệnh, mỗi chuối lệnh tương ứng với 1 luồng.</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26" name="Google Shape;326;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8" name="Google Shape;33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9" name="Google Shape;34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0" name="Google Shape;36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2" name="Google Shape;38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3" name="Google Shape;39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4" name="Google Shape;40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5" name="Google Shape;41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96" name="Google Shape;49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07" name="Google Shape;50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Arial"/>
              <a:buChar char="-"/>
            </a:pPr>
            <a:r>
              <a:rPr lang="en-US">
                <a:latin typeface="Arial"/>
                <a:ea typeface="Arial"/>
                <a:cs typeface="Arial"/>
                <a:sym typeface="Arial"/>
              </a:rPr>
              <a:t>Bài toán ñiều ñộ ñược ñặt ra với mọi dạng tài</a:t>
            </a:r>
            <a:r>
              <a:rPr lang="en-US"/>
              <a:t> </a:t>
            </a:r>
            <a:r>
              <a:rPr lang="en-US">
                <a:latin typeface="Arial"/>
                <a:ea typeface="Arial"/>
                <a:cs typeface="Arial"/>
                <a:sym typeface="Arial"/>
              </a:rPr>
              <a:t>nguyên khác nhau, chẳng hạn thiết bị vào ra, CPU, bộ nhớ…, </a:t>
            </a:r>
            <a:br>
              <a:rPr lang="en-US">
                <a:latin typeface="Arial"/>
                <a:ea typeface="Arial"/>
                <a:cs typeface="Arial"/>
                <a:sym typeface="Arial"/>
              </a:rPr>
            </a:br>
            <a:r>
              <a:rPr lang="en-US">
                <a:latin typeface="Times New Roman"/>
                <a:ea typeface="Times New Roman"/>
                <a:cs typeface="Times New Roman"/>
                <a:sym typeface="Times New Roman"/>
              </a:rPr>
              <a:t>- </a:t>
            </a:r>
            <a:endParaRPr/>
          </a:p>
        </p:txBody>
      </p:sp>
      <p:sp>
        <p:nvSpPr>
          <p:cNvPr id="508" name="Google Shape;508;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8" name="Google Shape;51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Trong một số hệ thống, điều độ tiến trình được phân cha thành một số mức khác nhau, bao gồm:.....</a:t>
            </a:r>
            <a:endParaRPr/>
          </a:p>
        </p:txBody>
      </p:sp>
      <p:sp>
        <p:nvSpPr>
          <p:cNvPr id="519" name="Google Shape;519;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8" name="Google Shape;54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9" name="Google Shape;55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70" name="Google Shape;57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1" name="Google Shape;5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2" name="Google Shape;59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3" name="Google Shape;60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5" name="Google Shape;61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7" name="Google Shape;62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38" name="Google Shape;63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10,4,2</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2P1,2P2,2P3,2P1,2P2,2P1,2P1,2P1</a:t>
            </a:r>
            <a:endParaRPr/>
          </a:p>
        </p:txBody>
      </p:sp>
      <p:sp>
        <p:nvSpPr>
          <p:cNvPr id="639" name="Google Shape;639;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9" name="Google Shape;649;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10 P1,4 P2, 2 P3</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2P1,2P2,2P3,2P1,2P2,2P1,2P1,2P1</a:t>
            </a:r>
            <a:endParaRPr/>
          </a:p>
        </p:txBody>
      </p:sp>
      <p:sp>
        <p:nvSpPr>
          <p:cNvPr id="650" name="Google Shape;650;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2" name="Google Shape;66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3" name="Google Shape;67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6" name="Google Shape;68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7" name="Google Shape;69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0" name="Google Shape;71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1" name="Google Shape;72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3" name="Google Shape;73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4" name="Google Shape;744;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5" name="Google Shape;755;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6" name="Google Shape;766;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77" name="Google Shape;77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8" name="Google Shape;788;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9" name="Google Shape;799;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0" name="Google Shape;81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1" name="Google Shape;82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Đoạn nguy hiểm = đoạn mã tiến trình trong đó chứa thao tác truy cập tài nguyên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Đảm bảo loại trừ tương hỗ = đảm bảo nếu một tiến trình đang sử dụng tài nguyên thì các tiến trình không được sử dụng tài nguyên đó; tài nguyên đó = tà nguyên nguy hiểm;</a:t>
            </a:r>
            <a:endParaRPr/>
          </a:p>
        </p:txBody>
      </p:sp>
      <p:sp>
        <p:nvSpPr>
          <p:cNvPr id="822" name="Google Shape;822;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1" name="Google Shape;83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42" name="Google Shape;842;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53" name="Google Shape;853;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4" name="Google Shape;864;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5" name="Google Shape;875;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6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86" name="Google Shape;886;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Xét  2 tiến trình P0, P1.</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Tiến trình P0, for ... Tiến trình P0 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Flag(0)=true =&gt; tiến trình P0 y/c vào vùng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Turn = 1; mặc dù tiến trình P0 y/c nhưng P1 đang trong vùng nguy hiểm;</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Nó phải chờ =&gt; thể hiện bằng lệnh while Flag(1)=true và turn=1 thì tiếp tục chờ....</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&lt;Được truy cập đoạn nguy hiểm&gt;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Flag(0)=false là P0 không yêu càu nữa.....</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87" name="Google Shape;887;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7" name="Google Shape;897;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8" name="Google Shape;908;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6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9" name="Google Shape;919;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6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30" name="Google Shape;930;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1" name="Google Shape;931;p6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1" name="Google Shape;941;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Số tiến trình là 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bôol lock;</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Tạo hàm tiến trình Pi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For...lặp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Test and Set (lock) = true thì lặp mãi đến khi = false</a:t>
            </a:r>
            <a:endParaRPr/>
          </a:p>
        </p:txBody>
      </p:sp>
      <p:sp>
        <p:nvSpPr>
          <p:cNvPr id="942" name="Google Shape;942;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3" name="Google Shape;95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4" name="Google Shape;964;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75" name="Google Shape;975;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7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6" name="Google Shape;986;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7" name="Google Shape;997;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Có n tiến trình,</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 thuộc kiểu semaphore S=1;</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Lặp vô hạn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Cần truy cập gọi wait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Thoát ra thì gọi signal</a:t>
            </a:r>
            <a:endParaRPr/>
          </a:p>
        </p:txBody>
      </p:sp>
      <p:sp>
        <p:nvSpPr>
          <p:cNvPr id="998" name="Google Shape;998;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9" name="Google Shape;1009;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0" name="Google Shape;1020;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Triết gia (i)</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Wait : truy cập đoạn nguy hiểm</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Signal: thoát</a:t>
            </a:r>
            <a:endParaRPr/>
          </a:p>
        </p:txBody>
      </p:sp>
      <p:sp>
        <p:nvSpPr>
          <p:cNvPr id="1021" name="Google Shape;1021;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32" name="Google Shape;1032;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43" name="Google Shape;1043;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 name="Google Shape;1044;p7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54" name="Google Shape;1054;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66" name="Google Shape;106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Bounder Bufffer là 1 lớp có kiểu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Lớp này có trường buffer N thuộc kiểu product chứa N sản phâmr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count: số sp đang có</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NotFull, not Empty: biến điều kiện</a:t>
            </a:r>
            <a:endParaRPr/>
          </a:p>
          <a:p>
            <a:pPr indent="-114300" lvl="0" marL="0" rtl="0" algn="l">
              <a:spcBef>
                <a:spcPts val="0"/>
              </a:spcBef>
              <a:spcAft>
                <a:spcPts val="0"/>
              </a:spcAft>
              <a:buSzPts val="1800"/>
              <a:buFont typeface="Noto Sans Symbols"/>
              <a:buChar char="⇒"/>
            </a:pPr>
            <a:r>
              <a:rPr lang="en-US">
                <a:latin typeface="Times New Roman"/>
                <a:ea typeface="Times New Roman"/>
                <a:cs typeface="Times New Roman"/>
                <a:sym typeface="Times New Roman"/>
              </a:rPr>
              <a:t>3 trường này ko ở chế độ công khai =&gt; phải đc phép mới đc truycập.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Đây đgl là 4 thuộc tính =&gt; Phần dữ liệu được bảo vệ.</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Public đc để chế độ công khailà các phương thức.</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BDBF: phương thức khởi tạp, count=0;</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Phương thức apend bổ sung,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Nếu count=N=số sản phẩm tối đa =&gt; dừng và chờ có chỗ.</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Ngược lại, thêm sản phẩm =?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notEmpty.csignal: Hàng đợi đang ko rộng;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product take: lấy sản phẩm ra</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If count=0 thì chờ đến khi buffer ko rỗng.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Lấy x ra khỏi buffer,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Count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 NotFull.csigniail: báo chưa đầy</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067" name="Google Shape;1067;p7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77" name="Google Shape;1077;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p7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88" name="Google Shape;108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Monitor chỉ có 1 ô nhớ thôi =&gt; tại 1 thời điểm chỉ xử lý được 1 tiến trình thôi =&gt; khi 1 tiến trình đang ở trong đấy thì ko được cho thêm vào.</a:t>
            </a:r>
            <a:endParaRPr/>
          </a:p>
          <a:p>
            <a:pPr indent="0" lvl="0" marL="0" rtl="0" algn="l">
              <a:spcBef>
                <a:spcPts val="0"/>
              </a:spcBef>
              <a:spcAft>
                <a:spcPts val="0"/>
              </a:spcAft>
              <a:buSzPts val="1800"/>
              <a:buNone/>
            </a:pPr>
            <a:r>
              <a:rPr lang="en-US"/>
              <a:t>Khi mà lấy 1 tiến trình ở Monitor ra thì cho vào hàng đợi.</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a:t>
            </a:r>
            <a:endParaRPr/>
          </a:p>
          <a:p>
            <a:pPr indent="0" lvl="0" marL="0" rtl="0" algn="l">
              <a:spcBef>
                <a:spcPts val="0"/>
              </a:spcBef>
              <a:spcAft>
                <a:spcPts val="0"/>
              </a:spcAft>
              <a:buSzPts val="1800"/>
              <a:buNone/>
            </a:pPr>
            <a:r>
              <a:rPr lang="en-US"/>
              <a:t>Append: Bổ sung</a:t>
            </a:r>
            <a:endParaRPr/>
          </a:p>
          <a:p>
            <a:pPr indent="0" lvl="0" marL="0" rtl="0" algn="l">
              <a:spcBef>
                <a:spcPts val="0"/>
              </a:spcBef>
              <a:spcAft>
                <a:spcPts val="0"/>
              </a:spcAft>
              <a:buSzPts val="1800"/>
              <a:buNone/>
            </a:pPr>
            <a:r>
              <a:rPr lang="en-US"/>
              <a:t>notFull.cwait ( ) : Đợi cho đến khi điều kiện Notfull thỏa mãn</a:t>
            </a:r>
            <a:endParaRPr/>
          </a:p>
          <a:p>
            <a:pPr indent="0" lvl="0" marL="0" rtl="0" algn="l">
              <a:spcBef>
                <a:spcPts val="0"/>
              </a:spcBef>
              <a:spcAft>
                <a:spcPts val="0"/>
              </a:spcAft>
              <a:buSzPts val="1800"/>
              <a:buNone/>
            </a:pPr>
            <a:r>
              <a:rPr lang="en-US"/>
              <a:t>notEmpty.csignal () : thông báo đã notempty: Điều kiện ko rỗng thỏa mãn;</a:t>
            </a:r>
            <a:endParaRPr/>
          </a:p>
          <a:p>
            <a:pPr indent="0" lvl="0" marL="0" rtl="0" algn="l">
              <a:spcBef>
                <a:spcPts val="0"/>
              </a:spcBef>
              <a:spcAft>
                <a:spcPts val="0"/>
              </a:spcAft>
              <a:buSzPts val="1800"/>
              <a:buNone/>
            </a:pPr>
            <a:r>
              <a:rPr lang="en-US"/>
              <a:t>Take: lấy ra</a:t>
            </a:r>
            <a:endParaRPr/>
          </a:p>
          <a:p>
            <a:pPr indent="0" lvl="0" marL="0" rtl="0" algn="l">
              <a:spcBef>
                <a:spcPts val="0"/>
              </a:spcBef>
              <a:spcAft>
                <a:spcPts val="0"/>
              </a:spcAft>
              <a:buSzPts val="1800"/>
              <a:buNone/>
            </a:pPr>
            <a:r>
              <a:rPr lang="en-US"/>
              <a:t>notEmptry.cwait (): Đợi cho đến khi Notempty thỏa mãn</a:t>
            </a:r>
            <a:endParaRPr/>
          </a:p>
          <a:p>
            <a:pPr indent="0" lvl="0" marL="0" rtl="0" algn="l">
              <a:spcBef>
                <a:spcPts val="0"/>
              </a:spcBef>
              <a:spcAft>
                <a:spcPts val="0"/>
              </a:spcAft>
              <a:buSzPts val="1800"/>
              <a:buNone/>
            </a:pPr>
            <a:r>
              <a:rPr lang="en-US"/>
              <a:t>Lấy ra</a:t>
            </a:r>
            <a:endParaRPr/>
          </a:p>
          <a:p>
            <a:pPr indent="0" lvl="0" marL="0" rtl="0" algn="l">
              <a:spcBef>
                <a:spcPts val="0"/>
              </a:spcBef>
              <a:spcAft>
                <a:spcPts val="0"/>
              </a:spcAft>
              <a:buSzPts val="1800"/>
              <a:buNone/>
            </a:pPr>
            <a:r>
              <a:rPr lang="en-US"/>
              <a:t>notFull.csignal ( ) : Thông báo điều kiện không đầy thỏa mãn.</a:t>
            </a:r>
            <a:endParaRPr/>
          </a:p>
          <a:p>
            <a:pPr indent="0" lvl="0" marL="0" rtl="0" algn="l">
              <a:spcBef>
                <a:spcPts val="0"/>
              </a:spcBef>
              <a:spcAft>
                <a:spcPts val="0"/>
              </a:spcAft>
              <a:buSzPts val="1800"/>
              <a:buNone/>
            </a:pPr>
            <a:br>
              <a:rPr lang="en-US"/>
            </a:br>
            <a:endParaRPr/>
          </a:p>
        </p:txBody>
      </p:sp>
      <p:sp>
        <p:nvSpPr>
          <p:cNvPr id="1089" name="Google Shape;1089;p8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99" name="Google Shape;1099;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Monitor là vùng cục bộ,</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DL cục bộ tương ứng với: phần buffer,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điều kiện x,y tương ứng với notfull, notempty tạo nên hàng đợi,</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Các hàm này tương ứng với attend, take.</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Hàm khởi tạo: tương ứng với Bounder BF.</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Trong lớp đối tượng chia làm 2 phần: phần thuộc tính (phần DL) và phần phương thức (các hàm).</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Phần dữ liệu chỉ được truy cập khi được phep =&gt; no thể hiện bởi biến điều kiện Not.emty, notfull.s</a:t>
            </a:r>
            <a:endParaRPr/>
          </a:p>
          <a:p>
            <a:pPr indent="0" lvl="0" marL="0" rtl="0" algn="l">
              <a:spcBef>
                <a:spcPts val="0"/>
              </a:spcBef>
              <a:spcAft>
                <a:spcPts val="0"/>
              </a:spcAft>
              <a:buSzPts val="1800"/>
              <a:buFont typeface="Times New Roman"/>
              <a:buNone/>
            </a:pPr>
            <a:r>
              <a:rPr b="1"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Giải thích: Đầu tiên, monitor khởi tạo thì k=0, danh sách hàng đợi vào monitor có thể có rất nhiều,</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Khi 1 cái trong hàng đợi monitor đưa vào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Gọi hàm append kiểm tra hàng đợi điều kiện bên trong xem đã đầy hay chưa, nếu chưa đầy thì bổ sung 1 tiến trình vào hàng đợi điều kiện. Khi bổ sung vào thì nó cứ bổ sung đến khi hàng đợi điều kiện đầy.</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Tiến trình đầu tiên của hàng đợi điều kiện được phép truy cập vùng dữ liệu riêng.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Truy cập xong thì tiến trình đó có thể kết thúc hoặc quay lại cuối của hàng đợi điều kiện.</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SzPts val="1800"/>
              <a:buNone/>
            </a:pPr>
            <a:r>
              <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b="1">
              <a:latin typeface="Times New Roman"/>
              <a:ea typeface="Times New Roman"/>
              <a:cs typeface="Times New Roman"/>
              <a:sym typeface="Times New Roman"/>
            </a:endParaRPr>
          </a:p>
        </p:txBody>
      </p:sp>
      <p:sp>
        <p:nvSpPr>
          <p:cNvPr id="1100" name="Google Shape;1100;p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37" name="Google Shape;1137;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Bounder Bufffer là 1 lớp có kiểu Monitor,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Lớp này có trường buffer N thuộc kiểu product chứa N sản phâmr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Biến count: số sp đang có</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NotFull, not Empty: biến điều kiện</a:t>
            </a:r>
            <a:endParaRPr/>
          </a:p>
          <a:p>
            <a:pPr indent="-114300" lvl="0" marL="0" rtl="0" algn="l">
              <a:spcBef>
                <a:spcPts val="0"/>
              </a:spcBef>
              <a:spcAft>
                <a:spcPts val="0"/>
              </a:spcAft>
              <a:buSzPts val="1800"/>
              <a:buFont typeface="Noto Sans Symbols"/>
              <a:buChar char="⇒"/>
            </a:pPr>
            <a:r>
              <a:rPr lang="en-US">
                <a:latin typeface="Times New Roman"/>
                <a:ea typeface="Times New Roman"/>
                <a:cs typeface="Times New Roman"/>
                <a:sym typeface="Times New Roman"/>
              </a:rPr>
              <a:t>3 trường này ko ở chế độ công khai =&gt; phải đc phép mới đc truycập.</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Đây đgl là 4 thuộc tính =&gt; Phần dữ liệu được bảo vệ.</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Public đc để chế độ công khailà các phương thức.</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BDBF: phương thức khởi tạp, count=0;</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Phương thức apend bổ sung,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Nếu count=N=số sản phẩm tối đa =&gt; dừng và chờ có chỗ.</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Ngược lại, thêm sản phẩm =? Count++,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notEmpty.csignal: Hàng đợi đang ko rộng;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product take: lấy sản phẩm ra</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If count=0 thì chờ đến khi buffer ko rỗng.</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Lấy x ra khỏi buffer,</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Count ----,</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 NotFull.csigniail: báo chưa đầy</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38" name="Google Shape;1138;p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49" name="Google Shape;1149;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0" name="Google Shape;1150;p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61" name="Google Shape;1161;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8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73" name="Google Shape;1173;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8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84" name="Google Shape;1184;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95" name="Google Shape;1195;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07" name="Google Shape;1207;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8" name="Google Shape;1208;p8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18" name="Google Shape;1218;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9" name="Google Shape;1219;p8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29" name="Google Shape;1229;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9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40" name="Google Shape;1240;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9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51" name="Google Shape;1251;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2" name="Google Shape;1252;p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62" name="Google Shape;1262;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p9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73" name="Google Shape;1273;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85" name="Google Shape;1285;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9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96" name="Google Shape;1296;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07" name="Google Shape;1307;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9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19" name="Google Shape;1319;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31" name="Google Shape;1331;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2" name="Google Shape;1332;p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278676d49e7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42" name="Google Shape;1342;g278676d49e7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g278676d49e7_0_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56" name="Google Shape;1356;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7" name="Google Shape;1357;p10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68" name="Google Shape;1368;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0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79" name="Google Shape;1379;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10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92" name="Google Shape;1392;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Char char="-"/>
            </a:pPr>
            <a:r>
              <a:rPr lang="en-US"/>
              <a:t>Trong ví dụ vừa xét, ta có thể thấy tiến trình P1, P2, P4 ñang bị bế tắc do</a:t>
            </a:r>
            <a:br>
              <a:rPr lang="en-US"/>
            </a:br>
            <a:r>
              <a:rPr lang="en-US"/>
              <a:t>phải chờ ñợi vòng tròn lẫn nhau. </a:t>
            </a:r>
            <a:br>
              <a:rPr lang="en-US"/>
            </a:br>
            <a:endParaRPr/>
          </a:p>
        </p:txBody>
      </p:sp>
      <p:sp>
        <p:nvSpPr>
          <p:cNvPr id="1393" name="Google Shape;1393;p10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05" name="Google Shape;1405;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1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16" name="Google Shape;1416;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10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116"/>
          <p:cNvSpPr txBox="1"/>
          <p:nvPr>
            <p:ph idx="1" type="body"/>
          </p:nvPr>
        </p:nvSpPr>
        <p:spPr>
          <a:xfrm>
            <a:off x="457200" y="12954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b="0" i="0" sz="2400" u="none" cap="none" strike="noStrike">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 name="Google Shape;21;p116"/>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 name="Shape 22"/>
        <p:cNvGrpSpPr/>
        <p:nvPr/>
      </p:nvGrpSpPr>
      <p:grpSpPr>
        <a:xfrm>
          <a:off x="0" y="0"/>
          <a:ext cx="0" cy="0"/>
          <a:chOff x="0" y="0"/>
          <a:chExt cx="0" cy="0"/>
        </a:xfrm>
      </p:grpSpPr>
      <p:sp>
        <p:nvSpPr>
          <p:cNvPr id="23" name="Google Shape;23;p117"/>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4" name="Google Shape;24;p1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11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7" name="Google Shape;27;p1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1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0" name="Google Shape;30;p119"/>
          <p:cNvSpPr/>
          <p:nvPr>
            <p:ph idx="2" type="pic"/>
          </p:nvPr>
        </p:nvSpPr>
        <p:spPr>
          <a:xfrm>
            <a:off x="1792288" y="612775"/>
            <a:ext cx="5486400" cy="4114800"/>
          </a:xfrm>
          <a:prstGeom prst="rect">
            <a:avLst/>
          </a:prstGeom>
          <a:noFill/>
          <a:ln>
            <a:noFill/>
          </a:ln>
        </p:spPr>
      </p:sp>
      <p:sp>
        <p:nvSpPr>
          <p:cNvPr id="31" name="Google Shape;31;p1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2" name="Shape 32"/>
        <p:cNvGrpSpPr/>
        <p:nvPr/>
      </p:nvGrpSpPr>
      <p:grpSpPr>
        <a:xfrm>
          <a:off x="0" y="0"/>
          <a:ext cx="0" cy="0"/>
          <a:chOff x="0" y="0"/>
          <a:chExt cx="0" cy="0"/>
        </a:xfrm>
      </p:grpSpPr>
      <p:sp>
        <p:nvSpPr>
          <p:cNvPr id="33" name="Google Shape;33;p1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4" name="Google Shape;34;p1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2"/>
              </a:buClr>
              <a:buSzPts val="3200"/>
              <a:buFont typeface="Noto Sans Symbols"/>
              <a:buChar char="❖"/>
              <a:defRPr sz="3200">
                <a:solidFill>
                  <a:schemeClr val="dk2"/>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2"/>
                </a:solidFill>
                <a:latin typeface="Arial"/>
                <a:ea typeface="Arial"/>
                <a:cs typeface="Arial"/>
                <a:sym typeface="Arial"/>
              </a:defRPr>
            </a:lvl2pPr>
            <a:lvl3pPr indent="-381000" lvl="2" marL="1371600" marR="0" rtl="0" algn="l">
              <a:spcBef>
                <a:spcPts val="48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3pPr>
            <a:lvl4pPr indent="-355600" lvl="3" marL="1828800" marR="0" rtl="0" algn="l">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5" name="Google Shape;35;p1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12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3" name="Google Shape;43;p1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4" name="Google Shape;44;p1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5" name="Google Shape;45;p1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6" name="Google Shape;46;p1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9" name="Google Shape;49;p1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0" name="Google Shape;50;p1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53" name="Google Shape;53;p1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2"/>
              </a:buClr>
              <a:buSzPts val="2000"/>
              <a:buFont typeface="Noto Sans Symbols"/>
              <a:buNone/>
              <a:defRPr sz="2000">
                <a:solidFill>
                  <a:schemeClr val="dk2"/>
                </a:solidFill>
                <a:latin typeface="Arial"/>
                <a:ea typeface="Arial"/>
                <a:cs typeface="Arial"/>
                <a:sym typeface="Arial"/>
              </a:defRPr>
            </a:lvl1pPr>
            <a:lvl2pPr indent="-228600" lvl="1" marL="914400" marR="0" rtl="0" algn="l">
              <a:spcBef>
                <a:spcPts val="360"/>
              </a:spcBef>
              <a:spcAft>
                <a:spcPts val="0"/>
              </a:spcAft>
              <a:buClr>
                <a:schemeClr val="accent1"/>
              </a:buClr>
              <a:buSzPts val="1800"/>
              <a:buFont typeface="Noto Sans Symbols"/>
              <a:buNone/>
              <a:defRPr b="0" i="0" sz="1800" u="none" cap="none" strike="noStrike">
                <a:solidFill>
                  <a:schemeClr val="dk2"/>
                </a:solidFill>
                <a:latin typeface="Arial"/>
                <a:ea typeface="Arial"/>
                <a:cs typeface="Arial"/>
                <a:sym typeface="Arial"/>
              </a:defRPr>
            </a:lvl2pPr>
            <a:lvl3pPr indent="-228600" lvl="2" marL="1371600" marR="0" rtl="0" algn="l">
              <a:spcBef>
                <a:spcPts val="320"/>
              </a:spcBef>
              <a:spcAft>
                <a:spcPts val="0"/>
              </a:spcAft>
              <a:buClr>
                <a:schemeClr val="accent2"/>
              </a:buClr>
              <a:buSzPts val="1600"/>
              <a:buFont typeface="Arial"/>
              <a:buNone/>
              <a:defRPr b="0" i="0" sz="1600" u="none" cap="none" strike="noStrike">
                <a:solidFill>
                  <a:schemeClr val="dk2"/>
                </a:solidFill>
                <a:latin typeface="Arial"/>
                <a:ea typeface="Arial"/>
                <a:cs typeface="Arial"/>
                <a:sym typeface="Arial"/>
              </a:defRPr>
            </a:lvl3pPr>
            <a:lvl4pPr indent="-228600" lvl="3" marL="1828800" marR="0" rtl="0" algn="l">
              <a:spcBef>
                <a:spcPts val="28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115"/>
          <p:cNvSpPr txBox="1"/>
          <p:nvPr/>
        </p:nvSpPr>
        <p:spPr>
          <a:xfrm>
            <a:off x="0" y="6224587"/>
            <a:ext cx="9144000" cy="64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115"/>
          <p:cNvSpPr/>
          <p:nvPr/>
        </p:nvSpPr>
        <p:spPr>
          <a:xfrm>
            <a:off x="0" y="0"/>
            <a:ext cx="9144000" cy="6858000"/>
          </a:xfrm>
          <a:prstGeom prst="ellipse">
            <a:avLst/>
          </a:prstGeom>
          <a:solidFill>
            <a:schemeClr val="lt1">
              <a:alpha val="4352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115"/>
          <p:cNvSpPr txBox="1"/>
          <p:nvPr/>
        </p:nvSpPr>
        <p:spPr>
          <a:xfrm>
            <a:off x="609600" y="0"/>
            <a:ext cx="85344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5" name="Google Shape;15;p115"/>
          <p:cNvPicPr preferRelativeResize="0"/>
          <p:nvPr/>
        </p:nvPicPr>
        <p:blipFill rotWithShape="1">
          <a:blip r:embed="rId1">
            <a:alphaModFix/>
          </a:blip>
          <a:srcRect b="0" l="0" r="0" t="0"/>
          <a:stretch/>
        </p:blipFill>
        <p:spPr>
          <a:xfrm>
            <a:off x="0" y="0"/>
            <a:ext cx="633412" cy="720725"/>
          </a:xfrm>
          <a:prstGeom prst="rect">
            <a:avLst/>
          </a:prstGeom>
          <a:noFill/>
          <a:ln>
            <a:noFill/>
          </a:ln>
        </p:spPr>
      </p:pic>
      <p:cxnSp>
        <p:nvCxnSpPr>
          <p:cNvPr id="16" name="Google Shape;16;p115"/>
          <p:cNvCxnSpPr/>
          <p:nvPr/>
        </p:nvCxnSpPr>
        <p:spPr>
          <a:xfrm>
            <a:off x="0" y="747712"/>
            <a:ext cx="9144000" cy="0"/>
          </a:xfrm>
          <a:prstGeom prst="straightConnector1">
            <a:avLst/>
          </a:prstGeom>
          <a:noFill/>
          <a:ln cap="flat" cmpd="sng" w="28575">
            <a:solidFill>
              <a:schemeClr val="dk1"/>
            </a:solidFill>
            <a:prstDash val="solid"/>
            <a:miter lim="800000"/>
            <a:headEnd len="med" w="med" type="none"/>
            <a:tailEnd len="med" w="med" type="none"/>
          </a:ln>
        </p:spPr>
      </p:cxnSp>
      <p:sp>
        <p:nvSpPr>
          <p:cNvPr id="17" name="Google Shape;17;p115"/>
          <p:cNvSpPr txBox="1"/>
          <p:nvPr/>
        </p:nvSpPr>
        <p:spPr>
          <a:xfrm>
            <a:off x="0" y="6248400"/>
            <a:ext cx="8229600" cy="984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www.ptit.edu.vn      		  </a:t>
            </a:r>
            <a:r>
              <a:rPr b="0" i="0" lang="en-US" sz="1200" u="none">
                <a:solidFill>
                  <a:schemeClr val="dk1"/>
                </a:solidFill>
                <a:latin typeface="Arial"/>
                <a:ea typeface="Arial"/>
                <a:cs typeface="Arial"/>
                <a:sym typeface="Arial"/>
              </a:rPr>
              <a:t>GIẢNG VIÊN: THS NGUYỄN THỊ NGỌC VINH</a:t>
            </a:r>
            <a:endParaRPr/>
          </a:p>
          <a:p>
            <a:pPr indent="0" lvl="0" marL="0" marR="0" rtl="0" algn="l">
              <a:lnSpc>
                <a:spcPct val="100000"/>
              </a:lnSpc>
              <a:spcBef>
                <a:spcPts val="60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			BỘ MÔN: KHOA HỌC MÁY TÍNH – KHOA CNTT1</a:t>
            </a:r>
            <a:endParaRPr/>
          </a:p>
          <a:p>
            <a:pPr indent="0" lvl="0" marL="0" marR="0" rtl="0" algn="l">
              <a:lnSpc>
                <a:spcPct val="100000"/>
              </a:lnSpc>
              <a:spcBef>
                <a:spcPts val="0"/>
              </a:spcBef>
              <a:spcAft>
                <a:spcPts val="0"/>
              </a:spcAft>
              <a:buNone/>
            </a:pPr>
            <a:r>
              <a:t/>
            </a:r>
            <a:endParaRPr b="0" i="0" sz="1200" u="none">
              <a:solidFill>
                <a:schemeClr val="dk1"/>
              </a:solidFill>
              <a:latin typeface="Arial"/>
              <a:ea typeface="Arial"/>
              <a:cs typeface="Arial"/>
              <a:sym typeface="Arial"/>
            </a:endParaRPr>
          </a:p>
        </p:txBody>
      </p:sp>
      <p:sp>
        <p:nvSpPr>
          <p:cNvPr id="18" name="Google Shape;18;p115"/>
          <p:cNvSpPr txBox="1"/>
          <p:nvPr/>
        </p:nvSpPr>
        <p:spPr>
          <a:xfrm>
            <a:off x="8153400" y="6391275"/>
            <a:ext cx="990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Trang </a:t>
            </a:r>
            <a:fld id="{00000000-1234-1234-1234-123412341234}" type="slidenum">
              <a:rPr b="0" i="0" lang="en-US" sz="1600" u="none">
                <a:solidFill>
                  <a:schemeClr val="dk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9.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6.png"/><Relationship Id="rId4" Type="http://schemas.openxmlformats.org/officeDocument/2006/relationships/image" Target="../media/image1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2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7.png"/><Relationship Id="rId4" Type="http://schemas.openxmlformats.org/officeDocument/2006/relationships/image" Target="../media/image1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2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3.png"/><Relationship Id="rId4" Type="http://schemas.openxmlformats.org/officeDocument/2006/relationships/image" Target="../media/image2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nvSpPr>
        <p:spPr>
          <a:xfrm>
            <a:off x="0" y="10668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 name="Google Shape;59;p1"/>
          <p:cNvSpPr txBox="1"/>
          <p:nvPr/>
        </p:nvSpPr>
        <p:spPr>
          <a:xfrm>
            <a:off x="0" y="39624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 name="Google Shape;60;p1"/>
          <p:cNvSpPr/>
          <p:nvPr/>
        </p:nvSpPr>
        <p:spPr>
          <a:xfrm>
            <a:off x="4211637" y="2636837"/>
            <a:ext cx="1223962" cy="1223962"/>
          </a:xfrm>
          <a:prstGeom prst="ellipse">
            <a:avLst/>
          </a:prstGeom>
          <a:solidFill>
            <a:srgbClr val="1BABE5">
              <a:alpha val="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1" name="Google Shape;61;p1"/>
          <p:cNvPicPr preferRelativeResize="0"/>
          <p:nvPr/>
        </p:nvPicPr>
        <p:blipFill rotWithShape="1">
          <a:blip r:embed="rId3">
            <a:alphaModFix/>
          </a:blip>
          <a:srcRect b="0" l="0" r="0" t="0"/>
          <a:stretch/>
        </p:blipFill>
        <p:spPr>
          <a:xfrm>
            <a:off x="152400" y="0"/>
            <a:ext cx="914400" cy="1003300"/>
          </a:xfrm>
          <a:prstGeom prst="rect">
            <a:avLst/>
          </a:prstGeom>
          <a:noFill/>
          <a:ln>
            <a:noFill/>
          </a:ln>
        </p:spPr>
      </p:pic>
      <p:grpSp>
        <p:nvGrpSpPr>
          <p:cNvPr id="62" name="Google Shape;62;p1"/>
          <p:cNvGrpSpPr/>
          <p:nvPr/>
        </p:nvGrpSpPr>
        <p:grpSpPr>
          <a:xfrm>
            <a:off x="52387" y="1004887"/>
            <a:ext cx="3529012" cy="3671887"/>
            <a:chOff x="612" y="1026"/>
            <a:chExt cx="2223" cy="2313"/>
          </a:xfrm>
        </p:grpSpPr>
        <p:sp>
          <p:nvSpPr>
            <p:cNvPr id="63" name="Google Shape;63;p1"/>
            <p:cNvSpPr/>
            <p:nvPr/>
          </p:nvSpPr>
          <p:spPr>
            <a:xfrm>
              <a:off x="612" y="1026"/>
              <a:ext cx="2223" cy="2313"/>
            </a:xfrm>
            <a:prstGeom prst="ellipse">
              <a:avLst/>
            </a:prstGeom>
            <a:solidFill>
              <a:schemeClr val="accent2"/>
            </a:solidFill>
            <a:ln cap="flat" cmpd="sng" w="38100">
              <a:solidFill>
                <a:schemeClr val="lt1"/>
              </a:solidFill>
              <a:prstDash val="solid"/>
              <a:miter lim="800000"/>
              <a:headEnd len="sm" w="sm" type="none"/>
              <a:tailEnd len="sm" w="sm" type="none"/>
            </a:ln>
            <a:effectLst>
              <a:outerShdw blurRad="63500" dir="2700000" dist="89802">
                <a:srgbClr val="000000">
                  <a:alpha val="1882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HV_toancanh" id="64" name="Google Shape;64;p1"/>
            <p:cNvPicPr preferRelativeResize="0"/>
            <p:nvPr/>
          </p:nvPicPr>
          <p:blipFill rotWithShape="1">
            <a:blip r:embed="rId4">
              <a:alphaModFix/>
            </a:blip>
            <a:srcRect b="0" l="0" r="0" t="0"/>
            <a:stretch/>
          </p:blipFill>
          <p:spPr>
            <a:xfrm>
              <a:off x="816" y="1530"/>
              <a:ext cx="1776" cy="1350"/>
            </a:xfrm>
            <a:prstGeom prst="rect">
              <a:avLst/>
            </a:prstGeom>
            <a:noFill/>
            <a:ln>
              <a:noFill/>
            </a:ln>
          </p:spPr>
        </p:pic>
      </p:grpSp>
      <p:sp>
        <p:nvSpPr>
          <p:cNvPr id="65" name="Google Shape;65;p1"/>
          <p:cNvSpPr txBox="1"/>
          <p:nvPr/>
        </p:nvSpPr>
        <p:spPr>
          <a:xfrm>
            <a:off x="2362200" y="422275"/>
            <a:ext cx="63246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 HỌC VIỆN CÔNG NGHỆ BƯU CHÍNH VIỄN THÔNG </a:t>
            </a:r>
            <a:endParaRPr/>
          </a:p>
        </p:txBody>
      </p:sp>
      <p:sp>
        <p:nvSpPr>
          <p:cNvPr id="66" name="Google Shape;66;p1"/>
          <p:cNvSpPr txBox="1"/>
          <p:nvPr/>
        </p:nvSpPr>
        <p:spPr>
          <a:xfrm>
            <a:off x="3276600" y="1905000"/>
            <a:ext cx="5867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BÀI GIẢNG MÔN</a:t>
            </a:r>
            <a:endParaRPr/>
          </a:p>
        </p:txBody>
      </p:sp>
      <p:sp>
        <p:nvSpPr>
          <p:cNvPr id="67" name="Google Shape;67;p1"/>
          <p:cNvSpPr txBox="1"/>
          <p:nvPr/>
        </p:nvSpPr>
        <p:spPr>
          <a:xfrm>
            <a:off x="3276600" y="2714625"/>
            <a:ext cx="6096000" cy="53498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HỆ ĐIỀU HÀNH</a:t>
            </a:r>
            <a:endParaRPr/>
          </a:p>
        </p:txBody>
      </p:sp>
      <p:sp>
        <p:nvSpPr>
          <p:cNvPr id="68" name="Google Shape;68;p1"/>
          <p:cNvSpPr txBox="1"/>
          <p:nvPr/>
        </p:nvSpPr>
        <p:spPr>
          <a:xfrm>
            <a:off x="1066800" y="5143500"/>
            <a:ext cx="7315200" cy="36988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Bộ môn: 		Khoa học máy tính- Khoa CNTT1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ph idx="1" type="body"/>
          </p:nvPr>
        </p:nvSpPr>
        <p:spPr>
          <a:xfrm>
            <a:off x="0" y="1554162"/>
            <a:ext cx="8991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ctr">
              <a:lnSpc>
                <a:spcPct val="100000"/>
              </a:lnSpc>
              <a:spcBef>
                <a:spcPts val="840"/>
              </a:spcBef>
              <a:spcAft>
                <a:spcPts val="0"/>
              </a:spcAft>
              <a:buClr>
                <a:schemeClr val="dk2"/>
              </a:buClr>
              <a:buSzPts val="4200"/>
              <a:buFont typeface="Noto Sans Symbols"/>
              <a:buNone/>
            </a:pPr>
            <a:r>
              <a:rPr b="0" i="0" lang="en-US" sz="4200" u="none" cap="none" strike="noStrike">
                <a:solidFill>
                  <a:schemeClr val="dk2"/>
                </a:solidFill>
                <a:latin typeface="Times New Roman"/>
                <a:ea typeface="Times New Roman"/>
                <a:cs typeface="Times New Roman"/>
                <a:sym typeface="Times New Roman"/>
              </a:rPr>
              <a:t>CHƯƠNG 4: QUẢN LÝ TIẾN TRÌNH</a:t>
            </a:r>
            <a:endParaRPr/>
          </a:p>
        </p:txBody>
      </p:sp>
      <p:sp>
        <p:nvSpPr>
          <p:cNvPr id="75" name="Google Shape;75;p2"/>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t/>
            </a:r>
            <a:endParaRPr b="1" sz="2400">
              <a:solidFill>
                <a:srgbClr val="000066"/>
              </a:solidFill>
              <a:latin typeface="Arial"/>
              <a:ea typeface="Arial"/>
              <a:cs typeface="Arial"/>
              <a:sym typeface="Arial"/>
            </a:endParaRPr>
          </a:p>
        </p:txBody>
      </p:sp>
      <p:sp>
        <p:nvSpPr>
          <p:cNvPr id="76" name="Google Shape;76;p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idx="1" type="body"/>
          </p:nvPr>
        </p:nvSpPr>
        <p:spPr>
          <a:xfrm>
            <a:off x="304800" y="1447800"/>
            <a:ext cx="8686800" cy="48006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Các khái niệm liên quan đến tiến trình</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Luồng (thread)</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Điều độ tiến trình</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Đồng bộ hóa các tiến trình đồng thời</a:t>
            </a:r>
            <a:endParaRPr/>
          </a:p>
          <a:p>
            <a:pPr indent="-514350" lvl="0" marL="514350" marR="0" rtl="0" algn="l">
              <a:lnSpc>
                <a:spcPct val="100000"/>
              </a:lnSpc>
              <a:spcBef>
                <a:spcPts val="720"/>
              </a:spcBef>
              <a:spcAft>
                <a:spcPts val="0"/>
              </a:spcAft>
              <a:buClr>
                <a:schemeClr val="dk2"/>
              </a:buClr>
              <a:buSzPts val="3600"/>
              <a:buFont typeface="Noto Sans Symbols"/>
              <a:buAutoNum type="arabicPeriod"/>
            </a:pPr>
            <a:r>
              <a:rPr b="0" i="0" lang="en-US" sz="3600" u="none" cap="none" strike="noStrike">
                <a:solidFill>
                  <a:schemeClr val="dk2"/>
                </a:solidFill>
                <a:latin typeface="Times New Roman"/>
                <a:ea typeface="Times New Roman"/>
                <a:cs typeface="Times New Roman"/>
                <a:sym typeface="Times New Roman"/>
              </a:rPr>
              <a:t>Tình trạng bế tắc và đói</a:t>
            </a:r>
            <a:endParaRPr/>
          </a:p>
          <a:p>
            <a:pPr indent="-114300" lvl="0" marL="342900" marR="0" rtl="0" algn="l">
              <a:spcBef>
                <a:spcPts val="720"/>
              </a:spcBef>
              <a:spcAft>
                <a:spcPts val="0"/>
              </a:spcAft>
              <a:buClr>
                <a:schemeClr val="dk2"/>
              </a:buClr>
              <a:buSzPts val="3600"/>
              <a:buFont typeface="Noto Sans Symbols"/>
              <a:buNone/>
            </a:pPr>
            <a:r>
              <a:t/>
            </a:r>
            <a:endParaRPr b="0" i="0" sz="3600" u="none">
              <a:solidFill>
                <a:schemeClr val="dk2"/>
              </a:solidFill>
              <a:latin typeface="Times New Roman"/>
              <a:ea typeface="Times New Roman"/>
              <a:cs typeface="Times New Roman"/>
              <a:sym typeface="Times New Roman"/>
            </a:endParaRPr>
          </a:p>
        </p:txBody>
      </p:sp>
      <p:sp>
        <p:nvSpPr>
          <p:cNvPr id="83" name="Google Shape;83;p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3200"/>
              <a:buFont typeface="Times New Roman"/>
              <a:buNone/>
            </a:pPr>
            <a:r>
              <a:rPr b="1" i="0" lang="en-US" sz="3200" u="none">
                <a:solidFill>
                  <a:srgbClr val="000066"/>
                </a:solidFill>
                <a:latin typeface="Times New Roman"/>
                <a:ea typeface="Times New Roman"/>
                <a:cs typeface="Times New Roman"/>
                <a:sym typeface="Times New Roman"/>
              </a:rPr>
              <a:t>NỘI DUNG</a:t>
            </a:r>
            <a:endParaRPr/>
          </a:p>
        </p:txBody>
      </p:sp>
      <p:sp>
        <p:nvSpPr>
          <p:cNvPr id="84" name="Google Shape;84;p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ph idx="1" type="body"/>
          </p:nvPr>
        </p:nvSpPr>
        <p:spPr>
          <a:xfrm>
            <a:off x="228600" y="914400"/>
            <a:ext cx="8763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Tiến trình là một chương trình đang trong quá trình thực hiện</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được sinh ra khi chương trình được tải vào bộ nhớ để thực hiện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người dùng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hệ thống</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1" name="Google Shape;91;p4"/>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Tiến trình là gì?</a:t>
            </a:r>
            <a:endParaRPr/>
          </a:p>
        </p:txBody>
      </p:sp>
      <p:sp>
        <p:nvSpPr>
          <p:cNvPr id="92" name="Google Shape;92;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 name="Google Shape;93;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 name="Google Shape;94;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5" name="Google Shape;95;p4"/>
          <p:cNvGraphicFramePr/>
          <p:nvPr/>
        </p:nvGraphicFramePr>
        <p:xfrm>
          <a:off x="228600" y="1943100"/>
          <a:ext cx="3000000" cy="3000000"/>
        </p:xfrm>
        <a:graphic>
          <a:graphicData uri="http://schemas.openxmlformats.org/drawingml/2006/table">
            <a:tbl>
              <a:tblPr>
                <a:noFill/>
                <a:tableStyleId>{4128A9BA-1566-4610-BFC4-80AE836C2761}</a:tableStyleId>
              </a:tblPr>
              <a:tblGrid>
                <a:gridCol w="4305300"/>
                <a:gridCol w="4305300"/>
              </a:tblGrid>
              <a:tr h="533400">
                <a:tc>
                  <a:txBody>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Chương trình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Tiến trình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3340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Thực thể tĩnh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Thực thể động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1189025">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Không sở hữu tài nguyên cụ thể</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Được cấp một số tài nguyên để chứa tiến trình và thực hiện lệnh</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bl>
          </a:graphicData>
        </a:graphic>
      </p:graphicFrame>
      <p:sp>
        <p:nvSpPr>
          <p:cNvPr id="96" name="Google Shape;96;p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idx="1" type="body"/>
          </p:nvPr>
        </p:nvSpPr>
        <p:spPr>
          <a:xfrm>
            <a:off x="0" y="838200"/>
            <a:ext cx="9296400" cy="213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Phân biệt theo 2 trạng thái: chạy và không chạy</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Không phản ánh đầy đủ thông tin về trạng thái tiến trình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Mô hình 5 trạng thái: </a:t>
            </a:r>
            <a:r>
              <a:rPr b="0" i="1" lang="en-US" sz="2800" u="none">
                <a:solidFill>
                  <a:schemeClr val="dk2"/>
                </a:solidFill>
                <a:latin typeface="Times New Roman"/>
                <a:ea typeface="Times New Roman"/>
                <a:cs typeface="Times New Roman"/>
                <a:sym typeface="Times New Roman"/>
              </a:rPr>
              <a:t>mới khởi tạo, sẵn sàng, chạy, chờ đợi, kết thúc</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 name="Google Shape;103;p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3200"/>
              <a:buFont typeface="Times New Roman"/>
              <a:buNone/>
            </a:pPr>
            <a:r>
              <a:rPr b="1" i="0" lang="en-US" sz="2700" u="none">
                <a:solidFill>
                  <a:srgbClr val="000066"/>
                </a:solidFill>
                <a:latin typeface="Times New Roman"/>
                <a:ea typeface="Times New Roman"/>
                <a:cs typeface="Times New Roman"/>
                <a:sym typeface="Times New Roman"/>
              </a:rPr>
              <a:t>I. CÁC KHÁI NIỆM LIÊN QUAN ĐẾN TIẾN TRÌNH </a:t>
            </a:r>
            <a:br>
              <a:rPr b="1" i="0" lang="en-US" sz="3100" u="none">
                <a:solidFill>
                  <a:srgbClr val="000066"/>
                </a:solidFill>
                <a:latin typeface="Times New Roman"/>
                <a:ea typeface="Times New Roman"/>
                <a:cs typeface="Times New Roman"/>
                <a:sym typeface="Times New Roman"/>
              </a:rPr>
            </a:br>
            <a:r>
              <a:rPr b="1" i="0" lang="en-US" sz="2300" u="none">
                <a:solidFill>
                  <a:srgbClr val="000066"/>
                </a:solidFill>
                <a:latin typeface="Times New Roman"/>
                <a:ea typeface="Times New Roman"/>
                <a:cs typeface="Times New Roman"/>
                <a:sym typeface="Times New Roman"/>
              </a:rPr>
              <a:t>2.  Trạng thái của tiến trình</a:t>
            </a:r>
            <a:endParaRPr sz="1900"/>
          </a:p>
        </p:txBody>
      </p:sp>
      <p:sp>
        <p:nvSpPr>
          <p:cNvPr id="104" name="Google Shape;104;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5"/>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07" name="Google Shape;107;p5"/>
          <p:cNvGrpSpPr/>
          <p:nvPr/>
        </p:nvGrpSpPr>
        <p:grpSpPr>
          <a:xfrm>
            <a:off x="4292600" y="2971800"/>
            <a:ext cx="4776787" cy="2308225"/>
            <a:chOff x="2007" y="4939"/>
            <a:chExt cx="8361" cy="3636"/>
          </a:xfrm>
        </p:grpSpPr>
        <p:sp>
          <p:nvSpPr>
            <p:cNvPr id="108" name="Google Shape;108;p5"/>
            <p:cNvSpPr/>
            <p:nvPr/>
          </p:nvSpPr>
          <p:spPr>
            <a:xfrm>
              <a:off x="2007" y="4939"/>
              <a:ext cx="8361" cy="3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 name="Google Shape;109;p5"/>
            <p:cNvSpPr/>
            <p:nvPr/>
          </p:nvSpPr>
          <p:spPr>
            <a:xfrm rot="7620000">
              <a:off x="5640" y="563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 name="Google Shape;110;p5"/>
            <p:cNvSpPr/>
            <p:nvPr/>
          </p:nvSpPr>
          <p:spPr>
            <a:xfrm>
              <a:off x="2140" y="5644"/>
              <a:ext cx="1348" cy="99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Mới khởi tạo</a:t>
              </a:r>
              <a:endParaRPr/>
            </a:p>
          </p:txBody>
        </p:sp>
        <p:sp>
          <p:nvSpPr>
            <p:cNvPr id="111" name="Google Shape;111;p5"/>
            <p:cNvSpPr/>
            <p:nvPr/>
          </p:nvSpPr>
          <p:spPr>
            <a:xfrm>
              <a:off x="4158" y="5644"/>
              <a:ext cx="1331"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Sẵn sàng</a:t>
              </a:r>
              <a:endParaRPr/>
            </a:p>
          </p:txBody>
        </p:sp>
        <p:sp>
          <p:nvSpPr>
            <p:cNvPr id="112" name="Google Shape;112;p5"/>
            <p:cNvSpPr/>
            <p:nvPr/>
          </p:nvSpPr>
          <p:spPr>
            <a:xfrm>
              <a:off x="6753" y="5644"/>
              <a:ext cx="1328" cy="91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Chạy</a:t>
              </a:r>
              <a:endParaRPr/>
            </a:p>
          </p:txBody>
        </p:sp>
        <p:sp>
          <p:nvSpPr>
            <p:cNvPr id="113" name="Google Shape;113;p5"/>
            <p:cNvSpPr/>
            <p:nvPr/>
          </p:nvSpPr>
          <p:spPr>
            <a:xfrm>
              <a:off x="8784" y="5664"/>
              <a:ext cx="1328" cy="91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Kết thúc</a:t>
              </a:r>
              <a:endParaRPr/>
            </a:p>
          </p:txBody>
        </p:sp>
        <p:sp>
          <p:nvSpPr>
            <p:cNvPr id="114" name="Google Shape;114;p5"/>
            <p:cNvSpPr/>
            <p:nvPr/>
          </p:nvSpPr>
          <p:spPr>
            <a:xfrm>
              <a:off x="5425" y="7342"/>
              <a:ext cx="1328"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Chờ đợi</a:t>
              </a:r>
              <a:endParaRPr/>
            </a:p>
          </p:txBody>
        </p:sp>
        <p:cxnSp>
          <p:nvCxnSpPr>
            <p:cNvPr id="115" name="Google Shape;115;p5"/>
            <p:cNvCxnSpPr/>
            <p:nvPr/>
          </p:nvCxnSpPr>
          <p:spPr>
            <a:xfrm>
              <a:off x="3469" y="610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116" name="Google Shape;116;p5"/>
            <p:cNvCxnSpPr/>
            <p:nvPr/>
          </p:nvCxnSpPr>
          <p:spPr>
            <a:xfrm>
              <a:off x="8082" y="609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117" name="Google Shape;117;p5"/>
            <p:cNvSpPr/>
            <p:nvPr/>
          </p:nvSpPr>
          <p:spPr>
            <a:xfrm rot="-3180000">
              <a:off x="5464" y="533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 name="Google Shape;118;p5"/>
            <p:cNvSpPr/>
            <p:nvPr/>
          </p:nvSpPr>
          <p:spPr>
            <a:xfrm flipH="1" rot="-4800000">
              <a:off x="4677" y="663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 name="Google Shape;119;p5"/>
            <p:cNvSpPr/>
            <p:nvPr/>
          </p:nvSpPr>
          <p:spPr>
            <a:xfrm flipH="1" rot="10440000">
              <a:off x="6394" y="662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 name="Google Shape;120;p5"/>
            <p:cNvSpPr txBox="1"/>
            <p:nvPr/>
          </p:nvSpPr>
          <p:spPr>
            <a:xfrm>
              <a:off x="5522" y="5272"/>
              <a:ext cx="1498" cy="2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Điều độ CPU</a:t>
              </a:r>
              <a:endParaRPr/>
            </a:p>
          </p:txBody>
        </p:sp>
        <p:sp>
          <p:nvSpPr>
            <p:cNvPr id="121" name="Google Shape;121;p5"/>
            <p:cNvSpPr txBox="1"/>
            <p:nvPr/>
          </p:nvSpPr>
          <p:spPr>
            <a:xfrm>
              <a:off x="5533" y="6634"/>
              <a:ext cx="1245" cy="37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Ngắt</a:t>
              </a:r>
              <a:endParaRPr/>
            </a:p>
          </p:txBody>
        </p:sp>
        <p:sp>
          <p:nvSpPr>
            <p:cNvPr id="122" name="Google Shape;122;p5"/>
            <p:cNvSpPr txBox="1"/>
            <p:nvPr/>
          </p:nvSpPr>
          <p:spPr>
            <a:xfrm>
              <a:off x="7400" y="6967"/>
              <a:ext cx="1245" cy="5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Vào/ra hoặc chờ sự kiện</a:t>
              </a:r>
              <a:endParaRPr/>
            </a:p>
          </p:txBody>
        </p:sp>
        <p:sp>
          <p:nvSpPr>
            <p:cNvPr id="123" name="Google Shape;123;p5"/>
            <p:cNvSpPr txBox="1"/>
            <p:nvPr/>
          </p:nvSpPr>
          <p:spPr>
            <a:xfrm>
              <a:off x="3780" y="6967"/>
              <a:ext cx="886" cy="5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Times New Roman"/>
                <a:buNone/>
              </a:pPr>
              <a:r>
                <a:rPr b="1" i="0" lang="en-US" sz="1000" u="none">
                  <a:solidFill>
                    <a:schemeClr val="dk1"/>
                  </a:solidFill>
                  <a:latin typeface="Times New Roman"/>
                  <a:ea typeface="Times New Roman"/>
                  <a:cs typeface="Times New Roman"/>
                  <a:sym typeface="Times New Roman"/>
                </a:rPr>
                <a:t>Kết thúc vào/ra </a:t>
              </a:r>
              <a:endParaRPr/>
            </a:p>
          </p:txBody>
        </p:sp>
      </p:grpSp>
      <p:sp>
        <p:nvSpPr>
          <p:cNvPr id="124" name="Google Shape;124;p5"/>
          <p:cNvSpPr txBox="1"/>
          <p:nvPr/>
        </p:nvSpPr>
        <p:spPr>
          <a:xfrm>
            <a:off x="0" y="2819400"/>
            <a:ext cx="4419600" cy="3505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Mới khởi tạo: tiến trình đang được tạo ra</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Sẵn sàng: tiến trình chờ được cấp CPU để thực hiện lệnh của mình</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lệnh của tiến trình được CPU thực hiện</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Chờ đợi: tiến trình chờ đợi một sự kiện gì đó xảy ra (blocked)</a:t>
            </a:r>
            <a:endParaRPr/>
          </a:p>
          <a:p>
            <a:pPr indent="-342900" lvl="0" marL="342900" marR="0" rtl="0" algn="l">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Kết thúc: tiến trình đã kết thúc việc thực hiện nhưng vẫn chưa bị xóa</a:t>
            </a:r>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5" name="Google Shape;125;p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 name="Google Shape;126;p5"/>
          <p:cNvSpPr txBox="1"/>
          <p:nvPr/>
        </p:nvSpPr>
        <p:spPr>
          <a:xfrm>
            <a:off x="4292600" y="5280025"/>
            <a:ext cx="47767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Sơ đồ chuyển đổi trạng thái của tiến trình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5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5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5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5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500"/>
                                        <p:tgtEl>
                                          <p:spTgt spid="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animEffect filter="fade" transition="in">
                                      <p:cBhvr>
                                        <p:cTn dur="500"/>
                                        <p:tgtEl>
                                          <p:spTgt spid="1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animEffect filter="fade" transition="in">
                                      <p:cBhvr>
                                        <p:cTn dur="500"/>
                                        <p:tgtEl>
                                          <p:spTgt spid="1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animEffect filter="fade" transition="in">
                                      <p:cBhvr>
                                        <p:cTn dur="500"/>
                                        <p:tgtEl>
                                          <p:spTgt spid="1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5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5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Effect filter="fade" transition="in">
                                      <p:cBhvr>
                                        <p:cTn dur="500"/>
                                        <p:tgtEl>
                                          <p:spTgt spid="1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animEffect filter="fade" transition="in">
                                      <p:cBhvr>
                                        <p:cTn dur="500"/>
                                        <p:tgtEl>
                                          <p:spTgt spid="1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animEffect filter="fade" transition="in">
                                      <p:cBhvr>
                                        <p:cTn dur="500"/>
                                        <p:tgtEl>
                                          <p:spTgt spid="1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animEffect filter="fade" transition="in">
                                      <p:cBhvr>
                                        <p:cTn dur="500"/>
                                        <p:tgtEl>
                                          <p:spTgt spid="1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9" st="9"/>
                                            </p:txEl>
                                          </p:spTgt>
                                        </p:tgtEl>
                                        <p:attrNameLst>
                                          <p:attrName>style.visibility</p:attrName>
                                        </p:attrNameLst>
                                      </p:cBhvr>
                                      <p:to>
                                        <p:strVal val="visible"/>
                                      </p:to>
                                    </p:set>
                                    <p:animEffect filter="fade" transition="in">
                                      <p:cBhvr>
                                        <p:cTn dur="500"/>
                                        <p:tgtEl>
                                          <p:spTgt spid="12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Trạng thái của tiến trình</a:t>
            </a:r>
            <a:endParaRPr/>
          </a:p>
        </p:txBody>
      </p:sp>
      <p:sp>
        <p:nvSpPr>
          <p:cNvPr id="133" name="Google Shape;133;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 name="Google Shape;134;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 name="Google Shape;135;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36" name="Google Shape;136;p6"/>
          <p:cNvGrpSpPr/>
          <p:nvPr/>
        </p:nvGrpSpPr>
        <p:grpSpPr>
          <a:xfrm>
            <a:off x="4343400" y="1654175"/>
            <a:ext cx="4927600" cy="2308225"/>
            <a:chOff x="2007" y="4939"/>
            <a:chExt cx="8361" cy="3636"/>
          </a:xfrm>
        </p:grpSpPr>
        <p:sp>
          <p:nvSpPr>
            <p:cNvPr id="137" name="Google Shape;137;p6"/>
            <p:cNvSpPr/>
            <p:nvPr/>
          </p:nvSpPr>
          <p:spPr>
            <a:xfrm>
              <a:off x="2007" y="4939"/>
              <a:ext cx="8361" cy="3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6"/>
            <p:cNvSpPr/>
            <p:nvPr/>
          </p:nvSpPr>
          <p:spPr>
            <a:xfrm rot="7620000">
              <a:off x="5640" y="563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6"/>
            <p:cNvSpPr/>
            <p:nvPr/>
          </p:nvSpPr>
          <p:spPr>
            <a:xfrm>
              <a:off x="2141" y="5643"/>
              <a:ext cx="1328" cy="91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Mới khởi tạo</a:t>
              </a:r>
              <a:endParaRPr/>
            </a:p>
          </p:txBody>
        </p:sp>
        <p:sp>
          <p:nvSpPr>
            <p:cNvPr id="140" name="Google Shape;140;p6"/>
            <p:cNvSpPr/>
            <p:nvPr/>
          </p:nvSpPr>
          <p:spPr>
            <a:xfrm>
              <a:off x="4159" y="5644"/>
              <a:ext cx="1329"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Sẵn sàng</a:t>
              </a:r>
              <a:endParaRPr/>
            </a:p>
          </p:txBody>
        </p:sp>
        <p:sp>
          <p:nvSpPr>
            <p:cNvPr id="141" name="Google Shape;141;p6"/>
            <p:cNvSpPr/>
            <p:nvPr/>
          </p:nvSpPr>
          <p:spPr>
            <a:xfrm>
              <a:off x="6753" y="5643"/>
              <a:ext cx="1329"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Chạy</a:t>
              </a:r>
              <a:endParaRPr/>
            </a:p>
          </p:txBody>
        </p:sp>
        <p:sp>
          <p:nvSpPr>
            <p:cNvPr id="142" name="Google Shape;142;p6"/>
            <p:cNvSpPr/>
            <p:nvPr/>
          </p:nvSpPr>
          <p:spPr>
            <a:xfrm>
              <a:off x="8783" y="5663"/>
              <a:ext cx="1329"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Kết thúc</a:t>
              </a:r>
              <a:endParaRPr/>
            </a:p>
          </p:txBody>
        </p:sp>
        <p:sp>
          <p:nvSpPr>
            <p:cNvPr id="143" name="Google Shape;143;p6"/>
            <p:cNvSpPr/>
            <p:nvPr/>
          </p:nvSpPr>
          <p:spPr>
            <a:xfrm>
              <a:off x="5424" y="7343"/>
              <a:ext cx="1329" cy="913"/>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Chờ đợi</a:t>
              </a:r>
              <a:endParaRPr/>
            </a:p>
          </p:txBody>
        </p:sp>
        <p:cxnSp>
          <p:nvCxnSpPr>
            <p:cNvPr id="144" name="Google Shape;144;p6"/>
            <p:cNvCxnSpPr/>
            <p:nvPr/>
          </p:nvCxnSpPr>
          <p:spPr>
            <a:xfrm>
              <a:off x="3469" y="610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145" name="Google Shape;145;p6"/>
            <p:cNvCxnSpPr/>
            <p:nvPr/>
          </p:nvCxnSpPr>
          <p:spPr>
            <a:xfrm>
              <a:off x="8082" y="609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146" name="Google Shape;146;p6"/>
            <p:cNvSpPr/>
            <p:nvPr/>
          </p:nvSpPr>
          <p:spPr>
            <a:xfrm rot="-3180000">
              <a:off x="5464" y="533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7" name="Google Shape;147;p6"/>
            <p:cNvSpPr/>
            <p:nvPr/>
          </p:nvSpPr>
          <p:spPr>
            <a:xfrm flipH="1" rot="-4800000">
              <a:off x="4677" y="663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6"/>
            <p:cNvSpPr/>
            <p:nvPr/>
          </p:nvSpPr>
          <p:spPr>
            <a:xfrm flipH="1" rot="10440000">
              <a:off x="6394" y="662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9" name="Google Shape;149;p6"/>
            <p:cNvSpPr txBox="1"/>
            <p:nvPr/>
          </p:nvSpPr>
          <p:spPr>
            <a:xfrm>
              <a:off x="5521" y="5272"/>
              <a:ext cx="1244" cy="37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Điều độ CPU</a:t>
              </a:r>
              <a:endParaRPr/>
            </a:p>
          </p:txBody>
        </p:sp>
        <p:sp>
          <p:nvSpPr>
            <p:cNvPr id="150" name="Google Shape;150;p6"/>
            <p:cNvSpPr txBox="1"/>
            <p:nvPr/>
          </p:nvSpPr>
          <p:spPr>
            <a:xfrm>
              <a:off x="5533" y="6635"/>
              <a:ext cx="1244" cy="3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Ngắt</a:t>
              </a:r>
              <a:endParaRPr/>
            </a:p>
          </p:txBody>
        </p:sp>
        <p:sp>
          <p:nvSpPr>
            <p:cNvPr id="151" name="Google Shape;151;p6"/>
            <p:cNvSpPr txBox="1"/>
            <p:nvPr/>
          </p:nvSpPr>
          <p:spPr>
            <a:xfrm>
              <a:off x="7401" y="6967"/>
              <a:ext cx="1244" cy="5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Vào/ra hoặc chờ sự kiện</a:t>
              </a:r>
              <a:endParaRPr/>
            </a:p>
          </p:txBody>
        </p:sp>
        <p:sp>
          <p:nvSpPr>
            <p:cNvPr id="152" name="Google Shape;152;p6"/>
            <p:cNvSpPr txBox="1"/>
            <p:nvPr/>
          </p:nvSpPr>
          <p:spPr>
            <a:xfrm>
              <a:off x="3780" y="6967"/>
              <a:ext cx="886" cy="5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Kết thúc vào/ra </a:t>
              </a:r>
              <a:endParaRPr/>
            </a:p>
          </p:txBody>
        </p:sp>
      </p:grpSp>
      <p:sp>
        <p:nvSpPr>
          <p:cNvPr id="153" name="Google Shape;153;p6"/>
          <p:cNvSpPr txBox="1"/>
          <p:nvPr/>
        </p:nvSpPr>
        <p:spPr>
          <a:xfrm>
            <a:off x="-76200" y="762000"/>
            <a:ext cx="4498975"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Khởi tạo -&gt; sẵn sàng: tiến trình khởi tạo xong và đã được tải vào bộ nhớ, chỉ chờ được cấp Cpu để chạy.</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Sẵn sàng -&gt; chạy: do kết quả điều độ CPU của hđh, tiến trình được HDH cấp phát CPU và chuyển sang trạng thái chạy</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sẵn sàng: HĐH cấp phát CPU cho tiến trình khác, do kết quả điều độ/do ngắt xảy ra, tiến trình hiện thời chuyển sang trạng thái sẵn sàng và chờ được cấp CPU để chạy tiếp.</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chờ đợi: Khi tiến trình đó chỉ chạy khi có 1 sự kiện nào đó xảy ra, chuyển sang tt chờ được phân phối Cpu để chạy tiếp.</a:t>
            </a:r>
            <a:endParaRPr/>
          </a:p>
          <a:p>
            <a:pPr indent="-342900" lvl="0" marL="342900" marR="0" rtl="0" algn="just">
              <a:lnSpc>
                <a:spcPct val="100000"/>
              </a:lnSpc>
              <a:spcBef>
                <a:spcPts val="400"/>
              </a:spcBef>
              <a:spcAft>
                <a:spcPts val="0"/>
              </a:spcAft>
              <a:buClr>
                <a:schemeClr val="accent1"/>
              </a:buClr>
              <a:buSzPts val="1400"/>
              <a:buFont typeface="Noto Sans Symbols"/>
              <a:buChar char="▪"/>
            </a:pPr>
            <a:r>
              <a:rPr b="0" i="0" lang="en-US" sz="2000" u="none">
                <a:solidFill>
                  <a:schemeClr val="dk2"/>
                </a:solidFill>
                <a:latin typeface="Times New Roman"/>
                <a:ea typeface="Times New Roman"/>
                <a:cs typeface="Times New Roman"/>
                <a:sym typeface="Times New Roman"/>
              </a:rPr>
              <a:t>Chạy -&gt; end: khi TT đã thực hiện xong.</a:t>
            </a:r>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54" name="Google Shape;154;p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5" name="Google Shape;155;p6"/>
          <p:cNvSpPr txBox="1"/>
          <p:nvPr/>
        </p:nvSpPr>
        <p:spPr>
          <a:xfrm>
            <a:off x="4268787" y="3835400"/>
            <a:ext cx="47767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Sơ đồ chuyển đổi trạng thái của tiến trình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 type="body"/>
          </p:nvPr>
        </p:nvSpPr>
        <p:spPr>
          <a:xfrm>
            <a:off x="-152400" y="609600"/>
            <a:ext cx="9296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có thể quản lý tiến trình, HĐH cần có các thông tin về tiến trình đó.  Thông tin của tiến trình được lưu trong một cấu trúc dữ liệu gọi là khối quản lý tiến trình - PCB (Process Control Block)</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thông tin chính trong PCB: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định danh của tiến trình (PID)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Trạng thái tiến trình: một trong năm trạng thái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Nội dung một số thanh ghi CPU:</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Thanh ghi con trỏ lệnh: trỏ tới lệnh tiếp theo</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Thanh ghi con trỏ ngăn xếp: lưu tham số/tình trạng hàm khi thực hiện lời gọi hàm/thủ tục của chương trình</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Các thanh ghi điều kiện và trạng thái: chứa trạng thái sau khi thực hiện phép toán logic/số học</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Các thanh ghi đa năng</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62" name="Google Shape;162;p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Thông tin mô tả tiến trình</a:t>
            </a:r>
            <a:endParaRPr/>
          </a:p>
        </p:txBody>
      </p:sp>
      <p:sp>
        <p:nvSpPr>
          <p:cNvPr id="163" name="Google Shape;163;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4" name="Google Shape;164;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5" name="Google Shape;165;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6" name="Google Shape;166;p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5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5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5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5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500"/>
                                        <p:tgtEl>
                                          <p:spTgt spid="1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Effect filter="fade" transition="in">
                                      <p:cBhvr>
                                        <p:cTn dur="500"/>
                                        <p:tgtEl>
                                          <p:spTgt spid="1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Effect filter="fade" transition="in">
                                      <p:cBhvr>
                                        <p:cTn dur="500"/>
                                        <p:tgtEl>
                                          <p:spTgt spid="1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Effect filter="fade" transition="in">
                                      <p:cBhvr>
                                        <p:cTn dur="500"/>
                                        <p:tgtEl>
                                          <p:spTgt spid="1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animEffect filter="fade" transition="in">
                                      <p:cBhvr>
                                        <p:cTn dur="500"/>
                                        <p:tgtEl>
                                          <p:spTgt spid="1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animEffect filter="fade" transition="in">
                                      <p:cBhvr>
                                        <p:cTn dur="500"/>
                                        <p:tgtEl>
                                          <p:spTgt spid="1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0" st="10"/>
                                            </p:txEl>
                                          </p:spTgt>
                                        </p:tgtEl>
                                        <p:attrNameLst>
                                          <p:attrName>style.visibility</p:attrName>
                                        </p:attrNameLst>
                                      </p:cBhvr>
                                      <p:to>
                                        <p:strVal val="visible"/>
                                      </p:to>
                                    </p:set>
                                    <p:animEffect filter="fade" transition="in">
                                      <p:cBhvr>
                                        <p:cTn dur="500"/>
                                        <p:tgtEl>
                                          <p:spTgt spid="1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1" st="11"/>
                                            </p:txEl>
                                          </p:spTgt>
                                        </p:tgtEl>
                                        <p:attrNameLst>
                                          <p:attrName>style.visibility</p:attrName>
                                        </p:attrNameLst>
                                      </p:cBhvr>
                                      <p:to>
                                        <p:strVal val="visible"/>
                                      </p:to>
                                    </p:set>
                                    <p:animEffect filter="fade" transition="in">
                                      <p:cBhvr>
                                        <p:cTn dur="500"/>
                                        <p:tgtEl>
                                          <p:spTgt spid="1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2" st="12"/>
                                            </p:txEl>
                                          </p:spTgt>
                                        </p:tgtEl>
                                        <p:attrNameLst>
                                          <p:attrName>style.visibility</p:attrName>
                                        </p:attrNameLst>
                                      </p:cBhvr>
                                      <p:to>
                                        <p:strVal val="visible"/>
                                      </p:to>
                                    </p:set>
                                    <p:animEffect filter="fade" transition="in">
                                      <p:cBhvr>
                                        <p:cTn dur="500"/>
                                        <p:tgtEl>
                                          <p:spTgt spid="1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3" st="13"/>
                                            </p:txEl>
                                          </p:spTgt>
                                        </p:tgtEl>
                                        <p:attrNameLst>
                                          <p:attrName>style.visibility</p:attrName>
                                        </p:attrNameLst>
                                      </p:cBhvr>
                                      <p:to>
                                        <p:strVal val="visible"/>
                                      </p:to>
                                    </p:set>
                                    <p:animEffect filter="fade" transition="in">
                                      <p:cBhvr>
                                        <p:cTn dur="500"/>
                                        <p:tgtEl>
                                          <p:spTgt spid="1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4" st="14"/>
                                            </p:txEl>
                                          </p:spTgt>
                                        </p:tgtEl>
                                        <p:attrNameLst>
                                          <p:attrName>style.visibility</p:attrName>
                                        </p:attrNameLst>
                                      </p:cBhvr>
                                      <p:to>
                                        <p:strVal val="visible"/>
                                      </p:to>
                                    </p:set>
                                    <p:animEffect filter="fade" transition="in">
                                      <p:cBhvr>
                                        <p:cTn dur="500"/>
                                        <p:tgtEl>
                                          <p:spTgt spid="1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5" st="15"/>
                                            </p:txEl>
                                          </p:spTgt>
                                        </p:tgtEl>
                                        <p:attrNameLst>
                                          <p:attrName>style.visibility</p:attrName>
                                        </p:attrNameLst>
                                      </p:cBhvr>
                                      <p:to>
                                        <p:strVal val="visible"/>
                                      </p:to>
                                    </p:set>
                                    <p:animEffect filter="fade" transition="in">
                                      <p:cBhvr>
                                        <p:cTn dur="500"/>
                                        <p:tgtEl>
                                          <p:spTgt spid="1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idx="1" type="body"/>
          </p:nvPr>
        </p:nvSpPr>
        <p:spPr>
          <a:xfrm>
            <a:off x="-152400" y="838200"/>
            <a:ext cx="9296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Lý do phải lưu lại các thanh ghi này trong PCB là do tiến trình có thể bị chuyển khỏi trạng thái chạy để nhường chỗ cho tiến trình khác. Khi tiến trình quay trời lại, HĐH sẽ dùng thông tin từ PCB để khôi phục lại nội dung các thanh ghi, cho phép tiến trình thực hiện lại từ trạng thái trước lúc dừng.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PCB: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phục vụ điều độ tiến trình: mức độ ưu tiên của tiến trình, vị trí trong hàng đợi,  lượng tài nguyên đang sở hữu…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về bộ nhớ của tiến trình: đang nằm ở đâu trong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Danh sách các tài nguyên khác: các file đang mở, thiết bị vào ra mà tiến trình sử dụng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thống kê phục vụ quản lý: thời gian sử dụng CPU, giới hạn thời gian</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73" name="Google Shape;173;p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Thông tin mô tả tiến trình</a:t>
            </a:r>
            <a:endParaRPr/>
          </a:p>
        </p:txBody>
      </p:sp>
      <p:sp>
        <p:nvSpPr>
          <p:cNvPr id="174" name="Google Shape;174;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5" name="Google Shape;175;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6" name="Google Shape;176;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7" name="Google Shape;177;p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5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5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5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5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5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5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animEffect filter="fade" transition="in">
                                      <p:cBhvr>
                                        <p:cTn dur="500"/>
                                        <p:tgtEl>
                                          <p:spTgt spid="1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7" st="7"/>
                                            </p:txEl>
                                          </p:spTgt>
                                        </p:tgtEl>
                                        <p:attrNameLst>
                                          <p:attrName>style.visibility</p:attrName>
                                        </p:attrNameLst>
                                      </p:cBhvr>
                                      <p:to>
                                        <p:strVal val="visible"/>
                                      </p:to>
                                    </p:set>
                                    <p:animEffect filter="fade" transition="in">
                                      <p:cBhvr>
                                        <p:cTn dur="500"/>
                                        <p:tgtEl>
                                          <p:spTgt spid="1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8" st="8"/>
                                            </p:txEl>
                                          </p:spTgt>
                                        </p:tgtEl>
                                        <p:attrNameLst>
                                          <p:attrName>style.visibility</p:attrName>
                                        </p:attrNameLst>
                                      </p:cBhvr>
                                      <p:to>
                                        <p:strVal val="visible"/>
                                      </p:to>
                                    </p:set>
                                    <p:animEffect filter="fade" transition="in">
                                      <p:cBhvr>
                                        <p:cTn dur="500"/>
                                        <p:tgtEl>
                                          <p:spTgt spid="1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9" st="9"/>
                                            </p:txEl>
                                          </p:spTgt>
                                        </p:tgtEl>
                                        <p:attrNameLst>
                                          <p:attrName>style.visibility</p:attrName>
                                        </p:attrNameLst>
                                      </p:cBhvr>
                                      <p:to>
                                        <p:strVal val="visible"/>
                                      </p:to>
                                    </p:set>
                                    <p:animEffect filter="fade" transition="in">
                                      <p:cBhvr>
                                        <p:cTn dur="500"/>
                                        <p:tgtEl>
                                          <p:spTgt spid="1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0" st="10"/>
                                            </p:txEl>
                                          </p:spTgt>
                                        </p:tgtEl>
                                        <p:attrNameLst>
                                          <p:attrName>style.visibility</p:attrName>
                                        </p:attrNameLst>
                                      </p:cBhvr>
                                      <p:to>
                                        <p:strVal val="visible"/>
                                      </p:to>
                                    </p:set>
                                    <p:animEffect filter="fade" transition="in">
                                      <p:cBhvr>
                                        <p:cTn dur="500"/>
                                        <p:tgtEl>
                                          <p:spTgt spid="1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1" st="11"/>
                                            </p:txEl>
                                          </p:spTgt>
                                        </p:tgtEl>
                                        <p:attrNameLst>
                                          <p:attrName>style.visibility</p:attrName>
                                        </p:attrNameLst>
                                      </p:cBhvr>
                                      <p:to>
                                        <p:strVal val="visible"/>
                                      </p:to>
                                    </p:set>
                                    <p:animEffect filter="fade" transition="in">
                                      <p:cBhvr>
                                        <p:cTn dur="500"/>
                                        <p:tgtEl>
                                          <p:spTgt spid="1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2" st="12"/>
                                            </p:txEl>
                                          </p:spTgt>
                                        </p:tgtEl>
                                        <p:attrNameLst>
                                          <p:attrName>style.visibility</p:attrName>
                                        </p:attrNameLst>
                                      </p:cBhvr>
                                      <p:to>
                                        <p:strVal val="visible"/>
                                      </p:to>
                                    </p:set>
                                    <p:animEffect filter="fade" transition="in">
                                      <p:cBhvr>
                                        <p:cTn dur="500"/>
                                        <p:tgtEl>
                                          <p:spTgt spid="17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idx="1" type="body"/>
          </p:nvPr>
        </p:nvSpPr>
        <p:spPr>
          <a:xfrm>
            <a:off x="-34925" y="796925"/>
            <a:ext cx="9296400" cy="2105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quản lý, HĐH cần biết vị trí các PCB. HĐH sử dụng bảng tiến trình chứa con trỏ tới PCB của toàn bộ tiến trình có trong hệ thống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Ngoài ra, PCB của các tiến trình cùng trạng thái hoặc cùng chờ 1 tài nguyên nào đó được liên kết thành 1 danh sách, mỗi danh sách gồm một số tiến trình cùng trạng thái.</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84" name="Google Shape;184;p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400"/>
              <a:buFont typeface="Times New Roman"/>
              <a:buNone/>
            </a:pPr>
            <a:r>
              <a:rPr i="0" lang="en-US" sz="2400" u="none">
                <a:solidFill>
                  <a:srgbClr val="000066"/>
                </a:solidFill>
                <a:latin typeface="Times New Roman"/>
                <a:ea typeface="Times New Roman"/>
                <a:cs typeface="Times New Roman"/>
                <a:sym typeface="Times New Roman"/>
              </a:rPr>
              <a:t>I. CÁC KHÁI NIỆM LIÊN QUAN ĐẾN TIẾN TRÌNH </a:t>
            </a:r>
            <a:br>
              <a:rPr i="0" lang="en-US" sz="2800" u="none">
                <a:solidFill>
                  <a:srgbClr val="000066"/>
                </a:solidFill>
                <a:latin typeface="Times New Roman"/>
                <a:ea typeface="Times New Roman"/>
                <a:cs typeface="Times New Roman"/>
                <a:sym typeface="Times New Roman"/>
              </a:rPr>
            </a:br>
            <a:r>
              <a:rPr i="0" lang="en-US" sz="2000" u="none">
                <a:solidFill>
                  <a:srgbClr val="000066"/>
                </a:solidFill>
                <a:latin typeface="Times New Roman"/>
                <a:ea typeface="Times New Roman"/>
                <a:cs typeface="Times New Roman"/>
                <a:sym typeface="Times New Roman"/>
              </a:rPr>
              <a:t>4. Bảng và danh sách tiến trình</a:t>
            </a:r>
            <a:endParaRPr/>
          </a:p>
        </p:txBody>
      </p:sp>
      <p:sp>
        <p:nvSpPr>
          <p:cNvPr id="185" name="Google Shape;185;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6" name="Google Shape;186;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 name="Google Shape;187;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 name="Google Shape;188;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 name="Google Shape;189;p9"/>
          <p:cNvSpPr txBox="1"/>
          <p:nvPr/>
        </p:nvSpPr>
        <p:spPr>
          <a:xfrm>
            <a:off x="0" y="-200025"/>
            <a:ext cx="184150" cy="4000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90" name="Google Shape;190;p9"/>
          <p:cNvGrpSpPr/>
          <p:nvPr/>
        </p:nvGrpSpPr>
        <p:grpSpPr>
          <a:xfrm>
            <a:off x="4267200" y="3443287"/>
            <a:ext cx="4975225" cy="2881312"/>
            <a:chOff x="2007" y="8173"/>
            <a:chExt cx="7835" cy="4537"/>
          </a:xfrm>
        </p:grpSpPr>
        <p:sp>
          <p:nvSpPr>
            <p:cNvPr id="191" name="Google Shape;191;p9"/>
            <p:cNvSpPr/>
            <p:nvPr/>
          </p:nvSpPr>
          <p:spPr>
            <a:xfrm>
              <a:off x="2007" y="8173"/>
              <a:ext cx="7835" cy="45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2" name="Google Shape;192;p9"/>
            <p:cNvSpPr txBox="1"/>
            <p:nvPr/>
          </p:nvSpPr>
          <p:spPr>
            <a:xfrm>
              <a:off x="2275" y="8408"/>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Đang chạy</a:t>
              </a:r>
              <a:endParaRPr/>
            </a:p>
          </p:txBody>
        </p:sp>
        <p:sp>
          <p:nvSpPr>
            <p:cNvPr id="193" name="Google Shape;193;p9"/>
            <p:cNvSpPr txBox="1"/>
            <p:nvPr/>
          </p:nvSpPr>
          <p:spPr>
            <a:xfrm>
              <a:off x="2275" y="10013"/>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Sẵn sàng</a:t>
              </a:r>
              <a:endParaRPr/>
            </a:p>
          </p:txBody>
        </p:sp>
        <p:sp>
          <p:nvSpPr>
            <p:cNvPr id="194" name="Google Shape;194;p9"/>
            <p:cNvSpPr txBox="1"/>
            <p:nvPr/>
          </p:nvSpPr>
          <p:spPr>
            <a:xfrm>
              <a:off x="2275" y="11525"/>
              <a:ext cx="1702" cy="67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Chờ đợi đọc đĩa</a:t>
              </a:r>
              <a:endParaRPr/>
            </a:p>
          </p:txBody>
        </p:sp>
        <p:sp>
          <p:nvSpPr>
            <p:cNvPr id="195" name="Google Shape;195;p9"/>
            <p:cNvSpPr txBox="1"/>
            <p:nvPr/>
          </p:nvSpPr>
          <p:spPr>
            <a:xfrm>
              <a:off x="5113" y="8409"/>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6" name="Google Shape;196;p9"/>
            <p:cNvSpPr txBox="1"/>
            <p:nvPr/>
          </p:nvSpPr>
          <p:spPr>
            <a:xfrm>
              <a:off x="5113"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7" name="Google Shape;197;p9"/>
            <p:cNvSpPr txBox="1"/>
            <p:nvPr/>
          </p:nvSpPr>
          <p:spPr>
            <a:xfrm>
              <a:off x="6772"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8" name="Google Shape;198;p9"/>
            <p:cNvSpPr txBox="1"/>
            <p:nvPr/>
          </p:nvSpPr>
          <p:spPr>
            <a:xfrm>
              <a:off x="8422" y="1001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199" name="Google Shape;199;p9"/>
            <p:cNvSpPr txBox="1"/>
            <p:nvPr/>
          </p:nvSpPr>
          <p:spPr>
            <a:xfrm>
              <a:off x="5113" y="1140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sp>
          <p:nvSpPr>
            <p:cNvPr id="200" name="Google Shape;200;p9"/>
            <p:cNvSpPr txBox="1"/>
            <p:nvPr/>
          </p:nvSpPr>
          <p:spPr>
            <a:xfrm>
              <a:off x="6772" y="11402"/>
              <a:ext cx="1189" cy="8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PCB</a:t>
              </a:r>
              <a:endParaRPr/>
            </a:p>
          </p:txBody>
        </p:sp>
        <p:cxnSp>
          <p:nvCxnSpPr>
            <p:cNvPr id="201" name="Google Shape;201;p9"/>
            <p:cNvCxnSpPr/>
            <p:nvPr/>
          </p:nvCxnSpPr>
          <p:spPr>
            <a:xfrm>
              <a:off x="3977" y="8591"/>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2" name="Google Shape;202;p9"/>
            <p:cNvCxnSpPr/>
            <p:nvPr/>
          </p:nvCxnSpPr>
          <p:spPr>
            <a:xfrm flipH="1" rot="10800000">
              <a:off x="3977" y="8777"/>
              <a:ext cx="1136" cy="138"/>
            </a:xfrm>
            <a:prstGeom prst="straightConnector1">
              <a:avLst/>
            </a:prstGeom>
            <a:noFill/>
            <a:ln cap="flat" cmpd="sng" w="9525">
              <a:solidFill>
                <a:srgbClr val="000000"/>
              </a:solidFill>
              <a:prstDash val="solid"/>
              <a:miter lim="800000"/>
              <a:headEnd len="med" w="med" type="none"/>
              <a:tailEnd len="med" w="med" type="triangle"/>
            </a:ln>
          </p:spPr>
        </p:cxnSp>
        <p:cxnSp>
          <p:nvCxnSpPr>
            <p:cNvPr id="203" name="Google Shape;203;p9"/>
            <p:cNvCxnSpPr/>
            <p:nvPr/>
          </p:nvCxnSpPr>
          <p:spPr>
            <a:xfrm>
              <a:off x="3977" y="10149"/>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4" name="Google Shape;204;p9"/>
            <p:cNvCxnSpPr/>
            <p:nvPr/>
          </p:nvCxnSpPr>
          <p:spPr>
            <a:xfrm>
              <a:off x="3977" y="11665"/>
              <a:ext cx="1136"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5" name="Google Shape;205;p9"/>
            <p:cNvCxnSpPr/>
            <p:nvPr/>
          </p:nvCxnSpPr>
          <p:spPr>
            <a:xfrm>
              <a:off x="6302" y="10150"/>
              <a:ext cx="47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6" name="Google Shape;206;p9"/>
            <p:cNvCxnSpPr/>
            <p:nvPr/>
          </p:nvCxnSpPr>
          <p:spPr>
            <a:xfrm>
              <a:off x="7952" y="10151"/>
              <a:ext cx="47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207" name="Google Shape;207;p9"/>
            <p:cNvCxnSpPr/>
            <p:nvPr/>
          </p:nvCxnSpPr>
          <p:spPr>
            <a:xfrm>
              <a:off x="6302" y="11589"/>
              <a:ext cx="470" cy="1"/>
            </a:xfrm>
            <a:prstGeom prst="straightConnector1">
              <a:avLst/>
            </a:prstGeom>
            <a:noFill/>
            <a:ln cap="flat" cmpd="sng" w="9525">
              <a:solidFill>
                <a:srgbClr val="000000"/>
              </a:solidFill>
              <a:prstDash val="solid"/>
              <a:miter lim="800000"/>
              <a:headEnd len="med" w="med" type="none"/>
              <a:tailEnd len="med" w="med" type="triangle"/>
            </a:ln>
          </p:spPr>
        </p:cxnSp>
        <p:sp>
          <p:nvSpPr>
            <p:cNvPr id="208" name="Google Shape;208;p9"/>
            <p:cNvSpPr/>
            <p:nvPr/>
          </p:nvSpPr>
          <p:spPr>
            <a:xfrm>
              <a:off x="3977" y="10375"/>
              <a:ext cx="4445" cy="640"/>
            </a:xfrm>
            <a:custGeom>
              <a:rect b="b" l="l" r="r" t="t"/>
              <a:pathLst>
                <a:path extrusionOk="0" h="640" w="4445">
                  <a:moveTo>
                    <a:pt x="0" y="0"/>
                  </a:moveTo>
                  <a:cubicBezTo>
                    <a:pt x="174" y="210"/>
                    <a:pt x="348" y="420"/>
                    <a:pt x="814" y="526"/>
                  </a:cubicBezTo>
                  <a:cubicBezTo>
                    <a:pt x="1280" y="632"/>
                    <a:pt x="2268" y="640"/>
                    <a:pt x="2795" y="638"/>
                  </a:cubicBezTo>
                  <a:cubicBezTo>
                    <a:pt x="3322" y="636"/>
                    <a:pt x="3700" y="590"/>
                    <a:pt x="3975" y="513"/>
                  </a:cubicBezTo>
                  <a:cubicBezTo>
                    <a:pt x="4250" y="436"/>
                    <a:pt x="4347" y="305"/>
                    <a:pt x="4445" y="175"/>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9" name="Google Shape;209;p9"/>
            <p:cNvSpPr/>
            <p:nvPr/>
          </p:nvSpPr>
          <p:spPr>
            <a:xfrm>
              <a:off x="3977" y="12028"/>
              <a:ext cx="2795" cy="460"/>
            </a:xfrm>
            <a:custGeom>
              <a:rect b="b" l="l" r="r" t="t"/>
              <a:pathLst>
                <a:path extrusionOk="0" h="460" w="2795">
                  <a:moveTo>
                    <a:pt x="0" y="12"/>
                  </a:moveTo>
                  <a:cubicBezTo>
                    <a:pt x="77" y="132"/>
                    <a:pt x="154" y="252"/>
                    <a:pt x="425" y="325"/>
                  </a:cubicBezTo>
                  <a:cubicBezTo>
                    <a:pt x="696" y="398"/>
                    <a:pt x="1293" y="460"/>
                    <a:pt x="1625" y="450"/>
                  </a:cubicBezTo>
                  <a:cubicBezTo>
                    <a:pt x="1957" y="440"/>
                    <a:pt x="2222" y="338"/>
                    <a:pt x="2417" y="263"/>
                  </a:cubicBezTo>
                  <a:cubicBezTo>
                    <a:pt x="2612" y="188"/>
                    <a:pt x="2703" y="94"/>
                    <a:pt x="2795" y="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10" name="Google Shape;210;p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11" name="Google Shape;211;p9"/>
          <p:cNvPicPr preferRelativeResize="0"/>
          <p:nvPr/>
        </p:nvPicPr>
        <p:blipFill>
          <a:blip r:embed="rId3">
            <a:alphaModFix/>
          </a:blip>
          <a:stretch>
            <a:fillRect/>
          </a:stretch>
        </p:blipFill>
        <p:spPr>
          <a:xfrm>
            <a:off x="304800" y="3635725"/>
            <a:ext cx="3962400" cy="23205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500"/>
                                        <p:tgtEl>
                                          <p:spTgt spid="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Effect filter="fade" transition="in">
                                      <p:cBhvr>
                                        <p:cTn dur="500"/>
                                        <p:tgtEl>
                                          <p:spTgt spid="1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Effect filter="fade" transition="in">
                                      <p:cBhvr>
                                        <p:cTn dur="500"/>
                                        <p:tgtEl>
                                          <p:spTgt spid="1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Effect filter="fade" transition="in">
                                      <p:cBhvr>
                                        <p:cTn dur="500"/>
                                        <p:tgtEl>
                                          <p:spTgt spid="1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Effect filter="fade" transition="in">
                                      <p:cBhvr>
                                        <p:cTn dur="500"/>
                                        <p:tgtEl>
                                          <p:spTgt spid="1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Effect filter="fade" transition="in">
                                      <p:cBhvr>
                                        <p:cTn dur="500"/>
                                        <p:tgtEl>
                                          <p:spTgt spid="1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animEffect filter="fade" transition="in">
                                      <p:cBhvr>
                                        <p:cTn dur="500"/>
                                        <p:tgtEl>
                                          <p:spTgt spid="1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animEffect filter="fade" transition="in">
                                      <p:cBhvr>
                                        <p:cTn dur="500"/>
                                        <p:tgtEl>
                                          <p:spTgt spid="1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animEffect filter="fade" transition="in">
                                      <p:cBhvr>
                                        <p:cTn dur="500"/>
                                        <p:tgtEl>
                                          <p:spTgt spid="1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9" st="9"/>
                                            </p:txEl>
                                          </p:spTgt>
                                        </p:tgtEl>
                                        <p:attrNameLst>
                                          <p:attrName>style.visibility</p:attrName>
                                        </p:attrNameLst>
                                      </p:cBhvr>
                                      <p:to>
                                        <p:strVal val="visible"/>
                                      </p:to>
                                    </p:set>
                                    <p:animEffect filter="fade" transition="in">
                                      <p:cBhvr>
                                        <p:cTn dur="500"/>
                                        <p:tgtEl>
                                          <p:spTgt spid="18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ph idx="1" type="body"/>
          </p:nvPr>
        </p:nvSpPr>
        <p:spPr>
          <a:xfrm>
            <a:off x="381000" y="990600"/>
            <a:ext cx="8534400" cy="5562600"/>
          </a:xfrm>
          <a:prstGeom prst="rect">
            <a:avLst/>
          </a:prstGeom>
          <a:noFill/>
          <a:ln>
            <a:noFill/>
          </a:ln>
        </p:spPr>
        <p:txBody>
          <a:bodyPr anchorCtr="0" anchor="t" bIns="45700" lIns="91425" spcFirstLastPara="1" rIns="91425" wrap="square" tIns="45700">
            <a:normAutofit/>
          </a:bodyPr>
          <a:lstStyle/>
          <a:p>
            <a:pPr indent="400050" lvl="0" marL="0" marR="0" rtl="0" algn="just">
              <a:lnSpc>
                <a:spcPct val="100000"/>
              </a:lnSpc>
              <a:spcBef>
                <a:spcPts val="0"/>
              </a:spcBef>
              <a:spcAft>
                <a:spcPts val="0"/>
              </a:spcAft>
              <a:buClr>
                <a:schemeClr val="dk2"/>
              </a:buClr>
              <a:buSzPts val="2600"/>
              <a:buFont typeface="Noto Sans Symbols"/>
              <a:buNone/>
            </a:pPr>
            <a:r>
              <a:rPr b="0" i="0" lang="en-US" sz="2600" u="none">
                <a:solidFill>
                  <a:schemeClr val="dk2"/>
                </a:solidFill>
                <a:latin typeface="Times New Roman"/>
                <a:ea typeface="Times New Roman"/>
                <a:cs typeface="Times New Roman"/>
                <a:sym typeface="Times New Roman"/>
              </a:rPr>
              <a:t>Hoạt động quản lý tiến trình bao gồm một số công việc như tạo mới, kết thúc tiến trình, chuyển đổi giữa các tiến trình, điều độ, đồng bộ hóa, đảm bảo việc liên lạc giữa các tiến trình.</a:t>
            </a:r>
            <a:endParaRPr/>
          </a:p>
          <a:p>
            <a:pPr indent="-400050" lvl="0" marL="400050" marR="0" rtl="0" algn="l">
              <a:lnSpc>
                <a:spcPct val="100000"/>
              </a:lnSpc>
              <a:spcBef>
                <a:spcPts val="520"/>
              </a:spcBef>
              <a:spcAft>
                <a:spcPts val="0"/>
              </a:spcAft>
              <a:buClr>
                <a:schemeClr val="dk2"/>
              </a:buClr>
              <a:buSzPts val="2600"/>
              <a:buFont typeface="Arial"/>
              <a:buAutoNum type="arabicPeriod"/>
            </a:pPr>
            <a:r>
              <a:rPr b="1" i="0" lang="en-US" sz="2600" u="none">
                <a:solidFill>
                  <a:schemeClr val="dk2"/>
                </a:solidFill>
                <a:latin typeface="Times New Roman"/>
                <a:ea typeface="Times New Roman"/>
                <a:cs typeface="Times New Roman"/>
                <a:sym typeface="Times New Roman"/>
              </a:rPr>
              <a:t>Tạo mới tiến trình:</a:t>
            </a:r>
            <a:endParaRPr/>
          </a:p>
          <a:p>
            <a:pPr indent="400050" lvl="0" marL="0" marR="0" rtl="0" algn="l">
              <a:lnSpc>
                <a:spcPct val="100000"/>
              </a:lnSpc>
              <a:spcBef>
                <a:spcPts val="520"/>
              </a:spcBef>
              <a:spcAft>
                <a:spcPts val="0"/>
              </a:spcAft>
              <a:buClr>
                <a:schemeClr val="dk2"/>
              </a:buClr>
              <a:buSzPts val="2600"/>
              <a:buFont typeface="Noto Sans Symbols"/>
              <a:buNone/>
            </a:pPr>
            <a:r>
              <a:rPr b="0" i="0" lang="en-US" sz="2600" u="none">
                <a:solidFill>
                  <a:schemeClr val="dk2"/>
                </a:solidFill>
                <a:latin typeface="Times New Roman"/>
                <a:ea typeface="Times New Roman"/>
                <a:cs typeface="Times New Roman"/>
                <a:sym typeface="Times New Roman"/>
              </a:rPr>
              <a:t>Để tạo ra một tiến trình mới, HDH thực hiện một số bước như sau:</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Gán số định danh cho tiến trình được tạo mới và tạo một ô trong bảng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Tạo không gian nhớ cho tiến trình và PCB</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Khởi tạo PCB: HĐH gán giá trị các thành phần của PCB</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Liên kết PCB của tiến trình vào các danh sách quản lý, ví dụ vào ds tiến trình đang chạy.</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47650" lvl="0" marL="4000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18" name="Google Shape;218;p1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Các thao tác với tiến trình</a:t>
            </a:r>
            <a:endParaRPr/>
          </a:p>
        </p:txBody>
      </p:sp>
      <p:sp>
        <p:nvSpPr>
          <p:cNvPr id="219" name="Google Shape;219;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 name="Google Shape;220;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 name="Google Shape;222;p1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Arial"/>
              <a:buNone/>
            </a:pPr>
            <a:r>
              <a:t/>
            </a:r>
            <a:endParaRPr b="0" i="0" sz="24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640"/>
              </a:spcBef>
              <a:spcAft>
                <a:spcPts val="0"/>
              </a:spcAft>
              <a:buClr>
                <a:schemeClr val="dk2"/>
              </a:buClr>
              <a:buSzPts val="3200"/>
              <a:buFont typeface="Arial"/>
              <a:buAutoNum type="arabicPeriod" startAt="2"/>
            </a:pPr>
            <a:r>
              <a:rPr b="1" i="0" lang="en-US" sz="3200" u="none">
                <a:solidFill>
                  <a:schemeClr val="dk2"/>
                </a:solidFill>
                <a:latin typeface="Times New Roman"/>
                <a:ea typeface="Times New Roman"/>
                <a:cs typeface="Times New Roman"/>
                <a:sym typeface="Times New Roman"/>
              </a:rPr>
              <a:t>Kết thúc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Kết thúc bình thường: yêu cầu HDH kết thúc mình bằng cách gọi lời gọi hệ thống exit()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Bị kết thúc: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Bị tiến trình cha kết thúc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Do các lỗi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Yêu cầu nhiều bộ nhớ hơn so với số lương hệ thống có thể cung cấp</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Thực hiện lâu hơn thời gian giới hạn</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Do quản trị hệ thống hoặc hệ điều hành kết thúc</a:t>
            </a:r>
            <a:endParaRPr b="0" i="0" sz="18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29" name="Google Shape;229;p1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600" u="none">
                <a:solidFill>
                  <a:srgbClr val="000066"/>
                </a:solidFill>
                <a:latin typeface="Times New Roman"/>
                <a:ea typeface="Times New Roman"/>
                <a:cs typeface="Times New Roman"/>
                <a:sym typeface="Times New Roman"/>
              </a:rPr>
              <a:t>I. CÁC KHÁI NIỆM LIÊN QUAN ĐẾN TIẾN TRÌNH </a:t>
            </a:r>
            <a:br>
              <a:rPr b="1" i="0" lang="en-US" sz="3000" u="none">
                <a:solidFill>
                  <a:srgbClr val="000066"/>
                </a:solidFill>
                <a:latin typeface="Times New Roman"/>
                <a:ea typeface="Times New Roman"/>
                <a:cs typeface="Times New Roman"/>
                <a:sym typeface="Times New Roman"/>
              </a:rPr>
            </a:br>
            <a:r>
              <a:rPr b="1" i="0" lang="en-US" sz="2300" u="none">
                <a:solidFill>
                  <a:srgbClr val="000066"/>
                </a:solidFill>
                <a:latin typeface="Times New Roman"/>
                <a:ea typeface="Times New Roman"/>
                <a:cs typeface="Times New Roman"/>
                <a:sym typeface="Times New Roman"/>
              </a:rPr>
              <a:t>5</a:t>
            </a:r>
            <a:r>
              <a:rPr b="1" i="0" lang="en-US" sz="1500" u="none">
                <a:solidFill>
                  <a:srgbClr val="000066"/>
                </a:solidFill>
                <a:latin typeface="Times New Roman"/>
                <a:ea typeface="Times New Roman"/>
                <a:cs typeface="Times New Roman"/>
                <a:sym typeface="Times New Roman"/>
              </a:rPr>
              <a:t>.  </a:t>
            </a:r>
            <a:r>
              <a:rPr b="1" i="0" lang="en-US" sz="2200" u="none">
                <a:solidFill>
                  <a:srgbClr val="000066"/>
                </a:solidFill>
                <a:latin typeface="Times New Roman"/>
                <a:ea typeface="Times New Roman"/>
                <a:cs typeface="Times New Roman"/>
                <a:sym typeface="Times New Roman"/>
              </a:rPr>
              <a:t>Các thao tác với tiến trình</a:t>
            </a:r>
            <a:endParaRPr sz="2200"/>
          </a:p>
        </p:txBody>
      </p:sp>
      <p:sp>
        <p:nvSpPr>
          <p:cNvPr id="230" name="Google Shape;230;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2" name="Google Shape;232;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3" name="Google Shape;233;p1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idx="1" type="body"/>
          </p:nvPr>
        </p:nvSpPr>
        <p:spPr>
          <a:xfrm>
            <a:off x="0" y="838200"/>
            <a:ext cx="89916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9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Chuyển đổi giữa các tiến trình:</a:t>
            </a:r>
            <a:endParaRPr/>
          </a:p>
          <a:p>
            <a:pPr indent="-285750" lvl="1" marL="742950"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Trong quá trình thực hiện, CPU có thể được chuyển tử tiến trình hiện thời sang thực hiện tiến trình khác.</a:t>
            </a:r>
            <a:endParaRPr/>
          </a:p>
          <a:p>
            <a:pPr indent="-285750" lvl="1" marL="742950"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Thông tin về tiến trình hiện thời (chứa trong PCB) được gọi là ngữ cảnh (context) của tiến trình. Việc chuyển giữa tiến trình còn được gọi là chuyển đổi ngữ cảnh</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Việc chuyển đổi tiến trình xảy ra khi:</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ngắt: ngắt do đồng hồ/ngắt vào/ra</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gọi lời gọi hệ thống</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Trước khi chuyển sang thực hiện tiến trình khác, ngữ cảnh được lưu vào PCB</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Khi được cấp phát CPU thực hiện trở lại, ngữ cảnh được khôi phục từ PCB vào các thanh ghi và bảng tương ứng.</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40" name="Google Shape;240;p1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41" name="Google Shape;241;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2" name="Google Shape;242;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 name="Google Shape;244;p1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3"/>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Arial"/>
              <a:buNone/>
            </a:pPr>
            <a:r>
              <a:t/>
            </a:r>
            <a:endParaRPr b="0" i="0" sz="24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64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Chuyển đổi giữa các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Thông tin nào phải được cập nhật và lưu vào PCB khi chuyển tiến trình? =&gt; Tùy từng trường hợp:</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 đơn giản: Hệ thống chuyển sang thực hiện vào/ra rồi quay lại thực hiện tiếp tiến trình: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Ngữ cảnh gồm thông tin có thể bị hàm xử lý ngắt thay đổi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nội dung thanh ghi, trạng thái CPU</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51" name="Google Shape;251;p1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52" name="Google Shape;252;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3" name="Google Shape;253;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4" name="Google Shape;254;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 name="Google Shape;255;p1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 phức tạp: Sau khi thực hiện ngắt, hệ thống thực hiện tiến trình khác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Thay đổi trạng thái tiến trình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thông tin thống kê trong PCB</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Chuyển liên kết PCB của tiến trình vào danh sách ứng với trạng thái mới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PCB của tiến trình mới được chọn</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Cập nhật nội dung thanh ghi và trạng thái CPU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=&gt; Chuyển đổi tiến trình đòi hỏi thời gian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62" name="Google Shape;262;p1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 LIÊN QUAN ĐẾN TIẾN TRÌNH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Các thao tác với tiến trình</a:t>
            </a:r>
            <a:endParaRPr/>
          </a:p>
        </p:txBody>
      </p:sp>
      <p:sp>
        <p:nvSpPr>
          <p:cNvPr id="263" name="Google Shape;263;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4" name="Google Shape;264;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5" name="Google Shape;265;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6" name="Google Shape;266;p1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Effect filter="fade" transition="in">
                                      <p:cBhvr>
                                        <p:cTn dur="500"/>
                                        <p:tgtEl>
                                          <p:spTgt spid="2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animEffect filter="fade" transition="in">
                                      <p:cBhvr>
                                        <p:cTn dur="500"/>
                                        <p:tgtEl>
                                          <p:spTgt spid="2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animEffect filter="fade" transition="in">
                                      <p:cBhvr>
                                        <p:cTn dur="500"/>
                                        <p:tgtEl>
                                          <p:spTgt spid="2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animEffect filter="fade" transition="in">
                                      <p:cBhvr>
                                        <p:cTn dur="500"/>
                                        <p:tgtEl>
                                          <p:spTgt spid="2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animEffect filter="fade" transition="in">
                                      <p:cBhvr>
                                        <p:cTn dur="500"/>
                                        <p:tgtEl>
                                          <p:spTgt spid="2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animEffect filter="fade" transition="in">
                                      <p:cBhvr>
                                        <p:cTn dur="500"/>
                                        <p:tgtEl>
                                          <p:spTgt spid="2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animEffect filter="fade" transition="in">
                                      <p:cBhvr>
                                        <p:cTn dur="500"/>
                                        <p:tgtEl>
                                          <p:spTgt spid="2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9" st="9"/>
                                            </p:txEl>
                                          </p:spTgt>
                                        </p:tgtEl>
                                        <p:attrNameLst>
                                          <p:attrName>style.visibility</p:attrName>
                                        </p:attrNameLst>
                                      </p:cBhvr>
                                      <p:to>
                                        <p:strVal val="visible"/>
                                      </p:to>
                                    </p:set>
                                    <p:animEffect filter="fade" transition="in">
                                      <p:cBhvr>
                                        <p:cTn dur="500"/>
                                        <p:tgtEl>
                                          <p:spTgt spid="2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0" st="10"/>
                                            </p:txEl>
                                          </p:spTgt>
                                        </p:tgtEl>
                                        <p:attrNameLst>
                                          <p:attrName>style.visibility</p:attrName>
                                        </p:attrNameLst>
                                      </p:cBhvr>
                                      <p:to>
                                        <p:strVal val="visible"/>
                                      </p:to>
                                    </p:set>
                                    <p:animEffect filter="fade" transition="in">
                                      <p:cBhvr>
                                        <p:cTn dur="500"/>
                                        <p:tgtEl>
                                          <p:spTgt spid="2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1" st="11"/>
                                            </p:txEl>
                                          </p:spTgt>
                                        </p:tgtEl>
                                        <p:attrNameLst>
                                          <p:attrName>style.visibility</p:attrName>
                                        </p:attrNameLst>
                                      </p:cBhvr>
                                      <p:to>
                                        <p:strVal val="visible"/>
                                      </p:to>
                                    </p:set>
                                    <p:animEffect filter="fade" transition="in">
                                      <p:cBhvr>
                                        <p:cTn dur="500"/>
                                        <p:tgtEl>
                                          <p:spTgt spid="2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2" st="12"/>
                                            </p:txEl>
                                          </p:spTgt>
                                        </p:tgtEl>
                                        <p:attrNameLst>
                                          <p:attrName>style.visibility</p:attrName>
                                        </p:attrNameLst>
                                      </p:cBhvr>
                                      <p:to>
                                        <p:strVal val="visible"/>
                                      </p:to>
                                    </p:set>
                                    <p:animEffect filter="fade" transition="in">
                                      <p:cBhvr>
                                        <p:cTn dur="500"/>
                                        <p:tgtEl>
                                          <p:spTgt spid="2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3" st="13"/>
                                            </p:txEl>
                                          </p:spTgt>
                                        </p:tgtEl>
                                        <p:attrNameLst>
                                          <p:attrName>style.visibility</p:attrName>
                                        </p:attrNameLst>
                                      </p:cBhvr>
                                      <p:to>
                                        <p:strVal val="visible"/>
                                      </p:to>
                                    </p:set>
                                    <p:animEffect filter="fade" transition="in">
                                      <p:cBhvr>
                                        <p:cTn dur="500"/>
                                        <p:tgtEl>
                                          <p:spTgt spid="2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4" st="14"/>
                                            </p:txEl>
                                          </p:spTgt>
                                        </p:tgtEl>
                                        <p:attrNameLst>
                                          <p:attrName>style.visibility</p:attrName>
                                        </p:attrNameLst>
                                      </p:cBhvr>
                                      <p:to>
                                        <p:strVal val="visible"/>
                                      </p:to>
                                    </p:set>
                                    <p:animEffect filter="fade" transition="in">
                                      <p:cBhvr>
                                        <p:cTn dur="500"/>
                                        <p:tgtEl>
                                          <p:spTgt spid="2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5" st="15"/>
                                            </p:txEl>
                                          </p:spTgt>
                                        </p:tgtEl>
                                        <p:attrNameLst>
                                          <p:attrName>style.visibility</p:attrName>
                                        </p:attrNameLst>
                                      </p:cBhvr>
                                      <p:to>
                                        <p:strVal val="visible"/>
                                      </p:to>
                                    </p:set>
                                    <p:animEffect filter="fade" transition="in">
                                      <p:cBhvr>
                                        <p:cTn dur="500"/>
                                        <p:tgtEl>
                                          <p:spTgt spid="2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được xem xét từ 2 khía cạnh: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a:t>
            </a:r>
            <a:r>
              <a:rPr b="0" i="0" lang="en-US" sz="2400" u="none" cap="none" strike="noStrike">
                <a:solidFill>
                  <a:schemeClr val="dk1"/>
                </a:solidFill>
                <a:latin typeface="Times New Roman"/>
                <a:ea typeface="Times New Roman"/>
                <a:cs typeface="Times New Roman"/>
                <a:sym typeface="Times New Roman"/>
              </a:rPr>
              <a:t>iến trình là 1 đơn vị sở hữu tài nguyên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Tiến trình là 1 đơn vị thực hiện công việc tính toán xử lý</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HDH trước đây: mỗi tiến trình chỉ tương ứng với 1 đơn vị xử lý duy nhất</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Tiến trình không thể thực hiện nhiều hơn một công việc cùng một lúc</a:t>
            </a:r>
            <a:r>
              <a:rPr b="0" i="0" lang="en-US" sz="2400" u="none">
                <a:solidFill>
                  <a:schemeClr val="dk2"/>
                </a:solidFill>
                <a:latin typeface="Times New Roman"/>
                <a:ea typeface="Times New Roman"/>
                <a:cs typeface="Times New Roman"/>
                <a:sym typeface="Times New Roman"/>
              </a:rPr>
              <a:t> </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73" name="Google Shape;273;p1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(THREAD/ dòng)</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274" name="Google Shape;274;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5" name="Google Shape;275;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6" name="Google Shape;276;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7" name="Google Shape;277;p1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500"/>
                                        <p:tgtEl>
                                          <p:spTgt spid="2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animEffect filter="fade" transition="in">
                                      <p:cBhvr>
                                        <p:cTn dur="500"/>
                                        <p:tgtEl>
                                          <p:spTgt spid="2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animEffect filter="fade" transition="in">
                                      <p:cBhvr>
                                        <p:cTn dur="500"/>
                                        <p:tgtEl>
                                          <p:spTgt spid="2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animEffect filter="fade" transition="in">
                                      <p:cBhvr>
                                        <p:cTn dur="500"/>
                                        <p:tgtEl>
                                          <p:spTgt spid="2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animEffect filter="fade" transition="in">
                                      <p:cBhvr>
                                        <p:cTn dur="500"/>
                                        <p:tgtEl>
                                          <p:spTgt spid="2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5" st="5"/>
                                            </p:txEl>
                                          </p:spTgt>
                                        </p:tgtEl>
                                        <p:attrNameLst>
                                          <p:attrName>style.visibility</p:attrName>
                                        </p:attrNameLst>
                                      </p:cBhvr>
                                      <p:to>
                                        <p:strVal val="visible"/>
                                      </p:to>
                                    </p:set>
                                    <p:animEffect filter="fade" transition="in">
                                      <p:cBhvr>
                                        <p:cTn dur="500"/>
                                        <p:tgtEl>
                                          <p:spTgt spid="2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6" st="6"/>
                                            </p:txEl>
                                          </p:spTgt>
                                        </p:tgtEl>
                                        <p:attrNameLst>
                                          <p:attrName>style.visibility</p:attrName>
                                        </p:attrNameLst>
                                      </p:cBhvr>
                                      <p:to>
                                        <p:strVal val="visible"/>
                                      </p:to>
                                    </p:set>
                                    <p:animEffect filter="fade" transition="in">
                                      <p:cBhvr>
                                        <p:cTn dur="500"/>
                                        <p:tgtEl>
                                          <p:spTgt spid="2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7" st="7"/>
                                            </p:txEl>
                                          </p:spTgt>
                                        </p:tgtEl>
                                        <p:attrNameLst>
                                          <p:attrName>style.visibility</p:attrName>
                                        </p:attrNameLst>
                                      </p:cBhvr>
                                      <p:to>
                                        <p:strVal val="visible"/>
                                      </p:to>
                                    </p:set>
                                    <p:animEffect filter="fade" transition="in">
                                      <p:cBhvr>
                                        <p:cTn dur="500"/>
                                        <p:tgtEl>
                                          <p:spTgt spid="2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8" st="8"/>
                                            </p:txEl>
                                          </p:spTgt>
                                        </p:tgtEl>
                                        <p:attrNameLst>
                                          <p:attrName>style.visibility</p:attrName>
                                        </p:attrNameLst>
                                      </p:cBhvr>
                                      <p:to>
                                        <p:strVal val="visible"/>
                                      </p:to>
                                    </p:set>
                                    <p:animEffect filter="fade" transition="in">
                                      <p:cBhvr>
                                        <p:cTn dur="500"/>
                                        <p:tgtEl>
                                          <p:spTgt spid="2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9" st="9"/>
                                            </p:txEl>
                                          </p:spTgt>
                                        </p:tgtEl>
                                        <p:attrNameLst>
                                          <p:attrName>style.visibility</p:attrName>
                                        </p:attrNameLst>
                                      </p:cBhvr>
                                      <p:to>
                                        <p:strVal val="visible"/>
                                      </p:to>
                                    </p:set>
                                    <p:animEffect filter="fade" transition="in">
                                      <p:cBhvr>
                                        <p:cTn dur="500"/>
                                        <p:tgtEl>
                                          <p:spTgt spid="2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0" st="10"/>
                                            </p:txEl>
                                          </p:spTgt>
                                        </p:tgtEl>
                                        <p:attrNameLst>
                                          <p:attrName>style.visibility</p:attrName>
                                        </p:attrNameLst>
                                      </p:cBhvr>
                                      <p:to>
                                        <p:strVal val="visible"/>
                                      </p:to>
                                    </p:set>
                                    <p:animEffect filter="fade" transition="in">
                                      <p:cBhvr>
                                        <p:cTn dur="500"/>
                                        <p:tgtEl>
                                          <p:spTgt spid="2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1" st="11"/>
                                            </p:txEl>
                                          </p:spTgt>
                                        </p:tgtEl>
                                        <p:attrNameLst>
                                          <p:attrName>style.visibility</p:attrName>
                                        </p:attrNameLst>
                                      </p:cBhvr>
                                      <p:to>
                                        <p:strVal val="visible"/>
                                      </p:to>
                                    </p:set>
                                    <p:animEffect filter="fade" transition="in">
                                      <p:cBhvr>
                                        <p:cTn dur="500"/>
                                        <p:tgtEl>
                                          <p:spTgt spid="2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2" st="12"/>
                                            </p:txEl>
                                          </p:spTgt>
                                        </p:tgtEl>
                                        <p:attrNameLst>
                                          <p:attrName>style.visibility</p:attrName>
                                        </p:attrNameLst>
                                      </p:cBhvr>
                                      <p:to>
                                        <p:strVal val="visible"/>
                                      </p:to>
                                    </p:set>
                                    <p:animEffect filter="fade" transition="in">
                                      <p:cBhvr>
                                        <p:cTn dur="500"/>
                                        <p:tgtEl>
                                          <p:spTgt spid="27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3" st="13"/>
                                            </p:txEl>
                                          </p:spTgt>
                                        </p:tgtEl>
                                        <p:attrNameLst>
                                          <p:attrName>style.visibility</p:attrName>
                                        </p:attrNameLst>
                                      </p:cBhvr>
                                      <p:to>
                                        <p:strVal val="visible"/>
                                      </p:to>
                                    </p:set>
                                    <p:animEffect filter="fade" transition="in">
                                      <p:cBhvr>
                                        <p:cTn dur="500"/>
                                        <p:tgtEl>
                                          <p:spTgt spid="27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6"/>
          <p:cNvSpPr txBox="1"/>
          <p:nvPr>
            <p:ph idx="1" type="body"/>
          </p:nvPr>
        </p:nvSpPr>
        <p:spPr>
          <a:xfrm>
            <a:off x="0" y="7620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hiện đại: cho phép tách riêng vai trò thực hiện lệnh của tiến trình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1" i="0" lang="en-US" sz="2600" u="none">
                <a:solidFill>
                  <a:schemeClr val="dk2"/>
                </a:solidFill>
                <a:latin typeface="Times New Roman"/>
                <a:ea typeface="Times New Roman"/>
                <a:cs typeface="Times New Roman"/>
                <a:sym typeface="Times New Roman"/>
              </a:rPr>
              <a:t>Mỗi đơn vị thực hiện lệnh của tiến trình, tức là 1 chuỗi lệnh được cấp phát CPU để thực hiện độc lập được gọi là một </a:t>
            </a:r>
            <a:r>
              <a:rPr b="1" i="1" lang="en-US" sz="2600" u="none">
                <a:solidFill>
                  <a:schemeClr val="dk2"/>
                </a:solidFill>
                <a:latin typeface="Times New Roman"/>
                <a:ea typeface="Times New Roman"/>
                <a:cs typeface="Times New Roman"/>
                <a:sym typeface="Times New Roman"/>
              </a:rPr>
              <a:t>luồng thực hiện</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hiện nay thường hỗ trợ đa luồng (multithreading) =&gt; cho phép nhiều chuỗi lệnh được thực hiện cùng một lúc</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1"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84" name="Google Shape;284;p1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(tt)</a:t>
            </a:r>
            <a:endParaRPr/>
          </a:p>
        </p:txBody>
      </p:sp>
      <p:sp>
        <p:nvSpPr>
          <p:cNvPr id="285" name="Google Shape;285;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6" name="Google Shape;286;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7" name="Google Shape;287;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88" name="Google Shape;288;p16"/>
          <p:cNvPicPr preferRelativeResize="0"/>
          <p:nvPr/>
        </p:nvPicPr>
        <p:blipFill rotWithShape="1">
          <a:blip r:embed="rId3">
            <a:alphaModFix/>
          </a:blip>
          <a:srcRect b="0" l="0" r="0" t="0"/>
          <a:stretch/>
        </p:blipFill>
        <p:spPr>
          <a:xfrm>
            <a:off x="2290762" y="3800475"/>
            <a:ext cx="4638675" cy="2419350"/>
          </a:xfrm>
          <a:prstGeom prst="rect">
            <a:avLst/>
          </a:prstGeom>
          <a:noFill/>
          <a:ln>
            <a:noFill/>
          </a:ln>
        </p:spPr>
      </p:pic>
      <p:sp>
        <p:nvSpPr>
          <p:cNvPr id="289" name="Google Shape;289;p1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5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500"/>
                                        <p:tgtEl>
                                          <p:spTgt spid="2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500"/>
                                        <p:tgtEl>
                                          <p:spTgt spid="2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5" st="5"/>
                                            </p:txEl>
                                          </p:spTgt>
                                        </p:tgtEl>
                                        <p:attrNameLst>
                                          <p:attrName>style.visibility</p:attrName>
                                        </p:attrNameLst>
                                      </p:cBhvr>
                                      <p:to>
                                        <p:strVal val="visible"/>
                                      </p:to>
                                    </p:set>
                                    <p:animEffect filter="fade" transition="in">
                                      <p:cBhvr>
                                        <p:cTn dur="500"/>
                                        <p:tgtEl>
                                          <p:spTgt spid="2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6" st="6"/>
                                            </p:txEl>
                                          </p:spTgt>
                                        </p:tgtEl>
                                        <p:attrNameLst>
                                          <p:attrName>style.visibility</p:attrName>
                                        </p:attrNameLst>
                                      </p:cBhvr>
                                      <p:to>
                                        <p:strVal val="visible"/>
                                      </p:to>
                                    </p:set>
                                    <p:animEffect filter="fade" transition="in">
                                      <p:cBhvr>
                                        <p:cTn dur="500"/>
                                        <p:tgtEl>
                                          <p:spTgt spid="2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7" st="7"/>
                                            </p:txEl>
                                          </p:spTgt>
                                        </p:tgtEl>
                                        <p:attrNameLst>
                                          <p:attrName>style.visibility</p:attrName>
                                        </p:attrNameLst>
                                      </p:cBhvr>
                                      <p:to>
                                        <p:strVal val="visible"/>
                                      </p:to>
                                    </p:set>
                                    <p:animEffect filter="fade" transition="in">
                                      <p:cBhvr>
                                        <p:cTn dur="500"/>
                                        <p:tgtEl>
                                          <p:spTgt spid="2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8" st="8"/>
                                            </p:txEl>
                                          </p:spTgt>
                                        </p:tgtEl>
                                        <p:attrNameLst>
                                          <p:attrName>style.visibility</p:attrName>
                                        </p:attrNameLst>
                                      </p:cBhvr>
                                      <p:to>
                                        <p:strVal val="visible"/>
                                      </p:to>
                                    </p:set>
                                    <p:animEffect filter="fade" transition="in">
                                      <p:cBhvr>
                                        <p:cTn dur="500"/>
                                        <p:tgtEl>
                                          <p:spTgt spid="2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9" st="9"/>
                                            </p:txEl>
                                          </p:spTgt>
                                        </p:tgtEl>
                                        <p:attrNameLst>
                                          <p:attrName>style.visibility</p:attrName>
                                        </p:attrNameLst>
                                      </p:cBhvr>
                                      <p:to>
                                        <p:strVal val="visible"/>
                                      </p:to>
                                    </p:set>
                                    <p:animEffect filter="fade" transition="in">
                                      <p:cBhvr>
                                        <p:cTn dur="500"/>
                                        <p:tgtEl>
                                          <p:spTgt spid="28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0" st="10"/>
                                            </p:txEl>
                                          </p:spTgt>
                                        </p:tgtEl>
                                        <p:attrNameLst>
                                          <p:attrName>style.visibility</p:attrName>
                                        </p:attrNameLst>
                                      </p:cBhvr>
                                      <p:to>
                                        <p:strVal val="visible"/>
                                      </p:to>
                                    </p:set>
                                    <p:animEffect filter="fade" transition="in">
                                      <p:cBhvr>
                                        <p:cTn dur="500"/>
                                        <p:tgtEl>
                                          <p:spTgt spid="28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1" st="11"/>
                                            </p:txEl>
                                          </p:spTgt>
                                        </p:tgtEl>
                                        <p:attrNameLst>
                                          <p:attrName>style.visibility</p:attrName>
                                        </p:attrNameLst>
                                      </p:cBhvr>
                                      <p:to>
                                        <p:strVal val="visible"/>
                                      </p:to>
                                    </p:set>
                                    <p:animEffect filter="fade" transition="in">
                                      <p:cBhvr>
                                        <p:cTn dur="500"/>
                                        <p:tgtEl>
                                          <p:spTgt spid="28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2" st="12"/>
                                            </p:txEl>
                                          </p:spTgt>
                                        </p:tgtEl>
                                        <p:attrNameLst>
                                          <p:attrName>style.visibility</p:attrName>
                                        </p:attrNameLst>
                                      </p:cBhvr>
                                      <p:to>
                                        <p:strVal val="visible"/>
                                      </p:to>
                                    </p:set>
                                    <p:animEffect filter="fade" transition="in">
                                      <p:cBhvr>
                                        <p:cTn dur="500"/>
                                        <p:tgtEl>
                                          <p:spTgt spid="28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3" st="13"/>
                                            </p:txEl>
                                          </p:spTgt>
                                        </p:tgtEl>
                                        <p:attrNameLst>
                                          <p:attrName>style.visibility</p:attrName>
                                        </p:attrNameLst>
                                      </p:cBhvr>
                                      <p:to>
                                        <p:strVal val="visible"/>
                                      </p:to>
                                    </p:set>
                                    <p:animEffect filter="fade" transition="in">
                                      <p:cBhvr>
                                        <p:cTn dur="500"/>
                                        <p:tgtEl>
                                          <p:spTgt spid="28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4" st="14"/>
                                            </p:txEl>
                                          </p:spTgt>
                                        </p:tgtEl>
                                        <p:attrNameLst>
                                          <p:attrName>style.visibility</p:attrName>
                                        </p:attrNameLst>
                                      </p:cBhvr>
                                      <p:to>
                                        <p:strVal val="visible"/>
                                      </p:to>
                                    </p:set>
                                    <p:animEffect filter="fade" transition="in">
                                      <p:cBhvr>
                                        <p:cTn dur="500"/>
                                        <p:tgtEl>
                                          <p:spTgt spid="28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5" st="15"/>
                                            </p:txEl>
                                          </p:spTgt>
                                        </p:tgtEl>
                                        <p:attrNameLst>
                                          <p:attrName>style.visibility</p:attrName>
                                        </p:attrNameLst>
                                      </p:cBhvr>
                                      <p:to>
                                        <p:strVal val="visible"/>
                                      </p:to>
                                    </p:set>
                                    <p:animEffect filter="fade" transition="in">
                                      <p:cBhvr>
                                        <p:cTn dur="500"/>
                                        <p:tgtEl>
                                          <p:spTgt spid="283">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Trong hệ thống cho phép đa luồng, tiến trình vẫn là 1 đơn vị để HDH phân phối tài nguyên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Mỗi tiến trình sở hữu chung một số tài nguyên: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gian nhớ của tiến trình (logic): chứa chương trình (các lệnh), phần dữ liệu của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tài nguyên khác: các file đang mở, thiết bị hoặc cổng vào/ra</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96" name="Google Shape;296;p1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a:t>
            </a:r>
            <a:endParaRPr/>
          </a:p>
        </p:txBody>
      </p:sp>
      <p:sp>
        <p:nvSpPr>
          <p:cNvPr id="297" name="Google Shape;297;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8" name="Google Shape;298;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9" name="Google Shape;299;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0" name="Google Shape;300;p1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Đến đây, có sự khác biệt giữa tiến trình đơn luồng và tiến trình đa luồng.</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Mô hình đơn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có khối quản lý PCB chứa đầy đủ thông tin trạng thái tiến trình, giá trị thanh ghi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Ngăn xếp chứa tham số, trạng thái hàm/ thủ tục/ chương trình con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tiến trình thực hiện, nó sẽ làm chủ nội dung các thanh ghi và con trỏ lệnh</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07" name="Google Shape;307;p18"/>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08" name="Google Shape;308;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9" name="Google Shape;309;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0" name="Google Shape;310;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1" name="Google Shape;311;p1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5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500"/>
                                        <p:tgtEl>
                                          <p:spTgt spid="3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Effect filter="fade" transition="in">
                                      <p:cBhvr>
                                        <p:cTn dur="500"/>
                                        <p:tgtEl>
                                          <p:spTgt spid="3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Effect filter="fade" transition="in">
                                      <p:cBhvr>
                                        <p:cTn dur="500"/>
                                        <p:tgtEl>
                                          <p:spTgt spid="3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Effect filter="fade" transition="in">
                                      <p:cBhvr>
                                        <p:cTn dur="500"/>
                                        <p:tgtEl>
                                          <p:spTgt spid="3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Effect filter="fade" transition="in">
                                      <p:cBhvr>
                                        <p:cTn dur="500"/>
                                        <p:tgtEl>
                                          <p:spTgt spid="3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Effect filter="fade" transition="in">
                                      <p:cBhvr>
                                        <p:cTn dur="500"/>
                                        <p:tgtEl>
                                          <p:spTgt spid="3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animEffect filter="fade" transition="in">
                                      <p:cBhvr>
                                        <p:cTn dur="500"/>
                                        <p:tgtEl>
                                          <p:spTgt spid="3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animEffect filter="fade" transition="in">
                                      <p:cBhvr>
                                        <p:cTn dur="500"/>
                                        <p:tgtEl>
                                          <p:spTgt spid="3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9" st="9"/>
                                            </p:txEl>
                                          </p:spTgt>
                                        </p:tgtEl>
                                        <p:attrNameLst>
                                          <p:attrName>style.visibility</p:attrName>
                                        </p:attrNameLst>
                                      </p:cBhvr>
                                      <p:to>
                                        <p:strVal val="visible"/>
                                      </p:to>
                                    </p:set>
                                    <p:animEffect filter="fade" transition="in">
                                      <p:cBhvr>
                                        <p:cTn dur="500"/>
                                        <p:tgtEl>
                                          <p:spTgt spid="3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0" st="10"/>
                                            </p:txEl>
                                          </p:spTgt>
                                        </p:tgtEl>
                                        <p:attrNameLst>
                                          <p:attrName>style.visibility</p:attrName>
                                        </p:attrNameLst>
                                      </p:cBhvr>
                                      <p:to>
                                        <p:strVal val="visible"/>
                                      </p:to>
                                    </p:set>
                                    <p:animEffect filter="fade" transition="in">
                                      <p:cBhvr>
                                        <p:cTn dur="500"/>
                                        <p:tgtEl>
                                          <p:spTgt spid="3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Mô hình đa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Mỗi luồng cần có khả năng quản lý con trỏ lệnh, nội dung thanh ghi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Luồng cũng có trạng thái riêng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chứa trong khối quản lý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Luồng cũng cần có ngăn xếp riêng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Tất cả các luồng của 1 tiến trình chia sẻ không gian nhớ và tài nguyên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luồng có cùng không gian địa chỉ và có thể truy cập tới dữ liệu của tiến trình</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18" name="Google Shape;318;p1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19" name="Google Shape;319;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0" name="Google Shape;320;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1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29" name="Google Shape;329;p2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Tài nguyên của tiến trình và luồng (tt)</a:t>
            </a:r>
            <a:endParaRPr/>
          </a:p>
        </p:txBody>
      </p:sp>
      <p:sp>
        <p:nvSpPr>
          <p:cNvPr id="330" name="Google Shape;330;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1" name="Google Shape;331;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2" name="Google Shape;332;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3" name="Google Shape;333;p20"/>
          <p:cNvSpPr txBox="1"/>
          <p:nvPr/>
        </p:nvSpPr>
        <p:spPr>
          <a:xfrm>
            <a:off x="757237" y="914400"/>
            <a:ext cx="7629525" cy="502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34" name="Google Shape;334;p20"/>
          <p:cNvPicPr preferRelativeResize="0"/>
          <p:nvPr/>
        </p:nvPicPr>
        <p:blipFill rotWithShape="1">
          <a:blip r:embed="rId3">
            <a:alphaModFix/>
          </a:blip>
          <a:srcRect b="0" l="4057" r="1997" t="3077"/>
          <a:stretch/>
        </p:blipFill>
        <p:spPr>
          <a:xfrm>
            <a:off x="1219200" y="1295400"/>
            <a:ext cx="7167562" cy="4800600"/>
          </a:xfrm>
          <a:prstGeom prst="rect">
            <a:avLst/>
          </a:prstGeom>
          <a:noFill/>
          <a:ln>
            <a:noFill/>
          </a:ln>
        </p:spPr>
      </p:pic>
      <p:sp>
        <p:nvSpPr>
          <p:cNvPr id="335" name="Google Shape;335;p2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hiệu năng và tiết kiệm thời gian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Dễ dàng chia sẻ tài nguyên và thông tin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tính đáp ứng</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Tận dụng được kiến trúc xử lý với nhiều CPU</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Thuận lợi cho việc tổ chức chương trình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42" name="Google Shape;342;p2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Ưu điểm của mô hình đa luồng</a:t>
            </a:r>
            <a:endParaRPr/>
          </a:p>
        </p:txBody>
      </p:sp>
      <p:sp>
        <p:nvSpPr>
          <p:cNvPr id="343" name="Google Shape;343;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4" name="Google Shape;344;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5" name="Google Shape;345;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2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Có thể tạo và quản lý luồng ở 2 mức</a:t>
            </a:r>
            <a:r>
              <a:rPr b="0" i="0" lang="en-US" sz="2400" u="none">
                <a:solidFill>
                  <a:schemeClr val="dk2"/>
                </a:solidFill>
                <a:latin typeface="Times New Roman"/>
                <a:ea typeface="Times New Roman"/>
                <a:cs typeface="Times New Roman"/>
                <a:sym typeface="Times New Roman"/>
              </a:rPr>
              <a: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người dùng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nhân</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người dùng: được tạo ra và quản lý không có sự hỗ trợ của HDH </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nhân: được tạo ra và quản lý bởi HDH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53" name="Google Shape;353;p2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Luồng mức nhân và mức người dùng</a:t>
            </a:r>
            <a:endParaRPr/>
          </a:p>
        </p:txBody>
      </p:sp>
      <p:sp>
        <p:nvSpPr>
          <p:cNvPr id="354" name="Google Shape;354;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5" name="Google Shape;355;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6" name="Google Shape;356;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7" name="Google Shape;357;p2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3"/>
          <p:cNvSpPr txBox="1"/>
          <p:nvPr>
            <p:ph idx="1" type="body"/>
          </p:nvPr>
        </p:nvSpPr>
        <p:spPr>
          <a:xfrm>
            <a:off x="228600" y="1143000"/>
            <a:ext cx="86868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Do trình ứng dụng tự tạo ra và quản lý</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không biết về sự tồn tại của những dòng như vậy</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Sử dụng thư viện do ngôn ngữ lập trình cung cấp</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HDH vẫn coi tiến trình như một đơn vị duy nhất với một trạng thái duy nhất</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Việc phân phối CPU được thực hiện cho cả tiến trình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64" name="Google Shape;364;p2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a:t>
            </a:r>
            <a:endParaRPr/>
          </a:p>
        </p:txBody>
      </p:sp>
      <p:sp>
        <p:nvSpPr>
          <p:cNvPr id="365" name="Google Shape;365;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8" name="Google Shape;368;p2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0" st="0"/>
                                            </p:txEl>
                                          </p:spTgt>
                                        </p:tgtEl>
                                        <p:attrNameLst>
                                          <p:attrName>style.visibility</p:attrName>
                                        </p:attrNameLst>
                                      </p:cBhvr>
                                      <p:to>
                                        <p:strVal val="visible"/>
                                      </p:to>
                                    </p:set>
                                    <p:animEffect filter="fade" transition="in">
                                      <p:cBhvr>
                                        <p:cTn dur="500"/>
                                        <p:tgtEl>
                                          <p:spTgt spid="3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1" st="1"/>
                                            </p:txEl>
                                          </p:spTgt>
                                        </p:tgtEl>
                                        <p:attrNameLst>
                                          <p:attrName>style.visibility</p:attrName>
                                        </p:attrNameLst>
                                      </p:cBhvr>
                                      <p:to>
                                        <p:strVal val="visible"/>
                                      </p:to>
                                    </p:set>
                                    <p:animEffect filter="fade" transition="in">
                                      <p:cBhvr>
                                        <p:cTn dur="500"/>
                                        <p:tgtEl>
                                          <p:spTgt spid="3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2" st="2"/>
                                            </p:txEl>
                                          </p:spTgt>
                                        </p:tgtEl>
                                        <p:attrNameLst>
                                          <p:attrName>style.visibility</p:attrName>
                                        </p:attrNameLst>
                                      </p:cBhvr>
                                      <p:to>
                                        <p:strVal val="visible"/>
                                      </p:to>
                                    </p:set>
                                    <p:animEffect filter="fade" transition="in">
                                      <p:cBhvr>
                                        <p:cTn dur="500"/>
                                        <p:tgtEl>
                                          <p:spTgt spid="3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3" st="3"/>
                                            </p:txEl>
                                          </p:spTgt>
                                        </p:tgtEl>
                                        <p:attrNameLst>
                                          <p:attrName>style.visibility</p:attrName>
                                        </p:attrNameLst>
                                      </p:cBhvr>
                                      <p:to>
                                        <p:strVal val="visible"/>
                                      </p:to>
                                    </p:set>
                                    <p:animEffect filter="fade" transition="in">
                                      <p:cBhvr>
                                        <p:cTn dur="500"/>
                                        <p:tgtEl>
                                          <p:spTgt spid="3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4" st="4"/>
                                            </p:txEl>
                                          </p:spTgt>
                                        </p:tgtEl>
                                        <p:attrNameLst>
                                          <p:attrName>style.visibility</p:attrName>
                                        </p:attrNameLst>
                                      </p:cBhvr>
                                      <p:to>
                                        <p:strVal val="visible"/>
                                      </p:to>
                                    </p:set>
                                    <p:animEffect filter="fade" transition="in">
                                      <p:cBhvr>
                                        <p:cTn dur="500"/>
                                        <p:tgtEl>
                                          <p:spTgt spid="3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5" st="5"/>
                                            </p:txEl>
                                          </p:spTgt>
                                        </p:tgtEl>
                                        <p:attrNameLst>
                                          <p:attrName>style.visibility</p:attrName>
                                        </p:attrNameLst>
                                      </p:cBhvr>
                                      <p:to>
                                        <p:strVal val="visible"/>
                                      </p:to>
                                    </p:set>
                                    <p:animEffect filter="fade" transition="in">
                                      <p:cBhvr>
                                        <p:cTn dur="500"/>
                                        <p:tgtEl>
                                          <p:spTgt spid="3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6" st="6"/>
                                            </p:txEl>
                                          </p:spTgt>
                                        </p:tgtEl>
                                        <p:attrNameLst>
                                          <p:attrName>style.visibility</p:attrName>
                                        </p:attrNameLst>
                                      </p:cBhvr>
                                      <p:to>
                                        <p:strVal val="visible"/>
                                      </p:to>
                                    </p:set>
                                    <p:animEffect filter="fade" transition="in">
                                      <p:cBhvr>
                                        <p:cTn dur="500"/>
                                        <p:tgtEl>
                                          <p:spTgt spid="3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7" st="7"/>
                                            </p:txEl>
                                          </p:spTgt>
                                        </p:tgtEl>
                                        <p:attrNameLst>
                                          <p:attrName>style.visibility</p:attrName>
                                        </p:attrNameLst>
                                      </p:cBhvr>
                                      <p:to>
                                        <p:strVal val="visible"/>
                                      </p:to>
                                    </p:set>
                                    <p:animEffect filter="fade" transition="in">
                                      <p:cBhvr>
                                        <p:cTn dur="500"/>
                                        <p:tgtEl>
                                          <p:spTgt spid="3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8" st="8"/>
                                            </p:txEl>
                                          </p:spTgt>
                                        </p:tgtEl>
                                        <p:attrNameLst>
                                          <p:attrName>style.visibility</p:attrName>
                                        </p:attrNameLst>
                                      </p:cBhvr>
                                      <p:to>
                                        <p:strVal val="visible"/>
                                      </p:to>
                                    </p:set>
                                    <p:animEffect filter="fade" transition="in">
                                      <p:cBhvr>
                                        <p:cTn dur="500"/>
                                        <p:tgtEl>
                                          <p:spTgt spid="3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9" st="9"/>
                                            </p:txEl>
                                          </p:spTgt>
                                        </p:tgtEl>
                                        <p:attrNameLst>
                                          <p:attrName>style.visibility</p:attrName>
                                        </p:attrNameLst>
                                      </p:cBhvr>
                                      <p:to>
                                        <p:strVal val="visible"/>
                                      </p:to>
                                    </p:set>
                                    <p:animEffect filter="fade" transition="in">
                                      <p:cBhvr>
                                        <p:cTn dur="500"/>
                                        <p:tgtEl>
                                          <p:spTgt spid="3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xEl>
                                              <p:pRg end="10" st="10"/>
                                            </p:txEl>
                                          </p:spTgt>
                                        </p:tgtEl>
                                        <p:attrNameLst>
                                          <p:attrName>style.visibility</p:attrName>
                                        </p:attrNameLst>
                                      </p:cBhvr>
                                      <p:to>
                                        <p:strVal val="visible"/>
                                      </p:to>
                                    </p:set>
                                    <p:animEffect filter="fade" transition="in">
                                      <p:cBhvr>
                                        <p:cTn dur="500"/>
                                        <p:tgtEl>
                                          <p:spTgt spid="36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Ưu điểm: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Việc chuyển đổi luồng không đòi hỏi chuyển sang chế độ nhân =&gt; tiết kiệm thời gian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Trình ứng dụng có thể điều độ theo đặc điểm riêng của mình, không phụ thuộc vào cách điều độ của HDH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thể sử dụng trên cả những HDH không hỗ trợ đa luồng</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75" name="Google Shape;375;p2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 (tt)</a:t>
            </a:r>
            <a:endParaRPr/>
          </a:p>
        </p:txBody>
      </p:sp>
      <p:sp>
        <p:nvSpPr>
          <p:cNvPr id="376" name="Google Shape;376;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7" name="Google Shape;377;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8" name="Google Shape;378;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9" name="Google Shape;379;p2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Nhược điểm: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một luồng gọi lời gọi hệ thống và bị phong tỏa thì toàn bộ tiến trình bị phong tỏa</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không cho phép tận dụng ưu điểm về tính đáp ứng của mô hình đa luồng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cho phép tận dụng kiến trúc nhiều CPU do HĐH phân phối CPU cho cả tiến trình chứ không phải từng dòng cụ thể </a:t>
            </a:r>
            <a:endParaRPr b="0" i="0" sz="2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86" name="Google Shape;386;p2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4.1.  Luồng mức người dùng (tt)</a:t>
            </a:r>
            <a:endParaRPr/>
          </a:p>
        </p:txBody>
      </p:sp>
      <p:sp>
        <p:nvSpPr>
          <p:cNvPr id="387" name="Google Shape;387;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8" name="Google Shape;388;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9" name="Google Shape;389;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0" name="Google Shape;390;p2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6"/>
          <p:cNvSpPr txBox="1"/>
          <p:nvPr>
            <p:ph idx="1" type="body"/>
          </p:nvPr>
        </p:nvSpPr>
        <p:spPr>
          <a:xfrm>
            <a:off x="0" y="10668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Luồng mức nhân được HĐH tạo ra và quản lý</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cung cấp giao diện lập trình: gồm các lời gọi hệ thống mà trình ứng dụng có thể yêu cầu tạo/ xóa luồng và thay đổi tham số liên quan quản lý dòng</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Tăng tính đáp ứng và khả năng thực hiện đồng thời của các luồng trong cùng tiến trình</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Tạo và chuyển đổi luồng thực hiện trong chế độ nhân =&gt; tốc độ chậm</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HĐH Windows và Linux hỗ trợ luồng mức nhân</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97" name="Google Shape;397;p2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4.2.  Luồng mức nhân</a:t>
            </a:r>
            <a:endParaRPr/>
          </a:p>
        </p:txBody>
      </p:sp>
      <p:sp>
        <p:nvSpPr>
          <p:cNvPr id="398" name="Google Shape;398;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9" name="Google Shape;399;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0" name="Google Shape;400;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1" name="Google Shape;401;p2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animEffect filter="fade" transition="in">
                                      <p:cBhvr>
                                        <p:cTn dur="500"/>
                                        <p:tgtEl>
                                          <p:spTgt spid="3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1" st="1"/>
                                            </p:txEl>
                                          </p:spTgt>
                                        </p:tgtEl>
                                        <p:attrNameLst>
                                          <p:attrName>style.visibility</p:attrName>
                                        </p:attrNameLst>
                                      </p:cBhvr>
                                      <p:to>
                                        <p:strVal val="visible"/>
                                      </p:to>
                                    </p:set>
                                    <p:animEffect filter="fade" transition="in">
                                      <p:cBhvr>
                                        <p:cTn dur="500"/>
                                        <p:tgtEl>
                                          <p:spTgt spid="3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2" st="2"/>
                                            </p:txEl>
                                          </p:spTgt>
                                        </p:tgtEl>
                                        <p:attrNameLst>
                                          <p:attrName>style.visibility</p:attrName>
                                        </p:attrNameLst>
                                      </p:cBhvr>
                                      <p:to>
                                        <p:strVal val="visible"/>
                                      </p:to>
                                    </p:set>
                                    <p:animEffect filter="fade" transition="in">
                                      <p:cBhvr>
                                        <p:cTn dur="500"/>
                                        <p:tgtEl>
                                          <p:spTgt spid="3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3" st="3"/>
                                            </p:txEl>
                                          </p:spTgt>
                                        </p:tgtEl>
                                        <p:attrNameLst>
                                          <p:attrName>style.visibility</p:attrName>
                                        </p:attrNameLst>
                                      </p:cBhvr>
                                      <p:to>
                                        <p:strVal val="visible"/>
                                      </p:to>
                                    </p:set>
                                    <p:animEffect filter="fade" transition="in">
                                      <p:cBhvr>
                                        <p:cTn dur="500"/>
                                        <p:tgtEl>
                                          <p:spTgt spid="3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4" st="4"/>
                                            </p:txEl>
                                          </p:spTgt>
                                        </p:tgtEl>
                                        <p:attrNameLst>
                                          <p:attrName>style.visibility</p:attrName>
                                        </p:attrNameLst>
                                      </p:cBhvr>
                                      <p:to>
                                        <p:strVal val="visible"/>
                                      </p:to>
                                    </p:set>
                                    <p:animEffect filter="fade" transition="in">
                                      <p:cBhvr>
                                        <p:cTn dur="500"/>
                                        <p:tgtEl>
                                          <p:spTgt spid="3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5" st="5"/>
                                            </p:txEl>
                                          </p:spTgt>
                                        </p:tgtEl>
                                        <p:attrNameLst>
                                          <p:attrName>style.visibility</p:attrName>
                                        </p:attrNameLst>
                                      </p:cBhvr>
                                      <p:to>
                                        <p:strVal val="visible"/>
                                      </p:to>
                                    </p:set>
                                    <p:animEffect filter="fade" transition="in">
                                      <p:cBhvr>
                                        <p:cTn dur="500"/>
                                        <p:tgtEl>
                                          <p:spTgt spid="3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6" st="6"/>
                                            </p:txEl>
                                          </p:spTgt>
                                        </p:tgtEl>
                                        <p:attrNameLst>
                                          <p:attrName>style.visibility</p:attrName>
                                        </p:attrNameLst>
                                      </p:cBhvr>
                                      <p:to>
                                        <p:strVal val="visible"/>
                                      </p:to>
                                    </p:set>
                                    <p:animEffect filter="fade" transition="in">
                                      <p:cBhvr>
                                        <p:cTn dur="500"/>
                                        <p:tgtEl>
                                          <p:spTgt spid="3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7" st="7"/>
                                            </p:txEl>
                                          </p:spTgt>
                                        </p:tgtEl>
                                        <p:attrNameLst>
                                          <p:attrName>style.visibility</p:attrName>
                                        </p:attrNameLst>
                                      </p:cBhvr>
                                      <p:to>
                                        <p:strVal val="visible"/>
                                      </p:to>
                                    </p:set>
                                    <p:animEffect filter="fade" transition="in">
                                      <p:cBhvr>
                                        <p:cTn dur="500"/>
                                        <p:tgtEl>
                                          <p:spTgt spid="3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8" st="8"/>
                                            </p:txEl>
                                          </p:spTgt>
                                        </p:tgtEl>
                                        <p:attrNameLst>
                                          <p:attrName>style.visibility</p:attrName>
                                        </p:attrNameLst>
                                      </p:cBhvr>
                                      <p:to>
                                        <p:strVal val="visible"/>
                                      </p:to>
                                    </p:set>
                                    <p:animEffect filter="fade" transition="in">
                                      <p:cBhvr>
                                        <p:cTn dur="500"/>
                                        <p:tgtEl>
                                          <p:spTgt spid="39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9" st="9"/>
                                            </p:txEl>
                                          </p:spTgt>
                                        </p:tgtEl>
                                        <p:attrNameLst>
                                          <p:attrName>style.visibility</p:attrName>
                                        </p:attrNameLst>
                                      </p:cBhvr>
                                      <p:to>
                                        <p:strVal val="visible"/>
                                      </p:to>
                                    </p:set>
                                    <p:animEffect filter="fade" transition="in">
                                      <p:cBhvr>
                                        <p:cTn dur="500"/>
                                        <p:tgtEl>
                                          <p:spTgt spid="39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10" st="10"/>
                                            </p:txEl>
                                          </p:spTgt>
                                        </p:tgtEl>
                                        <p:attrNameLst>
                                          <p:attrName>style.visibility</p:attrName>
                                        </p:attrNameLst>
                                      </p:cBhvr>
                                      <p:to>
                                        <p:strVal val="visible"/>
                                      </p:to>
                                    </p:set>
                                    <p:animEffect filter="fade" transition="in">
                                      <p:cBhvr>
                                        <p:cTn dur="500"/>
                                        <p:tgtEl>
                                          <p:spTgt spid="39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7"/>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Có thể sử dụng dòng mức người dùng và dòng mức nhân</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Theo các tổ chức này:</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Luồng mức người dùng được tạo ra trong chế độ người dùng nhờ thư viện cuả trình ứng dụng</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Luồng mức người dùng được ánh xạ lên số lượng tương ứng hoặc ít hơn các luồng mức nhân</a:t>
            </a:r>
            <a:endParaRPr/>
          </a:p>
          <a:p>
            <a:pPr indent="-285750" lvl="1" marL="742950" marR="0" rtl="0" algn="l">
              <a:lnSpc>
                <a:spcPct val="100000"/>
              </a:lnSpc>
              <a:spcBef>
                <a:spcPts val="600"/>
              </a:spcBef>
              <a:spcAft>
                <a:spcPts val="0"/>
              </a:spcAft>
              <a:buClr>
                <a:schemeClr val="accent1"/>
              </a:buClr>
              <a:buSzPts val="3000"/>
              <a:buFont typeface="Noto Sans Symbols"/>
              <a:buChar char="▪"/>
            </a:pPr>
            <a:r>
              <a:rPr b="0" i="0" lang="en-US" sz="3000" u="none" cap="none" strike="noStrike">
                <a:solidFill>
                  <a:schemeClr val="dk2"/>
                </a:solidFill>
                <a:latin typeface="Times New Roman"/>
                <a:ea typeface="Times New Roman"/>
                <a:cs typeface="Times New Roman"/>
                <a:sym typeface="Times New Roman"/>
              </a:rPr>
              <a:t>Số lượng dòng mức nhân phụ thuộc vào hệ thống cụ thể, chẳng hạn hệ thống nhiều CPU sẽ có nhiều dòng mức nhân hơn. </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08" name="Google Shape;408;p2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4.3. Kết hợp luồng mức nhân và mức người dùng</a:t>
            </a:r>
            <a:endParaRPr/>
          </a:p>
        </p:txBody>
      </p:sp>
      <p:sp>
        <p:nvSpPr>
          <p:cNvPr id="409" name="Google Shape;409;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1" name="Google Shape;411;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2" name="Google Shape;412;p2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Effect filter="fade" transition="in">
                                      <p:cBhvr>
                                        <p:cTn dur="500"/>
                                        <p:tgtEl>
                                          <p:spTgt spid="4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Effect filter="fade" transition="in">
                                      <p:cBhvr>
                                        <p:cTn dur="500"/>
                                        <p:tgtEl>
                                          <p:spTgt spid="4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Effect filter="fade" transition="in">
                                      <p:cBhvr>
                                        <p:cTn dur="500"/>
                                        <p:tgtEl>
                                          <p:spTgt spid="4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animEffect filter="fade" transition="in">
                                      <p:cBhvr>
                                        <p:cTn dur="500"/>
                                        <p:tgtEl>
                                          <p:spTgt spid="4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animEffect filter="fade" transition="in">
                                      <p:cBhvr>
                                        <p:cTn dur="500"/>
                                        <p:tgtEl>
                                          <p:spTgt spid="4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5" st="5"/>
                                            </p:txEl>
                                          </p:spTgt>
                                        </p:tgtEl>
                                        <p:attrNameLst>
                                          <p:attrName>style.visibility</p:attrName>
                                        </p:attrNameLst>
                                      </p:cBhvr>
                                      <p:to>
                                        <p:strVal val="visible"/>
                                      </p:to>
                                    </p:set>
                                    <p:animEffect filter="fade" transition="in">
                                      <p:cBhvr>
                                        <p:cTn dur="500"/>
                                        <p:tgtEl>
                                          <p:spTgt spid="4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6" st="6"/>
                                            </p:txEl>
                                          </p:spTgt>
                                        </p:tgtEl>
                                        <p:attrNameLst>
                                          <p:attrName>style.visibility</p:attrName>
                                        </p:attrNameLst>
                                      </p:cBhvr>
                                      <p:to>
                                        <p:strVal val="visible"/>
                                      </p:to>
                                    </p:set>
                                    <p:animEffect filter="fade" transition="in">
                                      <p:cBhvr>
                                        <p:cTn dur="500"/>
                                        <p:tgtEl>
                                          <p:spTgt spid="4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7" st="7"/>
                                            </p:txEl>
                                          </p:spTgt>
                                        </p:tgtEl>
                                        <p:attrNameLst>
                                          <p:attrName>style.visibility</p:attrName>
                                        </p:attrNameLst>
                                      </p:cBhvr>
                                      <p:to>
                                        <p:strVal val="visible"/>
                                      </p:to>
                                    </p:set>
                                    <p:animEffect filter="fade" transition="in">
                                      <p:cBhvr>
                                        <p:cTn dur="500"/>
                                        <p:tgtEl>
                                          <p:spTgt spid="40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8" st="8"/>
                                            </p:txEl>
                                          </p:spTgt>
                                        </p:tgtEl>
                                        <p:attrNameLst>
                                          <p:attrName>style.visibility</p:attrName>
                                        </p:attrNameLst>
                                      </p:cBhvr>
                                      <p:to>
                                        <p:strVal val="visible"/>
                                      </p:to>
                                    </p:set>
                                    <p:animEffect filter="fade" transition="in">
                                      <p:cBhvr>
                                        <p:cTn dur="500"/>
                                        <p:tgtEl>
                                          <p:spTgt spid="40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9" st="9"/>
                                            </p:txEl>
                                          </p:spTgt>
                                        </p:tgtEl>
                                        <p:attrNameLst>
                                          <p:attrName>style.visibility</p:attrName>
                                        </p:attrNameLst>
                                      </p:cBhvr>
                                      <p:to>
                                        <p:strVal val="visible"/>
                                      </p:to>
                                    </p:set>
                                    <p:animEffect filter="fade" transition="in">
                                      <p:cBhvr>
                                        <p:cTn dur="500"/>
                                        <p:tgtEl>
                                          <p:spTgt spid="40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10" st="10"/>
                                            </p:txEl>
                                          </p:spTgt>
                                        </p:tgtEl>
                                        <p:attrNameLst>
                                          <p:attrName>style.visibility</p:attrName>
                                        </p:attrNameLst>
                                      </p:cBhvr>
                                      <p:to>
                                        <p:strVal val="visible"/>
                                      </p:to>
                                    </p:set>
                                    <p:animEffect filter="fade" transition="in">
                                      <p:cBhvr>
                                        <p:cTn dur="500"/>
                                        <p:tgtEl>
                                          <p:spTgt spid="407">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19" name="Google Shape;419;p2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LUỒNG THỰC HIỆN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4.3. kết hợp Dòng mức nhân và mức người dùng</a:t>
            </a:r>
            <a:endParaRPr/>
          </a:p>
        </p:txBody>
      </p:sp>
      <p:sp>
        <p:nvSpPr>
          <p:cNvPr id="420" name="Google Shape;420;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1" name="Google Shape;421;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2" name="Google Shape;422;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23" name="Google Shape;423;p28"/>
          <p:cNvGrpSpPr/>
          <p:nvPr/>
        </p:nvGrpSpPr>
        <p:grpSpPr>
          <a:xfrm>
            <a:off x="1828800" y="806450"/>
            <a:ext cx="5219700" cy="5441950"/>
            <a:chOff x="2007" y="3426"/>
            <a:chExt cx="8460" cy="8820"/>
          </a:xfrm>
        </p:grpSpPr>
        <p:sp>
          <p:nvSpPr>
            <p:cNvPr id="424" name="Google Shape;424;p28"/>
            <p:cNvSpPr txBox="1"/>
            <p:nvPr/>
          </p:nvSpPr>
          <p:spPr>
            <a:xfrm>
              <a:off x="2007" y="3426"/>
              <a:ext cx="8460" cy="88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25" name="Google Shape;425;p28"/>
            <p:cNvCxnSpPr/>
            <p:nvPr/>
          </p:nvCxnSpPr>
          <p:spPr>
            <a:xfrm>
              <a:off x="2548" y="4146"/>
              <a:ext cx="719"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6" name="Google Shape;426;p28"/>
            <p:cNvCxnSpPr/>
            <p:nvPr/>
          </p:nvCxnSpPr>
          <p:spPr>
            <a:xfrm rot="10800000">
              <a:off x="3267" y="4146"/>
              <a:ext cx="0"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7" name="Google Shape;427;p28"/>
            <p:cNvCxnSpPr/>
            <p:nvPr/>
          </p:nvCxnSpPr>
          <p:spPr>
            <a:xfrm flipH="1" rot="10800000">
              <a:off x="3267" y="4146"/>
              <a:ext cx="720" cy="900"/>
            </a:xfrm>
            <a:prstGeom prst="straightConnector1">
              <a:avLst/>
            </a:prstGeom>
            <a:noFill/>
            <a:ln cap="flat" cmpd="sng" w="9525">
              <a:solidFill>
                <a:srgbClr val="000000"/>
              </a:solidFill>
              <a:prstDash val="solid"/>
              <a:miter lim="800000"/>
              <a:headEnd len="med" w="med" type="none"/>
              <a:tailEnd len="med" w="med" type="none"/>
            </a:ln>
          </p:spPr>
        </p:cxnSp>
        <p:cxnSp>
          <p:nvCxnSpPr>
            <p:cNvPr id="428" name="Google Shape;428;p28"/>
            <p:cNvCxnSpPr/>
            <p:nvPr/>
          </p:nvCxnSpPr>
          <p:spPr>
            <a:xfrm>
              <a:off x="3267" y="5046"/>
              <a:ext cx="0" cy="720"/>
            </a:xfrm>
            <a:prstGeom prst="straightConnector1">
              <a:avLst/>
            </a:prstGeom>
            <a:noFill/>
            <a:ln cap="flat" cmpd="sng" w="9525">
              <a:solidFill>
                <a:srgbClr val="000000"/>
              </a:solidFill>
              <a:prstDash val="solid"/>
              <a:miter lim="800000"/>
              <a:headEnd len="med" w="med" type="none"/>
              <a:tailEnd len="med" w="med" type="none"/>
            </a:ln>
          </p:spPr>
        </p:cxnSp>
        <p:sp>
          <p:nvSpPr>
            <p:cNvPr id="429" name="Google Shape;429;p28"/>
            <p:cNvSpPr/>
            <p:nvPr/>
          </p:nvSpPr>
          <p:spPr>
            <a:xfrm>
              <a:off x="2997" y="577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0" name="Google Shape;430;p28"/>
            <p:cNvSpPr txBox="1"/>
            <p:nvPr/>
          </p:nvSpPr>
          <p:spPr>
            <a:xfrm>
              <a:off x="3117" y="592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sp>
          <p:nvSpPr>
            <p:cNvPr id="431" name="Google Shape;431;p28"/>
            <p:cNvSpPr/>
            <p:nvPr/>
          </p:nvSpPr>
          <p:spPr>
            <a:xfrm>
              <a:off x="2458"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2" name="Google Shape;432;p28"/>
            <p:cNvSpPr/>
            <p:nvPr/>
          </p:nvSpPr>
          <p:spPr>
            <a:xfrm>
              <a:off x="3167" y="361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3" name="Google Shape;433;p28"/>
            <p:cNvSpPr/>
            <p:nvPr/>
          </p:nvSpPr>
          <p:spPr>
            <a:xfrm>
              <a:off x="3887" y="36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34" name="Google Shape;434;p28"/>
            <p:cNvGrpSpPr/>
            <p:nvPr/>
          </p:nvGrpSpPr>
          <p:grpSpPr>
            <a:xfrm>
              <a:off x="5787" y="5586"/>
              <a:ext cx="540" cy="540"/>
              <a:chOff x="5427" y="5766"/>
              <a:chExt cx="540" cy="540"/>
            </a:xfrm>
          </p:grpSpPr>
          <p:sp>
            <p:nvSpPr>
              <p:cNvPr id="435" name="Google Shape;435;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6" name="Google Shape;436;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437" name="Google Shape;437;p28"/>
            <p:cNvGrpSpPr/>
            <p:nvPr/>
          </p:nvGrpSpPr>
          <p:grpSpPr>
            <a:xfrm>
              <a:off x="2907" y="10086"/>
              <a:ext cx="540" cy="540"/>
              <a:chOff x="5427" y="5766"/>
              <a:chExt cx="540" cy="540"/>
            </a:xfrm>
          </p:grpSpPr>
          <p:sp>
            <p:nvSpPr>
              <p:cNvPr id="438" name="Google Shape;438;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9" name="Google Shape;439;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440" name="Google Shape;440;p28"/>
            <p:cNvGrpSpPr/>
            <p:nvPr/>
          </p:nvGrpSpPr>
          <p:grpSpPr>
            <a:xfrm>
              <a:off x="4167" y="10086"/>
              <a:ext cx="540" cy="540"/>
              <a:chOff x="5427" y="5766"/>
              <a:chExt cx="540" cy="540"/>
            </a:xfrm>
          </p:grpSpPr>
          <p:sp>
            <p:nvSpPr>
              <p:cNvPr id="441" name="Google Shape;441;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2" name="Google Shape;442;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43" name="Google Shape;443;p28"/>
            <p:cNvSpPr/>
            <p:nvPr/>
          </p:nvSpPr>
          <p:spPr>
            <a:xfrm>
              <a:off x="6867" y="66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4" name="Google Shape;444;p28"/>
            <p:cNvSpPr txBox="1"/>
            <p:nvPr/>
          </p:nvSpPr>
          <p:spPr>
            <a:xfrm>
              <a:off x="6987" y="681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cxnSp>
          <p:nvCxnSpPr>
            <p:cNvPr id="445" name="Google Shape;445;p28"/>
            <p:cNvCxnSpPr/>
            <p:nvPr/>
          </p:nvCxnSpPr>
          <p:spPr>
            <a:xfrm flipH="1" rot="10800000">
              <a:off x="6037" y="414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46" name="Google Shape;446;p28"/>
            <p:cNvSpPr/>
            <p:nvPr/>
          </p:nvSpPr>
          <p:spPr>
            <a:xfrm>
              <a:off x="5967" y="36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47" name="Google Shape;447;p28"/>
            <p:cNvGrpSpPr/>
            <p:nvPr/>
          </p:nvGrpSpPr>
          <p:grpSpPr>
            <a:xfrm>
              <a:off x="6867" y="5556"/>
              <a:ext cx="540" cy="540"/>
              <a:chOff x="5427" y="5766"/>
              <a:chExt cx="540" cy="540"/>
            </a:xfrm>
          </p:grpSpPr>
          <p:sp>
            <p:nvSpPr>
              <p:cNvPr id="448" name="Google Shape;448;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9" name="Google Shape;449;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450" name="Google Shape;450;p28"/>
            <p:cNvCxnSpPr/>
            <p:nvPr/>
          </p:nvCxnSpPr>
          <p:spPr>
            <a:xfrm flipH="1" rot="10800000">
              <a:off x="7117" y="411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51" name="Google Shape;451;p28"/>
            <p:cNvSpPr/>
            <p:nvPr/>
          </p:nvSpPr>
          <p:spPr>
            <a:xfrm>
              <a:off x="7047"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52" name="Google Shape;452;p28"/>
            <p:cNvGrpSpPr/>
            <p:nvPr/>
          </p:nvGrpSpPr>
          <p:grpSpPr>
            <a:xfrm>
              <a:off x="7947" y="5556"/>
              <a:ext cx="540" cy="540"/>
              <a:chOff x="5427" y="5766"/>
              <a:chExt cx="540" cy="540"/>
            </a:xfrm>
          </p:grpSpPr>
          <p:sp>
            <p:nvSpPr>
              <p:cNvPr id="453" name="Google Shape;453;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4" name="Google Shape;454;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455" name="Google Shape;455;p28"/>
            <p:cNvCxnSpPr/>
            <p:nvPr/>
          </p:nvCxnSpPr>
          <p:spPr>
            <a:xfrm flipH="1" rot="10800000">
              <a:off x="8197" y="4116"/>
              <a:ext cx="1" cy="1440"/>
            </a:xfrm>
            <a:prstGeom prst="straightConnector1">
              <a:avLst/>
            </a:prstGeom>
            <a:noFill/>
            <a:ln cap="flat" cmpd="sng" w="9525">
              <a:solidFill>
                <a:srgbClr val="000000"/>
              </a:solidFill>
              <a:prstDash val="solid"/>
              <a:miter lim="800000"/>
              <a:headEnd len="med" w="med" type="none"/>
              <a:tailEnd len="med" w="med" type="none"/>
            </a:ln>
          </p:spPr>
        </p:cxnSp>
        <p:sp>
          <p:nvSpPr>
            <p:cNvPr id="456" name="Google Shape;456;p28"/>
            <p:cNvSpPr/>
            <p:nvPr/>
          </p:nvSpPr>
          <p:spPr>
            <a:xfrm>
              <a:off x="8127" y="360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57" name="Google Shape;457;p28"/>
            <p:cNvCxnSpPr/>
            <p:nvPr/>
          </p:nvCxnSpPr>
          <p:spPr>
            <a:xfrm>
              <a:off x="6067" y="6126"/>
              <a:ext cx="1080" cy="540"/>
            </a:xfrm>
            <a:prstGeom prst="straightConnector1">
              <a:avLst/>
            </a:prstGeom>
            <a:noFill/>
            <a:ln cap="flat" cmpd="sng" w="9525">
              <a:solidFill>
                <a:srgbClr val="000000"/>
              </a:solidFill>
              <a:prstDash val="solid"/>
              <a:miter lim="800000"/>
              <a:headEnd len="med" w="med" type="none"/>
              <a:tailEnd len="med" w="med" type="none"/>
            </a:ln>
          </p:spPr>
        </p:cxnSp>
        <p:cxnSp>
          <p:nvCxnSpPr>
            <p:cNvPr id="458" name="Google Shape;458;p28"/>
            <p:cNvCxnSpPr/>
            <p:nvPr/>
          </p:nvCxnSpPr>
          <p:spPr>
            <a:xfrm>
              <a:off x="7147" y="6106"/>
              <a:ext cx="1" cy="540"/>
            </a:xfrm>
            <a:prstGeom prst="straightConnector1">
              <a:avLst/>
            </a:prstGeom>
            <a:noFill/>
            <a:ln cap="flat" cmpd="sng" w="9525">
              <a:solidFill>
                <a:srgbClr val="000000"/>
              </a:solidFill>
              <a:prstDash val="solid"/>
              <a:miter lim="800000"/>
              <a:headEnd len="med" w="med" type="none"/>
              <a:tailEnd len="med" w="med" type="none"/>
            </a:ln>
          </p:spPr>
        </p:cxnSp>
        <p:cxnSp>
          <p:nvCxnSpPr>
            <p:cNvPr id="459" name="Google Shape;459;p28"/>
            <p:cNvCxnSpPr/>
            <p:nvPr/>
          </p:nvCxnSpPr>
          <p:spPr>
            <a:xfrm flipH="1" rot="10800000">
              <a:off x="7157" y="6086"/>
              <a:ext cx="1015" cy="595"/>
            </a:xfrm>
            <a:prstGeom prst="straightConnector1">
              <a:avLst/>
            </a:prstGeom>
            <a:noFill/>
            <a:ln cap="flat" cmpd="sng" w="9525">
              <a:solidFill>
                <a:srgbClr val="000000"/>
              </a:solidFill>
              <a:prstDash val="solid"/>
              <a:miter lim="800000"/>
              <a:headEnd len="med" w="med" type="none"/>
              <a:tailEnd len="med" w="med" type="none"/>
            </a:ln>
          </p:spPr>
        </p:cxnSp>
        <p:cxnSp>
          <p:nvCxnSpPr>
            <p:cNvPr id="460" name="Google Shape;460;p28"/>
            <p:cNvCxnSpPr/>
            <p:nvPr/>
          </p:nvCxnSpPr>
          <p:spPr>
            <a:xfrm>
              <a:off x="2197" y="5196"/>
              <a:ext cx="2510" cy="1"/>
            </a:xfrm>
            <a:prstGeom prst="straightConnector1">
              <a:avLst/>
            </a:prstGeom>
            <a:noFill/>
            <a:ln cap="flat" cmpd="sng" w="12700">
              <a:solidFill>
                <a:srgbClr val="000000"/>
              </a:solidFill>
              <a:prstDash val="solid"/>
              <a:miter lim="800000"/>
              <a:headEnd len="med" w="med" type="none"/>
              <a:tailEnd len="med" w="med" type="none"/>
            </a:ln>
          </p:spPr>
        </p:cxnSp>
        <p:cxnSp>
          <p:nvCxnSpPr>
            <p:cNvPr id="461" name="Google Shape;461;p28"/>
            <p:cNvCxnSpPr/>
            <p:nvPr/>
          </p:nvCxnSpPr>
          <p:spPr>
            <a:xfrm>
              <a:off x="5607" y="5195"/>
              <a:ext cx="4320" cy="2"/>
            </a:xfrm>
            <a:prstGeom prst="straightConnector1">
              <a:avLst/>
            </a:prstGeom>
            <a:noFill/>
            <a:ln cap="flat" cmpd="sng" w="12700">
              <a:solidFill>
                <a:srgbClr val="000000"/>
              </a:solidFill>
              <a:prstDash val="solid"/>
              <a:miter lim="800000"/>
              <a:headEnd len="med" w="med" type="none"/>
              <a:tailEnd len="med" w="med" type="none"/>
            </a:ln>
          </p:spPr>
        </p:cxnSp>
        <p:sp>
          <p:nvSpPr>
            <p:cNvPr id="462" name="Google Shape;462;p28"/>
            <p:cNvSpPr txBox="1"/>
            <p:nvPr/>
          </p:nvSpPr>
          <p:spPr>
            <a:xfrm>
              <a:off x="3717" y="464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63" name="Google Shape;463;p28"/>
            <p:cNvSpPr txBox="1"/>
            <p:nvPr/>
          </p:nvSpPr>
          <p:spPr>
            <a:xfrm>
              <a:off x="3687" y="52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64" name="Google Shape;464;p28"/>
            <p:cNvSpPr txBox="1"/>
            <p:nvPr/>
          </p:nvSpPr>
          <p:spPr>
            <a:xfrm>
              <a:off x="8847" y="52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65" name="Google Shape;465;p28"/>
            <p:cNvSpPr txBox="1"/>
            <p:nvPr/>
          </p:nvSpPr>
          <p:spPr>
            <a:xfrm>
              <a:off x="8847" y="463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66" name="Google Shape;466;p28"/>
            <p:cNvSpPr txBox="1"/>
            <p:nvPr/>
          </p:nvSpPr>
          <p:spPr>
            <a:xfrm>
              <a:off x="2187" y="6666"/>
              <a:ext cx="252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 Mô hình mức người dùng</a:t>
              </a:r>
              <a:endParaRPr/>
            </a:p>
          </p:txBody>
        </p:sp>
        <p:sp>
          <p:nvSpPr>
            <p:cNvPr id="467" name="Google Shape;467;p28"/>
            <p:cNvSpPr txBox="1"/>
            <p:nvPr/>
          </p:nvSpPr>
          <p:spPr>
            <a:xfrm>
              <a:off x="6147" y="738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b) Mô hình mức nhân</a:t>
              </a:r>
              <a:endParaRPr/>
            </a:p>
          </p:txBody>
        </p:sp>
        <p:cxnSp>
          <p:nvCxnSpPr>
            <p:cNvPr id="468" name="Google Shape;468;p28"/>
            <p:cNvCxnSpPr/>
            <p:nvPr/>
          </p:nvCxnSpPr>
          <p:spPr>
            <a:xfrm>
              <a:off x="3177" y="8466"/>
              <a:ext cx="719" cy="900"/>
            </a:xfrm>
            <a:prstGeom prst="straightConnector1">
              <a:avLst/>
            </a:prstGeom>
            <a:noFill/>
            <a:ln cap="flat" cmpd="sng" w="9525">
              <a:solidFill>
                <a:srgbClr val="000000"/>
              </a:solidFill>
              <a:prstDash val="solid"/>
              <a:miter lim="800000"/>
              <a:headEnd len="med" w="med" type="none"/>
              <a:tailEnd len="med" w="med" type="none"/>
            </a:ln>
          </p:spPr>
        </p:cxnSp>
        <p:cxnSp>
          <p:nvCxnSpPr>
            <p:cNvPr id="469" name="Google Shape;469;p28"/>
            <p:cNvCxnSpPr/>
            <p:nvPr/>
          </p:nvCxnSpPr>
          <p:spPr>
            <a:xfrm flipH="1" rot="10800000">
              <a:off x="3896" y="8466"/>
              <a:ext cx="1" cy="900"/>
            </a:xfrm>
            <a:prstGeom prst="straightConnector1">
              <a:avLst/>
            </a:prstGeom>
            <a:noFill/>
            <a:ln cap="flat" cmpd="sng" w="9525">
              <a:solidFill>
                <a:srgbClr val="000000"/>
              </a:solidFill>
              <a:prstDash val="solid"/>
              <a:miter lim="800000"/>
              <a:headEnd len="med" w="med" type="none"/>
              <a:tailEnd len="med" w="med" type="none"/>
            </a:ln>
          </p:spPr>
        </p:cxnSp>
        <p:cxnSp>
          <p:nvCxnSpPr>
            <p:cNvPr id="470" name="Google Shape;470;p28"/>
            <p:cNvCxnSpPr/>
            <p:nvPr/>
          </p:nvCxnSpPr>
          <p:spPr>
            <a:xfrm flipH="1" rot="10800000">
              <a:off x="3896" y="8466"/>
              <a:ext cx="720" cy="900"/>
            </a:xfrm>
            <a:prstGeom prst="straightConnector1">
              <a:avLst/>
            </a:prstGeom>
            <a:noFill/>
            <a:ln cap="flat" cmpd="sng" w="9525">
              <a:solidFill>
                <a:srgbClr val="000000"/>
              </a:solidFill>
              <a:prstDash val="solid"/>
              <a:miter lim="800000"/>
              <a:headEnd len="med" w="med" type="none"/>
              <a:tailEnd len="med" w="med" type="none"/>
            </a:ln>
          </p:spPr>
        </p:cxnSp>
        <p:sp>
          <p:nvSpPr>
            <p:cNvPr id="471" name="Google Shape;471;p28"/>
            <p:cNvSpPr/>
            <p:nvPr/>
          </p:nvSpPr>
          <p:spPr>
            <a:xfrm>
              <a:off x="3087" y="792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2" name="Google Shape;472;p28"/>
            <p:cNvSpPr/>
            <p:nvPr/>
          </p:nvSpPr>
          <p:spPr>
            <a:xfrm>
              <a:off x="3796" y="793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3" name="Google Shape;473;p28"/>
            <p:cNvSpPr/>
            <p:nvPr/>
          </p:nvSpPr>
          <p:spPr>
            <a:xfrm>
              <a:off x="4516" y="79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74" name="Google Shape;474;p28"/>
            <p:cNvCxnSpPr/>
            <p:nvPr/>
          </p:nvCxnSpPr>
          <p:spPr>
            <a:xfrm flipH="1">
              <a:off x="3177" y="9366"/>
              <a:ext cx="719" cy="720"/>
            </a:xfrm>
            <a:prstGeom prst="straightConnector1">
              <a:avLst/>
            </a:prstGeom>
            <a:noFill/>
            <a:ln cap="flat" cmpd="sng" w="9525">
              <a:solidFill>
                <a:srgbClr val="000000"/>
              </a:solidFill>
              <a:prstDash val="solid"/>
              <a:miter lim="800000"/>
              <a:headEnd len="med" w="med" type="none"/>
              <a:tailEnd len="med" w="med" type="none"/>
            </a:ln>
          </p:spPr>
        </p:cxnSp>
        <p:cxnSp>
          <p:nvCxnSpPr>
            <p:cNvPr id="475" name="Google Shape;475;p28"/>
            <p:cNvCxnSpPr/>
            <p:nvPr/>
          </p:nvCxnSpPr>
          <p:spPr>
            <a:xfrm>
              <a:off x="3896" y="9366"/>
              <a:ext cx="541" cy="720"/>
            </a:xfrm>
            <a:prstGeom prst="straightConnector1">
              <a:avLst/>
            </a:prstGeom>
            <a:noFill/>
            <a:ln cap="flat" cmpd="sng" w="9525">
              <a:solidFill>
                <a:srgbClr val="000000"/>
              </a:solidFill>
              <a:prstDash val="solid"/>
              <a:miter lim="800000"/>
              <a:headEnd len="med" w="med" type="none"/>
              <a:tailEnd len="med" w="med" type="none"/>
            </a:ln>
          </p:spPr>
        </p:cxnSp>
        <p:cxnSp>
          <p:nvCxnSpPr>
            <p:cNvPr id="476" name="Google Shape;476;p28"/>
            <p:cNvCxnSpPr/>
            <p:nvPr/>
          </p:nvCxnSpPr>
          <p:spPr>
            <a:xfrm>
              <a:off x="2727" y="9366"/>
              <a:ext cx="3060" cy="0"/>
            </a:xfrm>
            <a:prstGeom prst="straightConnector1">
              <a:avLst/>
            </a:prstGeom>
            <a:noFill/>
            <a:ln cap="flat" cmpd="sng" w="12700">
              <a:solidFill>
                <a:srgbClr val="000000"/>
              </a:solidFill>
              <a:prstDash val="solid"/>
              <a:miter lim="800000"/>
              <a:headEnd len="med" w="med" type="none"/>
              <a:tailEnd len="med" w="med" type="none"/>
            </a:ln>
          </p:spPr>
        </p:cxnSp>
        <p:sp>
          <p:nvSpPr>
            <p:cNvPr id="477" name="Google Shape;477;p28"/>
            <p:cNvSpPr txBox="1"/>
            <p:nvPr/>
          </p:nvSpPr>
          <p:spPr>
            <a:xfrm>
              <a:off x="4777" y="882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người dùng</a:t>
              </a:r>
              <a:endParaRPr/>
            </a:p>
          </p:txBody>
        </p:sp>
        <p:sp>
          <p:nvSpPr>
            <p:cNvPr id="478" name="Google Shape;478;p28"/>
            <p:cNvSpPr txBox="1"/>
            <p:nvPr/>
          </p:nvSpPr>
          <p:spPr>
            <a:xfrm>
              <a:off x="4797" y="9416"/>
              <a:ext cx="1080" cy="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chế độ nhân</a:t>
              </a:r>
              <a:endParaRPr/>
            </a:p>
          </p:txBody>
        </p:sp>
        <p:sp>
          <p:nvSpPr>
            <p:cNvPr id="479" name="Google Shape;479;p28"/>
            <p:cNvSpPr/>
            <p:nvPr/>
          </p:nvSpPr>
          <p:spPr>
            <a:xfrm>
              <a:off x="3507" y="1098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0" name="Google Shape;480;p28"/>
            <p:cNvSpPr txBox="1"/>
            <p:nvPr/>
          </p:nvSpPr>
          <p:spPr>
            <a:xfrm>
              <a:off x="3627" y="1113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cxnSp>
          <p:nvCxnSpPr>
            <p:cNvPr id="481" name="Google Shape;481;p28"/>
            <p:cNvCxnSpPr/>
            <p:nvPr/>
          </p:nvCxnSpPr>
          <p:spPr>
            <a:xfrm>
              <a:off x="3177" y="10626"/>
              <a:ext cx="600" cy="360"/>
            </a:xfrm>
            <a:prstGeom prst="straightConnector1">
              <a:avLst/>
            </a:prstGeom>
            <a:noFill/>
            <a:ln cap="flat" cmpd="sng" w="9525">
              <a:solidFill>
                <a:srgbClr val="000000"/>
              </a:solidFill>
              <a:prstDash val="solid"/>
              <a:miter lim="800000"/>
              <a:headEnd len="med" w="med" type="none"/>
              <a:tailEnd len="med" w="med" type="none"/>
            </a:ln>
          </p:spPr>
        </p:cxnSp>
        <p:cxnSp>
          <p:nvCxnSpPr>
            <p:cNvPr id="482" name="Google Shape;482;p28"/>
            <p:cNvCxnSpPr/>
            <p:nvPr/>
          </p:nvCxnSpPr>
          <p:spPr>
            <a:xfrm flipH="1" rot="10800000">
              <a:off x="3777" y="10626"/>
              <a:ext cx="660" cy="360"/>
            </a:xfrm>
            <a:prstGeom prst="straightConnector1">
              <a:avLst/>
            </a:prstGeom>
            <a:noFill/>
            <a:ln cap="flat" cmpd="sng" w="9525">
              <a:solidFill>
                <a:srgbClr val="000000"/>
              </a:solidFill>
              <a:prstDash val="solid"/>
              <a:miter lim="800000"/>
              <a:headEnd len="med" w="med" type="none"/>
              <a:tailEnd len="med" w="med" type="none"/>
            </a:ln>
          </p:spPr>
        </p:cxnSp>
        <p:sp>
          <p:nvSpPr>
            <p:cNvPr id="483" name="Google Shape;483;p28"/>
            <p:cNvSpPr txBox="1"/>
            <p:nvPr/>
          </p:nvSpPr>
          <p:spPr>
            <a:xfrm>
              <a:off x="2547" y="11706"/>
              <a:ext cx="2520" cy="5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 Mô hình kết hợp </a:t>
              </a:r>
              <a:endParaRPr/>
            </a:p>
          </p:txBody>
        </p:sp>
        <p:sp>
          <p:nvSpPr>
            <p:cNvPr id="484" name="Google Shape;484;p28"/>
            <p:cNvSpPr/>
            <p:nvPr/>
          </p:nvSpPr>
          <p:spPr>
            <a:xfrm>
              <a:off x="7445" y="864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5" name="Google Shape;485;p28"/>
            <p:cNvSpPr txBox="1"/>
            <p:nvPr/>
          </p:nvSpPr>
          <p:spPr>
            <a:xfrm>
              <a:off x="7837" y="8736"/>
              <a:ext cx="252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LUỒNG  mức người dùng</a:t>
              </a:r>
              <a:endParaRPr/>
            </a:p>
          </p:txBody>
        </p:sp>
        <p:grpSp>
          <p:nvGrpSpPr>
            <p:cNvPr id="486" name="Google Shape;486;p28"/>
            <p:cNvGrpSpPr/>
            <p:nvPr/>
          </p:nvGrpSpPr>
          <p:grpSpPr>
            <a:xfrm>
              <a:off x="7227" y="9366"/>
              <a:ext cx="540" cy="540"/>
              <a:chOff x="5427" y="5766"/>
              <a:chExt cx="540" cy="540"/>
            </a:xfrm>
          </p:grpSpPr>
          <p:sp>
            <p:nvSpPr>
              <p:cNvPr id="487" name="Google Shape;487;p28"/>
              <p:cNvSpPr/>
              <p:nvPr/>
            </p:nvSpPr>
            <p:spPr>
              <a:xfrm>
                <a:off x="5427" y="57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8" name="Google Shape;488;p28"/>
              <p:cNvSpPr/>
              <p:nvPr/>
            </p:nvSpPr>
            <p:spPr>
              <a:xfrm>
                <a:off x="5617" y="5856"/>
                <a:ext cx="142" cy="360"/>
              </a:xfrm>
              <a:custGeom>
                <a:rect b="b" l="l" r="r" t="t"/>
                <a:pathLst>
                  <a:path extrusionOk="0" h="2160" w="420">
                    <a:moveTo>
                      <a:pt x="210" y="0"/>
                    </a:moveTo>
                    <a:cubicBezTo>
                      <a:pt x="285" y="60"/>
                      <a:pt x="360" y="120"/>
                      <a:pt x="390" y="180"/>
                    </a:cubicBezTo>
                    <a:cubicBezTo>
                      <a:pt x="420" y="240"/>
                      <a:pt x="420" y="300"/>
                      <a:pt x="390" y="360"/>
                    </a:cubicBezTo>
                    <a:cubicBezTo>
                      <a:pt x="360" y="420"/>
                      <a:pt x="270" y="480"/>
                      <a:pt x="210" y="540"/>
                    </a:cubicBezTo>
                    <a:cubicBezTo>
                      <a:pt x="150" y="600"/>
                      <a:pt x="60" y="660"/>
                      <a:pt x="30" y="720"/>
                    </a:cubicBezTo>
                    <a:cubicBezTo>
                      <a:pt x="0" y="780"/>
                      <a:pt x="0" y="840"/>
                      <a:pt x="30" y="900"/>
                    </a:cubicBezTo>
                    <a:cubicBezTo>
                      <a:pt x="60" y="960"/>
                      <a:pt x="150" y="1020"/>
                      <a:pt x="210" y="1080"/>
                    </a:cubicBezTo>
                    <a:cubicBezTo>
                      <a:pt x="270" y="1140"/>
                      <a:pt x="360" y="1200"/>
                      <a:pt x="390" y="1260"/>
                    </a:cubicBezTo>
                    <a:cubicBezTo>
                      <a:pt x="420" y="1320"/>
                      <a:pt x="420" y="1380"/>
                      <a:pt x="390" y="1440"/>
                    </a:cubicBezTo>
                    <a:cubicBezTo>
                      <a:pt x="360" y="1500"/>
                      <a:pt x="270" y="1560"/>
                      <a:pt x="210" y="1620"/>
                    </a:cubicBezTo>
                    <a:cubicBezTo>
                      <a:pt x="150" y="1680"/>
                      <a:pt x="60" y="1740"/>
                      <a:pt x="30" y="1800"/>
                    </a:cubicBezTo>
                    <a:cubicBezTo>
                      <a:pt x="0" y="1860"/>
                      <a:pt x="0" y="1920"/>
                      <a:pt x="30" y="1980"/>
                    </a:cubicBezTo>
                    <a:cubicBezTo>
                      <a:pt x="60" y="2040"/>
                      <a:pt x="180" y="2130"/>
                      <a:pt x="210" y="2160"/>
                    </a:cubicBez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489" name="Google Shape;489;p28"/>
            <p:cNvSpPr txBox="1"/>
            <p:nvPr/>
          </p:nvSpPr>
          <p:spPr>
            <a:xfrm>
              <a:off x="7827" y="943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LUỒNG mức nhân</a:t>
              </a:r>
              <a:endParaRPr/>
            </a:p>
          </p:txBody>
        </p:sp>
        <p:sp>
          <p:nvSpPr>
            <p:cNvPr id="490" name="Google Shape;490;p28"/>
            <p:cNvSpPr/>
            <p:nvPr/>
          </p:nvSpPr>
          <p:spPr>
            <a:xfrm>
              <a:off x="7227" y="10266"/>
              <a:ext cx="540" cy="54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1" name="Google Shape;491;p28"/>
            <p:cNvSpPr txBox="1"/>
            <p:nvPr/>
          </p:nvSpPr>
          <p:spPr>
            <a:xfrm>
              <a:off x="7347" y="10416"/>
              <a:ext cx="360" cy="360"/>
            </a:xfrm>
            <a:prstGeom prst="rect">
              <a:avLst/>
            </a:prstGeom>
            <a:noFill/>
            <a:ln>
              <a:noFill/>
            </a:ln>
          </p:spPr>
          <p:txBody>
            <a:bodyPr anchorCtr="0" anchor="t" bIns="10800" lIns="54000" spcFirstLastPara="1" rIns="54000"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a:t>
              </a:r>
              <a:endParaRPr/>
            </a:p>
          </p:txBody>
        </p:sp>
        <p:sp>
          <p:nvSpPr>
            <p:cNvPr id="492" name="Google Shape;492;p28"/>
            <p:cNvSpPr txBox="1"/>
            <p:nvPr/>
          </p:nvSpPr>
          <p:spPr>
            <a:xfrm>
              <a:off x="7947" y="10356"/>
              <a:ext cx="1980" cy="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tiến trình</a:t>
              </a:r>
              <a:endParaRPr/>
            </a:p>
          </p:txBody>
        </p:sp>
      </p:grpSp>
      <p:sp>
        <p:nvSpPr>
          <p:cNvPr id="493" name="Google Shape;493;p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9"/>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Trong hệ thống cho phép đa chương trình, nhiều tiến trình có thể tồn tại và thực hiện cùng lúc.</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Kỹ thuật đa chương trình có nhiều ưu điểm do cho cho phép sử dụng CPU hiệu quả, đáp ứng nhu cầu tính toán của người dùng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Tuy nhiên, đặt ra nhiều vấn đề phức tạp hơn đối với HĐH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00" name="Google Shape;500;p29"/>
          <p:cNvSpPr txBox="1"/>
          <p:nvPr>
            <p:ph type="title"/>
          </p:nvPr>
        </p:nvSpPr>
        <p:spPr>
          <a:xfrm>
            <a:off x="457200" y="-7620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điều độ</a:t>
            </a:r>
            <a:endParaRPr/>
          </a:p>
        </p:txBody>
      </p:sp>
      <p:sp>
        <p:nvSpPr>
          <p:cNvPr id="501" name="Google Shape;501;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2" name="Google Shape;502;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3" name="Google Shape;503;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4" name="Google Shape;504;p2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animEffect filter="fade" transition="in">
                                      <p:cBhvr>
                                        <p:cTn dur="500"/>
                                        <p:tgtEl>
                                          <p:spTgt spid="4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animEffect filter="fade" transition="in">
                                      <p:cBhvr>
                                        <p:cTn dur="500"/>
                                        <p:tgtEl>
                                          <p:spTgt spid="4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animEffect filter="fade" transition="in">
                                      <p:cBhvr>
                                        <p:cTn dur="500"/>
                                        <p:tgtEl>
                                          <p:spTgt spid="4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3" st="3"/>
                                            </p:txEl>
                                          </p:spTgt>
                                        </p:tgtEl>
                                        <p:attrNameLst>
                                          <p:attrName>style.visibility</p:attrName>
                                        </p:attrNameLst>
                                      </p:cBhvr>
                                      <p:to>
                                        <p:strVal val="visible"/>
                                      </p:to>
                                    </p:set>
                                    <p:animEffect filter="fade" transition="in">
                                      <p:cBhvr>
                                        <p:cTn dur="500"/>
                                        <p:tgtEl>
                                          <p:spTgt spid="4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4" st="4"/>
                                            </p:txEl>
                                          </p:spTgt>
                                        </p:tgtEl>
                                        <p:attrNameLst>
                                          <p:attrName>style.visibility</p:attrName>
                                        </p:attrNameLst>
                                      </p:cBhvr>
                                      <p:to>
                                        <p:strVal val="visible"/>
                                      </p:to>
                                    </p:set>
                                    <p:animEffect filter="fade" transition="in">
                                      <p:cBhvr>
                                        <p:cTn dur="500"/>
                                        <p:tgtEl>
                                          <p:spTgt spid="4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5" st="5"/>
                                            </p:txEl>
                                          </p:spTgt>
                                        </p:tgtEl>
                                        <p:attrNameLst>
                                          <p:attrName>style.visibility</p:attrName>
                                        </p:attrNameLst>
                                      </p:cBhvr>
                                      <p:to>
                                        <p:strVal val="visible"/>
                                      </p:to>
                                    </p:set>
                                    <p:animEffect filter="fade" transition="in">
                                      <p:cBhvr>
                                        <p:cTn dur="500"/>
                                        <p:tgtEl>
                                          <p:spTgt spid="4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6" st="6"/>
                                            </p:txEl>
                                          </p:spTgt>
                                        </p:tgtEl>
                                        <p:attrNameLst>
                                          <p:attrName>style.visibility</p:attrName>
                                        </p:attrNameLst>
                                      </p:cBhvr>
                                      <p:to>
                                        <p:strVal val="visible"/>
                                      </p:to>
                                    </p:set>
                                    <p:animEffect filter="fade" transition="in">
                                      <p:cBhvr>
                                        <p:cTn dur="500"/>
                                        <p:tgtEl>
                                          <p:spTgt spid="4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7" st="7"/>
                                            </p:txEl>
                                          </p:spTgt>
                                        </p:tgtEl>
                                        <p:attrNameLst>
                                          <p:attrName>style.visibility</p:attrName>
                                        </p:attrNameLst>
                                      </p:cBhvr>
                                      <p:to>
                                        <p:strVal val="visible"/>
                                      </p:to>
                                    </p:set>
                                    <p:animEffect filter="fade" transition="in">
                                      <p:cBhvr>
                                        <p:cTn dur="500"/>
                                        <p:tgtEl>
                                          <p:spTgt spid="4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8" st="8"/>
                                            </p:txEl>
                                          </p:spTgt>
                                        </p:tgtEl>
                                        <p:attrNameLst>
                                          <p:attrName>style.visibility</p:attrName>
                                        </p:attrNameLst>
                                      </p:cBhvr>
                                      <p:to>
                                        <p:strVal val="visible"/>
                                      </p:to>
                                    </p:set>
                                    <p:animEffect filter="fade" transition="in">
                                      <p:cBhvr>
                                        <p:cTn dur="500"/>
                                        <p:tgtEl>
                                          <p:spTgt spid="4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9" st="9"/>
                                            </p:txEl>
                                          </p:spTgt>
                                        </p:tgtEl>
                                        <p:attrNameLst>
                                          <p:attrName>style.visibility</p:attrName>
                                        </p:attrNameLst>
                                      </p:cBhvr>
                                      <p:to>
                                        <p:strVal val="visible"/>
                                      </p:to>
                                    </p:set>
                                    <p:animEffect filter="fade" transition="in">
                                      <p:cBhvr>
                                        <p:cTn dur="500"/>
                                        <p:tgtEl>
                                          <p:spTgt spid="49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0"/>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Điều độ </a:t>
            </a:r>
            <a:r>
              <a:rPr b="0" i="0" lang="en-US" sz="2800" u="none">
                <a:solidFill>
                  <a:schemeClr val="dk2"/>
                </a:solidFill>
                <a:latin typeface="Times New Roman"/>
                <a:ea typeface="Times New Roman"/>
                <a:cs typeface="Times New Roman"/>
                <a:sym typeface="Times New Roman"/>
              </a:rPr>
              <a:t>(scheduling) hay </a:t>
            </a:r>
            <a:r>
              <a:rPr b="0" i="1" lang="en-US" sz="2800" u="none">
                <a:solidFill>
                  <a:schemeClr val="dk2"/>
                </a:solidFill>
                <a:latin typeface="Times New Roman"/>
                <a:ea typeface="Times New Roman"/>
                <a:cs typeface="Times New Roman"/>
                <a:sym typeface="Times New Roman"/>
              </a:rPr>
              <a:t>lập lịch </a:t>
            </a:r>
            <a:r>
              <a:rPr b="0" i="0" lang="en-US" sz="2800" u="none">
                <a:solidFill>
                  <a:schemeClr val="dk2"/>
                </a:solidFill>
                <a:latin typeface="Times New Roman"/>
                <a:ea typeface="Times New Roman"/>
                <a:cs typeface="Times New Roman"/>
                <a:sym typeface="Times New Roman"/>
              </a:rPr>
              <a:t>là quyết định tiến trình nào được sử dụng tài nguyên phần cứng khi nào, trong thời gian bao lâu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Tập trung vào vấn đề điều độ đối với CPU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Quyết định thứ tự và thời gian sử dụng CPU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Điều độ tiến trình và điều độ dòng: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Hệ thống trước kia: tiến trình là đơn vị thực hiện chính =&gt; điều độ thực hiện với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Hệ thống hỗ trợ luồng: luồng mức nhân là đơn vị thực hiện được HDH cấp CPU chứ không phải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=&gt; Sử dụng thuật ngữ điều độ tiến trình rộng rãi ⬄ điều độ luồng</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11" name="Google Shape;511;p30"/>
          <p:cNvSpPr txBox="1"/>
          <p:nvPr>
            <p:ph type="title"/>
          </p:nvPr>
        </p:nvSpPr>
        <p:spPr>
          <a:xfrm>
            <a:off x="457200" y="-7620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điều độ</a:t>
            </a:r>
            <a:endParaRPr/>
          </a:p>
        </p:txBody>
      </p:sp>
      <p:sp>
        <p:nvSpPr>
          <p:cNvPr id="512" name="Google Shape;512;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3" name="Google Shape;513;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4" name="Google Shape;514;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5" name="Google Shape;515;p3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animEffect filter="fade" transition="in">
                                      <p:cBhvr>
                                        <p:cTn dur="500"/>
                                        <p:tgtEl>
                                          <p:spTgt spid="5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animEffect filter="fade" transition="in">
                                      <p:cBhvr>
                                        <p:cTn dur="500"/>
                                        <p:tgtEl>
                                          <p:spTgt spid="5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animEffect filter="fade" transition="in">
                                      <p:cBhvr>
                                        <p:cTn dur="500"/>
                                        <p:tgtEl>
                                          <p:spTgt spid="5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animEffect filter="fade" transition="in">
                                      <p:cBhvr>
                                        <p:cTn dur="500"/>
                                        <p:tgtEl>
                                          <p:spTgt spid="5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4" st="4"/>
                                            </p:txEl>
                                          </p:spTgt>
                                        </p:tgtEl>
                                        <p:attrNameLst>
                                          <p:attrName>style.visibility</p:attrName>
                                        </p:attrNameLst>
                                      </p:cBhvr>
                                      <p:to>
                                        <p:strVal val="visible"/>
                                      </p:to>
                                    </p:set>
                                    <p:animEffect filter="fade" transition="in">
                                      <p:cBhvr>
                                        <p:cTn dur="500"/>
                                        <p:tgtEl>
                                          <p:spTgt spid="5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5" st="5"/>
                                            </p:txEl>
                                          </p:spTgt>
                                        </p:tgtEl>
                                        <p:attrNameLst>
                                          <p:attrName>style.visibility</p:attrName>
                                        </p:attrNameLst>
                                      </p:cBhvr>
                                      <p:to>
                                        <p:strVal val="visible"/>
                                      </p:to>
                                    </p:set>
                                    <p:animEffect filter="fade" transition="in">
                                      <p:cBhvr>
                                        <p:cTn dur="500"/>
                                        <p:tgtEl>
                                          <p:spTgt spid="5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6" st="6"/>
                                            </p:txEl>
                                          </p:spTgt>
                                        </p:tgtEl>
                                        <p:attrNameLst>
                                          <p:attrName>style.visibility</p:attrName>
                                        </p:attrNameLst>
                                      </p:cBhvr>
                                      <p:to>
                                        <p:strVal val="visible"/>
                                      </p:to>
                                    </p:set>
                                    <p:animEffect filter="fade" transition="in">
                                      <p:cBhvr>
                                        <p:cTn dur="500"/>
                                        <p:tgtEl>
                                          <p:spTgt spid="5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7" st="7"/>
                                            </p:txEl>
                                          </p:spTgt>
                                        </p:tgtEl>
                                        <p:attrNameLst>
                                          <p:attrName>style.visibility</p:attrName>
                                        </p:attrNameLst>
                                      </p:cBhvr>
                                      <p:to>
                                        <p:strVal val="visible"/>
                                      </p:to>
                                    </p:set>
                                    <p:animEffect filter="fade" transition="in">
                                      <p:cBhvr>
                                        <p:cTn dur="500"/>
                                        <p:tgtEl>
                                          <p:spTgt spid="5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8" st="8"/>
                                            </p:txEl>
                                          </p:spTgt>
                                        </p:tgtEl>
                                        <p:attrNameLst>
                                          <p:attrName>style.visibility</p:attrName>
                                        </p:attrNameLst>
                                      </p:cBhvr>
                                      <p:to>
                                        <p:strVal val="visible"/>
                                      </p:to>
                                    </p:set>
                                    <p:animEffect filter="fade" transition="in">
                                      <p:cBhvr>
                                        <p:cTn dur="500"/>
                                        <p:tgtEl>
                                          <p:spTgt spid="5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9" st="9"/>
                                            </p:txEl>
                                          </p:spTgt>
                                        </p:tgtEl>
                                        <p:attrNameLst>
                                          <p:attrName>style.visibility</p:attrName>
                                        </p:attrNameLst>
                                      </p:cBhvr>
                                      <p:to>
                                        <p:strVal val="visible"/>
                                      </p:to>
                                    </p:set>
                                    <p:animEffect filter="fade" transition="in">
                                      <p:cBhvr>
                                        <p:cTn dur="500"/>
                                        <p:tgtEl>
                                          <p:spTgt spid="5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0" st="10"/>
                                            </p:txEl>
                                          </p:spTgt>
                                        </p:tgtEl>
                                        <p:attrNameLst>
                                          <p:attrName>style.visibility</p:attrName>
                                        </p:attrNameLst>
                                      </p:cBhvr>
                                      <p:to>
                                        <p:strVal val="visible"/>
                                      </p:to>
                                    </p:set>
                                    <p:animEffect filter="fade" transition="in">
                                      <p:cBhvr>
                                        <p:cTn dur="500"/>
                                        <p:tgtEl>
                                          <p:spTgt spid="51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1" st="11"/>
                                            </p:txEl>
                                          </p:spTgt>
                                        </p:tgtEl>
                                        <p:attrNameLst>
                                          <p:attrName>style.visibility</p:attrName>
                                        </p:attrNameLst>
                                      </p:cBhvr>
                                      <p:to>
                                        <p:strVal val="visible"/>
                                      </p:to>
                                    </p:set>
                                    <p:animEffect filter="fade" transition="in">
                                      <p:cBhvr>
                                        <p:cTn dur="500"/>
                                        <p:tgtEl>
                                          <p:spTgt spid="51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2" st="12"/>
                                            </p:txEl>
                                          </p:spTgt>
                                        </p:tgtEl>
                                        <p:attrNameLst>
                                          <p:attrName>style.visibility</p:attrName>
                                        </p:attrNameLst>
                                      </p:cBhvr>
                                      <p:to>
                                        <p:strVal val="visible"/>
                                      </p:to>
                                    </p:set>
                                    <p:animEffect filter="fade" transition="in">
                                      <p:cBhvr>
                                        <p:cTn dur="500"/>
                                        <p:tgtEl>
                                          <p:spTgt spid="51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22" name="Google Shape;522;p3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Các dạng  điều độ</a:t>
            </a:r>
            <a:endParaRPr/>
          </a:p>
        </p:txBody>
      </p:sp>
      <p:sp>
        <p:nvSpPr>
          <p:cNvPr id="523" name="Google Shape;523;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4" name="Google Shape;524;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5" name="Google Shape;525;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6" name="Google Shape;526;p31"/>
          <p:cNvSpPr txBox="1"/>
          <p:nvPr/>
        </p:nvSpPr>
        <p:spPr>
          <a:xfrm>
            <a:off x="0" y="838200"/>
            <a:ext cx="9144000" cy="28194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1"/>
              </a:buClr>
              <a:buSzPts val="2240"/>
              <a:buFont typeface="Arial"/>
              <a:buAutoNum type="arabicPeriod"/>
            </a:pPr>
            <a:r>
              <a:rPr b="0" i="0" lang="en-US" sz="3200" u="none">
                <a:solidFill>
                  <a:schemeClr val="dk2"/>
                </a:solidFill>
                <a:latin typeface="Times New Roman"/>
                <a:ea typeface="Times New Roman"/>
                <a:cs typeface="Times New Roman"/>
                <a:sym typeface="Times New Roman"/>
              </a:rPr>
              <a:t>Điều độ dài hạn và ngắn hạn</a:t>
            </a:r>
            <a:endParaRPr/>
          </a:p>
          <a:p>
            <a:pPr indent="-285750" lvl="1" marL="742950"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dài hạn: </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Thực hiện khi mới tạo ra tiến trình</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quyết định tiến trình có được thêm vào danh sách đang hoạt động?</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được chấp nhận, hệ thống sẽ có thêm tiến trình mới. Ngược lại, chờ tới thời điểm khác để tạo và thực hiện</a:t>
            </a:r>
            <a:endParaRPr/>
          </a:p>
          <a:p>
            <a:pPr indent="-228600" lvl="2" marL="1143000" marR="0" rtl="0" algn="l">
              <a:lnSpc>
                <a:spcPct val="100000"/>
              </a:lnSpc>
              <a:spcBef>
                <a:spcPts val="420"/>
              </a:spcBef>
              <a:spcAft>
                <a:spcPts val="0"/>
              </a:spcAft>
              <a:buClr>
                <a:schemeClr val="accent1"/>
              </a:buClr>
              <a:buSzPts val="1470"/>
              <a:buFont typeface="Noto Sans Symbols"/>
              <a:buChar char="▪"/>
            </a:pPr>
            <a:r>
              <a:rPr b="0" i="0" lang="en-US" sz="2100" u="none" cap="none" strike="noStrike">
                <a:solidFill>
                  <a:schemeClr val="dk2"/>
                </a:solidFill>
                <a:latin typeface="Times New Roman"/>
                <a:ea typeface="Times New Roman"/>
                <a:cs typeface="Times New Roman"/>
                <a:sym typeface="Times New Roman"/>
              </a:rPr>
              <a:t>Ảnh hưởng tới mức độ đa chương trình</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1290" lvl="1" marL="742950"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527" name="Google Shape;527;p31"/>
          <p:cNvSpPr txBox="1"/>
          <p:nvPr/>
        </p:nvSpPr>
        <p:spPr>
          <a:xfrm>
            <a:off x="-304800" y="2743200"/>
            <a:ext cx="4913312" cy="2971800"/>
          </a:xfrm>
          <a:prstGeom prst="rect">
            <a:avLst/>
          </a:prstGeom>
          <a:noFill/>
          <a:ln>
            <a:noFill/>
          </a:ln>
        </p:spPr>
        <p:txBody>
          <a:bodyPr anchorCtr="0" anchor="t" bIns="45700" lIns="91425" spcFirstLastPara="1" rIns="91425" wrap="square" tIns="45700">
            <a:noAutofit/>
          </a:bodyPr>
          <a:lstStyle/>
          <a:p>
            <a:pPr indent="-157225" lvl="1" marL="547687" marR="0" rtl="0" algn="l">
              <a:lnSpc>
                <a:spcPct val="100000"/>
              </a:lnSpc>
              <a:spcBef>
                <a:spcPts val="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73048" lvl="1" marL="547687" marR="0" rtl="0" algn="l">
              <a:lnSpc>
                <a:spcPct val="10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trung hạn: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Quyết định tiến trình có được cấp </a:t>
            </a:r>
            <a:endParaRPr/>
          </a:p>
          <a:p>
            <a:pPr indent="-273049" lvl="2" marL="1004887" marR="0" rtl="0" algn="l">
              <a:lnSpc>
                <a:spcPct val="100000"/>
              </a:lnSpc>
              <a:spcBef>
                <a:spcPts val="50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MEM để thực hiện?</a:t>
            </a:r>
            <a:endParaRPr/>
          </a:p>
          <a:p>
            <a:pPr indent="-273048" lvl="1" marL="547687" marR="0" rtl="0" algn="l">
              <a:lnSpc>
                <a:spcPct val="10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Times New Roman"/>
                <a:ea typeface="Times New Roman"/>
                <a:cs typeface="Times New Roman"/>
                <a:sym typeface="Times New Roman"/>
              </a:rPr>
              <a:t>Điều độ ngắn hạn: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Quyết định tiến trình nào  được cấp CPU để thực hiện</a:t>
            </a:r>
            <a:endParaRPr/>
          </a:p>
          <a:p>
            <a:pPr indent="-273049" lvl="2" marL="10048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Thực hiện với tiến trình ở trạng thái sẵn sàng</a:t>
            </a:r>
            <a:endParaRPr/>
          </a:p>
          <a:p>
            <a:pPr indent="-171702" lvl="2" marL="1004887" marR="0" rtl="0" algn="l">
              <a:lnSpc>
                <a:spcPct val="100000"/>
              </a:lnSpc>
              <a:spcBef>
                <a:spcPts val="500"/>
              </a:spcBef>
              <a:spcAft>
                <a:spcPts val="0"/>
              </a:spcAft>
              <a:buClr>
                <a:srgbClr val="BCBCBC"/>
              </a:buClr>
              <a:buSzPts val="1596"/>
              <a:buFont typeface="Noto Sans Symbols"/>
              <a:buNone/>
            </a:pPr>
            <a:r>
              <a:t/>
            </a:r>
            <a:endParaRPr b="0" i="0" sz="2100" u="none" cap="none" strike="noStrike">
              <a:solidFill>
                <a:schemeClr val="dk1"/>
              </a:solidFill>
              <a:latin typeface="Times New Roman"/>
              <a:ea typeface="Times New Roman"/>
              <a:cs typeface="Times New Roman"/>
              <a:sym typeface="Times New Roman"/>
            </a:endParaRPr>
          </a:p>
          <a:p>
            <a:pPr indent="-157226" lvl="0" marL="2730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273049" lvl="1" marL="547687" marR="0" rtl="0" algn="l">
              <a:lnSpc>
                <a:spcPct val="100000"/>
              </a:lnSpc>
              <a:spcBef>
                <a:spcPts val="500"/>
              </a:spcBef>
              <a:spcAft>
                <a:spcPts val="0"/>
              </a:spcAft>
              <a:buClr>
                <a:schemeClr val="dk1"/>
              </a:buClr>
              <a:buSzPts val="2400"/>
              <a:buFont typeface="Arial"/>
              <a:buNone/>
            </a:pPr>
            <a:r>
              <a:t/>
            </a:r>
            <a:endParaRPr b="0" i="0" sz="2400" u="none" cap="none" strike="noStrike">
              <a:solidFill>
                <a:schemeClr val="dk2"/>
              </a:solidFill>
              <a:latin typeface="Times New Roman"/>
              <a:ea typeface="Times New Roman"/>
              <a:cs typeface="Times New Roman"/>
              <a:sym typeface="Times New Roman"/>
            </a:endParaRPr>
          </a:p>
          <a:p>
            <a:pPr indent="-118618" lvl="0" marL="273050" marR="0" rtl="0" algn="l">
              <a:lnSpc>
                <a:spcPct val="100000"/>
              </a:lnSpc>
              <a:spcBef>
                <a:spcPts val="600"/>
              </a:spcBef>
              <a:spcAft>
                <a:spcPts val="0"/>
              </a:spcAft>
              <a:buClr>
                <a:schemeClr val="accent1"/>
              </a:buClr>
              <a:buSzPts val="2432"/>
              <a:buFont typeface="Noto Sans Symbols"/>
              <a:buNone/>
            </a:pPr>
            <a:r>
              <a:t/>
            </a:r>
            <a:endParaRPr b="0" i="0" sz="3200" u="non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71704" lvl="0" marL="273050" marR="0" rtl="0" algn="l">
              <a:lnSpc>
                <a:spcPct val="100000"/>
              </a:lnSpc>
              <a:spcBef>
                <a:spcPts val="600"/>
              </a:spcBef>
              <a:spcAft>
                <a:spcPts val="0"/>
              </a:spcAft>
              <a:buClr>
                <a:schemeClr val="accent1"/>
              </a:buClr>
              <a:buSzPts val="1596"/>
              <a:buFont typeface="Noto Sans Symbols"/>
              <a:buNone/>
            </a:pPr>
            <a:r>
              <a:t/>
            </a:r>
            <a:endParaRPr b="0" i="1" sz="21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137922" lvl="0" marL="273050" marR="0" rtl="0" algn="l">
              <a:lnSpc>
                <a:spcPct val="100000"/>
              </a:lnSpc>
              <a:spcBef>
                <a:spcPts val="600"/>
              </a:spcBef>
              <a:spcAft>
                <a:spcPts val="0"/>
              </a:spcAft>
              <a:buClr>
                <a:schemeClr val="accent1"/>
              </a:buClr>
              <a:buSzPts val="2128"/>
              <a:buFont typeface="Noto Sans Symbols"/>
              <a:buNone/>
            </a:pPr>
            <a:r>
              <a:t/>
            </a:r>
            <a:endParaRPr b="0" i="1" sz="2800" u="none">
              <a:solidFill>
                <a:schemeClr val="dk1"/>
              </a:solidFill>
              <a:latin typeface="Times New Roman"/>
              <a:ea typeface="Times New Roman"/>
              <a:cs typeface="Times New Roman"/>
              <a:sym typeface="Times New Roman"/>
            </a:endParaRPr>
          </a:p>
          <a:p>
            <a:pPr indent="-273050" lvl="0" marL="273050" marR="0" rtl="0" algn="l">
              <a:lnSpc>
                <a:spcPct val="100000"/>
              </a:lnSpc>
              <a:spcBef>
                <a:spcPts val="6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57225" lvl="1" marL="5476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2051" lvl="1" marL="5476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300" u="none" cap="none" strike="noStrike">
              <a:solidFill>
                <a:schemeClr val="dk2"/>
              </a:solidFill>
              <a:latin typeface="Arial"/>
              <a:ea typeface="Arial"/>
              <a:cs typeface="Arial"/>
              <a:sym typeface="Arial"/>
            </a:endParaRPr>
          </a:p>
        </p:txBody>
      </p:sp>
      <p:grpSp>
        <p:nvGrpSpPr>
          <p:cNvPr id="528" name="Google Shape;528;p31"/>
          <p:cNvGrpSpPr/>
          <p:nvPr/>
        </p:nvGrpSpPr>
        <p:grpSpPr>
          <a:xfrm>
            <a:off x="3935412" y="3640137"/>
            <a:ext cx="5308600" cy="2716212"/>
            <a:chOff x="2007" y="4939"/>
            <a:chExt cx="8361" cy="4277"/>
          </a:xfrm>
        </p:grpSpPr>
        <p:sp>
          <p:nvSpPr>
            <p:cNvPr id="529" name="Google Shape;529;p31"/>
            <p:cNvSpPr/>
            <p:nvPr/>
          </p:nvSpPr>
          <p:spPr>
            <a:xfrm>
              <a:off x="2007" y="4939"/>
              <a:ext cx="8361" cy="42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0" name="Google Shape;530;p31"/>
            <p:cNvSpPr/>
            <p:nvPr/>
          </p:nvSpPr>
          <p:spPr>
            <a:xfrm rot="7620000">
              <a:off x="5704" y="6352"/>
              <a:ext cx="1108" cy="1166"/>
            </a:xfrm>
            <a:custGeom>
              <a:rect b="b" l="l" r="r" t="t"/>
              <a:pathLst>
                <a:path extrusionOk="0" fill="none" h="21333" w="21600">
                  <a:moveTo>
                    <a:pt x="4859" y="-1"/>
                  </a:moveTo>
                  <a:cubicBezTo>
                    <a:pt x="14658" y="2262"/>
                    <a:pt x="21600" y="10988"/>
                    <a:pt x="21600" y="21046"/>
                  </a:cubicBezTo>
                  <a:cubicBezTo>
                    <a:pt x="21600" y="21141"/>
                    <a:pt x="21599" y="21237"/>
                    <a:pt x="21598" y="21333"/>
                  </a:cubicBezTo>
                </a:path>
                <a:path extrusionOk="0" h="21333" w="21600">
                  <a:moveTo>
                    <a:pt x="4859" y="-1"/>
                  </a:moveTo>
                  <a:cubicBezTo>
                    <a:pt x="14658" y="2262"/>
                    <a:pt x="21600" y="10988"/>
                    <a:pt x="21600" y="21046"/>
                  </a:cubicBezTo>
                  <a:cubicBezTo>
                    <a:pt x="21600" y="21141"/>
                    <a:pt x="21599" y="21237"/>
                    <a:pt x="21598" y="2133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1" name="Google Shape;531;p31"/>
            <p:cNvSpPr/>
            <p:nvPr/>
          </p:nvSpPr>
          <p:spPr>
            <a:xfrm>
              <a:off x="2205" y="6364"/>
              <a:ext cx="1328" cy="110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Mới khởi tạo</a:t>
              </a:r>
              <a:endParaRPr/>
            </a:p>
          </p:txBody>
        </p:sp>
        <p:sp>
          <p:nvSpPr>
            <p:cNvPr id="532" name="Google Shape;532;p31"/>
            <p:cNvSpPr/>
            <p:nvPr/>
          </p:nvSpPr>
          <p:spPr>
            <a:xfrm>
              <a:off x="4222" y="6364"/>
              <a:ext cx="1330"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Sẵn sàng</a:t>
              </a:r>
              <a:endParaRPr/>
            </a:p>
          </p:txBody>
        </p:sp>
        <p:sp>
          <p:nvSpPr>
            <p:cNvPr id="533" name="Google Shape;533;p31"/>
            <p:cNvSpPr/>
            <p:nvPr/>
          </p:nvSpPr>
          <p:spPr>
            <a:xfrm>
              <a:off x="6818" y="6364"/>
              <a:ext cx="1328"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1188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Chạy</a:t>
              </a:r>
              <a:endParaRPr/>
            </a:p>
          </p:txBody>
        </p:sp>
        <p:sp>
          <p:nvSpPr>
            <p:cNvPr id="534" name="Google Shape;534;p31"/>
            <p:cNvSpPr/>
            <p:nvPr/>
          </p:nvSpPr>
          <p:spPr>
            <a:xfrm>
              <a:off x="8848" y="6384"/>
              <a:ext cx="1328"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Kết thúc</a:t>
              </a:r>
              <a:endParaRPr/>
            </a:p>
          </p:txBody>
        </p:sp>
        <p:sp>
          <p:nvSpPr>
            <p:cNvPr id="535" name="Google Shape;535;p31"/>
            <p:cNvSpPr/>
            <p:nvPr/>
          </p:nvSpPr>
          <p:spPr>
            <a:xfrm>
              <a:off x="5487" y="8064"/>
              <a:ext cx="1330" cy="91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Chờ đợi</a:t>
              </a:r>
              <a:endParaRPr/>
            </a:p>
          </p:txBody>
        </p:sp>
        <p:cxnSp>
          <p:nvCxnSpPr>
            <p:cNvPr id="536" name="Google Shape;536;p31"/>
            <p:cNvCxnSpPr/>
            <p:nvPr/>
          </p:nvCxnSpPr>
          <p:spPr>
            <a:xfrm>
              <a:off x="3533" y="6820"/>
              <a:ext cx="690" cy="1"/>
            </a:xfrm>
            <a:prstGeom prst="straightConnector1">
              <a:avLst/>
            </a:prstGeom>
            <a:noFill/>
            <a:ln cap="flat" cmpd="sng" w="9525">
              <a:solidFill>
                <a:srgbClr val="000000"/>
              </a:solidFill>
              <a:prstDash val="solid"/>
              <a:miter lim="800000"/>
              <a:headEnd len="med" w="med" type="none"/>
              <a:tailEnd len="med" w="med" type="stealth"/>
            </a:ln>
          </p:spPr>
        </p:cxnSp>
        <p:cxnSp>
          <p:nvCxnSpPr>
            <p:cNvPr id="537" name="Google Shape;537;p31"/>
            <p:cNvCxnSpPr/>
            <p:nvPr/>
          </p:nvCxnSpPr>
          <p:spPr>
            <a:xfrm>
              <a:off x="8146" y="6819"/>
              <a:ext cx="701" cy="20"/>
            </a:xfrm>
            <a:prstGeom prst="straightConnector1">
              <a:avLst/>
            </a:prstGeom>
            <a:noFill/>
            <a:ln cap="flat" cmpd="sng" w="9525">
              <a:solidFill>
                <a:srgbClr val="000000"/>
              </a:solidFill>
              <a:prstDash val="solid"/>
              <a:miter lim="800000"/>
              <a:headEnd len="med" w="med" type="none"/>
              <a:tailEnd len="med" w="med" type="stealth"/>
            </a:ln>
          </p:spPr>
        </p:cxnSp>
        <p:sp>
          <p:nvSpPr>
            <p:cNvPr id="538" name="Google Shape;538;p31"/>
            <p:cNvSpPr/>
            <p:nvPr/>
          </p:nvSpPr>
          <p:spPr>
            <a:xfrm rot="-3180000">
              <a:off x="5528" y="6055"/>
              <a:ext cx="1108" cy="1213"/>
            </a:xfrm>
            <a:custGeom>
              <a:rect b="b" l="l" r="r" t="t"/>
              <a:pathLst>
                <a:path extrusionOk="0" fill="none" h="22204" w="21600">
                  <a:moveTo>
                    <a:pt x="4859" y="-1"/>
                  </a:moveTo>
                  <a:cubicBezTo>
                    <a:pt x="14658" y="2262"/>
                    <a:pt x="21600" y="10988"/>
                    <a:pt x="21600" y="21046"/>
                  </a:cubicBezTo>
                  <a:cubicBezTo>
                    <a:pt x="21600" y="21432"/>
                    <a:pt x="21589" y="21818"/>
                    <a:pt x="21568" y="22203"/>
                  </a:cubicBezTo>
                </a:path>
                <a:path extrusionOk="0" h="22204" w="21600">
                  <a:moveTo>
                    <a:pt x="4859" y="-1"/>
                  </a:moveTo>
                  <a:cubicBezTo>
                    <a:pt x="14658" y="2262"/>
                    <a:pt x="21600" y="10988"/>
                    <a:pt x="21600" y="21046"/>
                  </a:cubicBezTo>
                  <a:cubicBezTo>
                    <a:pt x="21600" y="21432"/>
                    <a:pt x="21589" y="21818"/>
                    <a:pt x="21568" y="22203"/>
                  </a:cubicBezTo>
                  <a:lnTo>
                    <a:pt x="0" y="21046"/>
                  </a:lnTo>
                  <a:lnTo>
                    <a:pt x="4859"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9" name="Google Shape;539;p31"/>
            <p:cNvSpPr/>
            <p:nvPr/>
          </p:nvSpPr>
          <p:spPr>
            <a:xfrm flipH="1" rot="-4800000">
              <a:off x="4741" y="7357"/>
              <a:ext cx="1118" cy="1140"/>
            </a:xfrm>
            <a:custGeom>
              <a:rect b="b" l="l" r="r" t="t"/>
              <a:pathLst>
                <a:path extrusionOk="0" fill="none" h="21600" w="22187">
                  <a:moveTo>
                    <a:pt x="-1" y="36"/>
                  </a:moveTo>
                  <a:cubicBezTo>
                    <a:pt x="418" y="12"/>
                    <a:pt x="837" y="-1"/>
                    <a:pt x="1257" y="0"/>
                  </a:cubicBezTo>
                  <a:cubicBezTo>
                    <a:pt x="11130" y="0"/>
                    <a:pt x="19746" y="6694"/>
                    <a:pt x="22186" y="16261"/>
                  </a:cubicBezTo>
                </a:path>
                <a:path extrusionOk="0" h="21600" w="22187">
                  <a:moveTo>
                    <a:pt x="-1" y="36"/>
                  </a:moveTo>
                  <a:cubicBezTo>
                    <a:pt x="418" y="12"/>
                    <a:pt x="837" y="-1"/>
                    <a:pt x="1257" y="0"/>
                  </a:cubicBezTo>
                  <a:cubicBezTo>
                    <a:pt x="11130" y="0"/>
                    <a:pt x="19746" y="6694"/>
                    <a:pt x="22186" y="16261"/>
                  </a:cubicBezTo>
                  <a:lnTo>
                    <a:pt x="1257" y="21600"/>
                  </a:lnTo>
                  <a:lnTo>
                    <a:pt x="-1" y="36"/>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0" name="Google Shape;540;p31"/>
            <p:cNvSpPr/>
            <p:nvPr/>
          </p:nvSpPr>
          <p:spPr>
            <a:xfrm flipH="1" rot="10440000">
              <a:off x="6458" y="7348"/>
              <a:ext cx="1089" cy="1105"/>
            </a:xfrm>
            <a:custGeom>
              <a:rect b="b" l="l" r="r" t="t"/>
              <a:pathLst>
                <a:path extrusionOk="0" fill="none" h="20921" w="21600">
                  <a:moveTo>
                    <a:pt x="5373" y="-1"/>
                  </a:moveTo>
                  <a:cubicBezTo>
                    <a:pt x="14923" y="2452"/>
                    <a:pt x="21600" y="11061"/>
                    <a:pt x="21600" y="20921"/>
                  </a:cubicBezTo>
                </a:path>
                <a:path extrusionOk="0" h="20921" w="21600">
                  <a:moveTo>
                    <a:pt x="5373" y="-1"/>
                  </a:moveTo>
                  <a:cubicBezTo>
                    <a:pt x="14923" y="2452"/>
                    <a:pt x="21600" y="11061"/>
                    <a:pt x="21600" y="20921"/>
                  </a:cubicBezTo>
                  <a:lnTo>
                    <a:pt x="0" y="20921"/>
                  </a:lnTo>
                  <a:lnTo>
                    <a:pt x="5373" y="-1"/>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1" name="Google Shape;541;p31"/>
            <p:cNvSpPr txBox="1"/>
            <p:nvPr/>
          </p:nvSpPr>
          <p:spPr>
            <a:xfrm>
              <a:off x="5272" y="5986"/>
              <a:ext cx="1808" cy="37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ngắn hạn</a:t>
              </a:r>
              <a:endParaRPr/>
            </a:p>
          </p:txBody>
        </p:sp>
        <p:sp>
          <p:nvSpPr>
            <p:cNvPr id="542" name="Google Shape;542;p31"/>
            <p:cNvSpPr txBox="1"/>
            <p:nvPr/>
          </p:nvSpPr>
          <p:spPr>
            <a:xfrm>
              <a:off x="3370" y="7009"/>
              <a:ext cx="970"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trung hạn</a:t>
              </a:r>
              <a:endParaRPr/>
            </a:p>
          </p:txBody>
        </p:sp>
        <p:sp>
          <p:nvSpPr>
            <p:cNvPr id="543" name="Google Shape;543;p31"/>
            <p:cNvSpPr txBox="1"/>
            <p:nvPr/>
          </p:nvSpPr>
          <p:spPr>
            <a:xfrm>
              <a:off x="2397" y="5221"/>
              <a:ext cx="97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1" i="0" lang="en-US" sz="1000" u="none">
                  <a:solidFill>
                    <a:schemeClr val="dk1"/>
                  </a:solidFill>
                  <a:latin typeface="Arial"/>
                  <a:ea typeface="Arial"/>
                  <a:cs typeface="Arial"/>
                  <a:sym typeface="Arial"/>
                </a:rPr>
                <a:t>Điều độ dài hạn</a:t>
              </a:r>
              <a:endParaRPr/>
            </a:p>
          </p:txBody>
        </p:sp>
        <p:cxnSp>
          <p:nvCxnSpPr>
            <p:cNvPr id="544" name="Google Shape;544;p31"/>
            <p:cNvCxnSpPr/>
            <p:nvPr/>
          </p:nvCxnSpPr>
          <p:spPr>
            <a:xfrm flipH="1">
              <a:off x="2869" y="5722"/>
              <a:ext cx="15" cy="641"/>
            </a:xfrm>
            <a:prstGeom prst="straightConnector1">
              <a:avLst/>
            </a:prstGeom>
            <a:noFill/>
            <a:ln cap="flat" cmpd="sng" w="9525">
              <a:solidFill>
                <a:srgbClr val="000000"/>
              </a:solidFill>
              <a:prstDash val="solid"/>
              <a:miter lim="800000"/>
              <a:headEnd len="med" w="med" type="none"/>
              <a:tailEnd len="med" w="med" type="stealth"/>
            </a:ln>
          </p:spPr>
        </p:cxnSp>
      </p:grpSp>
      <p:sp>
        <p:nvSpPr>
          <p:cNvPr id="545" name="Google Shape;545;p3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0" st="0"/>
                                            </p:txEl>
                                          </p:spTgt>
                                        </p:tgtEl>
                                        <p:attrNameLst>
                                          <p:attrName>style.visibility</p:attrName>
                                        </p:attrNameLst>
                                      </p:cBhvr>
                                      <p:to>
                                        <p:strVal val="visible"/>
                                      </p:to>
                                    </p:set>
                                    <p:animEffect filter="fade" transition="in">
                                      <p:cBhvr>
                                        <p:cTn dur="500"/>
                                        <p:tgtEl>
                                          <p:spTgt spid="5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 st="1"/>
                                            </p:txEl>
                                          </p:spTgt>
                                        </p:tgtEl>
                                        <p:attrNameLst>
                                          <p:attrName>style.visibility</p:attrName>
                                        </p:attrNameLst>
                                      </p:cBhvr>
                                      <p:to>
                                        <p:strVal val="visible"/>
                                      </p:to>
                                    </p:set>
                                    <p:animEffect filter="fade" transition="in">
                                      <p:cBhvr>
                                        <p:cTn dur="500"/>
                                        <p:tgtEl>
                                          <p:spTgt spid="5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2" st="2"/>
                                            </p:txEl>
                                          </p:spTgt>
                                        </p:tgtEl>
                                        <p:attrNameLst>
                                          <p:attrName>style.visibility</p:attrName>
                                        </p:attrNameLst>
                                      </p:cBhvr>
                                      <p:to>
                                        <p:strVal val="visible"/>
                                      </p:to>
                                    </p:set>
                                    <p:animEffect filter="fade" transition="in">
                                      <p:cBhvr>
                                        <p:cTn dur="500"/>
                                        <p:tgtEl>
                                          <p:spTgt spid="5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3" st="3"/>
                                            </p:txEl>
                                          </p:spTgt>
                                        </p:tgtEl>
                                        <p:attrNameLst>
                                          <p:attrName>style.visibility</p:attrName>
                                        </p:attrNameLst>
                                      </p:cBhvr>
                                      <p:to>
                                        <p:strVal val="visible"/>
                                      </p:to>
                                    </p:set>
                                    <p:animEffect filter="fade" transition="in">
                                      <p:cBhvr>
                                        <p:cTn dur="500"/>
                                        <p:tgtEl>
                                          <p:spTgt spid="5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4" st="4"/>
                                            </p:txEl>
                                          </p:spTgt>
                                        </p:tgtEl>
                                        <p:attrNameLst>
                                          <p:attrName>style.visibility</p:attrName>
                                        </p:attrNameLst>
                                      </p:cBhvr>
                                      <p:to>
                                        <p:strVal val="visible"/>
                                      </p:to>
                                    </p:set>
                                    <p:animEffect filter="fade" transition="in">
                                      <p:cBhvr>
                                        <p:cTn dur="500"/>
                                        <p:tgtEl>
                                          <p:spTgt spid="5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5" st="5"/>
                                            </p:txEl>
                                          </p:spTgt>
                                        </p:tgtEl>
                                        <p:attrNameLst>
                                          <p:attrName>style.visibility</p:attrName>
                                        </p:attrNameLst>
                                      </p:cBhvr>
                                      <p:to>
                                        <p:strVal val="visible"/>
                                      </p:to>
                                    </p:set>
                                    <p:animEffect filter="fade" transition="in">
                                      <p:cBhvr>
                                        <p:cTn dur="500"/>
                                        <p:tgtEl>
                                          <p:spTgt spid="5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6" st="6"/>
                                            </p:txEl>
                                          </p:spTgt>
                                        </p:tgtEl>
                                        <p:attrNameLst>
                                          <p:attrName>style.visibility</p:attrName>
                                        </p:attrNameLst>
                                      </p:cBhvr>
                                      <p:to>
                                        <p:strVal val="visible"/>
                                      </p:to>
                                    </p:set>
                                    <p:animEffect filter="fade" transition="in">
                                      <p:cBhvr>
                                        <p:cTn dur="500"/>
                                        <p:tgtEl>
                                          <p:spTgt spid="5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7" st="7"/>
                                            </p:txEl>
                                          </p:spTgt>
                                        </p:tgtEl>
                                        <p:attrNameLst>
                                          <p:attrName>style.visibility</p:attrName>
                                        </p:attrNameLst>
                                      </p:cBhvr>
                                      <p:to>
                                        <p:strVal val="visible"/>
                                      </p:to>
                                    </p:set>
                                    <p:animEffect filter="fade" transition="in">
                                      <p:cBhvr>
                                        <p:cTn dur="500"/>
                                        <p:tgtEl>
                                          <p:spTgt spid="52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8" st="8"/>
                                            </p:txEl>
                                          </p:spTgt>
                                        </p:tgtEl>
                                        <p:attrNameLst>
                                          <p:attrName>style.visibility</p:attrName>
                                        </p:attrNameLst>
                                      </p:cBhvr>
                                      <p:to>
                                        <p:strVal val="visible"/>
                                      </p:to>
                                    </p:set>
                                    <p:animEffect filter="fade" transition="in">
                                      <p:cBhvr>
                                        <p:cTn dur="500"/>
                                        <p:tgtEl>
                                          <p:spTgt spid="52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9" st="9"/>
                                            </p:txEl>
                                          </p:spTgt>
                                        </p:tgtEl>
                                        <p:attrNameLst>
                                          <p:attrName>style.visibility</p:attrName>
                                        </p:attrNameLst>
                                      </p:cBhvr>
                                      <p:to>
                                        <p:strVal val="visible"/>
                                      </p:to>
                                    </p:set>
                                    <p:animEffect filter="fade" transition="in">
                                      <p:cBhvr>
                                        <p:cTn dur="500"/>
                                        <p:tgtEl>
                                          <p:spTgt spid="52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0" st="10"/>
                                            </p:txEl>
                                          </p:spTgt>
                                        </p:tgtEl>
                                        <p:attrNameLst>
                                          <p:attrName>style.visibility</p:attrName>
                                        </p:attrNameLst>
                                      </p:cBhvr>
                                      <p:to>
                                        <p:strVal val="visible"/>
                                      </p:to>
                                    </p:set>
                                    <p:animEffect filter="fade" transition="in">
                                      <p:cBhvr>
                                        <p:cTn dur="500"/>
                                        <p:tgtEl>
                                          <p:spTgt spid="52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1" st="11"/>
                                            </p:txEl>
                                          </p:spTgt>
                                        </p:tgtEl>
                                        <p:attrNameLst>
                                          <p:attrName>style.visibility</p:attrName>
                                        </p:attrNameLst>
                                      </p:cBhvr>
                                      <p:to>
                                        <p:strVal val="visible"/>
                                      </p:to>
                                    </p:set>
                                    <p:animEffect filter="fade" transition="in">
                                      <p:cBhvr>
                                        <p:cTn dur="500"/>
                                        <p:tgtEl>
                                          <p:spTgt spid="52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2" st="12"/>
                                            </p:txEl>
                                          </p:spTgt>
                                        </p:tgtEl>
                                        <p:attrNameLst>
                                          <p:attrName>style.visibility</p:attrName>
                                        </p:attrNameLst>
                                      </p:cBhvr>
                                      <p:to>
                                        <p:strVal val="visible"/>
                                      </p:to>
                                    </p:set>
                                    <p:animEffect filter="fade" transition="in">
                                      <p:cBhvr>
                                        <p:cTn dur="500"/>
                                        <p:tgtEl>
                                          <p:spTgt spid="52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3" st="13"/>
                                            </p:txEl>
                                          </p:spTgt>
                                        </p:tgtEl>
                                        <p:attrNameLst>
                                          <p:attrName>style.visibility</p:attrName>
                                        </p:attrNameLst>
                                      </p:cBhvr>
                                      <p:to>
                                        <p:strVal val="visible"/>
                                      </p:to>
                                    </p:set>
                                    <p:animEffect filter="fade" transition="in">
                                      <p:cBhvr>
                                        <p:cTn dur="500"/>
                                        <p:tgtEl>
                                          <p:spTgt spid="52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4" st="14"/>
                                            </p:txEl>
                                          </p:spTgt>
                                        </p:tgtEl>
                                        <p:attrNameLst>
                                          <p:attrName>style.visibility</p:attrName>
                                        </p:attrNameLst>
                                      </p:cBhvr>
                                      <p:to>
                                        <p:strVal val="visible"/>
                                      </p:to>
                                    </p:set>
                                    <p:animEffect filter="fade" transition="in">
                                      <p:cBhvr>
                                        <p:cTn dur="500"/>
                                        <p:tgtEl>
                                          <p:spTgt spid="52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5" st="15"/>
                                            </p:txEl>
                                          </p:spTgt>
                                        </p:tgtEl>
                                        <p:attrNameLst>
                                          <p:attrName>style.visibility</p:attrName>
                                        </p:attrNameLst>
                                      </p:cBhvr>
                                      <p:to>
                                        <p:strVal val="visible"/>
                                      </p:to>
                                    </p:set>
                                    <p:animEffect filter="fade" transition="in">
                                      <p:cBhvr>
                                        <p:cTn dur="500"/>
                                        <p:tgtEl>
                                          <p:spTgt spid="52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6" st="16"/>
                                            </p:txEl>
                                          </p:spTgt>
                                        </p:tgtEl>
                                        <p:attrNameLst>
                                          <p:attrName>style.visibility</p:attrName>
                                        </p:attrNameLst>
                                      </p:cBhvr>
                                      <p:to>
                                        <p:strVal val="visible"/>
                                      </p:to>
                                    </p:set>
                                    <p:animEffect filter="fade" transition="in">
                                      <p:cBhvr>
                                        <p:cTn dur="500"/>
                                        <p:tgtEl>
                                          <p:spTgt spid="52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7" st="17"/>
                                            </p:txEl>
                                          </p:spTgt>
                                        </p:tgtEl>
                                        <p:attrNameLst>
                                          <p:attrName>style.visibility</p:attrName>
                                        </p:attrNameLst>
                                      </p:cBhvr>
                                      <p:to>
                                        <p:strVal val="visible"/>
                                      </p:to>
                                    </p:set>
                                    <p:animEffect filter="fade" transition="in">
                                      <p:cBhvr>
                                        <p:cTn dur="500"/>
                                        <p:tgtEl>
                                          <p:spTgt spid="52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8" st="18"/>
                                            </p:txEl>
                                          </p:spTgt>
                                        </p:tgtEl>
                                        <p:attrNameLst>
                                          <p:attrName>style.visibility</p:attrName>
                                        </p:attrNameLst>
                                      </p:cBhvr>
                                      <p:to>
                                        <p:strVal val="visible"/>
                                      </p:to>
                                    </p:set>
                                    <p:animEffect filter="fade" transition="in">
                                      <p:cBhvr>
                                        <p:cTn dur="500"/>
                                        <p:tgtEl>
                                          <p:spTgt spid="526">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xEl>
                                              <p:pRg end="19" st="19"/>
                                            </p:txEl>
                                          </p:spTgt>
                                        </p:tgtEl>
                                        <p:attrNameLst>
                                          <p:attrName>style.visibility</p:attrName>
                                        </p:attrNameLst>
                                      </p:cBhvr>
                                      <p:to>
                                        <p:strVal val="visible"/>
                                      </p:to>
                                    </p:set>
                                    <p:animEffect filter="fade" transition="in">
                                      <p:cBhvr>
                                        <p:cTn dur="500"/>
                                        <p:tgtEl>
                                          <p:spTgt spid="526">
                                            <p:txEl>
                                              <p:pRg end="19" st="1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2"/>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có phân phối lại và không phân phối lại: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độ có phân phối lại (preemptive):</a:t>
            </a:r>
            <a:r>
              <a:rPr b="0" i="0" lang="en-US" sz="2400" u="none" cap="none" strike="noStrike">
                <a:solidFill>
                  <a:schemeClr val="dk1"/>
                </a:solidFill>
                <a:latin typeface="Times New Roman"/>
                <a:ea typeface="Times New Roman"/>
                <a:cs typeface="Times New Roman"/>
                <a:sym typeface="Times New Roman"/>
              </a:rPr>
              <a:t>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có thể sử dụng cơ chế ngắt để thu hồi CPU của một tiến trình đang trong trạng thái chạy</a:t>
            </a:r>
            <a:endParaRPr b="0" i="0" sz="20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độ không phân phối lại (nonpreemptive):</a:t>
            </a:r>
            <a:endParaRPr b="0" i="0" sz="2400" u="none" cap="none" strike="noStrike">
              <a:solidFill>
                <a:schemeClr val="dk1"/>
              </a:solidFill>
              <a:latin typeface="Times New Roman"/>
              <a:ea typeface="Times New Roman"/>
              <a:cs typeface="Times New Roman"/>
              <a:sym typeface="Times New Roman"/>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ở trạng thái chạy sẽ được sử dụng CPU cho đến khi xảy ra một trong các tình huống sau:</a:t>
            </a:r>
            <a:endParaRPr b="0" i="0" sz="2000" u="none" cap="none" strike="noStrike">
              <a:solidFill>
                <a:schemeClr val="dk2"/>
              </a:solidFill>
              <a:latin typeface="Times New Roman"/>
              <a:ea typeface="Times New Roman"/>
              <a:cs typeface="Times New Roman"/>
              <a:sym typeface="Times New Roman"/>
            </a:endParaRPr>
          </a:p>
          <a:p>
            <a:pPr indent="-228600" lvl="3" marL="1600200"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kết thúc</a:t>
            </a:r>
            <a:endParaRPr/>
          </a:p>
          <a:p>
            <a:pPr indent="-228600" lvl="3" marL="1600200"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phải chuyển sang trạng thái chờ đợi do thực hiện I/O</a:t>
            </a:r>
            <a:endParaRPr b="0" i="0" sz="2400" u="none" cap="none" strike="noStrike">
              <a:solidFill>
                <a:schemeClr val="dk2"/>
              </a:solidFill>
              <a:latin typeface="Times New Roman"/>
              <a:ea typeface="Times New Roman"/>
              <a:cs typeface="Times New Roman"/>
              <a:sym typeface="Times New Roman"/>
            </a:endParaRPr>
          </a:p>
          <a:p>
            <a:pPr indent="-228600" lvl="2" marL="1143000" marR="0" rtl="0" algn="l">
              <a:lnSpc>
                <a:spcPct val="100000"/>
              </a:lnSpc>
              <a:spcBef>
                <a:spcPts val="48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=&gt;</a:t>
            </a:r>
            <a:r>
              <a:rPr b="0" i="0" lang="en-US" sz="2400" u="none" cap="none" strike="noStrike">
                <a:solidFill>
                  <a:schemeClr val="dk2"/>
                </a:solidFill>
                <a:latin typeface="Times New Roman"/>
                <a:ea typeface="Times New Roman"/>
                <a:cs typeface="Times New Roman"/>
                <a:sym typeface="Times New Roman"/>
              </a:rPr>
              <a:t> Điều độ hợp tác: do chỉ thực hiện được khi tiến trình hợp tác và nhường CPU</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không hợp tác, dùng CPU vô hạn =&gt; các tiến trình khác không được cấp CPU (Windows 96, NT)</a:t>
            </a:r>
            <a:endParaRPr b="0" i="0" sz="18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52" name="Google Shape;552;p3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Các dạng  điều độ (tt)</a:t>
            </a:r>
            <a:endParaRPr/>
          </a:p>
        </p:txBody>
      </p:sp>
      <p:sp>
        <p:nvSpPr>
          <p:cNvPr id="553" name="Google Shape;553;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4" name="Google Shape;554;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5" name="Google Shape;555;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6" name="Google Shape;556;p3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0" st="0"/>
                                            </p:txEl>
                                          </p:spTgt>
                                        </p:tgtEl>
                                        <p:attrNameLst>
                                          <p:attrName>style.visibility</p:attrName>
                                        </p:attrNameLst>
                                      </p:cBhvr>
                                      <p:to>
                                        <p:strVal val="visible"/>
                                      </p:to>
                                    </p:set>
                                    <p:animEffect filter="fade" transition="in">
                                      <p:cBhvr>
                                        <p:cTn dur="500"/>
                                        <p:tgtEl>
                                          <p:spTgt spid="5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 st="1"/>
                                            </p:txEl>
                                          </p:spTgt>
                                        </p:tgtEl>
                                        <p:attrNameLst>
                                          <p:attrName>style.visibility</p:attrName>
                                        </p:attrNameLst>
                                      </p:cBhvr>
                                      <p:to>
                                        <p:strVal val="visible"/>
                                      </p:to>
                                    </p:set>
                                    <p:animEffect filter="fade" transition="in">
                                      <p:cBhvr>
                                        <p:cTn dur="500"/>
                                        <p:tgtEl>
                                          <p:spTgt spid="5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2" st="2"/>
                                            </p:txEl>
                                          </p:spTgt>
                                        </p:tgtEl>
                                        <p:attrNameLst>
                                          <p:attrName>style.visibility</p:attrName>
                                        </p:attrNameLst>
                                      </p:cBhvr>
                                      <p:to>
                                        <p:strVal val="visible"/>
                                      </p:to>
                                    </p:set>
                                    <p:animEffect filter="fade" transition="in">
                                      <p:cBhvr>
                                        <p:cTn dur="500"/>
                                        <p:tgtEl>
                                          <p:spTgt spid="5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3" st="3"/>
                                            </p:txEl>
                                          </p:spTgt>
                                        </p:tgtEl>
                                        <p:attrNameLst>
                                          <p:attrName>style.visibility</p:attrName>
                                        </p:attrNameLst>
                                      </p:cBhvr>
                                      <p:to>
                                        <p:strVal val="visible"/>
                                      </p:to>
                                    </p:set>
                                    <p:animEffect filter="fade" transition="in">
                                      <p:cBhvr>
                                        <p:cTn dur="500"/>
                                        <p:tgtEl>
                                          <p:spTgt spid="5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4" st="4"/>
                                            </p:txEl>
                                          </p:spTgt>
                                        </p:tgtEl>
                                        <p:attrNameLst>
                                          <p:attrName>style.visibility</p:attrName>
                                        </p:attrNameLst>
                                      </p:cBhvr>
                                      <p:to>
                                        <p:strVal val="visible"/>
                                      </p:to>
                                    </p:set>
                                    <p:animEffect filter="fade" transition="in">
                                      <p:cBhvr>
                                        <p:cTn dur="500"/>
                                        <p:tgtEl>
                                          <p:spTgt spid="5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5" st="5"/>
                                            </p:txEl>
                                          </p:spTgt>
                                        </p:tgtEl>
                                        <p:attrNameLst>
                                          <p:attrName>style.visibility</p:attrName>
                                        </p:attrNameLst>
                                      </p:cBhvr>
                                      <p:to>
                                        <p:strVal val="visible"/>
                                      </p:to>
                                    </p:set>
                                    <p:animEffect filter="fade" transition="in">
                                      <p:cBhvr>
                                        <p:cTn dur="500"/>
                                        <p:tgtEl>
                                          <p:spTgt spid="5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6" st="6"/>
                                            </p:txEl>
                                          </p:spTgt>
                                        </p:tgtEl>
                                        <p:attrNameLst>
                                          <p:attrName>style.visibility</p:attrName>
                                        </p:attrNameLst>
                                      </p:cBhvr>
                                      <p:to>
                                        <p:strVal val="visible"/>
                                      </p:to>
                                    </p:set>
                                    <p:animEffect filter="fade" transition="in">
                                      <p:cBhvr>
                                        <p:cTn dur="500"/>
                                        <p:tgtEl>
                                          <p:spTgt spid="5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7" st="7"/>
                                            </p:txEl>
                                          </p:spTgt>
                                        </p:tgtEl>
                                        <p:attrNameLst>
                                          <p:attrName>style.visibility</p:attrName>
                                        </p:attrNameLst>
                                      </p:cBhvr>
                                      <p:to>
                                        <p:strVal val="visible"/>
                                      </p:to>
                                    </p:set>
                                    <p:animEffect filter="fade" transition="in">
                                      <p:cBhvr>
                                        <p:cTn dur="500"/>
                                        <p:tgtEl>
                                          <p:spTgt spid="5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8" st="8"/>
                                            </p:txEl>
                                          </p:spTgt>
                                        </p:tgtEl>
                                        <p:attrNameLst>
                                          <p:attrName>style.visibility</p:attrName>
                                        </p:attrNameLst>
                                      </p:cBhvr>
                                      <p:to>
                                        <p:strVal val="visible"/>
                                      </p:to>
                                    </p:set>
                                    <p:animEffect filter="fade" transition="in">
                                      <p:cBhvr>
                                        <p:cTn dur="500"/>
                                        <p:tgtEl>
                                          <p:spTgt spid="5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9" st="9"/>
                                            </p:txEl>
                                          </p:spTgt>
                                        </p:tgtEl>
                                        <p:attrNameLst>
                                          <p:attrName>style.visibility</p:attrName>
                                        </p:attrNameLst>
                                      </p:cBhvr>
                                      <p:to>
                                        <p:strVal val="visible"/>
                                      </p:to>
                                    </p:set>
                                    <p:animEffect filter="fade" transition="in">
                                      <p:cBhvr>
                                        <p:cTn dur="500"/>
                                        <p:tgtEl>
                                          <p:spTgt spid="5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0" st="10"/>
                                            </p:txEl>
                                          </p:spTgt>
                                        </p:tgtEl>
                                        <p:attrNameLst>
                                          <p:attrName>style.visibility</p:attrName>
                                        </p:attrNameLst>
                                      </p:cBhvr>
                                      <p:to>
                                        <p:strVal val="visible"/>
                                      </p:to>
                                    </p:set>
                                    <p:animEffect filter="fade" transition="in">
                                      <p:cBhvr>
                                        <p:cTn dur="500"/>
                                        <p:tgtEl>
                                          <p:spTgt spid="5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1" st="11"/>
                                            </p:txEl>
                                          </p:spTgt>
                                        </p:tgtEl>
                                        <p:attrNameLst>
                                          <p:attrName>style.visibility</p:attrName>
                                        </p:attrNameLst>
                                      </p:cBhvr>
                                      <p:to>
                                        <p:strVal val="visible"/>
                                      </p:to>
                                    </p:set>
                                    <p:animEffect filter="fade" transition="in">
                                      <p:cBhvr>
                                        <p:cTn dur="500"/>
                                        <p:tgtEl>
                                          <p:spTgt spid="5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2" st="12"/>
                                            </p:txEl>
                                          </p:spTgt>
                                        </p:tgtEl>
                                        <p:attrNameLst>
                                          <p:attrName>style.visibility</p:attrName>
                                        </p:attrNameLst>
                                      </p:cBhvr>
                                      <p:to>
                                        <p:strVal val="visible"/>
                                      </p:to>
                                    </p:set>
                                    <p:animEffect filter="fade" transition="in">
                                      <p:cBhvr>
                                        <p:cTn dur="500"/>
                                        <p:tgtEl>
                                          <p:spTgt spid="5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3" st="13"/>
                                            </p:txEl>
                                          </p:spTgt>
                                        </p:tgtEl>
                                        <p:attrNameLst>
                                          <p:attrName>style.visibility</p:attrName>
                                        </p:attrNameLst>
                                      </p:cBhvr>
                                      <p:to>
                                        <p:strVal val="visible"/>
                                      </p:to>
                                    </p:set>
                                    <p:animEffect filter="fade" transition="in">
                                      <p:cBhvr>
                                        <p:cTn dur="500"/>
                                        <p:tgtEl>
                                          <p:spTgt spid="55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xEl>
                                              <p:pRg end="14" st="14"/>
                                            </p:txEl>
                                          </p:spTgt>
                                        </p:tgtEl>
                                        <p:attrNameLst>
                                          <p:attrName>style.visibility</p:attrName>
                                        </p:attrNameLst>
                                      </p:cBhvr>
                                      <p:to>
                                        <p:strVal val="visible"/>
                                      </p:to>
                                    </p:set>
                                    <p:animEffect filter="fade" transition="in">
                                      <p:cBhvr>
                                        <p:cTn dur="500"/>
                                        <p:tgtEl>
                                          <p:spTgt spid="551">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có phân phối lại: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So với điều độ không phân phối lại, điều độ có phân phối lại có nhiều ưu điểm hơn.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HDH chủ động hơn, không phụ thuộc vào hoạt động của tiến trình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Đảm bảo chia sẻ thời gian thực sự</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Đòi hỏi phần cứng có bộ định thời gian và một số hỗ trợ khác</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Vấn đề quản lý tiến trình phức tạp hơn</a:t>
            </a:r>
            <a:endParaRPr/>
          </a:p>
          <a:p>
            <a:pPr indent="-2857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63" name="Google Shape;563;p3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Các dạng  điều độ (tt)</a:t>
            </a:r>
            <a:endParaRPr/>
          </a:p>
        </p:txBody>
      </p:sp>
      <p:sp>
        <p:nvSpPr>
          <p:cNvPr id="564" name="Google Shape;564;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5" name="Google Shape;565;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6" name="Google Shape;566;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7" name="Google Shape;567;p3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0" st="0"/>
                                            </p:txEl>
                                          </p:spTgt>
                                        </p:tgtEl>
                                        <p:attrNameLst>
                                          <p:attrName>style.visibility</p:attrName>
                                        </p:attrNameLst>
                                      </p:cBhvr>
                                      <p:to>
                                        <p:strVal val="visible"/>
                                      </p:to>
                                    </p:set>
                                    <p:animEffect filter="fade" transition="in">
                                      <p:cBhvr>
                                        <p:cTn dur="500"/>
                                        <p:tgtEl>
                                          <p:spTgt spid="5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 st="1"/>
                                            </p:txEl>
                                          </p:spTgt>
                                        </p:tgtEl>
                                        <p:attrNameLst>
                                          <p:attrName>style.visibility</p:attrName>
                                        </p:attrNameLst>
                                      </p:cBhvr>
                                      <p:to>
                                        <p:strVal val="visible"/>
                                      </p:to>
                                    </p:set>
                                    <p:animEffect filter="fade" transition="in">
                                      <p:cBhvr>
                                        <p:cTn dur="500"/>
                                        <p:tgtEl>
                                          <p:spTgt spid="5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2" st="2"/>
                                            </p:txEl>
                                          </p:spTgt>
                                        </p:tgtEl>
                                        <p:attrNameLst>
                                          <p:attrName>style.visibility</p:attrName>
                                        </p:attrNameLst>
                                      </p:cBhvr>
                                      <p:to>
                                        <p:strVal val="visible"/>
                                      </p:to>
                                    </p:set>
                                    <p:animEffect filter="fade" transition="in">
                                      <p:cBhvr>
                                        <p:cTn dur="500"/>
                                        <p:tgtEl>
                                          <p:spTgt spid="5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3" st="3"/>
                                            </p:txEl>
                                          </p:spTgt>
                                        </p:tgtEl>
                                        <p:attrNameLst>
                                          <p:attrName>style.visibility</p:attrName>
                                        </p:attrNameLst>
                                      </p:cBhvr>
                                      <p:to>
                                        <p:strVal val="visible"/>
                                      </p:to>
                                    </p:set>
                                    <p:animEffect filter="fade" transition="in">
                                      <p:cBhvr>
                                        <p:cTn dur="500"/>
                                        <p:tgtEl>
                                          <p:spTgt spid="5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4" st="4"/>
                                            </p:txEl>
                                          </p:spTgt>
                                        </p:tgtEl>
                                        <p:attrNameLst>
                                          <p:attrName>style.visibility</p:attrName>
                                        </p:attrNameLst>
                                      </p:cBhvr>
                                      <p:to>
                                        <p:strVal val="visible"/>
                                      </p:to>
                                    </p:set>
                                    <p:animEffect filter="fade" transition="in">
                                      <p:cBhvr>
                                        <p:cTn dur="500"/>
                                        <p:tgtEl>
                                          <p:spTgt spid="5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5" st="5"/>
                                            </p:txEl>
                                          </p:spTgt>
                                        </p:tgtEl>
                                        <p:attrNameLst>
                                          <p:attrName>style.visibility</p:attrName>
                                        </p:attrNameLst>
                                      </p:cBhvr>
                                      <p:to>
                                        <p:strVal val="visible"/>
                                      </p:to>
                                    </p:set>
                                    <p:animEffect filter="fade" transition="in">
                                      <p:cBhvr>
                                        <p:cTn dur="500"/>
                                        <p:tgtEl>
                                          <p:spTgt spid="5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6" st="6"/>
                                            </p:txEl>
                                          </p:spTgt>
                                        </p:tgtEl>
                                        <p:attrNameLst>
                                          <p:attrName>style.visibility</p:attrName>
                                        </p:attrNameLst>
                                      </p:cBhvr>
                                      <p:to>
                                        <p:strVal val="visible"/>
                                      </p:to>
                                    </p:set>
                                    <p:animEffect filter="fade" transition="in">
                                      <p:cBhvr>
                                        <p:cTn dur="500"/>
                                        <p:tgtEl>
                                          <p:spTgt spid="5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7" st="7"/>
                                            </p:txEl>
                                          </p:spTgt>
                                        </p:tgtEl>
                                        <p:attrNameLst>
                                          <p:attrName>style.visibility</p:attrName>
                                        </p:attrNameLst>
                                      </p:cBhvr>
                                      <p:to>
                                        <p:strVal val="visible"/>
                                      </p:to>
                                    </p:set>
                                    <p:animEffect filter="fade" transition="in">
                                      <p:cBhvr>
                                        <p:cTn dur="500"/>
                                        <p:tgtEl>
                                          <p:spTgt spid="56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8" st="8"/>
                                            </p:txEl>
                                          </p:spTgt>
                                        </p:tgtEl>
                                        <p:attrNameLst>
                                          <p:attrName>style.visibility</p:attrName>
                                        </p:attrNameLst>
                                      </p:cBhvr>
                                      <p:to>
                                        <p:strVal val="visible"/>
                                      </p:to>
                                    </p:set>
                                    <p:animEffect filter="fade" transition="in">
                                      <p:cBhvr>
                                        <p:cTn dur="500"/>
                                        <p:tgtEl>
                                          <p:spTgt spid="56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9" st="9"/>
                                            </p:txEl>
                                          </p:spTgt>
                                        </p:tgtEl>
                                        <p:attrNameLst>
                                          <p:attrName>style.visibility</p:attrName>
                                        </p:attrNameLst>
                                      </p:cBhvr>
                                      <p:to>
                                        <p:strVal val="visible"/>
                                      </p:to>
                                    </p:set>
                                    <p:animEffect filter="fade" transition="in">
                                      <p:cBhvr>
                                        <p:cTn dur="500"/>
                                        <p:tgtEl>
                                          <p:spTgt spid="56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0" st="10"/>
                                            </p:txEl>
                                          </p:spTgt>
                                        </p:tgtEl>
                                        <p:attrNameLst>
                                          <p:attrName>style.visibility</p:attrName>
                                        </p:attrNameLst>
                                      </p:cBhvr>
                                      <p:to>
                                        <p:strVal val="visible"/>
                                      </p:to>
                                    </p:set>
                                    <p:animEffect filter="fade" transition="in">
                                      <p:cBhvr>
                                        <p:cTn dur="500"/>
                                        <p:tgtEl>
                                          <p:spTgt spid="56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1" st="11"/>
                                            </p:txEl>
                                          </p:spTgt>
                                        </p:tgtEl>
                                        <p:attrNameLst>
                                          <p:attrName>style.visibility</p:attrName>
                                        </p:attrNameLst>
                                      </p:cBhvr>
                                      <p:to>
                                        <p:strVal val="visible"/>
                                      </p:to>
                                    </p:set>
                                    <p:animEffect filter="fade" transition="in">
                                      <p:cBhvr>
                                        <p:cTn dur="500"/>
                                        <p:tgtEl>
                                          <p:spTgt spid="56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xEl>
                                              <p:pRg end="12" st="12"/>
                                            </p:txEl>
                                          </p:spTgt>
                                        </p:tgtEl>
                                        <p:attrNameLst>
                                          <p:attrName>style.visibility</p:attrName>
                                        </p:attrNameLst>
                                      </p:cBhvr>
                                      <p:to>
                                        <p:strVal val="visible"/>
                                      </p:to>
                                    </p:set>
                                    <p:animEffect filter="fade" transition="in">
                                      <p:cBhvr>
                                        <p:cTn dur="500"/>
                                        <p:tgtEl>
                                          <p:spTgt spid="56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4"/>
          <p:cNvSpPr txBox="1"/>
          <p:nvPr>
            <p:ph idx="1" type="body"/>
          </p:nvPr>
        </p:nvSpPr>
        <p:spPr>
          <a:xfrm>
            <a:off x="152400" y="685800"/>
            <a:ext cx="9144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2800"/>
              <a:buFont typeface="Noto Sans Symbols"/>
              <a:buNone/>
            </a:pPr>
            <a:r>
              <a:rPr b="0" i="0" lang="en-US" sz="2800" u="none">
                <a:solidFill>
                  <a:schemeClr val="dk2"/>
                </a:solidFill>
                <a:latin typeface="Times New Roman"/>
                <a:ea typeface="Times New Roman"/>
                <a:cs typeface="Times New Roman"/>
                <a:sym typeface="Times New Roman"/>
              </a:rPr>
              <a:t>Một số tiêu chí thường được sử dụng:</a:t>
            </a:r>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Lượng tiến trình được thực hiện xong: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tiến trình thực hiện xong trong 1 đơn vị thời gian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Đo tính hiệu quả của hệ thống</a:t>
            </a:r>
            <a:endParaRPr b="0" i="0" sz="2500" u="none" cap="none" strike="noStrike">
              <a:solidFill>
                <a:schemeClr val="dk1"/>
              </a:solidFill>
              <a:latin typeface="Times New Roman"/>
              <a:ea typeface="Times New Roman"/>
              <a:cs typeface="Times New Roman"/>
              <a:sym typeface="Times New Roman"/>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Hiệu suất sử dụng CPU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Cố gắng để CPU càng ít phải nghỉ càng tốt</a:t>
            </a:r>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Thời gian vòng đời trung bình của tiến trình:</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Từ lúc có yêu cầu tạo tiến trình đến khi kết thúc</a:t>
            </a:r>
            <a:endParaRPr b="0" i="0" sz="2500" u="none" cap="none" strike="noStrike">
              <a:solidFill>
                <a:schemeClr val="dk1"/>
              </a:solidFill>
              <a:latin typeface="Times New Roman"/>
              <a:ea typeface="Times New Roman"/>
              <a:cs typeface="Times New Roman"/>
              <a:sym typeface="Times New Roman"/>
            </a:endParaRPr>
          </a:p>
          <a:p>
            <a:pPr indent="-177800" lvl="0" marL="0" marR="0" rtl="0" algn="l">
              <a:lnSpc>
                <a:spcPct val="100000"/>
              </a:lnSpc>
              <a:spcBef>
                <a:spcPts val="56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Thời gian chờ đợi: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Tổng thời gian tiến trình nằm trong trạng thái sẵn sàng và chờ cấp CPU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Ảnh hưởng trực tiếp của thuật toán điều độ tiến trình</a:t>
            </a:r>
            <a:endParaRPr b="0" i="0" sz="2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74" name="Google Shape;574;p3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 Các tiêu chí  điều độ</a:t>
            </a:r>
            <a:endParaRPr/>
          </a:p>
        </p:txBody>
      </p:sp>
      <p:sp>
        <p:nvSpPr>
          <p:cNvPr id="575" name="Google Shape;575;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6" name="Google Shape;576;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7" name="Google Shape;577;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8" name="Google Shape;578;p3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0" st="0"/>
                                            </p:txEl>
                                          </p:spTgt>
                                        </p:tgtEl>
                                        <p:attrNameLst>
                                          <p:attrName>style.visibility</p:attrName>
                                        </p:attrNameLst>
                                      </p:cBhvr>
                                      <p:to>
                                        <p:strVal val="visible"/>
                                      </p:to>
                                    </p:set>
                                    <p:animEffect filter="fade" transition="in">
                                      <p:cBhvr>
                                        <p:cTn dur="500"/>
                                        <p:tgtEl>
                                          <p:spTgt spid="5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 st="1"/>
                                            </p:txEl>
                                          </p:spTgt>
                                        </p:tgtEl>
                                        <p:attrNameLst>
                                          <p:attrName>style.visibility</p:attrName>
                                        </p:attrNameLst>
                                      </p:cBhvr>
                                      <p:to>
                                        <p:strVal val="visible"/>
                                      </p:to>
                                    </p:set>
                                    <p:animEffect filter="fade" transition="in">
                                      <p:cBhvr>
                                        <p:cTn dur="500"/>
                                        <p:tgtEl>
                                          <p:spTgt spid="5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2" st="2"/>
                                            </p:txEl>
                                          </p:spTgt>
                                        </p:tgtEl>
                                        <p:attrNameLst>
                                          <p:attrName>style.visibility</p:attrName>
                                        </p:attrNameLst>
                                      </p:cBhvr>
                                      <p:to>
                                        <p:strVal val="visible"/>
                                      </p:to>
                                    </p:set>
                                    <p:animEffect filter="fade" transition="in">
                                      <p:cBhvr>
                                        <p:cTn dur="500"/>
                                        <p:tgtEl>
                                          <p:spTgt spid="5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3" st="3"/>
                                            </p:txEl>
                                          </p:spTgt>
                                        </p:tgtEl>
                                        <p:attrNameLst>
                                          <p:attrName>style.visibility</p:attrName>
                                        </p:attrNameLst>
                                      </p:cBhvr>
                                      <p:to>
                                        <p:strVal val="visible"/>
                                      </p:to>
                                    </p:set>
                                    <p:animEffect filter="fade" transition="in">
                                      <p:cBhvr>
                                        <p:cTn dur="500"/>
                                        <p:tgtEl>
                                          <p:spTgt spid="5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4" st="4"/>
                                            </p:txEl>
                                          </p:spTgt>
                                        </p:tgtEl>
                                        <p:attrNameLst>
                                          <p:attrName>style.visibility</p:attrName>
                                        </p:attrNameLst>
                                      </p:cBhvr>
                                      <p:to>
                                        <p:strVal val="visible"/>
                                      </p:to>
                                    </p:set>
                                    <p:animEffect filter="fade" transition="in">
                                      <p:cBhvr>
                                        <p:cTn dur="500"/>
                                        <p:tgtEl>
                                          <p:spTgt spid="5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5" st="5"/>
                                            </p:txEl>
                                          </p:spTgt>
                                        </p:tgtEl>
                                        <p:attrNameLst>
                                          <p:attrName>style.visibility</p:attrName>
                                        </p:attrNameLst>
                                      </p:cBhvr>
                                      <p:to>
                                        <p:strVal val="visible"/>
                                      </p:to>
                                    </p:set>
                                    <p:animEffect filter="fade" transition="in">
                                      <p:cBhvr>
                                        <p:cTn dur="500"/>
                                        <p:tgtEl>
                                          <p:spTgt spid="5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6" st="6"/>
                                            </p:txEl>
                                          </p:spTgt>
                                        </p:tgtEl>
                                        <p:attrNameLst>
                                          <p:attrName>style.visibility</p:attrName>
                                        </p:attrNameLst>
                                      </p:cBhvr>
                                      <p:to>
                                        <p:strVal val="visible"/>
                                      </p:to>
                                    </p:set>
                                    <p:animEffect filter="fade" transition="in">
                                      <p:cBhvr>
                                        <p:cTn dur="500"/>
                                        <p:tgtEl>
                                          <p:spTgt spid="5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7" st="7"/>
                                            </p:txEl>
                                          </p:spTgt>
                                        </p:tgtEl>
                                        <p:attrNameLst>
                                          <p:attrName>style.visibility</p:attrName>
                                        </p:attrNameLst>
                                      </p:cBhvr>
                                      <p:to>
                                        <p:strVal val="visible"/>
                                      </p:to>
                                    </p:set>
                                    <p:animEffect filter="fade" transition="in">
                                      <p:cBhvr>
                                        <p:cTn dur="500"/>
                                        <p:tgtEl>
                                          <p:spTgt spid="5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8" st="8"/>
                                            </p:txEl>
                                          </p:spTgt>
                                        </p:tgtEl>
                                        <p:attrNameLst>
                                          <p:attrName>style.visibility</p:attrName>
                                        </p:attrNameLst>
                                      </p:cBhvr>
                                      <p:to>
                                        <p:strVal val="visible"/>
                                      </p:to>
                                    </p:set>
                                    <p:animEffect filter="fade" transition="in">
                                      <p:cBhvr>
                                        <p:cTn dur="500"/>
                                        <p:tgtEl>
                                          <p:spTgt spid="5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9" st="9"/>
                                            </p:txEl>
                                          </p:spTgt>
                                        </p:tgtEl>
                                        <p:attrNameLst>
                                          <p:attrName>style.visibility</p:attrName>
                                        </p:attrNameLst>
                                      </p:cBhvr>
                                      <p:to>
                                        <p:strVal val="visible"/>
                                      </p:to>
                                    </p:set>
                                    <p:animEffect filter="fade" transition="in">
                                      <p:cBhvr>
                                        <p:cTn dur="500"/>
                                        <p:tgtEl>
                                          <p:spTgt spid="5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0" st="10"/>
                                            </p:txEl>
                                          </p:spTgt>
                                        </p:tgtEl>
                                        <p:attrNameLst>
                                          <p:attrName>style.visibility</p:attrName>
                                        </p:attrNameLst>
                                      </p:cBhvr>
                                      <p:to>
                                        <p:strVal val="visible"/>
                                      </p:to>
                                    </p:set>
                                    <p:animEffect filter="fade" transition="in">
                                      <p:cBhvr>
                                        <p:cTn dur="500"/>
                                        <p:tgtEl>
                                          <p:spTgt spid="5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1" st="11"/>
                                            </p:txEl>
                                          </p:spTgt>
                                        </p:tgtEl>
                                        <p:attrNameLst>
                                          <p:attrName>style.visibility</p:attrName>
                                        </p:attrNameLst>
                                      </p:cBhvr>
                                      <p:to>
                                        <p:strVal val="visible"/>
                                      </p:to>
                                    </p:set>
                                    <p:animEffect filter="fade" transition="in">
                                      <p:cBhvr>
                                        <p:cTn dur="500"/>
                                        <p:tgtEl>
                                          <p:spTgt spid="5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2" st="12"/>
                                            </p:txEl>
                                          </p:spTgt>
                                        </p:tgtEl>
                                        <p:attrNameLst>
                                          <p:attrName>style.visibility</p:attrName>
                                        </p:attrNameLst>
                                      </p:cBhvr>
                                      <p:to>
                                        <p:strVal val="visible"/>
                                      </p:to>
                                    </p:set>
                                    <p:animEffect filter="fade" transition="in">
                                      <p:cBhvr>
                                        <p:cTn dur="500"/>
                                        <p:tgtEl>
                                          <p:spTgt spid="57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3" st="13"/>
                                            </p:txEl>
                                          </p:spTgt>
                                        </p:tgtEl>
                                        <p:attrNameLst>
                                          <p:attrName>style.visibility</p:attrName>
                                        </p:attrNameLst>
                                      </p:cBhvr>
                                      <p:to>
                                        <p:strVal val="visible"/>
                                      </p:to>
                                    </p:set>
                                    <p:animEffect filter="fade" transition="in">
                                      <p:cBhvr>
                                        <p:cTn dur="500"/>
                                        <p:tgtEl>
                                          <p:spTgt spid="57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4" st="14"/>
                                            </p:txEl>
                                          </p:spTgt>
                                        </p:tgtEl>
                                        <p:attrNameLst>
                                          <p:attrName>style.visibility</p:attrName>
                                        </p:attrNameLst>
                                      </p:cBhvr>
                                      <p:to>
                                        <p:strVal val="visible"/>
                                      </p:to>
                                    </p:set>
                                    <p:animEffect filter="fade" transition="in">
                                      <p:cBhvr>
                                        <p:cTn dur="500"/>
                                        <p:tgtEl>
                                          <p:spTgt spid="57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5" st="15"/>
                                            </p:txEl>
                                          </p:spTgt>
                                        </p:tgtEl>
                                        <p:attrNameLst>
                                          <p:attrName>style.visibility</p:attrName>
                                        </p:attrNameLst>
                                      </p:cBhvr>
                                      <p:to>
                                        <p:strVal val="visible"/>
                                      </p:to>
                                    </p:set>
                                    <p:animEffect filter="fade" transition="in">
                                      <p:cBhvr>
                                        <p:cTn dur="500"/>
                                        <p:tgtEl>
                                          <p:spTgt spid="57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16" st="16"/>
                                            </p:txEl>
                                          </p:spTgt>
                                        </p:tgtEl>
                                        <p:attrNameLst>
                                          <p:attrName>style.visibility</p:attrName>
                                        </p:attrNameLst>
                                      </p:cBhvr>
                                      <p:to>
                                        <p:strVal val="visible"/>
                                      </p:to>
                                    </p:set>
                                    <p:animEffect filter="fade" transition="in">
                                      <p:cBhvr>
                                        <p:cTn dur="500"/>
                                        <p:tgtEl>
                                          <p:spTgt spid="573">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Thời gian đáp ứng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Đây là tiêu chí hướng tới người dùng và thường được sử dụng trong hệ thống tương tác trực tiếp.</a:t>
            </a:r>
            <a:endParaRPr/>
          </a:p>
          <a:p>
            <a:pPr indent="-514350" lvl="0" marL="514350" marR="0" rtl="0" algn="l">
              <a:lnSpc>
                <a:spcPct val="100000"/>
              </a:lnSpc>
              <a:spcBef>
                <a:spcPts val="56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Tính dự đoán được: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Vòng đời, thời gian chờ đợi, thời gian đáp ứng phải ổn định, không phụ thuộc vào tải của hệ thống</a:t>
            </a:r>
            <a:endParaRPr/>
          </a:p>
          <a:p>
            <a:pPr indent="-514350" lvl="0" marL="514350" marR="0" rtl="0" algn="l">
              <a:lnSpc>
                <a:spcPct val="100000"/>
              </a:lnSpc>
              <a:spcBef>
                <a:spcPts val="560"/>
              </a:spcBef>
              <a:spcAft>
                <a:spcPts val="0"/>
              </a:spcAft>
              <a:buClr>
                <a:schemeClr val="dk2"/>
              </a:buClr>
              <a:buSzPts val="2800"/>
              <a:buFont typeface="Arial"/>
              <a:buAutoNum type="arabicPeriod" startAt="5"/>
            </a:pPr>
            <a:r>
              <a:rPr b="0" i="0" lang="en-US" sz="2800" u="none">
                <a:solidFill>
                  <a:schemeClr val="dk2"/>
                </a:solidFill>
                <a:latin typeface="Times New Roman"/>
                <a:ea typeface="Times New Roman"/>
                <a:cs typeface="Times New Roman"/>
                <a:sym typeface="Times New Roman"/>
              </a:rPr>
              <a:t>Tính công bằng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 tiến trình cùng độ ưu tiên phải được đối xử như nhau</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85" name="Google Shape;585;p3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 Các tiêu chí  điều độ (tt)</a:t>
            </a:r>
            <a:endParaRPr/>
          </a:p>
        </p:txBody>
      </p:sp>
      <p:sp>
        <p:nvSpPr>
          <p:cNvPr id="586" name="Google Shape;586;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7" name="Google Shape;587;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8" name="Google Shape;588;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9" name="Google Shape;589;p3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Effect filter="fade" transition="in">
                                      <p:cBhvr>
                                        <p:cTn dur="500"/>
                                        <p:tgtEl>
                                          <p:spTgt spid="5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 st="1"/>
                                            </p:txEl>
                                          </p:spTgt>
                                        </p:tgtEl>
                                        <p:attrNameLst>
                                          <p:attrName>style.visibility</p:attrName>
                                        </p:attrNameLst>
                                      </p:cBhvr>
                                      <p:to>
                                        <p:strVal val="visible"/>
                                      </p:to>
                                    </p:set>
                                    <p:animEffect filter="fade" transition="in">
                                      <p:cBhvr>
                                        <p:cTn dur="500"/>
                                        <p:tgtEl>
                                          <p:spTgt spid="5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2" st="2"/>
                                            </p:txEl>
                                          </p:spTgt>
                                        </p:tgtEl>
                                        <p:attrNameLst>
                                          <p:attrName>style.visibility</p:attrName>
                                        </p:attrNameLst>
                                      </p:cBhvr>
                                      <p:to>
                                        <p:strVal val="visible"/>
                                      </p:to>
                                    </p:set>
                                    <p:animEffect filter="fade" transition="in">
                                      <p:cBhvr>
                                        <p:cTn dur="500"/>
                                        <p:tgtEl>
                                          <p:spTgt spid="5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3" st="3"/>
                                            </p:txEl>
                                          </p:spTgt>
                                        </p:tgtEl>
                                        <p:attrNameLst>
                                          <p:attrName>style.visibility</p:attrName>
                                        </p:attrNameLst>
                                      </p:cBhvr>
                                      <p:to>
                                        <p:strVal val="visible"/>
                                      </p:to>
                                    </p:set>
                                    <p:animEffect filter="fade" transition="in">
                                      <p:cBhvr>
                                        <p:cTn dur="500"/>
                                        <p:tgtEl>
                                          <p:spTgt spid="5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4" st="4"/>
                                            </p:txEl>
                                          </p:spTgt>
                                        </p:tgtEl>
                                        <p:attrNameLst>
                                          <p:attrName>style.visibility</p:attrName>
                                        </p:attrNameLst>
                                      </p:cBhvr>
                                      <p:to>
                                        <p:strVal val="visible"/>
                                      </p:to>
                                    </p:set>
                                    <p:animEffect filter="fade" transition="in">
                                      <p:cBhvr>
                                        <p:cTn dur="500"/>
                                        <p:tgtEl>
                                          <p:spTgt spid="5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5" st="5"/>
                                            </p:txEl>
                                          </p:spTgt>
                                        </p:tgtEl>
                                        <p:attrNameLst>
                                          <p:attrName>style.visibility</p:attrName>
                                        </p:attrNameLst>
                                      </p:cBhvr>
                                      <p:to>
                                        <p:strVal val="visible"/>
                                      </p:to>
                                    </p:set>
                                    <p:animEffect filter="fade" transition="in">
                                      <p:cBhvr>
                                        <p:cTn dur="500"/>
                                        <p:tgtEl>
                                          <p:spTgt spid="5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6" st="6"/>
                                            </p:txEl>
                                          </p:spTgt>
                                        </p:tgtEl>
                                        <p:attrNameLst>
                                          <p:attrName>style.visibility</p:attrName>
                                        </p:attrNameLst>
                                      </p:cBhvr>
                                      <p:to>
                                        <p:strVal val="visible"/>
                                      </p:to>
                                    </p:set>
                                    <p:animEffect filter="fade" transition="in">
                                      <p:cBhvr>
                                        <p:cTn dur="500"/>
                                        <p:tgtEl>
                                          <p:spTgt spid="5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7" st="7"/>
                                            </p:txEl>
                                          </p:spTgt>
                                        </p:tgtEl>
                                        <p:attrNameLst>
                                          <p:attrName>style.visibility</p:attrName>
                                        </p:attrNameLst>
                                      </p:cBhvr>
                                      <p:to>
                                        <p:strVal val="visible"/>
                                      </p:to>
                                    </p:set>
                                    <p:animEffect filter="fade" transition="in">
                                      <p:cBhvr>
                                        <p:cTn dur="500"/>
                                        <p:tgtEl>
                                          <p:spTgt spid="5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8" st="8"/>
                                            </p:txEl>
                                          </p:spTgt>
                                        </p:tgtEl>
                                        <p:attrNameLst>
                                          <p:attrName>style.visibility</p:attrName>
                                        </p:attrNameLst>
                                      </p:cBhvr>
                                      <p:to>
                                        <p:strVal val="visible"/>
                                      </p:to>
                                    </p:set>
                                    <p:animEffect filter="fade" transition="in">
                                      <p:cBhvr>
                                        <p:cTn dur="500"/>
                                        <p:tgtEl>
                                          <p:spTgt spid="58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9" st="9"/>
                                            </p:txEl>
                                          </p:spTgt>
                                        </p:tgtEl>
                                        <p:attrNameLst>
                                          <p:attrName>style.visibility</p:attrName>
                                        </p:attrNameLst>
                                      </p:cBhvr>
                                      <p:to>
                                        <p:strVal val="visible"/>
                                      </p:to>
                                    </p:set>
                                    <p:animEffect filter="fade" transition="in">
                                      <p:cBhvr>
                                        <p:cTn dur="500"/>
                                        <p:tgtEl>
                                          <p:spTgt spid="58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0" st="10"/>
                                            </p:txEl>
                                          </p:spTgt>
                                        </p:tgtEl>
                                        <p:attrNameLst>
                                          <p:attrName>style.visibility</p:attrName>
                                        </p:attrNameLst>
                                      </p:cBhvr>
                                      <p:to>
                                        <p:strVal val="visible"/>
                                      </p:to>
                                    </p:set>
                                    <p:animEffect filter="fade" transition="in">
                                      <p:cBhvr>
                                        <p:cTn dur="500"/>
                                        <p:tgtEl>
                                          <p:spTgt spid="58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11" st="11"/>
                                            </p:txEl>
                                          </p:spTgt>
                                        </p:tgtEl>
                                        <p:attrNameLst>
                                          <p:attrName>style.visibility</p:attrName>
                                        </p:attrNameLst>
                                      </p:cBhvr>
                                      <p:to>
                                        <p:strVal val="visible"/>
                                      </p:to>
                                    </p:set>
                                    <p:animEffect filter="fade" transition="in">
                                      <p:cBhvr>
                                        <p:cTn dur="500"/>
                                        <p:tgtEl>
                                          <p:spTgt spid="584">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6"/>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b="0" i="0" sz="3600" u="none">
              <a:solidFill>
                <a:schemeClr val="dk2"/>
              </a:solidFill>
              <a:latin typeface="Times New Roman"/>
              <a:ea typeface="Times New Roman"/>
              <a:cs typeface="Times New Roman"/>
              <a:sym typeface="Times New Roman"/>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yêu cầu CPU trước sẽ được cấp trước</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HDH xếp các tiến trình sẵn sàng vào hàng đợi FIFO</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mới được xếp vào cuối hàng đợi</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Đơn giản, đảm bảo tính công bằng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Thời gian chờ đợi trung bình lớn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Ảnh hưởng lớn tới hiệu suất chung của toàn hệ thống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Thường là thuật toán điều độ không phân phối lại, sau khi tiến trình được cấp CPU, tiến trình đó sẽ sử dụng CPU đến khi kết thúc hoặc phải dừng lại để chờ kết quả vào ra.</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96" name="Google Shape;596;p3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597" name="Google Shape;597;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8" name="Google Shape;598;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9" name="Google Shape;599;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0" name="Google Shape;600;p3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0" st="0"/>
                                            </p:txEl>
                                          </p:spTgt>
                                        </p:tgtEl>
                                        <p:attrNameLst>
                                          <p:attrName>style.visibility</p:attrName>
                                        </p:attrNameLst>
                                      </p:cBhvr>
                                      <p:to>
                                        <p:strVal val="visible"/>
                                      </p:to>
                                    </p:set>
                                    <p:animEffect filter="fade" transition="in">
                                      <p:cBhvr>
                                        <p:cTn dur="500"/>
                                        <p:tgtEl>
                                          <p:spTgt spid="5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 st="1"/>
                                            </p:txEl>
                                          </p:spTgt>
                                        </p:tgtEl>
                                        <p:attrNameLst>
                                          <p:attrName>style.visibility</p:attrName>
                                        </p:attrNameLst>
                                      </p:cBhvr>
                                      <p:to>
                                        <p:strVal val="visible"/>
                                      </p:to>
                                    </p:set>
                                    <p:animEffect filter="fade" transition="in">
                                      <p:cBhvr>
                                        <p:cTn dur="500"/>
                                        <p:tgtEl>
                                          <p:spTgt spid="5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2" st="2"/>
                                            </p:txEl>
                                          </p:spTgt>
                                        </p:tgtEl>
                                        <p:attrNameLst>
                                          <p:attrName>style.visibility</p:attrName>
                                        </p:attrNameLst>
                                      </p:cBhvr>
                                      <p:to>
                                        <p:strVal val="visible"/>
                                      </p:to>
                                    </p:set>
                                    <p:animEffect filter="fade" transition="in">
                                      <p:cBhvr>
                                        <p:cTn dur="500"/>
                                        <p:tgtEl>
                                          <p:spTgt spid="5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3" st="3"/>
                                            </p:txEl>
                                          </p:spTgt>
                                        </p:tgtEl>
                                        <p:attrNameLst>
                                          <p:attrName>style.visibility</p:attrName>
                                        </p:attrNameLst>
                                      </p:cBhvr>
                                      <p:to>
                                        <p:strVal val="visible"/>
                                      </p:to>
                                    </p:set>
                                    <p:animEffect filter="fade" transition="in">
                                      <p:cBhvr>
                                        <p:cTn dur="500"/>
                                        <p:tgtEl>
                                          <p:spTgt spid="5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4" st="4"/>
                                            </p:txEl>
                                          </p:spTgt>
                                        </p:tgtEl>
                                        <p:attrNameLst>
                                          <p:attrName>style.visibility</p:attrName>
                                        </p:attrNameLst>
                                      </p:cBhvr>
                                      <p:to>
                                        <p:strVal val="visible"/>
                                      </p:to>
                                    </p:set>
                                    <p:animEffect filter="fade" transition="in">
                                      <p:cBhvr>
                                        <p:cTn dur="500"/>
                                        <p:tgtEl>
                                          <p:spTgt spid="5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5" st="5"/>
                                            </p:txEl>
                                          </p:spTgt>
                                        </p:tgtEl>
                                        <p:attrNameLst>
                                          <p:attrName>style.visibility</p:attrName>
                                        </p:attrNameLst>
                                      </p:cBhvr>
                                      <p:to>
                                        <p:strVal val="visible"/>
                                      </p:to>
                                    </p:set>
                                    <p:animEffect filter="fade" transition="in">
                                      <p:cBhvr>
                                        <p:cTn dur="500"/>
                                        <p:tgtEl>
                                          <p:spTgt spid="5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6" st="6"/>
                                            </p:txEl>
                                          </p:spTgt>
                                        </p:tgtEl>
                                        <p:attrNameLst>
                                          <p:attrName>style.visibility</p:attrName>
                                        </p:attrNameLst>
                                      </p:cBhvr>
                                      <p:to>
                                        <p:strVal val="visible"/>
                                      </p:to>
                                    </p:set>
                                    <p:animEffect filter="fade" transition="in">
                                      <p:cBhvr>
                                        <p:cTn dur="500"/>
                                        <p:tgtEl>
                                          <p:spTgt spid="5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7" st="7"/>
                                            </p:txEl>
                                          </p:spTgt>
                                        </p:tgtEl>
                                        <p:attrNameLst>
                                          <p:attrName>style.visibility</p:attrName>
                                        </p:attrNameLst>
                                      </p:cBhvr>
                                      <p:to>
                                        <p:strVal val="visible"/>
                                      </p:to>
                                    </p:set>
                                    <p:animEffect filter="fade" transition="in">
                                      <p:cBhvr>
                                        <p:cTn dur="500"/>
                                        <p:tgtEl>
                                          <p:spTgt spid="5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8" st="8"/>
                                            </p:txEl>
                                          </p:spTgt>
                                        </p:tgtEl>
                                        <p:attrNameLst>
                                          <p:attrName>style.visibility</p:attrName>
                                        </p:attrNameLst>
                                      </p:cBhvr>
                                      <p:to>
                                        <p:strVal val="visible"/>
                                      </p:to>
                                    </p:set>
                                    <p:animEffect filter="fade" transition="in">
                                      <p:cBhvr>
                                        <p:cTn dur="500"/>
                                        <p:tgtEl>
                                          <p:spTgt spid="5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9" st="9"/>
                                            </p:txEl>
                                          </p:spTgt>
                                        </p:tgtEl>
                                        <p:attrNameLst>
                                          <p:attrName>style.visibility</p:attrName>
                                        </p:attrNameLst>
                                      </p:cBhvr>
                                      <p:to>
                                        <p:strVal val="visible"/>
                                      </p:to>
                                    </p:set>
                                    <p:animEffect filter="fade" transition="in">
                                      <p:cBhvr>
                                        <p:cTn dur="500"/>
                                        <p:tgtEl>
                                          <p:spTgt spid="5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0" st="10"/>
                                            </p:txEl>
                                          </p:spTgt>
                                        </p:tgtEl>
                                        <p:attrNameLst>
                                          <p:attrName>style.visibility</p:attrName>
                                        </p:attrNameLst>
                                      </p:cBhvr>
                                      <p:to>
                                        <p:strVal val="visible"/>
                                      </p:to>
                                    </p:set>
                                    <p:animEffect filter="fade" transition="in">
                                      <p:cBhvr>
                                        <p:cTn dur="500"/>
                                        <p:tgtEl>
                                          <p:spTgt spid="59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1" st="11"/>
                                            </p:txEl>
                                          </p:spTgt>
                                        </p:tgtEl>
                                        <p:attrNameLst>
                                          <p:attrName>style.visibility</p:attrName>
                                        </p:attrNameLst>
                                      </p:cBhvr>
                                      <p:to>
                                        <p:strVal val="visible"/>
                                      </p:to>
                                    </p:set>
                                    <p:animEffect filter="fade" transition="in">
                                      <p:cBhvr>
                                        <p:cTn dur="500"/>
                                        <p:tgtEl>
                                          <p:spTgt spid="59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2" st="12"/>
                                            </p:txEl>
                                          </p:spTgt>
                                        </p:tgtEl>
                                        <p:attrNameLst>
                                          <p:attrName>style.visibility</p:attrName>
                                        </p:attrNameLst>
                                      </p:cBhvr>
                                      <p:to>
                                        <p:strVal val="visible"/>
                                      </p:to>
                                    </p:set>
                                    <p:animEffect filter="fade" transition="in">
                                      <p:cBhvr>
                                        <p:cTn dur="500"/>
                                        <p:tgtEl>
                                          <p:spTgt spid="59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xEl>
                                              <p:pRg end="13" st="13"/>
                                            </p:txEl>
                                          </p:spTgt>
                                        </p:tgtEl>
                                        <p:attrNameLst>
                                          <p:attrName>style.visibility</p:attrName>
                                        </p:attrNameLst>
                                      </p:cBhvr>
                                      <p:to>
                                        <p:strVal val="visible"/>
                                      </p:to>
                                    </p:set>
                                    <p:animEffect filter="fade" transition="in">
                                      <p:cBhvr>
                                        <p:cTn dur="500"/>
                                        <p:tgtEl>
                                          <p:spTgt spid="59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37"/>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a:p>
          <a:p>
            <a:pPr indent="-514350" lvl="0" marL="514350" marR="0" rtl="0" algn="just">
              <a:lnSpc>
                <a:spcPct val="100000"/>
              </a:lnSpc>
              <a:spcBef>
                <a:spcPts val="64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Cho 3 tiến trình với thứ tự xuất hiện và độ dài chu kỳ CPU như sau:</a:t>
            </a:r>
            <a:endParaRPr b="0" i="0" sz="36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07" name="Google Shape;607;p3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608" name="Google Shape;608;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9" name="Google Shape;609;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0" name="Google Shape;610;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1" name="Google Shape;611;p3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12" name="Google Shape;612;p37"/>
          <p:cNvPicPr preferRelativeResize="0"/>
          <p:nvPr/>
        </p:nvPicPr>
        <p:blipFill rotWithShape="1">
          <a:blip r:embed="rId3">
            <a:alphaModFix/>
          </a:blip>
          <a:srcRect b="0" l="0" r="0" t="0"/>
          <a:stretch/>
        </p:blipFill>
        <p:spPr>
          <a:xfrm>
            <a:off x="2057400" y="2667000"/>
            <a:ext cx="3810000" cy="1485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animEffect filter="fade" transition="in">
                                      <p:cBhvr>
                                        <p:cTn dur="500"/>
                                        <p:tgtEl>
                                          <p:spTgt spid="6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animEffect filter="fade" transition="in">
                                      <p:cBhvr>
                                        <p:cTn dur="500"/>
                                        <p:tgtEl>
                                          <p:spTgt spid="6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animEffect filter="fade" transition="in">
                                      <p:cBhvr>
                                        <p:cTn dur="500"/>
                                        <p:tgtEl>
                                          <p:spTgt spid="6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animEffect filter="fade" transition="in">
                                      <p:cBhvr>
                                        <p:cTn dur="500"/>
                                        <p:tgtEl>
                                          <p:spTgt spid="6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animEffect filter="fade" transition="in">
                                      <p:cBhvr>
                                        <p:cTn dur="500"/>
                                        <p:tgtEl>
                                          <p:spTgt spid="6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animEffect filter="fade" transition="in">
                                      <p:cBhvr>
                                        <p:cTn dur="500"/>
                                        <p:tgtEl>
                                          <p:spTgt spid="6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6" st="6"/>
                                            </p:txEl>
                                          </p:spTgt>
                                        </p:tgtEl>
                                        <p:attrNameLst>
                                          <p:attrName>style.visibility</p:attrName>
                                        </p:attrNameLst>
                                      </p:cBhvr>
                                      <p:to>
                                        <p:strVal val="visible"/>
                                      </p:to>
                                    </p:set>
                                    <p:animEffect filter="fade" transition="in">
                                      <p:cBhvr>
                                        <p:cTn dur="500"/>
                                        <p:tgtEl>
                                          <p:spTgt spid="6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xEl>
                                              <p:pRg end="7" st="7"/>
                                            </p:txEl>
                                          </p:spTgt>
                                        </p:tgtEl>
                                        <p:attrNameLst>
                                          <p:attrName>style.visibility</p:attrName>
                                        </p:attrNameLst>
                                      </p:cBhvr>
                                      <p:to>
                                        <p:strVal val="visible"/>
                                      </p:to>
                                    </p:set>
                                    <p:animEffect filter="fade" transition="in">
                                      <p:cBhvr>
                                        <p:cTn dur="500"/>
                                        <p:tgtEl>
                                          <p:spTgt spid="60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8"/>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Arial"/>
              <a:buAutoNum type="arabicPeriod"/>
            </a:pPr>
            <a:r>
              <a:rPr b="0" i="0" lang="en-US" sz="3200" u="none">
                <a:solidFill>
                  <a:schemeClr val="dk2"/>
                </a:solidFill>
                <a:latin typeface="Times New Roman"/>
                <a:ea typeface="Times New Roman"/>
                <a:cs typeface="Times New Roman"/>
                <a:sym typeface="Times New Roman"/>
              </a:rPr>
              <a:t>Thuật toán đến trước phục vụ trước (FCFS):</a:t>
            </a:r>
            <a:endParaRPr/>
          </a:p>
          <a:p>
            <a:pPr indent="-514350" lvl="0" marL="514350" marR="0" rtl="0" algn="just">
              <a:lnSpc>
                <a:spcPct val="100000"/>
              </a:lnSpc>
              <a:spcBef>
                <a:spcPts val="64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Cho 3 tiến trình với thứ tự xuất hiện và độ dài chu kỳ CPU như sau:</a:t>
            </a:r>
            <a:endParaRPr b="0" i="0" sz="36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19" name="Google Shape;619;p3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a:t>
            </a:r>
            <a:endParaRPr/>
          </a:p>
        </p:txBody>
      </p:sp>
      <p:sp>
        <p:nvSpPr>
          <p:cNvPr id="620" name="Google Shape;620;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1" name="Google Shape;621;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2" name="Google Shape;622;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3" name="Google Shape;623;p3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24" name="Google Shape;624;p38"/>
          <p:cNvPicPr preferRelativeResize="0"/>
          <p:nvPr/>
        </p:nvPicPr>
        <p:blipFill rotWithShape="1">
          <a:blip r:embed="rId3">
            <a:alphaModFix/>
          </a:blip>
          <a:srcRect b="0" l="0" r="0" t="0"/>
          <a:stretch/>
        </p:blipFill>
        <p:spPr>
          <a:xfrm>
            <a:off x="1020762" y="2647950"/>
            <a:ext cx="7102475" cy="3581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0" st="0"/>
                                            </p:txEl>
                                          </p:spTgt>
                                        </p:tgtEl>
                                        <p:attrNameLst>
                                          <p:attrName>style.visibility</p:attrName>
                                        </p:attrNameLst>
                                      </p:cBhvr>
                                      <p:to>
                                        <p:strVal val="visible"/>
                                      </p:to>
                                    </p:set>
                                    <p:animEffect filter="fade" transition="in">
                                      <p:cBhvr>
                                        <p:cTn dur="500"/>
                                        <p:tgtEl>
                                          <p:spTgt spid="6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1" st="1"/>
                                            </p:txEl>
                                          </p:spTgt>
                                        </p:tgtEl>
                                        <p:attrNameLst>
                                          <p:attrName>style.visibility</p:attrName>
                                        </p:attrNameLst>
                                      </p:cBhvr>
                                      <p:to>
                                        <p:strVal val="visible"/>
                                      </p:to>
                                    </p:set>
                                    <p:animEffect filter="fade" transition="in">
                                      <p:cBhvr>
                                        <p:cTn dur="500"/>
                                        <p:tgtEl>
                                          <p:spTgt spid="6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2" st="2"/>
                                            </p:txEl>
                                          </p:spTgt>
                                        </p:tgtEl>
                                        <p:attrNameLst>
                                          <p:attrName>style.visibility</p:attrName>
                                        </p:attrNameLst>
                                      </p:cBhvr>
                                      <p:to>
                                        <p:strVal val="visible"/>
                                      </p:to>
                                    </p:set>
                                    <p:animEffect filter="fade" transition="in">
                                      <p:cBhvr>
                                        <p:cTn dur="500"/>
                                        <p:tgtEl>
                                          <p:spTgt spid="6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3" st="3"/>
                                            </p:txEl>
                                          </p:spTgt>
                                        </p:tgtEl>
                                        <p:attrNameLst>
                                          <p:attrName>style.visibility</p:attrName>
                                        </p:attrNameLst>
                                      </p:cBhvr>
                                      <p:to>
                                        <p:strVal val="visible"/>
                                      </p:to>
                                    </p:set>
                                    <p:animEffect filter="fade" transition="in">
                                      <p:cBhvr>
                                        <p:cTn dur="500"/>
                                        <p:tgtEl>
                                          <p:spTgt spid="6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4" st="4"/>
                                            </p:txEl>
                                          </p:spTgt>
                                        </p:tgtEl>
                                        <p:attrNameLst>
                                          <p:attrName>style.visibility</p:attrName>
                                        </p:attrNameLst>
                                      </p:cBhvr>
                                      <p:to>
                                        <p:strVal val="visible"/>
                                      </p:to>
                                    </p:set>
                                    <p:animEffect filter="fade" transition="in">
                                      <p:cBhvr>
                                        <p:cTn dur="500"/>
                                        <p:tgtEl>
                                          <p:spTgt spid="6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5" st="5"/>
                                            </p:txEl>
                                          </p:spTgt>
                                        </p:tgtEl>
                                        <p:attrNameLst>
                                          <p:attrName>style.visibility</p:attrName>
                                        </p:attrNameLst>
                                      </p:cBhvr>
                                      <p:to>
                                        <p:strVal val="visible"/>
                                      </p:to>
                                    </p:set>
                                    <p:animEffect filter="fade" transition="in">
                                      <p:cBhvr>
                                        <p:cTn dur="500"/>
                                        <p:tgtEl>
                                          <p:spTgt spid="6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6" st="6"/>
                                            </p:txEl>
                                          </p:spTgt>
                                        </p:tgtEl>
                                        <p:attrNameLst>
                                          <p:attrName>style.visibility</p:attrName>
                                        </p:attrNameLst>
                                      </p:cBhvr>
                                      <p:to>
                                        <p:strVal val="visible"/>
                                      </p:to>
                                    </p:set>
                                    <p:animEffect filter="fade" transition="in">
                                      <p:cBhvr>
                                        <p:cTn dur="500"/>
                                        <p:tgtEl>
                                          <p:spTgt spid="6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7" st="7"/>
                                            </p:txEl>
                                          </p:spTgt>
                                        </p:tgtEl>
                                        <p:attrNameLst>
                                          <p:attrName>style.visibility</p:attrName>
                                        </p:attrNameLst>
                                      </p:cBhvr>
                                      <p:to>
                                        <p:strVal val="visible"/>
                                      </p:to>
                                    </p:set>
                                    <p:animEffect filter="fade" transition="in">
                                      <p:cBhvr>
                                        <p:cTn dur="500"/>
                                        <p:tgtEl>
                                          <p:spTgt spid="61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9"/>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(RR: round robin):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Sửa đổi FCFS dùng cho các hệ chia sẻ thời gian</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thêm cơ chế phân phối lại bằng cách sử dụng ngắt của đồng hồ</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Hệ thống xác định những khoảng thời gian nhỏ gọi là </a:t>
            </a:r>
            <a:r>
              <a:rPr b="0" i="1" lang="en-US" sz="2800" u="none" cap="none" strike="noStrike">
                <a:solidFill>
                  <a:schemeClr val="dk1"/>
                </a:solidFill>
                <a:latin typeface="Times New Roman"/>
                <a:ea typeface="Times New Roman"/>
                <a:cs typeface="Times New Roman"/>
                <a:sym typeface="Times New Roman"/>
              </a:rPr>
              <a:t>lượng tử/ lát cắt thời gian t</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Khi CPU được giải phóng, HDH đặt thời gian của đồng hồ bằng độ dài lượng tử, lấy tiến trình ở đầu hàng đợi và cấp CPU cho nó</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kết thúc trước khi hết thời gian t: trả quyền điều khiển cho HDH</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31" name="Google Shape;631;p39"/>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32" name="Google Shape;632;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3" name="Google Shape;633;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4" name="Google Shape;634;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5" name="Google Shape;635;p3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animEffect filter="fade" transition="in">
                                      <p:cBhvr>
                                        <p:cTn dur="500"/>
                                        <p:tgtEl>
                                          <p:spTgt spid="6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 st="1"/>
                                            </p:txEl>
                                          </p:spTgt>
                                        </p:tgtEl>
                                        <p:attrNameLst>
                                          <p:attrName>style.visibility</p:attrName>
                                        </p:attrNameLst>
                                      </p:cBhvr>
                                      <p:to>
                                        <p:strVal val="visible"/>
                                      </p:to>
                                    </p:set>
                                    <p:animEffect filter="fade" transition="in">
                                      <p:cBhvr>
                                        <p:cTn dur="500"/>
                                        <p:tgtEl>
                                          <p:spTgt spid="6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2" st="2"/>
                                            </p:txEl>
                                          </p:spTgt>
                                        </p:tgtEl>
                                        <p:attrNameLst>
                                          <p:attrName>style.visibility</p:attrName>
                                        </p:attrNameLst>
                                      </p:cBhvr>
                                      <p:to>
                                        <p:strVal val="visible"/>
                                      </p:to>
                                    </p:set>
                                    <p:animEffect filter="fade" transition="in">
                                      <p:cBhvr>
                                        <p:cTn dur="500"/>
                                        <p:tgtEl>
                                          <p:spTgt spid="6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3" st="3"/>
                                            </p:txEl>
                                          </p:spTgt>
                                        </p:tgtEl>
                                        <p:attrNameLst>
                                          <p:attrName>style.visibility</p:attrName>
                                        </p:attrNameLst>
                                      </p:cBhvr>
                                      <p:to>
                                        <p:strVal val="visible"/>
                                      </p:to>
                                    </p:set>
                                    <p:animEffect filter="fade" transition="in">
                                      <p:cBhvr>
                                        <p:cTn dur="500"/>
                                        <p:tgtEl>
                                          <p:spTgt spid="6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4" st="4"/>
                                            </p:txEl>
                                          </p:spTgt>
                                        </p:tgtEl>
                                        <p:attrNameLst>
                                          <p:attrName>style.visibility</p:attrName>
                                        </p:attrNameLst>
                                      </p:cBhvr>
                                      <p:to>
                                        <p:strVal val="visible"/>
                                      </p:to>
                                    </p:set>
                                    <p:animEffect filter="fade" transition="in">
                                      <p:cBhvr>
                                        <p:cTn dur="500"/>
                                        <p:tgtEl>
                                          <p:spTgt spid="6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5" st="5"/>
                                            </p:txEl>
                                          </p:spTgt>
                                        </p:tgtEl>
                                        <p:attrNameLst>
                                          <p:attrName>style.visibility</p:attrName>
                                        </p:attrNameLst>
                                      </p:cBhvr>
                                      <p:to>
                                        <p:strVal val="visible"/>
                                      </p:to>
                                    </p:set>
                                    <p:animEffect filter="fade" transition="in">
                                      <p:cBhvr>
                                        <p:cTn dur="500"/>
                                        <p:tgtEl>
                                          <p:spTgt spid="6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6" st="6"/>
                                            </p:txEl>
                                          </p:spTgt>
                                        </p:tgtEl>
                                        <p:attrNameLst>
                                          <p:attrName>style.visibility</p:attrName>
                                        </p:attrNameLst>
                                      </p:cBhvr>
                                      <p:to>
                                        <p:strVal val="visible"/>
                                      </p:to>
                                    </p:set>
                                    <p:animEffect filter="fade" transition="in">
                                      <p:cBhvr>
                                        <p:cTn dur="500"/>
                                        <p:tgtEl>
                                          <p:spTgt spid="6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7" st="7"/>
                                            </p:txEl>
                                          </p:spTgt>
                                        </p:tgtEl>
                                        <p:attrNameLst>
                                          <p:attrName>style.visibility</p:attrName>
                                        </p:attrNameLst>
                                      </p:cBhvr>
                                      <p:to>
                                        <p:strVal val="visible"/>
                                      </p:to>
                                    </p:set>
                                    <p:animEffect filter="fade" transition="in">
                                      <p:cBhvr>
                                        <p:cTn dur="500"/>
                                        <p:tgtEl>
                                          <p:spTgt spid="6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8" st="8"/>
                                            </p:txEl>
                                          </p:spTgt>
                                        </p:tgtEl>
                                        <p:attrNameLst>
                                          <p:attrName>style.visibility</p:attrName>
                                        </p:attrNameLst>
                                      </p:cBhvr>
                                      <p:to>
                                        <p:strVal val="visible"/>
                                      </p:to>
                                    </p:set>
                                    <p:animEffect filter="fade" transition="in">
                                      <p:cBhvr>
                                        <p:cTn dur="500"/>
                                        <p:tgtEl>
                                          <p:spTgt spid="6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9" st="9"/>
                                            </p:txEl>
                                          </p:spTgt>
                                        </p:tgtEl>
                                        <p:attrNameLst>
                                          <p:attrName>style.visibility</p:attrName>
                                        </p:attrNameLst>
                                      </p:cBhvr>
                                      <p:to>
                                        <p:strVal val="visible"/>
                                      </p:to>
                                    </p:set>
                                    <p:animEffect filter="fade" transition="in">
                                      <p:cBhvr>
                                        <p:cTn dur="500"/>
                                        <p:tgtEl>
                                          <p:spTgt spid="6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0" st="10"/>
                                            </p:txEl>
                                          </p:spTgt>
                                        </p:tgtEl>
                                        <p:attrNameLst>
                                          <p:attrName>style.visibility</p:attrName>
                                        </p:attrNameLst>
                                      </p:cBhvr>
                                      <p:to>
                                        <p:strVal val="visible"/>
                                      </p:to>
                                    </p:set>
                                    <p:animEffect filter="fade" transition="in">
                                      <p:cBhvr>
                                        <p:cTn dur="500"/>
                                        <p:tgtEl>
                                          <p:spTgt spid="6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1" st="11"/>
                                            </p:txEl>
                                          </p:spTgt>
                                        </p:tgtEl>
                                        <p:attrNameLst>
                                          <p:attrName>style.visibility</p:attrName>
                                        </p:attrNameLst>
                                      </p:cBhvr>
                                      <p:to>
                                        <p:strVal val="visible"/>
                                      </p:to>
                                    </p:set>
                                    <p:animEffect filter="fade" transition="in">
                                      <p:cBhvr>
                                        <p:cTn dur="500"/>
                                        <p:tgtEl>
                                          <p:spTgt spid="630">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0"/>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(tt)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Hết lượng tử thời gian mà tiến trình chưa kết thúc: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Đồng hồ sinh ngắt</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thực hiện bị dừng lại</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Quyền điều khiển chuyển cho hàm xử lý ngắt của HDH</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chuyển tiến trình về cuối hàng đợi, lấy tiến trình ở đầu và tiếp tục</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Cải thiện thời gian đáp ứng so với FCFS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Thời gian chờ đợi trung bình vẫn dài</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Lựa chọn độ dài lượng tử thời gian?</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42" name="Google Shape;642;p4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43" name="Google Shape;643;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4" name="Google Shape;644;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5" name="Google Shape;645;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6" name="Google Shape;646;p4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0" st="0"/>
                                            </p:txEl>
                                          </p:spTgt>
                                        </p:tgtEl>
                                        <p:attrNameLst>
                                          <p:attrName>style.visibility</p:attrName>
                                        </p:attrNameLst>
                                      </p:cBhvr>
                                      <p:to>
                                        <p:strVal val="visible"/>
                                      </p:to>
                                    </p:set>
                                    <p:animEffect filter="fade" transition="in">
                                      <p:cBhvr>
                                        <p:cTn dur="500"/>
                                        <p:tgtEl>
                                          <p:spTgt spid="6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 st="1"/>
                                            </p:txEl>
                                          </p:spTgt>
                                        </p:tgtEl>
                                        <p:attrNameLst>
                                          <p:attrName>style.visibility</p:attrName>
                                        </p:attrNameLst>
                                      </p:cBhvr>
                                      <p:to>
                                        <p:strVal val="visible"/>
                                      </p:to>
                                    </p:set>
                                    <p:animEffect filter="fade" transition="in">
                                      <p:cBhvr>
                                        <p:cTn dur="500"/>
                                        <p:tgtEl>
                                          <p:spTgt spid="6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2" st="2"/>
                                            </p:txEl>
                                          </p:spTgt>
                                        </p:tgtEl>
                                        <p:attrNameLst>
                                          <p:attrName>style.visibility</p:attrName>
                                        </p:attrNameLst>
                                      </p:cBhvr>
                                      <p:to>
                                        <p:strVal val="visible"/>
                                      </p:to>
                                    </p:set>
                                    <p:animEffect filter="fade" transition="in">
                                      <p:cBhvr>
                                        <p:cTn dur="500"/>
                                        <p:tgtEl>
                                          <p:spTgt spid="6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3" st="3"/>
                                            </p:txEl>
                                          </p:spTgt>
                                        </p:tgtEl>
                                        <p:attrNameLst>
                                          <p:attrName>style.visibility</p:attrName>
                                        </p:attrNameLst>
                                      </p:cBhvr>
                                      <p:to>
                                        <p:strVal val="visible"/>
                                      </p:to>
                                    </p:set>
                                    <p:animEffect filter="fade" transition="in">
                                      <p:cBhvr>
                                        <p:cTn dur="500"/>
                                        <p:tgtEl>
                                          <p:spTgt spid="6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4" st="4"/>
                                            </p:txEl>
                                          </p:spTgt>
                                        </p:tgtEl>
                                        <p:attrNameLst>
                                          <p:attrName>style.visibility</p:attrName>
                                        </p:attrNameLst>
                                      </p:cBhvr>
                                      <p:to>
                                        <p:strVal val="visible"/>
                                      </p:to>
                                    </p:set>
                                    <p:animEffect filter="fade" transition="in">
                                      <p:cBhvr>
                                        <p:cTn dur="500"/>
                                        <p:tgtEl>
                                          <p:spTgt spid="6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5" st="5"/>
                                            </p:txEl>
                                          </p:spTgt>
                                        </p:tgtEl>
                                        <p:attrNameLst>
                                          <p:attrName>style.visibility</p:attrName>
                                        </p:attrNameLst>
                                      </p:cBhvr>
                                      <p:to>
                                        <p:strVal val="visible"/>
                                      </p:to>
                                    </p:set>
                                    <p:animEffect filter="fade" transition="in">
                                      <p:cBhvr>
                                        <p:cTn dur="500"/>
                                        <p:tgtEl>
                                          <p:spTgt spid="6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6" st="6"/>
                                            </p:txEl>
                                          </p:spTgt>
                                        </p:tgtEl>
                                        <p:attrNameLst>
                                          <p:attrName>style.visibility</p:attrName>
                                        </p:attrNameLst>
                                      </p:cBhvr>
                                      <p:to>
                                        <p:strVal val="visible"/>
                                      </p:to>
                                    </p:set>
                                    <p:animEffect filter="fade" transition="in">
                                      <p:cBhvr>
                                        <p:cTn dur="500"/>
                                        <p:tgtEl>
                                          <p:spTgt spid="6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7" st="7"/>
                                            </p:txEl>
                                          </p:spTgt>
                                        </p:tgtEl>
                                        <p:attrNameLst>
                                          <p:attrName>style.visibility</p:attrName>
                                        </p:attrNameLst>
                                      </p:cBhvr>
                                      <p:to>
                                        <p:strVal val="visible"/>
                                      </p:to>
                                    </p:set>
                                    <p:animEffect filter="fade" transition="in">
                                      <p:cBhvr>
                                        <p:cTn dur="500"/>
                                        <p:tgtEl>
                                          <p:spTgt spid="6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8" st="8"/>
                                            </p:txEl>
                                          </p:spTgt>
                                        </p:tgtEl>
                                        <p:attrNameLst>
                                          <p:attrName>style.visibility</p:attrName>
                                        </p:attrNameLst>
                                      </p:cBhvr>
                                      <p:to>
                                        <p:strVal val="visible"/>
                                      </p:to>
                                    </p:set>
                                    <p:animEffect filter="fade" transition="in">
                                      <p:cBhvr>
                                        <p:cTn dur="500"/>
                                        <p:tgtEl>
                                          <p:spTgt spid="6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9" st="9"/>
                                            </p:txEl>
                                          </p:spTgt>
                                        </p:tgtEl>
                                        <p:attrNameLst>
                                          <p:attrName>style.visibility</p:attrName>
                                        </p:attrNameLst>
                                      </p:cBhvr>
                                      <p:to>
                                        <p:strVal val="visible"/>
                                      </p:to>
                                    </p:set>
                                    <p:animEffect filter="fade" transition="in">
                                      <p:cBhvr>
                                        <p:cTn dur="500"/>
                                        <p:tgtEl>
                                          <p:spTgt spid="6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0" st="10"/>
                                            </p:txEl>
                                          </p:spTgt>
                                        </p:tgtEl>
                                        <p:attrNameLst>
                                          <p:attrName>style.visibility</p:attrName>
                                        </p:attrNameLst>
                                      </p:cBhvr>
                                      <p:to>
                                        <p:strVal val="visible"/>
                                      </p:to>
                                    </p:set>
                                    <p:animEffect filter="fade" transition="in">
                                      <p:cBhvr>
                                        <p:cTn dur="500"/>
                                        <p:tgtEl>
                                          <p:spTgt spid="64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1" st="11"/>
                                            </p:txEl>
                                          </p:spTgt>
                                        </p:tgtEl>
                                        <p:attrNameLst>
                                          <p:attrName>style.visibility</p:attrName>
                                        </p:attrNameLst>
                                      </p:cBhvr>
                                      <p:to>
                                        <p:strVal val="visible"/>
                                      </p:to>
                                    </p:set>
                                    <p:animEffect filter="fade" transition="in">
                                      <p:cBhvr>
                                        <p:cTn dur="500"/>
                                        <p:tgtEl>
                                          <p:spTgt spid="64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2" st="12"/>
                                            </p:txEl>
                                          </p:spTgt>
                                        </p:tgtEl>
                                        <p:attrNameLst>
                                          <p:attrName>style.visibility</p:attrName>
                                        </p:attrNameLst>
                                      </p:cBhvr>
                                      <p:to>
                                        <p:strVal val="visible"/>
                                      </p:to>
                                    </p:set>
                                    <p:animEffect filter="fade" transition="in">
                                      <p:cBhvr>
                                        <p:cTn dur="500"/>
                                        <p:tgtEl>
                                          <p:spTgt spid="64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3" st="13"/>
                                            </p:txEl>
                                          </p:spTgt>
                                        </p:tgtEl>
                                        <p:attrNameLst>
                                          <p:attrName>style.visibility</p:attrName>
                                        </p:attrNameLst>
                                      </p:cBhvr>
                                      <p:to>
                                        <p:strVal val="visible"/>
                                      </p:to>
                                    </p:set>
                                    <p:animEffect filter="fade" transition="in">
                                      <p:cBhvr>
                                        <p:cTn dur="500"/>
                                        <p:tgtEl>
                                          <p:spTgt spid="64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xEl>
                                              <p:pRg end="14" st="14"/>
                                            </p:txEl>
                                          </p:spTgt>
                                        </p:tgtEl>
                                        <p:attrNameLst>
                                          <p:attrName>style.visibility</p:attrName>
                                        </p:attrNameLst>
                                      </p:cBhvr>
                                      <p:to>
                                        <p:strVal val="visible"/>
                                      </p:to>
                                    </p:set>
                                    <p:animEffect filter="fade" transition="in">
                                      <p:cBhvr>
                                        <p:cTn dur="500"/>
                                        <p:tgtEl>
                                          <p:spTgt spid="641">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1"/>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Điều độ quay vòng (tt) </a:t>
            </a:r>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53" name="Google Shape;653;p4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54" name="Google Shape;654;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5" name="Google Shape;655;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6" name="Google Shape;656;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7" name="Google Shape;657;p4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58" name="Google Shape;658;p41"/>
          <p:cNvPicPr preferRelativeResize="0"/>
          <p:nvPr/>
        </p:nvPicPr>
        <p:blipFill rotWithShape="1">
          <a:blip r:embed="rId3">
            <a:alphaModFix/>
          </a:blip>
          <a:srcRect b="0" l="0" r="0" t="0"/>
          <a:stretch/>
        </p:blipFill>
        <p:spPr>
          <a:xfrm>
            <a:off x="304800" y="3276600"/>
            <a:ext cx="8839200" cy="2514600"/>
          </a:xfrm>
          <a:prstGeom prst="rect">
            <a:avLst/>
          </a:prstGeom>
          <a:noFill/>
          <a:ln>
            <a:noFill/>
          </a:ln>
        </p:spPr>
      </p:pic>
      <p:pic>
        <p:nvPicPr>
          <p:cNvPr id="659" name="Google Shape;659;p41"/>
          <p:cNvPicPr preferRelativeResize="0"/>
          <p:nvPr/>
        </p:nvPicPr>
        <p:blipFill rotWithShape="1">
          <a:blip r:embed="rId4">
            <a:alphaModFix/>
          </a:blip>
          <a:srcRect b="0" l="0" r="0" t="0"/>
          <a:stretch/>
        </p:blipFill>
        <p:spPr>
          <a:xfrm>
            <a:off x="2819400" y="1676400"/>
            <a:ext cx="2590800" cy="100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500"/>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500"/>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500"/>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500"/>
                                        <p:tgtEl>
                                          <p:spTgt spid="6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4" st="4"/>
                                            </p:txEl>
                                          </p:spTgt>
                                        </p:tgtEl>
                                        <p:attrNameLst>
                                          <p:attrName>style.visibility</p:attrName>
                                        </p:attrNameLst>
                                      </p:cBhvr>
                                      <p:to>
                                        <p:strVal val="visible"/>
                                      </p:to>
                                    </p:set>
                                    <p:animEffect filter="fade" transition="in">
                                      <p:cBhvr>
                                        <p:cTn dur="500"/>
                                        <p:tgtEl>
                                          <p:spTgt spid="6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5" st="5"/>
                                            </p:txEl>
                                          </p:spTgt>
                                        </p:tgtEl>
                                        <p:attrNameLst>
                                          <p:attrName>style.visibility</p:attrName>
                                        </p:attrNameLst>
                                      </p:cBhvr>
                                      <p:to>
                                        <p:strVal val="visible"/>
                                      </p:to>
                                    </p:set>
                                    <p:animEffect filter="fade" transition="in">
                                      <p:cBhvr>
                                        <p:cTn dur="500"/>
                                        <p:tgtEl>
                                          <p:spTgt spid="6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6" st="6"/>
                                            </p:txEl>
                                          </p:spTgt>
                                        </p:tgtEl>
                                        <p:attrNameLst>
                                          <p:attrName>style.visibility</p:attrName>
                                        </p:attrNameLst>
                                      </p:cBhvr>
                                      <p:to>
                                        <p:strVal val="visible"/>
                                      </p:to>
                                    </p:set>
                                    <p:animEffect filter="fade" transition="in">
                                      <p:cBhvr>
                                        <p:cTn dur="500"/>
                                        <p:tgtEl>
                                          <p:spTgt spid="6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2"/>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Điều độ ưu tiên tiến trình ngắn nhất (SPF)</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Chọn trong hàng đợi tiến trình có chu kỳ sử dụng CPU tiếp theo </a:t>
            </a:r>
            <a:r>
              <a:rPr b="1" i="0" lang="en-US" sz="2400" u="none" cap="none" strike="noStrike">
                <a:solidFill>
                  <a:schemeClr val="dk1"/>
                </a:solidFill>
                <a:latin typeface="Times New Roman"/>
                <a:ea typeface="Times New Roman"/>
                <a:cs typeface="Times New Roman"/>
                <a:sym typeface="Times New Roman"/>
              </a:rPr>
              <a:t>ngắn nhất </a:t>
            </a:r>
            <a:r>
              <a:rPr b="0" i="0" lang="en-US" sz="2400" u="none" cap="none" strike="noStrike">
                <a:solidFill>
                  <a:schemeClr val="dk1"/>
                </a:solidFill>
                <a:latin typeface="Times New Roman"/>
                <a:ea typeface="Times New Roman"/>
                <a:cs typeface="Times New Roman"/>
                <a:sym typeface="Times New Roman"/>
              </a:rPr>
              <a:t>để phân phối CPU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có nhiều tiến trình với chu kỳ CPU tiếp theo bằng nhau, chọn tiến trình đứng trước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Thời gian chờ đợi trung bình nhỏ hơn nhiều so với FCFS</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Khó thực hiện vì phải biết độ dài chu kỳ CPU tiếp:</a:t>
            </a:r>
            <a:endParaRPr b="0" i="0" sz="2200" u="none" cap="none" strike="noStrike">
              <a:solidFill>
                <a:schemeClr val="dk1"/>
              </a:solidFill>
              <a:latin typeface="Times New Roman"/>
              <a:ea typeface="Times New Roman"/>
              <a:cs typeface="Times New Roman"/>
              <a:sym typeface="Times New Roman"/>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Trong các hệ thống xử lý theo mẻ: dựa vào thời gian đăng kí tối đa do lập trình viên cung cấp</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Dự đoán độ dài chu kỳ CPU tiếp theo: dựa trên độ dài TB các chu kỳ CPU trước đó</a:t>
            </a:r>
            <a:endParaRPr b="0" i="0" sz="25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Không có phân phối lại</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66" name="Google Shape;666;p4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67" name="Google Shape;667;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8" name="Google Shape;668;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9" name="Google Shape;669;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0" name="Google Shape;670;p4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0" st="0"/>
                                            </p:txEl>
                                          </p:spTgt>
                                        </p:tgtEl>
                                        <p:attrNameLst>
                                          <p:attrName>style.visibility</p:attrName>
                                        </p:attrNameLst>
                                      </p:cBhvr>
                                      <p:to>
                                        <p:strVal val="visible"/>
                                      </p:to>
                                    </p:set>
                                    <p:animEffect filter="fade" transition="in">
                                      <p:cBhvr>
                                        <p:cTn dur="500"/>
                                        <p:tgtEl>
                                          <p:spTgt spid="6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 st="1"/>
                                            </p:txEl>
                                          </p:spTgt>
                                        </p:tgtEl>
                                        <p:attrNameLst>
                                          <p:attrName>style.visibility</p:attrName>
                                        </p:attrNameLst>
                                      </p:cBhvr>
                                      <p:to>
                                        <p:strVal val="visible"/>
                                      </p:to>
                                    </p:set>
                                    <p:animEffect filter="fade" transition="in">
                                      <p:cBhvr>
                                        <p:cTn dur="500"/>
                                        <p:tgtEl>
                                          <p:spTgt spid="6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2" st="2"/>
                                            </p:txEl>
                                          </p:spTgt>
                                        </p:tgtEl>
                                        <p:attrNameLst>
                                          <p:attrName>style.visibility</p:attrName>
                                        </p:attrNameLst>
                                      </p:cBhvr>
                                      <p:to>
                                        <p:strVal val="visible"/>
                                      </p:to>
                                    </p:set>
                                    <p:animEffect filter="fade" transition="in">
                                      <p:cBhvr>
                                        <p:cTn dur="500"/>
                                        <p:tgtEl>
                                          <p:spTgt spid="6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3" st="3"/>
                                            </p:txEl>
                                          </p:spTgt>
                                        </p:tgtEl>
                                        <p:attrNameLst>
                                          <p:attrName>style.visibility</p:attrName>
                                        </p:attrNameLst>
                                      </p:cBhvr>
                                      <p:to>
                                        <p:strVal val="visible"/>
                                      </p:to>
                                    </p:set>
                                    <p:animEffect filter="fade" transition="in">
                                      <p:cBhvr>
                                        <p:cTn dur="500"/>
                                        <p:tgtEl>
                                          <p:spTgt spid="6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4" st="4"/>
                                            </p:txEl>
                                          </p:spTgt>
                                        </p:tgtEl>
                                        <p:attrNameLst>
                                          <p:attrName>style.visibility</p:attrName>
                                        </p:attrNameLst>
                                      </p:cBhvr>
                                      <p:to>
                                        <p:strVal val="visible"/>
                                      </p:to>
                                    </p:set>
                                    <p:animEffect filter="fade" transition="in">
                                      <p:cBhvr>
                                        <p:cTn dur="500"/>
                                        <p:tgtEl>
                                          <p:spTgt spid="6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5" st="5"/>
                                            </p:txEl>
                                          </p:spTgt>
                                        </p:tgtEl>
                                        <p:attrNameLst>
                                          <p:attrName>style.visibility</p:attrName>
                                        </p:attrNameLst>
                                      </p:cBhvr>
                                      <p:to>
                                        <p:strVal val="visible"/>
                                      </p:to>
                                    </p:set>
                                    <p:animEffect filter="fade" transition="in">
                                      <p:cBhvr>
                                        <p:cTn dur="500"/>
                                        <p:tgtEl>
                                          <p:spTgt spid="6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6" st="6"/>
                                            </p:txEl>
                                          </p:spTgt>
                                        </p:tgtEl>
                                        <p:attrNameLst>
                                          <p:attrName>style.visibility</p:attrName>
                                        </p:attrNameLst>
                                      </p:cBhvr>
                                      <p:to>
                                        <p:strVal val="visible"/>
                                      </p:to>
                                    </p:set>
                                    <p:animEffect filter="fade" transition="in">
                                      <p:cBhvr>
                                        <p:cTn dur="500"/>
                                        <p:tgtEl>
                                          <p:spTgt spid="6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7" st="7"/>
                                            </p:txEl>
                                          </p:spTgt>
                                        </p:tgtEl>
                                        <p:attrNameLst>
                                          <p:attrName>style.visibility</p:attrName>
                                        </p:attrNameLst>
                                      </p:cBhvr>
                                      <p:to>
                                        <p:strVal val="visible"/>
                                      </p:to>
                                    </p:set>
                                    <p:animEffect filter="fade" transition="in">
                                      <p:cBhvr>
                                        <p:cTn dur="500"/>
                                        <p:tgtEl>
                                          <p:spTgt spid="6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8" st="8"/>
                                            </p:txEl>
                                          </p:spTgt>
                                        </p:tgtEl>
                                        <p:attrNameLst>
                                          <p:attrName>style.visibility</p:attrName>
                                        </p:attrNameLst>
                                      </p:cBhvr>
                                      <p:to>
                                        <p:strVal val="visible"/>
                                      </p:to>
                                    </p:set>
                                    <p:animEffect filter="fade" transition="in">
                                      <p:cBhvr>
                                        <p:cTn dur="500"/>
                                        <p:tgtEl>
                                          <p:spTgt spid="6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9" st="9"/>
                                            </p:txEl>
                                          </p:spTgt>
                                        </p:tgtEl>
                                        <p:attrNameLst>
                                          <p:attrName>style.visibility</p:attrName>
                                        </p:attrNameLst>
                                      </p:cBhvr>
                                      <p:to>
                                        <p:strVal val="visible"/>
                                      </p:to>
                                    </p:set>
                                    <p:animEffect filter="fade" transition="in">
                                      <p:cBhvr>
                                        <p:cTn dur="500"/>
                                        <p:tgtEl>
                                          <p:spTgt spid="6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0" st="10"/>
                                            </p:txEl>
                                          </p:spTgt>
                                        </p:tgtEl>
                                        <p:attrNameLst>
                                          <p:attrName>style.visibility</p:attrName>
                                        </p:attrNameLst>
                                      </p:cBhvr>
                                      <p:to>
                                        <p:strVal val="visible"/>
                                      </p:to>
                                    </p:set>
                                    <p:animEffect filter="fade" transition="in">
                                      <p:cBhvr>
                                        <p:cTn dur="500"/>
                                        <p:tgtEl>
                                          <p:spTgt spid="6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1" st="11"/>
                                            </p:txEl>
                                          </p:spTgt>
                                        </p:tgtEl>
                                        <p:attrNameLst>
                                          <p:attrName>style.visibility</p:attrName>
                                        </p:attrNameLst>
                                      </p:cBhvr>
                                      <p:to>
                                        <p:strVal val="visible"/>
                                      </p:to>
                                    </p:set>
                                    <p:animEffect filter="fade" transition="in">
                                      <p:cBhvr>
                                        <p:cTn dur="500"/>
                                        <p:tgtEl>
                                          <p:spTgt spid="6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2" st="12"/>
                                            </p:txEl>
                                          </p:spTgt>
                                        </p:tgtEl>
                                        <p:attrNameLst>
                                          <p:attrName>style.visibility</p:attrName>
                                        </p:attrNameLst>
                                      </p:cBhvr>
                                      <p:to>
                                        <p:strVal val="visible"/>
                                      </p:to>
                                    </p:set>
                                    <p:animEffect filter="fade" transition="in">
                                      <p:cBhvr>
                                        <p:cTn dur="500"/>
                                        <p:tgtEl>
                                          <p:spTgt spid="6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xEl>
                                              <p:pRg end="13" st="13"/>
                                            </p:txEl>
                                          </p:spTgt>
                                        </p:tgtEl>
                                        <p:attrNameLst>
                                          <p:attrName>style.visibility</p:attrName>
                                        </p:attrNameLst>
                                      </p:cBhvr>
                                      <p:to>
                                        <p:strVal val="visible"/>
                                      </p:to>
                                    </p:set>
                                    <p:animEffect filter="fade" transition="in">
                                      <p:cBhvr>
                                        <p:cTn dur="500"/>
                                        <p:tgtEl>
                                          <p:spTgt spid="66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3"/>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3"/>
            </a:pPr>
            <a:r>
              <a:rPr b="0" i="0" lang="en-US" sz="3200" u="none">
                <a:solidFill>
                  <a:schemeClr val="dk2"/>
                </a:solidFill>
                <a:latin typeface="Times New Roman"/>
                <a:ea typeface="Times New Roman"/>
                <a:cs typeface="Times New Roman"/>
                <a:sym typeface="Times New Roman"/>
              </a:rPr>
              <a:t>Điều độ ưu tiên tiến trình ngắn nhất (SPF)</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77" name="Google Shape;677;p4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78" name="Google Shape;678;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9" name="Google Shape;679;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0" name="Google Shape;680;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1" name="Google Shape;681;p4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82" name="Google Shape;682;p43"/>
          <p:cNvPicPr preferRelativeResize="0"/>
          <p:nvPr/>
        </p:nvPicPr>
        <p:blipFill rotWithShape="1">
          <a:blip r:embed="rId3">
            <a:alphaModFix/>
          </a:blip>
          <a:srcRect b="0" l="0" r="0" t="0"/>
          <a:stretch/>
        </p:blipFill>
        <p:spPr>
          <a:xfrm>
            <a:off x="725487" y="2819400"/>
            <a:ext cx="7769225" cy="2514600"/>
          </a:xfrm>
          <a:prstGeom prst="rect">
            <a:avLst/>
          </a:prstGeom>
          <a:noFill/>
          <a:ln>
            <a:noFill/>
          </a:ln>
        </p:spPr>
      </p:pic>
      <p:pic>
        <p:nvPicPr>
          <p:cNvPr id="683" name="Google Shape;683;p43"/>
          <p:cNvPicPr preferRelativeResize="0"/>
          <p:nvPr/>
        </p:nvPicPr>
        <p:blipFill rotWithShape="1">
          <a:blip r:embed="rId4">
            <a:alphaModFix/>
          </a:blip>
          <a:srcRect b="0" l="0" r="0" t="0"/>
          <a:stretch/>
        </p:blipFill>
        <p:spPr>
          <a:xfrm>
            <a:off x="3429000" y="1676400"/>
            <a:ext cx="3321050" cy="129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0" st="0"/>
                                            </p:txEl>
                                          </p:spTgt>
                                        </p:tgtEl>
                                        <p:attrNameLst>
                                          <p:attrName>style.visibility</p:attrName>
                                        </p:attrNameLst>
                                      </p:cBhvr>
                                      <p:to>
                                        <p:strVal val="visible"/>
                                      </p:to>
                                    </p:set>
                                    <p:animEffect filter="fade" transition="in">
                                      <p:cBhvr>
                                        <p:cTn dur="500"/>
                                        <p:tgtEl>
                                          <p:spTgt spid="6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1" st="1"/>
                                            </p:txEl>
                                          </p:spTgt>
                                        </p:tgtEl>
                                        <p:attrNameLst>
                                          <p:attrName>style.visibility</p:attrName>
                                        </p:attrNameLst>
                                      </p:cBhvr>
                                      <p:to>
                                        <p:strVal val="visible"/>
                                      </p:to>
                                    </p:set>
                                    <p:animEffect filter="fade" transition="in">
                                      <p:cBhvr>
                                        <p:cTn dur="500"/>
                                        <p:tgtEl>
                                          <p:spTgt spid="6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2" st="2"/>
                                            </p:txEl>
                                          </p:spTgt>
                                        </p:tgtEl>
                                        <p:attrNameLst>
                                          <p:attrName>style.visibility</p:attrName>
                                        </p:attrNameLst>
                                      </p:cBhvr>
                                      <p:to>
                                        <p:strVal val="visible"/>
                                      </p:to>
                                    </p:set>
                                    <p:animEffect filter="fade" transition="in">
                                      <p:cBhvr>
                                        <p:cTn dur="500"/>
                                        <p:tgtEl>
                                          <p:spTgt spid="6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3" st="3"/>
                                            </p:txEl>
                                          </p:spTgt>
                                        </p:tgtEl>
                                        <p:attrNameLst>
                                          <p:attrName>style.visibility</p:attrName>
                                        </p:attrNameLst>
                                      </p:cBhvr>
                                      <p:to>
                                        <p:strVal val="visible"/>
                                      </p:to>
                                    </p:set>
                                    <p:animEffect filter="fade" transition="in">
                                      <p:cBhvr>
                                        <p:cTn dur="500"/>
                                        <p:tgtEl>
                                          <p:spTgt spid="6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4" st="4"/>
                                            </p:txEl>
                                          </p:spTgt>
                                        </p:tgtEl>
                                        <p:attrNameLst>
                                          <p:attrName>style.visibility</p:attrName>
                                        </p:attrNameLst>
                                      </p:cBhvr>
                                      <p:to>
                                        <p:strVal val="visible"/>
                                      </p:to>
                                    </p:set>
                                    <p:animEffect filter="fade" transition="in">
                                      <p:cBhvr>
                                        <p:cTn dur="500"/>
                                        <p:tgtEl>
                                          <p:spTgt spid="6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5" st="5"/>
                                            </p:txEl>
                                          </p:spTgt>
                                        </p:tgtEl>
                                        <p:attrNameLst>
                                          <p:attrName>style.visibility</p:attrName>
                                        </p:attrNameLst>
                                      </p:cBhvr>
                                      <p:to>
                                        <p:strVal val="visible"/>
                                      </p:to>
                                    </p:set>
                                    <p:animEffect filter="fade" transition="in">
                                      <p:cBhvr>
                                        <p:cTn dur="500"/>
                                        <p:tgtEl>
                                          <p:spTgt spid="6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xEl>
                                              <p:pRg end="6" st="6"/>
                                            </p:txEl>
                                          </p:spTgt>
                                        </p:tgtEl>
                                        <p:attrNameLst>
                                          <p:attrName>style.visibility</p:attrName>
                                        </p:attrNameLst>
                                      </p:cBhvr>
                                      <p:to>
                                        <p:strVal val="visible"/>
                                      </p:to>
                                    </p:set>
                                    <p:animEffect filter="fade" transition="in">
                                      <p:cBhvr>
                                        <p:cTn dur="500"/>
                                        <p:tgtEl>
                                          <p:spTgt spid="67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4"/>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4"/>
            </a:pPr>
            <a:r>
              <a:rPr b="0" i="0" lang="en-US" sz="3200" u="none">
                <a:solidFill>
                  <a:schemeClr val="dk2"/>
                </a:solidFill>
                <a:latin typeface="Times New Roman"/>
                <a:ea typeface="Times New Roman"/>
                <a:cs typeface="Times New Roman"/>
                <a:sym typeface="Times New Roman"/>
              </a:rPr>
              <a:t>Điều độ ưu tiên thời gian còn lại ngắn nhất</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SPF có thêm cơ chế phân phối lại (SRTF)</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Khi 1 tiến trình mới xuất hiện trong hàng đợi, HDH so sánh thời gian còn lại của tiến trình đang chạy với thời gian còn lại của tiến trình mới xuất hiện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tiến trình mới xuất hiện có thời gian còn lại ngắn hơn, HDH thu hồi CPU của tiến trình đang chạy, phân phối cho tiến trình mới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Thời gian chờ đợi trung bình nhỏ</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HDH phải dự đoán độ dài chu kỳ CPU của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Việc chuyển đổi tiến trình ít hơn so với RR</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90" name="Google Shape;690;p4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691" name="Google Shape;691;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2" name="Google Shape;692;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3" name="Google Shape;693;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4" name="Google Shape;694;p4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0" st="0"/>
                                            </p:txEl>
                                          </p:spTgt>
                                        </p:tgtEl>
                                        <p:attrNameLst>
                                          <p:attrName>style.visibility</p:attrName>
                                        </p:attrNameLst>
                                      </p:cBhvr>
                                      <p:to>
                                        <p:strVal val="visible"/>
                                      </p:to>
                                    </p:set>
                                    <p:animEffect filter="fade" transition="in">
                                      <p:cBhvr>
                                        <p:cTn dur="500"/>
                                        <p:tgtEl>
                                          <p:spTgt spid="6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 st="1"/>
                                            </p:txEl>
                                          </p:spTgt>
                                        </p:tgtEl>
                                        <p:attrNameLst>
                                          <p:attrName>style.visibility</p:attrName>
                                        </p:attrNameLst>
                                      </p:cBhvr>
                                      <p:to>
                                        <p:strVal val="visible"/>
                                      </p:to>
                                    </p:set>
                                    <p:animEffect filter="fade" transition="in">
                                      <p:cBhvr>
                                        <p:cTn dur="500"/>
                                        <p:tgtEl>
                                          <p:spTgt spid="6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2" st="2"/>
                                            </p:txEl>
                                          </p:spTgt>
                                        </p:tgtEl>
                                        <p:attrNameLst>
                                          <p:attrName>style.visibility</p:attrName>
                                        </p:attrNameLst>
                                      </p:cBhvr>
                                      <p:to>
                                        <p:strVal val="visible"/>
                                      </p:to>
                                    </p:set>
                                    <p:animEffect filter="fade" transition="in">
                                      <p:cBhvr>
                                        <p:cTn dur="500"/>
                                        <p:tgtEl>
                                          <p:spTgt spid="6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3" st="3"/>
                                            </p:txEl>
                                          </p:spTgt>
                                        </p:tgtEl>
                                        <p:attrNameLst>
                                          <p:attrName>style.visibility</p:attrName>
                                        </p:attrNameLst>
                                      </p:cBhvr>
                                      <p:to>
                                        <p:strVal val="visible"/>
                                      </p:to>
                                    </p:set>
                                    <p:animEffect filter="fade" transition="in">
                                      <p:cBhvr>
                                        <p:cTn dur="500"/>
                                        <p:tgtEl>
                                          <p:spTgt spid="6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4" st="4"/>
                                            </p:txEl>
                                          </p:spTgt>
                                        </p:tgtEl>
                                        <p:attrNameLst>
                                          <p:attrName>style.visibility</p:attrName>
                                        </p:attrNameLst>
                                      </p:cBhvr>
                                      <p:to>
                                        <p:strVal val="visible"/>
                                      </p:to>
                                    </p:set>
                                    <p:animEffect filter="fade" transition="in">
                                      <p:cBhvr>
                                        <p:cTn dur="500"/>
                                        <p:tgtEl>
                                          <p:spTgt spid="6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5" st="5"/>
                                            </p:txEl>
                                          </p:spTgt>
                                        </p:tgtEl>
                                        <p:attrNameLst>
                                          <p:attrName>style.visibility</p:attrName>
                                        </p:attrNameLst>
                                      </p:cBhvr>
                                      <p:to>
                                        <p:strVal val="visible"/>
                                      </p:to>
                                    </p:set>
                                    <p:animEffect filter="fade" transition="in">
                                      <p:cBhvr>
                                        <p:cTn dur="500"/>
                                        <p:tgtEl>
                                          <p:spTgt spid="6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6" st="6"/>
                                            </p:txEl>
                                          </p:spTgt>
                                        </p:tgtEl>
                                        <p:attrNameLst>
                                          <p:attrName>style.visibility</p:attrName>
                                        </p:attrNameLst>
                                      </p:cBhvr>
                                      <p:to>
                                        <p:strVal val="visible"/>
                                      </p:to>
                                    </p:set>
                                    <p:animEffect filter="fade" transition="in">
                                      <p:cBhvr>
                                        <p:cTn dur="500"/>
                                        <p:tgtEl>
                                          <p:spTgt spid="6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7" st="7"/>
                                            </p:txEl>
                                          </p:spTgt>
                                        </p:tgtEl>
                                        <p:attrNameLst>
                                          <p:attrName>style.visibility</p:attrName>
                                        </p:attrNameLst>
                                      </p:cBhvr>
                                      <p:to>
                                        <p:strVal val="visible"/>
                                      </p:to>
                                    </p:set>
                                    <p:animEffect filter="fade" transition="in">
                                      <p:cBhvr>
                                        <p:cTn dur="500"/>
                                        <p:tgtEl>
                                          <p:spTgt spid="6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8" st="8"/>
                                            </p:txEl>
                                          </p:spTgt>
                                        </p:tgtEl>
                                        <p:attrNameLst>
                                          <p:attrName>style.visibility</p:attrName>
                                        </p:attrNameLst>
                                      </p:cBhvr>
                                      <p:to>
                                        <p:strVal val="visible"/>
                                      </p:to>
                                    </p:set>
                                    <p:animEffect filter="fade" transition="in">
                                      <p:cBhvr>
                                        <p:cTn dur="500"/>
                                        <p:tgtEl>
                                          <p:spTgt spid="6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9" st="9"/>
                                            </p:txEl>
                                          </p:spTgt>
                                        </p:tgtEl>
                                        <p:attrNameLst>
                                          <p:attrName>style.visibility</p:attrName>
                                        </p:attrNameLst>
                                      </p:cBhvr>
                                      <p:to>
                                        <p:strVal val="visible"/>
                                      </p:to>
                                    </p:set>
                                    <p:animEffect filter="fade" transition="in">
                                      <p:cBhvr>
                                        <p:cTn dur="500"/>
                                        <p:tgtEl>
                                          <p:spTgt spid="6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0" st="10"/>
                                            </p:txEl>
                                          </p:spTgt>
                                        </p:tgtEl>
                                        <p:attrNameLst>
                                          <p:attrName>style.visibility</p:attrName>
                                        </p:attrNameLst>
                                      </p:cBhvr>
                                      <p:to>
                                        <p:strVal val="visible"/>
                                      </p:to>
                                    </p:set>
                                    <p:animEffect filter="fade" transition="in">
                                      <p:cBhvr>
                                        <p:cTn dur="500"/>
                                        <p:tgtEl>
                                          <p:spTgt spid="6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1" st="11"/>
                                            </p:txEl>
                                          </p:spTgt>
                                        </p:tgtEl>
                                        <p:attrNameLst>
                                          <p:attrName>style.visibility</p:attrName>
                                        </p:attrNameLst>
                                      </p:cBhvr>
                                      <p:to>
                                        <p:strVal val="visible"/>
                                      </p:to>
                                    </p:set>
                                    <p:animEffect filter="fade" transition="in">
                                      <p:cBhvr>
                                        <p:cTn dur="500"/>
                                        <p:tgtEl>
                                          <p:spTgt spid="6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xEl>
                                              <p:pRg end="12" st="12"/>
                                            </p:txEl>
                                          </p:spTgt>
                                        </p:tgtEl>
                                        <p:attrNameLst>
                                          <p:attrName>style.visibility</p:attrName>
                                        </p:attrNameLst>
                                      </p:cBhvr>
                                      <p:to>
                                        <p:strVal val="visible"/>
                                      </p:to>
                                    </p:set>
                                    <p:animEffect filter="fade" transition="in">
                                      <p:cBhvr>
                                        <p:cTn dur="500"/>
                                        <p:tgtEl>
                                          <p:spTgt spid="68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5"/>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4"/>
            </a:pPr>
            <a:r>
              <a:rPr b="0" i="0" lang="en-US" sz="3200" u="none">
                <a:solidFill>
                  <a:schemeClr val="dk2"/>
                </a:solidFill>
                <a:latin typeface="Times New Roman"/>
                <a:ea typeface="Times New Roman"/>
                <a:cs typeface="Times New Roman"/>
                <a:sym typeface="Times New Roman"/>
              </a:rPr>
              <a:t>Điều độ ưu tiên thời gian còn lại ngắn nhất (SRTF)</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01" name="Google Shape;701;p4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02" name="Google Shape;702;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3" name="Google Shape;703;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4" name="Google Shape;704;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5" name="Google Shape;705;p4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706" name="Google Shape;706;p45"/>
          <p:cNvPicPr preferRelativeResize="0"/>
          <p:nvPr/>
        </p:nvPicPr>
        <p:blipFill rotWithShape="1">
          <a:blip r:embed="rId3">
            <a:alphaModFix/>
          </a:blip>
          <a:srcRect b="0" l="0" r="0" t="0"/>
          <a:stretch/>
        </p:blipFill>
        <p:spPr>
          <a:xfrm>
            <a:off x="833437" y="1524000"/>
            <a:ext cx="7777162" cy="1905000"/>
          </a:xfrm>
          <a:prstGeom prst="rect">
            <a:avLst/>
          </a:prstGeom>
          <a:noFill/>
          <a:ln>
            <a:noFill/>
          </a:ln>
        </p:spPr>
      </p:pic>
      <p:pic>
        <p:nvPicPr>
          <p:cNvPr id="707" name="Google Shape;707;p45"/>
          <p:cNvPicPr preferRelativeResize="0"/>
          <p:nvPr/>
        </p:nvPicPr>
        <p:blipFill rotWithShape="1">
          <a:blip r:embed="rId4">
            <a:alphaModFix/>
          </a:blip>
          <a:srcRect b="0" l="0" r="0" t="0"/>
          <a:stretch/>
        </p:blipFill>
        <p:spPr>
          <a:xfrm>
            <a:off x="990600" y="3429000"/>
            <a:ext cx="8001000" cy="190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0" st="0"/>
                                            </p:txEl>
                                          </p:spTgt>
                                        </p:tgtEl>
                                        <p:attrNameLst>
                                          <p:attrName>style.visibility</p:attrName>
                                        </p:attrNameLst>
                                      </p:cBhvr>
                                      <p:to>
                                        <p:strVal val="visible"/>
                                      </p:to>
                                    </p:set>
                                    <p:animEffect filter="fade" transition="in">
                                      <p:cBhvr>
                                        <p:cTn dur="500"/>
                                        <p:tgtEl>
                                          <p:spTgt spid="7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1" st="1"/>
                                            </p:txEl>
                                          </p:spTgt>
                                        </p:tgtEl>
                                        <p:attrNameLst>
                                          <p:attrName>style.visibility</p:attrName>
                                        </p:attrNameLst>
                                      </p:cBhvr>
                                      <p:to>
                                        <p:strVal val="visible"/>
                                      </p:to>
                                    </p:set>
                                    <p:animEffect filter="fade" transition="in">
                                      <p:cBhvr>
                                        <p:cTn dur="500"/>
                                        <p:tgtEl>
                                          <p:spTgt spid="7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2" st="2"/>
                                            </p:txEl>
                                          </p:spTgt>
                                        </p:tgtEl>
                                        <p:attrNameLst>
                                          <p:attrName>style.visibility</p:attrName>
                                        </p:attrNameLst>
                                      </p:cBhvr>
                                      <p:to>
                                        <p:strVal val="visible"/>
                                      </p:to>
                                    </p:set>
                                    <p:animEffect filter="fade" transition="in">
                                      <p:cBhvr>
                                        <p:cTn dur="500"/>
                                        <p:tgtEl>
                                          <p:spTgt spid="7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3" st="3"/>
                                            </p:txEl>
                                          </p:spTgt>
                                        </p:tgtEl>
                                        <p:attrNameLst>
                                          <p:attrName>style.visibility</p:attrName>
                                        </p:attrNameLst>
                                      </p:cBhvr>
                                      <p:to>
                                        <p:strVal val="visible"/>
                                      </p:to>
                                    </p:set>
                                    <p:animEffect filter="fade" transition="in">
                                      <p:cBhvr>
                                        <p:cTn dur="500"/>
                                        <p:tgtEl>
                                          <p:spTgt spid="7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4" st="4"/>
                                            </p:txEl>
                                          </p:spTgt>
                                        </p:tgtEl>
                                        <p:attrNameLst>
                                          <p:attrName>style.visibility</p:attrName>
                                        </p:attrNameLst>
                                      </p:cBhvr>
                                      <p:to>
                                        <p:strVal val="visible"/>
                                      </p:to>
                                    </p:set>
                                    <p:animEffect filter="fade" transition="in">
                                      <p:cBhvr>
                                        <p:cTn dur="500"/>
                                        <p:tgtEl>
                                          <p:spTgt spid="7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5" st="5"/>
                                            </p:txEl>
                                          </p:spTgt>
                                        </p:tgtEl>
                                        <p:attrNameLst>
                                          <p:attrName>style.visibility</p:attrName>
                                        </p:attrNameLst>
                                      </p:cBhvr>
                                      <p:to>
                                        <p:strVal val="visible"/>
                                      </p:to>
                                    </p:set>
                                    <p:animEffect filter="fade" transition="in">
                                      <p:cBhvr>
                                        <p:cTn dur="500"/>
                                        <p:tgtEl>
                                          <p:spTgt spid="7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6" st="6"/>
                                            </p:txEl>
                                          </p:spTgt>
                                        </p:tgtEl>
                                        <p:attrNameLst>
                                          <p:attrName>style.visibility</p:attrName>
                                        </p:attrNameLst>
                                      </p:cBhvr>
                                      <p:to>
                                        <p:strVal val="visible"/>
                                      </p:to>
                                    </p:set>
                                    <p:animEffect filter="fade" transition="in">
                                      <p:cBhvr>
                                        <p:cTn dur="500"/>
                                        <p:tgtEl>
                                          <p:spTgt spid="70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5"/>
            </a:pPr>
            <a:r>
              <a:rPr b="0" i="0" lang="en-US" sz="3200" u="none">
                <a:solidFill>
                  <a:schemeClr val="dk2"/>
                </a:solidFill>
                <a:latin typeface="Times New Roman"/>
                <a:ea typeface="Times New Roman"/>
                <a:cs typeface="Times New Roman"/>
                <a:sym typeface="Times New Roman"/>
              </a:rPr>
              <a:t>Điều độ có mức ưu tiên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Mỗi tiến trình có 1 mức ưu tiên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Tiến trình có mức ưu tiên cao hơn sẽ được cấp CPU trước </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tiến trình có mức ưu tiên bằng nhau được điều độ theo FCFS</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Mức ưu tiên được xác định theo nhiều tiêu chí khác nhau</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14" name="Google Shape;714;p4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15" name="Google Shape;715;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6" name="Google Shape;716;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7" name="Google Shape;717;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8" name="Google Shape;718;p4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0" st="0"/>
                                            </p:txEl>
                                          </p:spTgt>
                                        </p:tgtEl>
                                        <p:attrNameLst>
                                          <p:attrName>style.visibility</p:attrName>
                                        </p:attrNameLst>
                                      </p:cBhvr>
                                      <p:to>
                                        <p:strVal val="visible"/>
                                      </p:to>
                                    </p:set>
                                    <p:animEffect filter="fade" transition="in">
                                      <p:cBhvr>
                                        <p:cTn dur="500"/>
                                        <p:tgtEl>
                                          <p:spTgt spid="7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1" st="1"/>
                                            </p:txEl>
                                          </p:spTgt>
                                        </p:tgtEl>
                                        <p:attrNameLst>
                                          <p:attrName>style.visibility</p:attrName>
                                        </p:attrNameLst>
                                      </p:cBhvr>
                                      <p:to>
                                        <p:strVal val="visible"/>
                                      </p:to>
                                    </p:set>
                                    <p:animEffect filter="fade" transition="in">
                                      <p:cBhvr>
                                        <p:cTn dur="500"/>
                                        <p:tgtEl>
                                          <p:spTgt spid="7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2" st="2"/>
                                            </p:txEl>
                                          </p:spTgt>
                                        </p:tgtEl>
                                        <p:attrNameLst>
                                          <p:attrName>style.visibility</p:attrName>
                                        </p:attrNameLst>
                                      </p:cBhvr>
                                      <p:to>
                                        <p:strVal val="visible"/>
                                      </p:to>
                                    </p:set>
                                    <p:animEffect filter="fade" transition="in">
                                      <p:cBhvr>
                                        <p:cTn dur="500"/>
                                        <p:tgtEl>
                                          <p:spTgt spid="7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3" st="3"/>
                                            </p:txEl>
                                          </p:spTgt>
                                        </p:tgtEl>
                                        <p:attrNameLst>
                                          <p:attrName>style.visibility</p:attrName>
                                        </p:attrNameLst>
                                      </p:cBhvr>
                                      <p:to>
                                        <p:strVal val="visible"/>
                                      </p:to>
                                    </p:set>
                                    <p:animEffect filter="fade" transition="in">
                                      <p:cBhvr>
                                        <p:cTn dur="500"/>
                                        <p:tgtEl>
                                          <p:spTgt spid="7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4" st="4"/>
                                            </p:txEl>
                                          </p:spTgt>
                                        </p:tgtEl>
                                        <p:attrNameLst>
                                          <p:attrName>style.visibility</p:attrName>
                                        </p:attrNameLst>
                                      </p:cBhvr>
                                      <p:to>
                                        <p:strVal val="visible"/>
                                      </p:to>
                                    </p:set>
                                    <p:animEffect filter="fade" transition="in">
                                      <p:cBhvr>
                                        <p:cTn dur="500"/>
                                        <p:tgtEl>
                                          <p:spTgt spid="7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5" st="5"/>
                                            </p:txEl>
                                          </p:spTgt>
                                        </p:tgtEl>
                                        <p:attrNameLst>
                                          <p:attrName>style.visibility</p:attrName>
                                        </p:attrNameLst>
                                      </p:cBhvr>
                                      <p:to>
                                        <p:strVal val="visible"/>
                                      </p:to>
                                    </p:set>
                                    <p:animEffect filter="fade" transition="in">
                                      <p:cBhvr>
                                        <p:cTn dur="500"/>
                                        <p:tgtEl>
                                          <p:spTgt spid="7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6" st="6"/>
                                            </p:txEl>
                                          </p:spTgt>
                                        </p:tgtEl>
                                        <p:attrNameLst>
                                          <p:attrName>style.visibility</p:attrName>
                                        </p:attrNameLst>
                                      </p:cBhvr>
                                      <p:to>
                                        <p:strVal val="visible"/>
                                      </p:to>
                                    </p:set>
                                    <p:animEffect filter="fade" transition="in">
                                      <p:cBhvr>
                                        <p:cTn dur="500"/>
                                        <p:tgtEl>
                                          <p:spTgt spid="7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7" st="7"/>
                                            </p:txEl>
                                          </p:spTgt>
                                        </p:tgtEl>
                                        <p:attrNameLst>
                                          <p:attrName>style.visibility</p:attrName>
                                        </p:attrNameLst>
                                      </p:cBhvr>
                                      <p:to>
                                        <p:strVal val="visible"/>
                                      </p:to>
                                    </p:set>
                                    <p:animEffect filter="fade" transition="in">
                                      <p:cBhvr>
                                        <p:cTn dur="500"/>
                                        <p:tgtEl>
                                          <p:spTgt spid="7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8" st="8"/>
                                            </p:txEl>
                                          </p:spTgt>
                                        </p:tgtEl>
                                        <p:attrNameLst>
                                          <p:attrName>style.visibility</p:attrName>
                                        </p:attrNameLst>
                                      </p:cBhvr>
                                      <p:to>
                                        <p:strVal val="visible"/>
                                      </p:to>
                                    </p:set>
                                    <p:animEffect filter="fade" transition="in">
                                      <p:cBhvr>
                                        <p:cTn dur="500"/>
                                        <p:tgtEl>
                                          <p:spTgt spid="7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9" st="9"/>
                                            </p:txEl>
                                          </p:spTgt>
                                        </p:tgtEl>
                                        <p:attrNameLst>
                                          <p:attrName>style.visibility</p:attrName>
                                        </p:attrNameLst>
                                      </p:cBhvr>
                                      <p:to>
                                        <p:strVal val="visible"/>
                                      </p:to>
                                    </p:set>
                                    <p:animEffect filter="fade" transition="in">
                                      <p:cBhvr>
                                        <p:cTn dur="500"/>
                                        <p:tgtEl>
                                          <p:spTgt spid="7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xEl>
                                              <p:pRg end="10" st="10"/>
                                            </p:txEl>
                                          </p:spTgt>
                                        </p:tgtEl>
                                        <p:attrNameLst>
                                          <p:attrName>style.visibility</p:attrName>
                                        </p:attrNameLst>
                                      </p:cBhvr>
                                      <p:to>
                                        <p:strVal val="visible"/>
                                      </p:to>
                                    </p:set>
                                    <p:animEffect filter="fade" transition="in">
                                      <p:cBhvr>
                                        <p:cTn dur="500"/>
                                        <p:tgtEl>
                                          <p:spTgt spid="71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5"/>
            </a:pPr>
            <a:r>
              <a:rPr b="0" i="0" lang="en-US" sz="3200" u="none">
                <a:solidFill>
                  <a:schemeClr val="dk2"/>
                </a:solidFill>
                <a:latin typeface="Times New Roman"/>
                <a:ea typeface="Times New Roman"/>
                <a:cs typeface="Times New Roman"/>
                <a:sym typeface="Times New Roman"/>
              </a:rPr>
              <a:t>Điều độ có mức ưu tiên</a:t>
            </a:r>
            <a:endParaRPr/>
          </a:p>
          <a:p>
            <a:pPr indent="-5143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25" name="Google Shape;725;p4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ĐIỀU ĐỘ TIẾN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4. Các thuật toán  điều độ (tt)</a:t>
            </a:r>
            <a:endParaRPr/>
          </a:p>
        </p:txBody>
      </p:sp>
      <p:sp>
        <p:nvSpPr>
          <p:cNvPr id="726" name="Google Shape;726;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7" name="Google Shape;727;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8" name="Google Shape;728;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729" name="Google Shape;729;p47"/>
          <p:cNvPicPr preferRelativeResize="0"/>
          <p:nvPr/>
        </p:nvPicPr>
        <p:blipFill rotWithShape="1">
          <a:blip r:embed="rId3">
            <a:alphaModFix/>
          </a:blip>
          <a:srcRect b="0" l="0" r="0" t="0"/>
          <a:stretch/>
        </p:blipFill>
        <p:spPr>
          <a:xfrm>
            <a:off x="1524000" y="2286000"/>
            <a:ext cx="6870700" cy="2590800"/>
          </a:xfrm>
          <a:prstGeom prst="rect">
            <a:avLst/>
          </a:prstGeom>
          <a:noFill/>
          <a:ln>
            <a:noFill/>
          </a:ln>
        </p:spPr>
      </p:pic>
      <p:sp>
        <p:nvSpPr>
          <p:cNvPr id="730" name="Google Shape;730;p4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0" st="0"/>
                                            </p:txEl>
                                          </p:spTgt>
                                        </p:tgtEl>
                                        <p:attrNameLst>
                                          <p:attrName>style.visibility</p:attrName>
                                        </p:attrNameLst>
                                      </p:cBhvr>
                                      <p:to>
                                        <p:strVal val="visible"/>
                                      </p:to>
                                    </p:set>
                                    <p:animEffect filter="fade" transition="in">
                                      <p:cBhvr>
                                        <p:cTn dur="500"/>
                                        <p:tgtEl>
                                          <p:spTgt spid="7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1" st="1"/>
                                            </p:txEl>
                                          </p:spTgt>
                                        </p:tgtEl>
                                        <p:attrNameLst>
                                          <p:attrName>style.visibility</p:attrName>
                                        </p:attrNameLst>
                                      </p:cBhvr>
                                      <p:to>
                                        <p:strVal val="visible"/>
                                      </p:to>
                                    </p:set>
                                    <p:animEffect filter="fade" transition="in">
                                      <p:cBhvr>
                                        <p:cTn dur="500"/>
                                        <p:tgtEl>
                                          <p:spTgt spid="7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2" st="2"/>
                                            </p:txEl>
                                          </p:spTgt>
                                        </p:tgtEl>
                                        <p:attrNameLst>
                                          <p:attrName>style.visibility</p:attrName>
                                        </p:attrNameLst>
                                      </p:cBhvr>
                                      <p:to>
                                        <p:strVal val="visible"/>
                                      </p:to>
                                    </p:set>
                                    <p:animEffect filter="fade" transition="in">
                                      <p:cBhvr>
                                        <p:cTn dur="500"/>
                                        <p:tgtEl>
                                          <p:spTgt spid="7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3" st="3"/>
                                            </p:txEl>
                                          </p:spTgt>
                                        </p:tgtEl>
                                        <p:attrNameLst>
                                          <p:attrName>style.visibility</p:attrName>
                                        </p:attrNameLst>
                                      </p:cBhvr>
                                      <p:to>
                                        <p:strVal val="visible"/>
                                      </p:to>
                                    </p:set>
                                    <p:animEffect filter="fade" transition="in">
                                      <p:cBhvr>
                                        <p:cTn dur="500"/>
                                        <p:tgtEl>
                                          <p:spTgt spid="7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4" st="4"/>
                                            </p:txEl>
                                          </p:spTgt>
                                        </p:tgtEl>
                                        <p:attrNameLst>
                                          <p:attrName>style.visibility</p:attrName>
                                        </p:attrNameLst>
                                      </p:cBhvr>
                                      <p:to>
                                        <p:strVal val="visible"/>
                                      </p:to>
                                    </p:set>
                                    <p:animEffect filter="fade" transition="in">
                                      <p:cBhvr>
                                        <p:cTn dur="500"/>
                                        <p:tgtEl>
                                          <p:spTgt spid="7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5" st="5"/>
                                            </p:txEl>
                                          </p:spTgt>
                                        </p:tgtEl>
                                        <p:attrNameLst>
                                          <p:attrName>style.visibility</p:attrName>
                                        </p:attrNameLst>
                                      </p:cBhvr>
                                      <p:to>
                                        <p:strVal val="visible"/>
                                      </p:to>
                                    </p:set>
                                    <p:animEffect filter="fade" transition="in">
                                      <p:cBhvr>
                                        <p:cTn dur="500"/>
                                        <p:tgtEl>
                                          <p:spTgt spid="7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xEl>
                                              <p:pRg end="6" st="6"/>
                                            </p:txEl>
                                          </p:spTgt>
                                        </p:tgtEl>
                                        <p:attrNameLst>
                                          <p:attrName>style.visibility</p:attrName>
                                        </p:attrNameLst>
                                      </p:cBhvr>
                                      <p:to>
                                        <p:strVal val="visible"/>
                                      </p:to>
                                    </p:set>
                                    <p:animEffect filter="fade" transition="in">
                                      <p:cBhvr>
                                        <p:cTn dur="500"/>
                                        <p:tgtEl>
                                          <p:spTgt spid="7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8"/>
          <p:cNvSpPr txBox="1"/>
          <p:nvPr>
            <p:ph idx="1" type="body"/>
          </p:nvPr>
        </p:nvSpPr>
        <p:spPr>
          <a:xfrm>
            <a:off x="228600" y="762000"/>
            <a:ext cx="86868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Trong những hệ thống cho phép nhiều tiến trình/ nhiều dòng cùng tồn tại, do mối quan hệ trực tiếp hoặc gián tiếp giữa các tiến trình, nhiều vấn đề phức tạp có thể phát sinh so với trường hợp chỉ có một tiến trình.</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Những tiến trình cùng tồn tại được gọi </a:t>
            </a:r>
            <a:r>
              <a:rPr b="0" i="1" lang="en-US" sz="2800" u="none">
                <a:solidFill>
                  <a:schemeClr val="dk2"/>
                </a:solidFill>
                <a:latin typeface="Times New Roman"/>
                <a:ea typeface="Times New Roman"/>
                <a:cs typeface="Times New Roman"/>
                <a:sym typeface="Times New Roman"/>
              </a:rPr>
              <a:t>là tiến trình đồng thời /tiến trình tương tranh</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Quản lý tiến trình đồng thời là vấn đề quan trọng:</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Liên lạc giữa các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Cạnh tranh và chia sẻ tài nguyên</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Phối hợp và đồng bộ hóa các tiến trình</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Vấn đề bế tắc</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Đói tài nguyên (starvation)</a:t>
            </a:r>
            <a:endParaRPr b="0" i="0" sz="2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37" name="Google Shape;737;p48"/>
          <p:cNvSpPr txBox="1"/>
          <p:nvPr>
            <p:ph type="title"/>
          </p:nvPr>
        </p:nvSpPr>
        <p:spPr>
          <a:xfrm>
            <a:off x="381000" y="76200"/>
            <a:ext cx="8686800" cy="533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a:t>
            </a:r>
            <a:endParaRPr/>
          </a:p>
        </p:txBody>
      </p:sp>
      <p:sp>
        <p:nvSpPr>
          <p:cNvPr id="738" name="Google Shape;738;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9" name="Google Shape;739;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0" name="Google Shape;740;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1" name="Google Shape;741;p48"/>
          <p:cNvSpPr txBox="1"/>
          <p:nvPr/>
        </p:nvSpPr>
        <p:spPr>
          <a:xfrm>
            <a:off x="2743200" y="63246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0" st="0"/>
                                            </p:txEl>
                                          </p:spTgt>
                                        </p:tgtEl>
                                        <p:attrNameLst>
                                          <p:attrName>style.visibility</p:attrName>
                                        </p:attrNameLst>
                                      </p:cBhvr>
                                      <p:to>
                                        <p:strVal val="visible"/>
                                      </p:to>
                                    </p:set>
                                    <p:animEffect filter="fade" transition="in">
                                      <p:cBhvr>
                                        <p:cTn dur="500"/>
                                        <p:tgtEl>
                                          <p:spTgt spid="7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 st="1"/>
                                            </p:txEl>
                                          </p:spTgt>
                                        </p:tgtEl>
                                        <p:attrNameLst>
                                          <p:attrName>style.visibility</p:attrName>
                                        </p:attrNameLst>
                                      </p:cBhvr>
                                      <p:to>
                                        <p:strVal val="visible"/>
                                      </p:to>
                                    </p:set>
                                    <p:animEffect filter="fade" transition="in">
                                      <p:cBhvr>
                                        <p:cTn dur="500"/>
                                        <p:tgtEl>
                                          <p:spTgt spid="7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2" st="2"/>
                                            </p:txEl>
                                          </p:spTgt>
                                        </p:tgtEl>
                                        <p:attrNameLst>
                                          <p:attrName>style.visibility</p:attrName>
                                        </p:attrNameLst>
                                      </p:cBhvr>
                                      <p:to>
                                        <p:strVal val="visible"/>
                                      </p:to>
                                    </p:set>
                                    <p:animEffect filter="fade" transition="in">
                                      <p:cBhvr>
                                        <p:cTn dur="500"/>
                                        <p:tgtEl>
                                          <p:spTgt spid="7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3" st="3"/>
                                            </p:txEl>
                                          </p:spTgt>
                                        </p:tgtEl>
                                        <p:attrNameLst>
                                          <p:attrName>style.visibility</p:attrName>
                                        </p:attrNameLst>
                                      </p:cBhvr>
                                      <p:to>
                                        <p:strVal val="visible"/>
                                      </p:to>
                                    </p:set>
                                    <p:animEffect filter="fade" transition="in">
                                      <p:cBhvr>
                                        <p:cTn dur="500"/>
                                        <p:tgtEl>
                                          <p:spTgt spid="7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4" st="4"/>
                                            </p:txEl>
                                          </p:spTgt>
                                        </p:tgtEl>
                                        <p:attrNameLst>
                                          <p:attrName>style.visibility</p:attrName>
                                        </p:attrNameLst>
                                      </p:cBhvr>
                                      <p:to>
                                        <p:strVal val="visible"/>
                                      </p:to>
                                    </p:set>
                                    <p:animEffect filter="fade" transition="in">
                                      <p:cBhvr>
                                        <p:cTn dur="500"/>
                                        <p:tgtEl>
                                          <p:spTgt spid="7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5" st="5"/>
                                            </p:txEl>
                                          </p:spTgt>
                                        </p:tgtEl>
                                        <p:attrNameLst>
                                          <p:attrName>style.visibility</p:attrName>
                                        </p:attrNameLst>
                                      </p:cBhvr>
                                      <p:to>
                                        <p:strVal val="visible"/>
                                      </p:to>
                                    </p:set>
                                    <p:animEffect filter="fade" transition="in">
                                      <p:cBhvr>
                                        <p:cTn dur="500"/>
                                        <p:tgtEl>
                                          <p:spTgt spid="7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6" st="6"/>
                                            </p:txEl>
                                          </p:spTgt>
                                        </p:tgtEl>
                                        <p:attrNameLst>
                                          <p:attrName>style.visibility</p:attrName>
                                        </p:attrNameLst>
                                      </p:cBhvr>
                                      <p:to>
                                        <p:strVal val="visible"/>
                                      </p:to>
                                    </p:set>
                                    <p:animEffect filter="fade" transition="in">
                                      <p:cBhvr>
                                        <p:cTn dur="500"/>
                                        <p:tgtEl>
                                          <p:spTgt spid="7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7" st="7"/>
                                            </p:txEl>
                                          </p:spTgt>
                                        </p:tgtEl>
                                        <p:attrNameLst>
                                          <p:attrName>style.visibility</p:attrName>
                                        </p:attrNameLst>
                                      </p:cBhvr>
                                      <p:to>
                                        <p:strVal val="visible"/>
                                      </p:to>
                                    </p:set>
                                    <p:animEffect filter="fade" transition="in">
                                      <p:cBhvr>
                                        <p:cTn dur="500"/>
                                        <p:tgtEl>
                                          <p:spTgt spid="7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8" st="8"/>
                                            </p:txEl>
                                          </p:spTgt>
                                        </p:tgtEl>
                                        <p:attrNameLst>
                                          <p:attrName>style.visibility</p:attrName>
                                        </p:attrNameLst>
                                      </p:cBhvr>
                                      <p:to>
                                        <p:strVal val="visible"/>
                                      </p:to>
                                    </p:set>
                                    <p:animEffect filter="fade" transition="in">
                                      <p:cBhvr>
                                        <p:cTn dur="500"/>
                                        <p:tgtEl>
                                          <p:spTgt spid="7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9" st="9"/>
                                            </p:txEl>
                                          </p:spTgt>
                                        </p:tgtEl>
                                        <p:attrNameLst>
                                          <p:attrName>style.visibility</p:attrName>
                                        </p:attrNameLst>
                                      </p:cBhvr>
                                      <p:to>
                                        <p:strVal val="visible"/>
                                      </p:to>
                                    </p:set>
                                    <p:animEffect filter="fade" transition="in">
                                      <p:cBhvr>
                                        <p:cTn dur="500"/>
                                        <p:tgtEl>
                                          <p:spTgt spid="7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0" st="10"/>
                                            </p:txEl>
                                          </p:spTgt>
                                        </p:tgtEl>
                                        <p:attrNameLst>
                                          <p:attrName>style.visibility</p:attrName>
                                        </p:attrNameLst>
                                      </p:cBhvr>
                                      <p:to>
                                        <p:strVal val="visible"/>
                                      </p:to>
                                    </p:set>
                                    <p:animEffect filter="fade" transition="in">
                                      <p:cBhvr>
                                        <p:cTn dur="500"/>
                                        <p:tgtEl>
                                          <p:spTgt spid="7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1" st="11"/>
                                            </p:txEl>
                                          </p:spTgt>
                                        </p:tgtEl>
                                        <p:attrNameLst>
                                          <p:attrName>style.visibility</p:attrName>
                                        </p:attrNameLst>
                                      </p:cBhvr>
                                      <p:to>
                                        <p:strVal val="visible"/>
                                      </p:to>
                                    </p:set>
                                    <p:animEffect filter="fade" transition="in">
                                      <p:cBhvr>
                                        <p:cTn dur="500"/>
                                        <p:tgtEl>
                                          <p:spTgt spid="73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2" st="12"/>
                                            </p:txEl>
                                          </p:spTgt>
                                        </p:tgtEl>
                                        <p:attrNameLst>
                                          <p:attrName>style.visibility</p:attrName>
                                        </p:attrNameLst>
                                      </p:cBhvr>
                                      <p:to>
                                        <p:strVal val="visible"/>
                                      </p:to>
                                    </p:set>
                                    <p:animEffect filter="fade" transition="in">
                                      <p:cBhvr>
                                        <p:cTn dur="500"/>
                                        <p:tgtEl>
                                          <p:spTgt spid="73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xEl>
                                              <p:pRg end="13" st="13"/>
                                            </p:txEl>
                                          </p:spTgt>
                                        </p:tgtEl>
                                        <p:attrNameLst>
                                          <p:attrName>style.visibility</p:attrName>
                                        </p:attrNameLst>
                                      </p:cBhvr>
                                      <p:to>
                                        <p:strVal val="visible"/>
                                      </p:to>
                                    </p:set>
                                    <p:animEffect filter="fade" transition="in">
                                      <p:cBhvr>
                                        <p:cTn dur="500"/>
                                        <p:tgtEl>
                                          <p:spTgt spid="73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49"/>
          <p:cNvSpPr txBox="1"/>
          <p:nvPr>
            <p:ph idx="1" type="body"/>
          </p:nvPr>
        </p:nvSpPr>
        <p:spPr>
          <a:xfrm>
            <a:off x="0" y="990600"/>
            <a:ext cx="88392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Ngay cả khi tiến trình không biết về sự tồn tại của nhau, giữa tiến trình vẫn có quan hệ gián tiếp và có thể bị ảnh hưởng do cùng nhu cầu sử dụng một số tài nguyên như bộ nhớ, đĩa, thiết bị ngoại vi hỗ trợ I/O.</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Xét trường hợp hai tiến trình cùng có nhu cầu sử dụng một tài nguyên:</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Mặc dù mỗi tiến trình không trao đổi thông tin với tiến trình kia nhưng do chỉ một tiến trình được cấp tài nguyên =&gt; tiến trình còn lại sẽ phải chờ đợi, làm ảnh hưởng tới thời gian thực hiện =&gt; bị ảnh hưởng bởi tiến trình cạnh tranh.</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48" name="Google Shape;748;p4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a:t>
            </a:r>
            <a:br>
              <a:rPr b="1" i="0" lang="en-US" sz="2500" u="none">
                <a:solidFill>
                  <a:srgbClr val="000066"/>
                </a:solidFill>
                <a:latin typeface="Times New Roman"/>
                <a:ea typeface="Times New Roman"/>
                <a:cs typeface="Times New Roman"/>
                <a:sym typeface="Times New Roman"/>
              </a:rPr>
            </a:br>
            <a:endParaRPr/>
          </a:p>
        </p:txBody>
      </p:sp>
      <p:sp>
        <p:nvSpPr>
          <p:cNvPr id="749" name="Google Shape;749;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0" name="Google Shape;750;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1" name="Google Shape;751;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2" name="Google Shape;752;p4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0" st="0"/>
                                            </p:txEl>
                                          </p:spTgt>
                                        </p:tgtEl>
                                        <p:attrNameLst>
                                          <p:attrName>style.visibility</p:attrName>
                                        </p:attrNameLst>
                                      </p:cBhvr>
                                      <p:to>
                                        <p:strVal val="visible"/>
                                      </p:to>
                                    </p:set>
                                    <p:animEffect filter="fade" transition="in">
                                      <p:cBhvr>
                                        <p:cTn dur="500"/>
                                        <p:tgtEl>
                                          <p:spTgt spid="7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1" st="1"/>
                                            </p:txEl>
                                          </p:spTgt>
                                        </p:tgtEl>
                                        <p:attrNameLst>
                                          <p:attrName>style.visibility</p:attrName>
                                        </p:attrNameLst>
                                      </p:cBhvr>
                                      <p:to>
                                        <p:strVal val="visible"/>
                                      </p:to>
                                    </p:set>
                                    <p:animEffect filter="fade" transition="in">
                                      <p:cBhvr>
                                        <p:cTn dur="500"/>
                                        <p:tgtEl>
                                          <p:spTgt spid="7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2" st="2"/>
                                            </p:txEl>
                                          </p:spTgt>
                                        </p:tgtEl>
                                        <p:attrNameLst>
                                          <p:attrName>style.visibility</p:attrName>
                                        </p:attrNameLst>
                                      </p:cBhvr>
                                      <p:to>
                                        <p:strVal val="visible"/>
                                      </p:to>
                                    </p:set>
                                    <p:animEffect filter="fade" transition="in">
                                      <p:cBhvr>
                                        <p:cTn dur="500"/>
                                        <p:tgtEl>
                                          <p:spTgt spid="7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3" st="3"/>
                                            </p:txEl>
                                          </p:spTgt>
                                        </p:tgtEl>
                                        <p:attrNameLst>
                                          <p:attrName>style.visibility</p:attrName>
                                        </p:attrNameLst>
                                      </p:cBhvr>
                                      <p:to>
                                        <p:strVal val="visible"/>
                                      </p:to>
                                    </p:set>
                                    <p:animEffect filter="fade" transition="in">
                                      <p:cBhvr>
                                        <p:cTn dur="500"/>
                                        <p:tgtEl>
                                          <p:spTgt spid="7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4" st="4"/>
                                            </p:txEl>
                                          </p:spTgt>
                                        </p:tgtEl>
                                        <p:attrNameLst>
                                          <p:attrName>style.visibility</p:attrName>
                                        </p:attrNameLst>
                                      </p:cBhvr>
                                      <p:to>
                                        <p:strVal val="visible"/>
                                      </p:to>
                                    </p:set>
                                    <p:animEffect filter="fade" transition="in">
                                      <p:cBhvr>
                                        <p:cTn dur="500"/>
                                        <p:tgtEl>
                                          <p:spTgt spid="7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5" st="5"/>
                                            </p:txEl>
                                          </p:spTgt>
                                        </p:tgtEl>
                                        <p:attrNameLst>
                                          <p:attrName>style.visibility</p:attrName>
                                        </p:attrNameLst>
                                      </p:cBhvr>
                                      <p:to>
                                        <p:strVal val="visible"/>
                                      </p:to>
                                    </p:set>
                                    <p:animEffect filter="fade" transition="in">
                                      <p:cBhvr>
                                        <p:cTn dur="500"/>
                                        <p:tgtEl>
                                          <p:spTgt spid="7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6" st="6"/>
                                            </p:txEl>
                                          </p:spTgt>
                                        </p:tgtEl>
                                        <p:attrNameLst>
                                          <p:attrName>style.visibility</p:attrName>
                                        </p:attrNameLst>
                                      </p:cBhvr>
                                      <p:to>
                                        <p:strVal val="visible"/>
                                      </p:to>
                                    </p:set>
                                    <p:animEffect filter="fade" transition="in">
                                      <p:cBhvr>
                                        <p:cTn dur="500"/>
                                        <p:tgtEl>
                                          <p:spTgt spid="7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7" st="7"/>
                                            </p:txEl>
                                          </p:spTgt>
                                        </p:tgtEl>
                                        <p:attrNameLst>
                                          <p:attrName>style.visibility</p:attrName>
                                        </p:attrNameLst>
                                      </p:cBhvr>
                                      <p:to>
                                        <p:strVal val="visible"/>
                                      </p:to>
                                    </p:set>
                                    <p:animEffect filter="fade" transition="in">
                                      <p:cBhvr>
                                        <p:cTn dur="500"/>
                                        <p:tgtEl>
                                          <p:spTgt spid="7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8" st="8"/>
                                            </p:txEl>
                                          </p:spTgt>
                                        </p:tgtEl>
                                        <p:attrNameLst>
                                          <p:attrName>style.visibility</p:attrName>
                                        </p:attrNameLst>
                                      </p:cBhvr>
                                      <p:to>
                                        <p:strVal val="visible"/>
                                      </p:to>
                                    </p:set>
                                    <p:animEffect filter="fade" transition="in">
                                      <p:cBhvr>
                                        <p:cTn dur="500"/>
                                        <p:tgtEl>
                                          <p:spTgt spid="7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xEl>
                                              <p:pRg end="9" st="9"/>
                                            </p:txEl>
                                          </p:spTgt>
                                        </p:tgtEl>
                                        <p:attrNameLst>
                                          <p:attrName>style.visibility</p:attrName>
                                        </p:attrNameLst>
                                      </p:cBhvr>
                                      <p:to>
                                        <p:strVal val="visible"/>
                                      </p:to>
                                    </p:set>
                                    <p:animEffect filter="fade" transition="in">
                                      <p:cBhvr>
                                        <p:cTn dur="500"/>
                                        <p:tgtEl>
                                          <p:spTgt spid="7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50"/>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2"/>
              </a:buClr>
              <a:buSzPts val="2800"/>
              <a:buFont typeface="Noto Sans Symbols"/>
              <a:buNone/>
            </a:pPr>
            <a:r>
              <a:rPr b="0" i="0" lang="en-US" sz="2800" u="none">
                <a:solidFill>
                  <a:schemeClr val="dk2"/>
                </a:solidFill>
                <a:latin typeface="Times New Roman"/>
                <a:ea typeface="Times New Roman"/>
                <a:cs typeface="Times New Roman"/>
                <a:sym typeface="Times New Roman"/>
              </a:rPr>
              <a:t>Đối với tiến trình cạnh tranh tài nguyên với nhau cần giải quyết một số vấn đề sau:</a:t>
            </a:r>
            <a:endParaRPr/>
          </a:p>
          <a:p>
            <a:pPr indent="-285750" lvl="1" marL="742950" marR="0" rtl="0" algn="just">
              <a:lnSpc>
                <a:spcPct val="9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Đảm bảo </a:t>
            </a:r>
            <a:r>
              <a:rPr b="1" i="1" lang="en-US" sz="2800" u="none" cap="none" strike="noStrike">
                <a:solidFill>
                  <a:schemeClr val="dk1"/>
                </a:solidFill>
                <a:latin typeface="Times New Roman"/>
                <a:ea typeface="Times New Roman"/>
                <a:cs typeface="Times New Roman"/>
                <a:sym typeface="Times New Roman"/>
              </a:rPr>
              <a:t>loại trừ tương hỗ</a:t>
            </a:r>
            <a:r>
              <a:rPr b="0" i="0" lang="en-US" sz="2800" u="none" cap="none" strike="noStrike">
                <a:solidFill>
                  <a:schemeClr val="dk1"/>
                </a:solidFill>
                <a:latin typeface="Times New Roman"/>
                <a:ea typeface="Times New Roman"/>
                <a:cs typeface="Times New Roman"/>
                <a:sym typeface="Times New Roman"/>
              </a:rPr>
              <a:t> (mutual exclusion):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các tiến trình cùng truy nhập tài nguyên mà khả năng chia sẻ của tài nguyên đó là có hạn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1" i="0" lang="en-US" sz="2400" u="none" cap="none" strike="noStrike">
                <a:solidFill>
                  <a:schemeClr val="dk2"/>
                </a:solidFill>
                <a:latin typeface="Times New Roman"/>
                <a:ea typeface="Times New Roman"/>
                <a:cs typeface="Times New Roman"/>
                <a:sym typeface="Times New Roman"/>
              </a:rPr>
              <a:t>Loại trừ  tương hỗ </a:t>
            </a:r>
            <a:r>
              <a:rPr b="0" i="0" lang="en-US" sz="2400" u="none" cap="none" strike="noStrike">
                <a:solidFill>
                  <a:schemeClr val="dk2"/>
                </a:solidFill>
                <a:latin typeface="Times New Roman"/>
                <a:ea typeface="Times New Roman"/>
                <a:cs typeface="Times New Roman"/>
                <a:sym typeface="Times New Roman"/>
              </a:rPr>
              <a:t>=&gt; phải đảm bảo tiến trình này đang truy cập tài nguyên thì tiến trình khác không được truy cập tài nguyên đó.</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Tài nguyên đó gọi là </a:t>
            </a:r>
            <a:r>
              <a:rPr b="1" i="1" lang="en-US" sz="2400" u="none" cap="none" strike="noStrike">
                <a:solidFill>
                  <a:schemeClr val="dk2"/>
                </a:solidFill>
                <a:latin typeface="Times New Roman"/>
                <a:ea typeface="Times New Roman"/>
                <a:cs typeface="Times New Roman"/>
                <a:sym typeface="Times New Roman"/>
              </a:rPr>
              <a:t>tài nguyên nguy hiểm</a:t>
            </a:r>
            <a:r>
              <a:rPr b="0" i="0" lang="en-US" sz="2400" u="none" cap="none" strike="noStrike">
                <a:solidFill>
                  <a:schemeClr val="dk2"/>
                </a:solidFill>
                <a:latin typeface="Times New Roman"/>
                <a:ea typeface="Times New Roman"/>
                <a:cs typeface="Times New Roman"/>
                <a:sym typeface="Times New Roman"/>
              </a:rPr>
              <a:t>. Đoạn chương trình có yêu cầu sử dụng tài nguyên nguy hiểm gọi là </a:t>
            </a:r>
            <a:r>
              <a:rPr b="1" i="1" lang="en-US" sz="2400" u="none" cap="none" strike="noStrike">
                <a:solidFill>
                  <a:schemeClr val="dk2"/>
                </a:solidFill>
                <a:latin typeface="Times New Roman"/>
                <a:ea typeface="Times New Roman"/>
                <a:cs typeface="Times New Roman"/>
                <a:sym typeface="Times New Roman"/>
              </a:rPr>
              <a:t>đoạn nguy hiểm </a:t>
            </a:r>
            <a:r>
              <a:rPr b="0" i="0" lang="en-US" sz="2400" u="none" cap="none" strike="noStrike">
                <a:solidFill>
                  <a:schemeClr val="dk2"/>
                </a:solidFill>
                <a:latin typeface="Times New Roman"/>
                <a:ea typeface="Times New Roman"/>
                <a:cs typeface="Times New Roman"/>
                <a:sym typeface="Times New Roman"/>
              </a:rPr>
              <a:t>(critical section)</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thời điểm chỉ có 1 tiến trình nằm trong đoạn nguy hiểm        =&gt; loại trừ lẫn nhau</a:t>
            </a:r>
            <a:endParaRPr/>
          </a:p>
          <a:p>
            <a:pPr indent="-228600" lvl="2" marL="1143000" marR="0" rtl="0" algn="just">
              <a:lnSpc>
                <a:spcPct val="9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Để giải quyết vấn đề này cần xây dựng cơ chế cho phép phối hợp hoạt động của thống và bản thân tiến trình</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9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59" name="Google Shape;759;p5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a:t>
            </a:r>
            <a:br>
              <a:rPr b="1" i="0" lang="en-US" sz="2500" u="none">
                <a:solidFill>
                  <a:srgbClr val="000066"/>
                </a:solidFill>
                <a:latin typeface="Times New Roman"/>
                <a:ea typeface="Times New Roman"/>
                <a:cs typeface="Times New Roman"/>
                <a:sym typeface="Times New Roman"/>
              </a:rPr>
            </a:br>
            <a:endParaRPr/>
          </a:p>
        </p:txBody>
      </p:sp>
      <p:sp>
        <p:nvSpPr>
          <p:cNvPr id="760" name="Google Shape;760;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1" name="Google Shape;761;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2" name="Google Shape;762;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3" name="Google Shape;763;p5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500"/>
                                        <p:tgtEl>
                                          <p:spTgt spid="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 st="1"/>
                                            </p:txEl>
                                          </p:spTgt>
                                        </p:tgtEl>
                                        <p:attrNameLst>
                                          <p:attrName>style.visibility</p:attrName>
                                        </p:attrNameLst>
                                      </p:cBhvr>
                                      <p:to>
                                        <p:strVal val="visible"/>
                                      </p:to>
                                    </p:set>
                                    <p:animEffect filter="fade" transition="in">
                                      <p:cBhvr>
                                        <p:cTn dur="500"/>
                                        <p:tgtEl>
                                          <p:spTgt spid="7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2" st="2"/>
                                            </p:txEl>
                                          </p:spTgt>
                                        </p:tgtEl>
                                        <p:attrNameLst>
                                          <p:attrName>style.visibility</p:attrName>
                                        </p:attrNameLst>
                                      </p:cBhvr>
                                      <p:to>
                                        <p:strVal val="visible"/>
                                      </p:to>
                                    </p:set>
                                    <p:animEffect filter="fade" transition="in">
                                      <p:cBhvr>
                                        <p:cTn dur="500"/>
                                        <p:tgtEl>
                                          <p:spTgt spid="7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3" st="3"/>
                                            </p:txEl>
                                          </p:spTgt>
                                        </p:tgtEl>
                                        <p:attrNameLst>
                                          <p:attrName>style.visibility</p:attrName>
                                        </p:attrNameLst>
                                      </p:cBhvr>
                                      <p:to>
                                        <p:strVal val="visible"/>
                                      </p:to>
                                    </p:set>
                                    <p:animEffect filter="fade" transition="in">
                                      <p:cBhvr>
                                        <p:cTn dur="500"/>
                                        <p:tgtEl>
                                          <p:spTgt spid="7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4" st="4"/>
                                            </p:txEl>
                                          </p:spTgt>
                                        </p:tgtEl>
                                        <p:attrNameLst>
                                          <p:attrName>style.visibility</p:attrName>
                                        </p:attrNameLst>
                                      </p:cBhvr>
                                      <p:to>
                                        <p:strVal val="visible"/>
                                      </p:to>
                                    </p:set>
                                    <p:animEffect filter="fade" transition="in">
                                      <p:cBhvr>
                                        <p:cTn dur="500"/>
                                        <p:tgtEl>
                                          <p:spTgt spid="7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5" st="5"/>
                                            </p:txEl>
                                          </p:spTgt>
                                        </p:tgtEl>
                                        <p:attrNameLst>
                                          <p:attrName>style.visibility</p:attrName>
                                        </p:attrNameLst>
                                      </p:cBhvr>
                                      <p:to>
                                        <p:strVal val="visible"/>
                                      </p:to>
                                    </p:set>
                                    <p:animEffect filter="fade" transition="in">
                                      <p:cBhvr>
                                        <p:cTn dur="500"/>
                                        <p:tgtEl>
                                          <p:spTgt spid="7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6" st="6"/>
                                            </p:txEl>
                                          </p:spTgt>
                                        </p:tgtEl>
                                        <p:attrNameLst>
                                          <p:attrName>style.visibility</p:attrName>
                                        </p:attrNameLst>
                                      </p:cBhvr>
                                      <p:to>
                                        <p:strVal val="visible"/>
                                      </p:to>
                                    </p:set>
                                    <p:animEffect filter="fade" transition="in">
                                      <p:cBhvr>
                                        <p:cTn dur="500"/>
                                        <p:tgtEl>
                                          <p:spTgt spid="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7" st="7"/>
                                            </p:txEl>
                                          </p:spTgt>
                                        </p:tgtEl>
                                        <p:attrNameLst>
                                          <p:attrName>style.visibility</p:attrName>
                                        </p:attrNameLst>
                                      </p:cBhvr>
                                      <p:to>
                                        <p:strVal val="visible"/>
                                      </p:to>
                                    </p:set>
                                    <p:animEffect filter="fade" transition="in">
                                      <p:cBhvr>
                                        <p:cTn dur="500"/>
                                        <p:tgtEl>
                                          <p:spTgt spid="7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8" st="8"/>
                                            </p:txEl>
                                          </p:spTgt>
                                        </p:tgtEl>
                                        <p:attrNameLst>
                                          <p:attrName>style.visibility</p:attrName>
                                        </p:attrNameLst>
                                      </p:cBhvr>
                                      <p:to>
                                        <p:strVal val="visible"/>
                                      </p:to>
                                    </p:set>
                                    <p:animEffect filter="fade" transition="in">
                                      <p:cBhvr>
                                        <p:cTn dur="500"/>
                                        <p:tgtEl>
                                          <p:spTgt spid="7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9" st="9"/>
                                            </p:txEl>
                                          </p:spTgt>
                                        </p:tgtEl>
                                        <p:attrNameLst>
                                          <p:attrName>style.visibility</p:attrName>
                                        </p:attrNameLst>
                                      </p:cBhvr>
                                      <p:to>
                                        <p:strVal val="visible"/>
                                      </p:to>
                                    </p:set>
                                    <p:animEffect filter="fade" transition="in">
                                      <p:cBhvr>
                                        <p:cTn dur="500"/>
                                        <p:tgtEl>
                                          <p:spTgt spid="75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0" st="10"/>
                                            </p:txEl>
                                          </p:spTgt>
                                        </p:tgtEl>
                                        <p:attrNameLst>
                                          <p:attrName>style.visibility</p:attrName>
                                        </p:attrNameLst>
                                      </p:cBhvr>
                                      <p:to>
                                        <p:strVal val="visible"/>
                                      </p:to>
                                    </p:set>
                                    <p:animEffect filter="fade" transition="in">
                                      <p:cBhvr>
                                        <p:cTn dur="500"/>
                                        <p:tgtEl>
                                          <p:spTgt spid="75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1" st="11"/>
                                            </p:txEl>
                                          </p:spTgt>
                                        </p:tgtEl>
                                        <p:attrNameLst>
                                          <p:attrName>style.visibility</p:attrName>
                                        </p:attrNameLst>
                                      </p:cBhvr>
                                      <p:to>
                                        <p:strVal val="visible"/>
                                      </p:to>
                                    </p:set>
                                    <p:animEffect filter="fade" transition="in">
                                      <p:cBhvr>
                                        <p:cTn dur="500"/>
                                        <p:tgtEl>
                                          <p:spTgt spid="75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2" st="12"/>
                                            </p:txEl>
                                          </p:spTgt>
                                        </p:tgtEl>
                                        <p:attrNameLst>
                                          <p:attrName>style.visibility</p:attrName>
                                        </p:attrNameLst>
                                      </p:cBhvr>
                                      <p:to>
                                        <p:strVal val="visible"/>
                                      </p:to>
                                    </p:set>
                                    <p:animEffect filter="fade" transition="in">
                                      <p:cBhvr>
                                        <p:cTn dur="500"/>
                                        <p:tgtEl>
                                          <p:spTgt spid="758">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 (tt):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để xảy ra </a:t>
            </a:r>
            <a:r>
              <a:rPr b="1" i="1" lang="en-US" sz="2800" u="none" cap="none" strike="noStrike">
                <a:solidFill>
                  <a:schemeClr val="dk1"/>
                </a:solidFill>
                <a:latin typeface="Times New Roman"/>
                <a:ea typeface="Times New Roman"/>
                <a:cs typeface="Times New Roman"/>
                <a:sym typeface="Times New Roman"/>
              </a:rPr>
              <a:t>bế tắc</a:t>
            </a:r>
            <a:r>
              <a:rPr b="0" i="0" lang="en-US" sz="2800" u="none" cap="none" strike="noStrike">
                <a:solidFill>
                  <a:schemeClr val="dk1"/>
                </a:solidFill>
                <a:latin typeface="Times New Roman"/>
                <a:ea typeface="Times New Roman"/>
                <a:cs typeface="Times New Roman"/>
                <a:sym typeface="Times New Roman"/>
              </a:rPr>
              <a:t> (deadlock):</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Việc đảm bảo loại trừ tương hỗ có thể gây ra tình trạng bế tắc =&gt; </a:t>
            </a:r>
            <a:r>
              <a:rPr b="0" i="0" lang="en-US" sz="2400" u="none" cap="none" strike="noStrike">
                <a:solidFill>
                  <a:schemeClr val="dk2"/>
                </a:solidFill>
                <a:latin typeface="Times New Roman"/>
                <a:ea typeface="Times New Roman"/>
                <a:cs typeface="Times New Roman"/>
                <a:sym typeface="Times New Roman"/>
              </a:rPr>
              <a:t>Bế tắc: tình trạng hai hoặc nhiều tiến trình không thể thực hiện tiếp do chờ đợi lẫn nhau.</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Ví dụ: có hai tiến trình P1 và P2, mỗi tiến trình cần được cấp tài nguyên T1 và T2. Do kết quả cấp phát của hđh, P1 được cấp phát T1 và P2 được cấp T2. P1 sẽ chờ P2 giải phóng T2, P2 sẽ chờ P1 giải phóng T1 để có thể thực hiện tiếp. Kết quả P1và P2 rơi vào bế tắc.</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70" name="Google Shape;770;p5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71" name="Google Shape;771;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2" name="Google Shape;772;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3" name="Google Shape;773;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4" name="Google Shape;774;p5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0" st="0"/>
                                            </p:txEl>
                                          </p:spTgt>
                                        </p:tgtEl>
                                        <p:attrNameLst>
                                          <p:attrName>style.visibility</p:attrName>
                                        </p:attrNameLst>
                                      </p:cBhvr>
                                      <p:to>
                                        <p:strVal val="visible"/>
                                      </p:to>
                                    </p:set>
                                    <p:animEffect filter="fade" transition="in">
                                      <p:cBhvr>
                                        <p:cTn dur="500"/>
                                        <p:tgtEl>
                                          <p:spTgt spid="7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1" st="1"/>
                                            </p:txEl>
                                          </p:spTgt>
                                        </p:tgtEl>
                                        <p:attrNameLst>
                                          <p:attrName>style.visibility</p:attrName>
                                        </p:attrNameLst>
                                      </p:cBhvr>
                                      <p:to>
                                        <p:strVal val="visible"/>
                                      </p:to>
                                    </p:set>
                                    <p:animEffect filter="fade" transition="in">
                                      <p:cBhvr>
                                        <p:cTn dur="500"/>
                                        <p:tgtEl>
                                          <p:spTgt spid="7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2" st="2"/>
                                            </p:txEl>
                                          </p:spTgt>
                                        </p:tgtEl>
                                        <p:attrNameLst>
                                          <p:attrName>style.visibility</p:attrName>
                                        </p:attrNameLst>
                                      </p:cBhvr>
                                      <p:to>
                                        <p:strVal val="visible"/>
                                      </p:to>
                                    </p:set>
                                    <p:animEffect filter="fade" transition="in">
                                      <p:cBhvr>
                                        <p:cTn dur="500"/>
                                        <p:tgtEl>
                                          <p:spTgt spid="7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3" st="3"/>
                                            </p:txEl>
                                          </p:spTgt>
                                        </p:tgtEl>
                                        <p:attrNameLst>
                                          <p:attrName>style.visibility</p:attrName>
                                        </p:attrNameLst>
                                      </p:cBhvr>
                                      <p:to>
                                        <p:strVal val="visible"/>
                                      </p:to>
                                    </p:set>
                                    <p:animEffect filter="fade" transition="in">
                                      <p:cBhvr>
                                        <p:cTn dur="500"/>
                                        <p:tgtEl>
                                          <p:spTgt spid="7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4" st="4"/>
                                            </p:txEl>
                                          </p:spTgt>
                                        </p:tgtEl>
                                        <p:attrNameLst>
                                          <p:attrName>style.visibility</p:attrName>
                                        </p:attrNameLst>
                                      </p:cBhvr>
                                      <p:to>
                                        <p:strVal val="visible"/>
                                      </p:to>
                                    </p:set>
                                    <p:animEffect filter="fade" transition="in">
                                      <p:cBhvr>
                                        <p:cTn dur="500"/>
                                        <p:tgtEl>
                                          <p:spTgt spid="7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5" st="5"/>
                                            </p:txEl>
                                          </p:spTgt>
                                        </p:tgtEl>
                                        <p:attrNameLst>
                                          <p:attrName>style.visibility</p:attrName>
                                        </p:attrNameLst>
                                      </p:cBhvr>
                                      <p:to>
                                        <p:strVal val="visible"/>
                                      </p:to>
                                    </p:set>
                                    <p:animEffect filter="fade" transition="in">
                                      <p:cBhvr>
                                        <p:cTn dur="500"/>
                                        <p:tgtEl>
                                          <p:spTgt spid="7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6" st="6"/>
                                            </p:txEl>
                                          </p:spTgt>
                                        </p:tgtEl>
                                        <p:attrNameLst>
                                          <p:attrName>style.visibility</p:attrName>
                                        </p:attrNameLst>
                                      </p:cBhvr>
                                      <p:to>
                                        <p:strVal val="visible"/>
                                      </p:to>
                                    </p:set>
                                    <p:animEffect filter="fade" transition="in">
                                      <p:cBhvr>
                                        <p:cTn dur="500"/>
                                        <p:tgtEl>
                                          <p:spTgt spid="7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7" st="7"/>
                                            </p:txEl>
                                          </p:spTgt>
                                        </p:tgtEl>
                                        <p:attrNameLst>
                                          <p:attrName>style.visibility</p:attrName>
                                        </p:attrNameLst>
                                      </p:cBhvr>
                                      <p:to>
                                        <p:strVal val="visible"/>
                                      </p:to>
                                    </p:set>
                                    <p:animEffect filter="fade" transition="in">
                                      <p:cBhvr>
                                        <p:cTn dur="500"/>
                                        <p:tgtEl>
                                          <p:spTgt spid="7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8" st="8"/>
                                            </p:txEl>
                                          </p:spTgt>
                                        </p:tgtEl>
                                        <p:attrNameLst>
                                          <p:attrName>style.visibility</p:attrName>
                                        </p:attrNameLst>
                                      </p:cBhvr>
                                      <p:to>
                                        <p:strVal val="visible"/>
                                      </p:to>
                                    </p:set>
                                    <p:animEffect filter="fade" transition="in">
                                      <p:cBhvr>
                                        <p:cTn dur="500"/>
                                        <p:tgtEl>
                                          <p:spTgt spid="7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xEl>
                                              <p:pRg end="9" st="9"/>
                                            </p:txEl>
                                          </p:spTgt>
                                        </p:tgtEl>
                                        <p:attrNameLst>
                                          <p:attrName>style.visibility</p:attrName>
                                        </p:attrNameLst>
                                      </p:cBhvr>
                                      <p:to>
                                        <p:strVal val="visible"/>
                                      </p:to>
                                    </p:set>
                                    <p:animEffect filter="fade" transition="in">
                                      <p:cBhvr>
                                        <p:cTn dur="500"/>
                                        <p:tgtEl>
                                          <p:spTgt spid="76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52"/>
          <p:cNvSpPr txBox="1"/>
          <p:nvPr>
            <p:ph idx="1" type="body"/>
          </p:nvPr>
        </p:nvSpPr>
        <p:spPr>
          <a:xfrm>
            <a:off x="0" y="1143000"/>
            <a:ext cx="89916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a. Tiến trình cạnh tranh tài nguyên với nhau (tt):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để </a:t>
            </a:r>
            <a:r>
              <a:rPr b="1" i="1" lang="en-US" sz="2800" u="none" cap="none" strike="noStrike">
                <a:solidFill>
                  <a:schemeClr val="dk1"/>
                </a:solidFill>
                <a:latin typeface="Times New Roman"/>
                <a:ea typeface="Times New Roman"/>
                <a:cs typeface="Times New Roman"/>
                <a:sym typeface="Times New Roman"/>
              </a:rPr>
              <a:t>đói</a:t>
            </a:r>
            <a:r>
              <a:rPr b="0" i="0" lang="en-US" sz="2800" u="none" cap="none" strike="noStrike">
                <a:solidFill>
                  <a:schemeClr val="dk1"/>
                </a:solidFill>
                <a:latin typeface="Times New Roman"/>
                <a:ea typeface="Times New Roman"/>
                <a:cs typeface="Times New Roman"/>
                <a:sym typeface="Times New Roman"/>
              </a:rPr>
              <a:t> tài nguyên (starvation):</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Tình trạng chờ đợi quá lâu mà không đến lượt sử dụng tài nguyên</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Ví dụ: Ba tiến trình P1, P2, P3 cùng có yêu cầu lặp đi lặp lại một tài nguyên nào đó. Do kết quả loại trừ tương hỗ và cách cấp phát tài nguyên, P1 và P2 lần lượt được cấp tài nguyên nhiều lần trong khi P3 không bao giờ đến lượt =&gt; không thực hiện tiếp được dù không có bế tắc.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81" name="Google Shape;781;p5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82" name="Google Shape;782;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3" name="Google Shape;783;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4" name="Google Shape;784;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5" name="Google Shape;785;p5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0" st="0"/>
                                            </p:txEl>
                                          </p:spTgt>
                                        </p:tgtEl>
                                        <p:attrNameLst>
                                          <p:attrName>style.visibility</p:attrName>
                                        </p:attrNameLst>
                                      </p:cBhvr>
                                      <p:to>
                                        <p:strVal val="visible"/>
                                      </p:to>
                                    </p:set>
                                    <p:animEffect filter="fade" transition="in">
                                      <p:cBhvr>
                                        <p:cTn dur="500"/>
                                        <p:tgtEl>
                                          <p:spTgt spid="7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1" st="1"/>
                                            </p:txEl>
                                          </p:spTgt>
                                        </p:tgtEl>
                                        <p:attrNameLst>
                                          <p:attrName>style.visibility</p:attrName>
                                        </p:attrNameLst>
                                      </p:cBhvr>
                                      <p:to>
                                        <p:strVal val="visible"/>
                                      </p:to>
                                    </p:set>
                                    <p:animEffect filter="fade" transition="in">
                                      <p:cBhvr>
                                        <p:cTn dur="500"/>
                                        <p:tgtEl>
                                          <p:spTgt spid="7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2" st="2"/>
                                            </p:txEl>
                                          </p:spTgt>
                                        </p:tgtEl>
                                        <p:attrNameLst>
                                          <p:attrName>style.visibility</p:attrName>
                                        </p:attrNameLst>
                                      </p:cBhvr>
                                      <p:to>
                                        <p:strVal val="visible"/>
                                      </p:to>
                                    </p:set>
                                    <p:animEffect filter="fade" transition="in">
                                      <p:cBhvr>
                                        <p:cTn dur="500"/>
                                        <p:tgtEl>
                                          <p:spTgt spid="7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3" st="3"/>
                                            </p:txEl>
                                          </p:spTgt>
                                        </p:tgtEl>
                                        <p:attrNameLst>
                                          <p:attrName>style.visibility</p:attrName>
                                        </p:attrNameLst>
                                      </p:cBhvr>
                                      <p:to>
                                        <p:strVal val="visible"/>
                                      </p:to>
                                    </p:set>
                                    <p:animEffect filter="fade" transition="in">
                                      <p:cBhvr>
                                        <p:cTn dur="500"/>
                                        <p:tgtEl>
                                          <p:spTgt spid="7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4" st="4"/>
                                            </p:txEl>
                                          </p:spTgt>
                                        </p:tgtEl>
                                        <p:attrNameLst>
                                          <p:attrName>style.visibility</p:attrName>
                                        </p:attrNameLst>
                                      </p:cBhvr>
                                      <p:to>
                                        <p:strVal val="visible"/>
                                      </p:to>
                                    </p:set>
                                    <p:animEffect filter="fade" transition="in">
                                      <p:cBhvr>
                                        <p:cTn dur="500"/>
                                        <p:tgtEl>
                                          <p:spTgt spid="7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5" st="5"/>
                                            </p:txEl>
                                          </p:spTgt>
                                        </p:tgtEl>
                                        <p:attrNameLst>
                                          <p:attrName>style.visibility</p:attrName>
                                        </p:attrNameLst>
                                      </p:cBhvr>
                                      <p:to>
                                        <p:strVal val="visible"/>
                                      </p:to>
                                    </p:set>
                                    <p:animEffect filter="fade" transition="in">
                                      <p:cBhvr>
                                        <p:cTn dur="500"/>
                                        <p:tgtEl>
                                          <p:spTgt spid="7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6" st="6"/>
                                            </p:txEl>
                                          </p:spTgt>
                                        </p:tgtEl>
                                        <p:attrNameLst>
                                          <p:attrName>style.visibility</p:attrName>
                                        </p:attrNameLst>
                                      </p:cBhvr>
                                      <p:to>
                                        <p:strVal val="visible"/>
                                      </p:to>
                                    </p:set>
                                    <p:animEffect filter="fade" transition="in">
                                      <p:cBhvr>
                                        <p:cTn dur="500"/>
                                        <p:tgtEl>
                                          <p:spTgt spid="7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7" st="7"/>
                                            </p:txEl>
                                          </p:spTgt>
                                        </p:tgtEl>
                                        <p:attrNameLst>
                                          <p:attrName>style.visibility</p:attrName>
                                        </p:attrNameLst>
                                      </p:cBhvr>
                                      <p:to>
                                        <p:strVal val="visible"/>
                                      </p:to>
                                    </p:set>
                                    <p:animEffect filter="fade" transition="in">
                                      <p:cBhvr>
                                        <p:cTn dur="500"/>
                                        <p:tgtEl>
                                          <p:spTgt spid="7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8" st="8"/>
                                            </p:txEl>
                                          </p:spTgt>
                                        </p:tgtEl>
                                        <p:attrNameLst>
                                          <p:attrName>style.visibility</p:attrName>
                                        </p:attrNameLst>
                                      </p:cBhvr>
                                      <p:to>
                                        <p:strVal val="visible"/>
                                      </p:to>
                                    </p:set>
                                    <p:animEffect filter="fade" transition="in">
                                      <p:cBhvr>
                                        <p:cTn dur="500"/>
                                        <p:tgtEl>
                                          <p:spTgt spid="7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xEl>
                                              <p:pRg end="9" st="9"/>
                                            </p:txEl>
                                          </p:spTgt>
                                        </p:tgtEl>
                                        <p:attrNameLst>
                                          <p:attrName>style.visibility</p:attrName>
                                        </p:attrNameLst>
                                      </p:cBhvr>
                                      <p:to>
                                        <p:strVal val="visible"/>
                                      </p:to>
                                    </p:set>
                                    <p:animEffect filter="fade" transition="in">
                                      <p:cBhvr>
                                        <p:cTn dur="500"/>
                                        <p:tgtEl>
                                          <p:spTgt spid="78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3"/>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Tiến trình hợp tác với nhau qua tài nguyên chung:</a:t>
            </a:r>
            <a:endParaRPr/>
          </a:p>
          <a:p>
            <a:pPr indent="-285750" lvl="1" marL="742950" marR="0" rtl="0" algn="l">
              <a:lnSpc>
                <a:spcPct val="100000"/>
              </a:lnSpc>
              <a:spcBef>
                <a:spcPts val="640"/>
              </a:spcBef>
              <a:spcAft>
                <a:spcPts val="0"/>
              </a:spcAft>
              <a:buClr>
                <a:schemeClr val="accent1"/>
              </a:buClr>
              <a:buSzPts val="3200"/>
              <a:buFont typeface="Noto Sans Symbols"/>
              <a:buChar char="▪"/>
            </a:pPr>
            <a:r>
              <a:rPr b="0" i="0" lang="en-US" sz="3200" u="none" cap="none" strike="noStrike">
                <a:solidFill>
                  <a:schemeClr val="dk1"/>
                </a:solidFill>
                <a:latin typeface="Times New Roman"/>
                <a:ea typeface="Times New Roman"/>
                <a:cs typeface="Times New Roman"/>
                <a:sym typeface="Times New Roman"/>
              </a:rPr>
              <a:t>Có thể trao đổi thông tin bằng cách chia sẻ vùng nhớ dùng chung (biến toàn thể), hay các file.</a:t>
            </a:r>
            <a:endParaRPr/>
          </a:p>
          <a:p>
            <a:pPr indent="-285750" lvl="1" marL="742950" marR="0" rtl="0" algn="l">
              <a:lnSpc>
                <a:spcPct val="100000"/>
              </a:lnSpc>
              <a:spcBef>
                <a:spcPts val="640"/>
              </a:spcBef>
              <a:spcAft>
                <a:spcPts val="0"/>
              </a:spcAft>
              <a:buClr>
                <a:schemeClr val="accent1"/>
              </a:buClr>
              <a:buSzPts val="3200"/>
              <a:buFont typeface="Noto Sans Symbols"/>
              <a:buChar char="▪"/>
            </a:pPr>
            <a:r>
              <a:rPr b="0" i="0" lang="en-US" sz="3200" u="none" cap="none" strike="noStrike">
                <a:solidFill>
                  <a:schemeClr val="dk1"/>
                </a:solidFill>
                <a:latin typeface="Times New Roman"/>
                <a:ea typeface="Times New Roman"/>
                <a:cs typeface="Times New Roman"/>
                <a:sym typeface="Times New Roman"/>
              </a:rPr>
              <a:t>Việc các tiến trình đồng thời truy cập dữ liệu dùng chung làm nảy sinh một số vấn đề :</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Đòi hỏi đảm bảo loại trừ tương hỗ</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Xuất hiện tình trạng bế tắc và đói</a:t>
            </a:r>
            <a:endParaRPr/>
          </a:p>
          <a:p>
            <a:pPr indent="-228600" lvl="2" marL="1143000" marR="0" rtl="0" algn="l">
              <a:lnSpc>
                <a:spcPct val="100000"/>
              </a:lnSpc>
              <a:spcBef>
                <a:spcPts val="560"/>
              </a:spcBef>
              <a:spcAft>
                <a:spcPts val="0"/>
              </a:spcAft>
              <a:buClr>
                <a:schemeClr val="accent2"/>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Yêu cầu đảm bảo tính nhất quán dữ liệu</a:t>
            </a:r>
            <a:endParaRPr b="0" i="0" sz="20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92" name="Google Shape;792;p5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793" name="Google Shape;793;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4" name="Google Shape;794;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5" name="Google Shape;795;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6" name="Google Shape;796;p5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0" st="0"/>
                                            </p:txEl>
                                          </p:spTgt>
                                        </p:tgtEl>
                                        <p:attrNameLst>
                                          <p:attrName>style.visibility</p:attrName>
                                        </p:attrNameLst>
                                      </p:cBhvr>
                                      <p:to>
                                        <p:strVal val="visible"/>
                                      </p:to>
                                    </p:set>
                                    <p:animEffect filter="fade" transition="in">
                                      <p:cBhvr>
                                        <p:cTn dur="500"/>
                                        <p:tgtEl>
                                          <p:spTgt spid="7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1" st="1"/>
                                            </p:txEl>
                                          </p:spTgt>
                                        </p:tgtEl>
                                        <p:attrNameLst>
                                          <p:attrName>style.visibility</p:attrName>
                                        </p:attrNameLst>
                                      </p:cBhvr>
                                      <p:to>
                                        <p:strVal val="visible"/>
                                      </p:to>
                                    </p:set>
                                    <p:animEffect filter="fade" transition="in">
                                      <p:cBhvr>
                                        <p:cTn dur="500"/>
                                        <p:tgtEl>
                                          <p:spTgt spid="7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2" st="2"/>
                                            </p:txEl>
                                          </p:spTgt>
                                        </p:tgtEl>
                                        <p:attrNameLst>
                                          <p:attrName>style.visibility</p:attrName>
                                        </p:attrNameLst>
                                      </p:cBhvr>
                                      <p:to>
                                        <p:strVal val="visible"/>
                                      </p:to>
                                    </p:set>
                                    <p:animEffect filter="fade" transition="in">
                                      <p:cBhvr>
                                        <p:cTn dur="500"/>
                                        <p:tgtEl>
                                          <p:spTgt spid="7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3" st="3"/>
                                            </p:txEl>
                                          </p:spTgt>
                                        </p:tgtEl>
                                        <p:attrNameLst>
                                          <p:attrName>style.visibility</p:attrName>
                                        </p:attrNameLst>
                                      </p:cBhvr>
                                      <p:to>
                                        <p:strVal val="visible"/>
                                      </p:to>
                                    </p:set>
                                    <p:animEffect filter="fade" transition="in">
                                      <p:cBhvr>
                                        <p:cTn dur="500"/>
                                        <p:tgtEl>
                                          <p:spTgt spid="7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4" st="4"/>
                                            </p:txEl>
                                          </p:spTgt>
                                        </p:tgtEl>
                                        <p:attrNameLst>
                                          <p:attrName>style.visibility</p:attrName>
                                        </p:attrNameLst>
                                      </p:cBhvr>
                                      <p:to>
                                        <p:strVal val="visible"/>
                                      </p:to>
                                    </p:set>
                                    <p:animEffect filter="fade" transition="in">
                                      <p:cBhvr>
                                        <p:cTn dur="500"/>
                                        <p:tgtEl>
                                          <p:spTgt spid="7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5" st="5"/>
                                            </p:txEl>
                                          </p:spTgt>
                                        </p:tgtEl>
                                        <p:attrNameLst>
                                          <p:attrName>style.visibility</p:attrName>
                                        </p:attrNameLst>
                                      </p:cBhvr>
                                      <p:to>
                                        <p:strVal val="visible"/>
                                      </p:to>
                                    </p:set>
                                    <p:animEffect filter="fade" transition="in">
                                      <p:cBhvr>
                                        <p:cTn dur="500"/>
                                        <p:tgtEl>
                                          <p:spTgt spid="7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6" st="6"/>
                                            </p:txEl>
                                          </p:spTgt>
                                        </p:tgtEl>
                                        <p:attrNameLst>
                                          <p:attrName>style.visibility</p:attrName>
                                        </p:attrNameLst>
                                      </p:cBhvr>
                                      <p:to>
                                        <p:strVal val="visible"/>
                                      </p:to>
                                    </p:set>
                                    <p:animEffect filter="fade" transition="in">
                                      <p:cBhvr>
                                        <p:cTn dur="500"/>
                                        <p:tgtEl>
                                          <p:spTgt spid="7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7" st="7"/>
                                            </p:txEl>
                                          </p:spTgt>
                                        </p:tgtEl>
                                        <p:attrNameLst>
                                          <p:attrName>style.visibility</p:attrName>
                                        </p:attrNameLst>
                                      </p:cBhvr>
                                      <p:to>
                                        <p:strVal val="visible"/>
                                      </p:to>
                                    </p:set>
                                    <p:animEffect filter="fade" transition="in">
                                      <p:cBhvr>
                                        <p:cTn dur="500"/>
                                        <p:tgtEl>
                                          <p:spTgt spid="7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8" st="8"/>
                                            </p:txEl>
                                          </p:spTgt>
                                        </p:tgtEl>
                                        <p:attrNameLst>
                                          <p:attrName>style.visibility</p:attrName>
                                        </p:attrNameLst>
                                      </p:cBhvr>
                                      <p:to>
                                        <p:strVal val="visible"/>
                                      </p:to>
                                    </p:set>
                                    <p:animEffect filter="fade" transition="in">
                                      <p:cBhvr>
                                        <p:cTn dur="500"/>
                                        <p:tgtEl>
                                          <p:spTgt spid="7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9" st="9"/>
                                            </p:txEl>
                                          </p:spTgt>
                                        </p:tgtEl>
                                        <p:attrNameLst>
                                          <p:attrName>style.visibility</p:attrName>
                                        </p:attrNameLst>
                                      </p:cBhvr>
                                      <p:to>
                                        <p:strVal val="visible"/>
                                      </p:to>
                                    </p:set>
                                    <p:animEffect filter="fade" transition="in">
                                      <p:cBhvr>
                                        <p:cTn dur="500"/>
                                        <p:tgtEl>
                                          <p:spTgt spid="7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xEl>
                                              <p:pRg end="10" st="10"/>
                                            </p:txEl>
                                          </p:spTgt>
                                        </p:tgtEl>
                                        <p:attrNameLst>
                                          <p:attrName>style.visibility</p:attrName>
                                        </p:attrNameLst>
                                      </p:cBhvr>
                                      <p:to>
                                        <p:strVal val="visible"/>
                                      </p:to>
                                    </p:set>
                                    <p:animEffect filter="fade" transition="in">
                                      <p:cBhvr>
                                        <p:cTn dur="500"/>
                                        <p:tgtEl>
                                          <p:spTgt spid="79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4"/>
          <p:cNvSpPr txBox="1"/>
          <p:nvPr>
            <p:ph idx="1" type="body"/>
          </p:nvPr>
        </p:nvSpPr>
        <p:spPr>
          <a:xfrm>
            <a:off x="0" y="762000"/>
            <a:ext cx="8763000" cy="5715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b. Tiến trình hợp tác với nhau qua tài nguyên chung: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1" i="1" lang="en-US" sz="2800" u="none" cap="none" strike="noStrike">
                <a:solidFill>
                  <a:schemeClr val="dk1"/>
                </a:solidFill>
                <a:latin typeface="Times New Roman"/>
                <a:ea typeface="Times New Roman"/>
                <a:cs typeface="Times New Roman"/>
                <a:sym typeface="Times New Roman"/>
              </a:rPr>
              <a:t>Điều kiện chạy đua </a:t>
            </a:r>
            <a:r>
              <a:rPr b="0" i="0" lang="en-US" sz="2800" u="none" cap="none" strike="noStrike">
                <a:solidFill>
                  <a:schemeClr val="dk1"/>
                </a:solidFill>
                <a:latin typeface="Times New Roman"/>
                <a:ea typeface="Times New Roman"/>
                <a:cs typeface="Times New Roman"/>
                <a:sym typeface="Times New Roman"/>
              </a:rPr>
              <a:t>(race condition): tình huống mà một số dòng /tiến trình đọc, ghi dữ liệu sử dụng chung và kết quả phụ thuộc vào thứ tự các thao tác đọc, ghi</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Đặt thao tác truy cập và cập nhật dữ liệu dùng chung vào đoạn nguy hiểm và sử dụng loại trừ tương hỗ để đảm bảo các thao tác này không bị tiến trình khác xen ngang.</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03" name="Google Shape;803;p5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804" name="Google Shape;804;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5" name="Google Shape;805;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6" name="Google Shape;806;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7" name="Google Shape;807;p5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0" st="0"/>
                                            </p:txEl>
                                          </p:spTgt>
                                        </p:tgtEl>
                                        <p:attrNameLst>
                                          <p:attrName>style.visibility</p:attrName>
                                        </p:attrNameLst>
                                      </p:cBhvr>
                                      <p:to>
                                        <p:strVal val="visible"/>
                                      </p:to>
                                    </p:set>
                                    <p:animEffect filter="fade" transition="in">
                                      <p:cBhvr>
                                        <p:cTn dur="500"/>
                                        <p:tgtEl>
                                          <p:spTgt spid="8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1" st="1"/>
                                            </p:txEl>
                                          </p:spTgt>
                                        </p:tgtEl>
                                        <p:attrNameLst>
                                          <p:attrName>style.visibility</p:attrName>
                                        </p:attrNameLst>
                                      </p:cBhvr>
                                      <p:to>
                                        <p:strVal val="visible"/>
                                      </p:to>
                                    </p:set>
                                    <p:animEffect filter="fade" transition="in">
                                      <p:cBhvr>
                                        <p:cTn dur="500"/>
                                        <p:tgtEl>
                                          <p:spTgt spid="8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2" st="2"/>
                                            </p:txEl>
                                          </p:spTgt>
                                        </p:tgtEl>
                                        <p:attrNameLst>
                                          <p:attrName>style.visibility</p:attrName>
                                        </p:attrNameLst>
                                      </p:cBhvr>
                                      <p:to>
                                        <p:strVal val="visible"/>
                                      </p:to>
                                    </p:set>
                                    <p:animEffect filter="fade" transition="in">
                                      <p:cBhvr>
                                        <p:cTn dur="500"/>
                                        <p:tgtEl>
                                          <p:spTgt spid="8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2">
                                            <p:txEl>
                                              <p:pRg end="3" st="3"/>
                                            </p:txEl>
                                          </p:spTgt>
                                        </p:tgtEl>
                                        <p:attrNameLst>
                                          <p:attrName>style.visibility</p:attrName>
                                        </p:attrNameLst>
                                      </p:cBhvr>
                                      <p:to>
                                        <p:strVal val="visible"/>
                                      </p:to>
                                    </p:set>
                                    <p:animEffect filter="fade" transition="in">
                                      <p:cBhvr>
                                        <p:cTn dur="500"/>
                                        <p:tgtEl>
                                          <p:spTgt spid="80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55"/>
          <p:cNvSpPr txBox="1"/>
          <p:nvPr>
            <p:ph idx="1" type="body"/>
          </p:nvPr>
        </p:nvSpPr>
        <p:spPr>
          <a:xfrm>
            <a:off x="0" y="1143000"/>
            <a:ext cx="8763000" cy="5715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c. Tiến trình có liên lạc nhờ gửi thông điệp:</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Các tiến  trình hợp tác có thể trao đổi thông tin trực tiếp với nhau bằng cách gửi thông điệp (message passing).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Cơ chế liên lạc được hỗ trợ bởi thư viện của ngôn ngữ lập trình hoặc HĐH.</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có yêu cầu loại trừ tương hỗ</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Có thể xuất hiện bế tắc và đói</a:t>
            </a:r>
            <a:endParaRPr b="0" i="0" sz="2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14" name="Google Shape;814;p5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Các vấn đề đối với tiến trình đồng thời (tt)</a:t>
            </a:r>
            <a:br>
              <a:rPr b="1" i="0" lang="en-US" sz="2500" u="none">
                <a:solidFill>
                  <a:srgbClr val="000066"/>
                </a:solidFill>
                <a:latin typeface="Times New Roman"/>
                <a:ea typeface="Times New Roman"/>
                <a:cs typeface="Times New Roman"/>
                <a:sym typeface="Times New Roman"/>
              </a:rPr>
            </a:br>
            <a:endParaRPr/>
          </a:p>
        </p:txBody>
      </p:sp>
      <p:sp>
        <p:nvSpPr>
          <p:cNvPr id="815" name="Google Shape;815;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6" name="Google Shape;816;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7" name="Google Shape;817;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8" name="Google Shape;818;p5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0" st="0"/>
                                            </p:txEl>
                                          </p:spTgt>
                                        </p:tgtEl>
                                        <p:attrNameLst>
                                          <p:attrName>style.visibility</p:attrName>
                                        </p:attrNameLst>
                                      </p:cBhvr>
                                      <p:to>
                                        <p:strVal val="visible"/>
                                      </p:to>
                                    </p:set>
                                    <p:animEffect filter="fade" transition="in">
                                      <p:cBhvr>
                                        <p:cTn dur="500"/>
                                        <p:tgtEl>
                                          <p:spTgt spid="8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1" st="1"/>
                                            </p:txEl>
                                          </p:spTgt>
                                        </p:tgtEl>
                                        <p:attrNameLst>
                                          <p:attrName>style.visibility</p:attrName>
                                        </p:attrNameLst>
                                      </p:cBhvr>
                                      <p:to>
                                        <p:strVal val="visible"/>
                                      </p:to>
                                    </p:set>
                                    <p:animEffect filter="fade" transition="in">
                                      <p:cBhvr>
                                        <p:cTn dur="500"/>
                                        <p:tgtEl>
                                          <p:spTgt spid="8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2" st="2"/>
                                            </p:txEl>
                                          </p:spTgt>
                                        </p:tgtEl>
                                        <p:attrNameLst>
                                          <p:attrName>style.visibility</p:attrName>
                                        </p:attrNameLst>
                                      </p:cBhvr>
                                      <p:to>
                                        <p:strVal val="visible"/>
                                      </p:to>
                                    </p:set>
                                    <p:animEffect filter="fade" transition="in">
                                      <p:cBhvr>
                                        <p:cTn dur="500"/>
                                        <p:tgtEl>
                                          <p:spTgt spid="8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3" st="3"/>
                                            </p:txEl>
                                          </p:spTgt>
                                        </p:tgtEl>
                                        <p:attrNameLst>
                                          <p:attrName>style.visibility</p:attrName>
                                        </p:attrNameLst>
                                      </p:cBhvr>
                                      <p:to>
                                        <p:strVal val="visible"/>
                                      </p:to>
                                    </p:set>
                                    <p:animEffect filter="fade" transition="in">
                                      <p:cBhvr>
                                        <p:cTn dur="500"/>
                                        <p:tgtEl>
                                          <p:spTgt spid="8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4" st="4"/>
                                            </p:txEl>
                                          </p:spTgt>
                                        </p:tgtEl>
                                        <p:attrNameLst>
                                          <p:attrName>style.visibility</p:attrName>
                                        </p:attrNameLst>
                                      </p:cBhvr>
                                      <p:to>
                                        <p:strVal val="visible"/>
                                      </p:to>
                                    </p:set>
                                    <p:animEffect filter="fade" transition="in">
                                      <p:cBhvr>
                                        <p:cTn dur="500"/>
                                        <p:tgtEl>
                                          <p:spTgt spid="8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5" st="5"/>
                                            </p:txEl>
                                          </p:spTgt>
                                        </p:tgtEl>
                                        <p:attrNameLst>
                                          <p:attrName>style.visibility</p:attrName>
                                        </p:attrNameLst>
                                      </p:cBhvr>
                                      <p:to>
                                        <p:strVal val="visible"/>
                                      </p:to>
                                    </p:set>
                                    <p:animEffect filter="fade" transition="in">
                                      <p:cBhvr>
                                        <p:cTn dur="500"/>
                                        <p:tgtEl>
                                          <p:spTgt spid="8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6" st="6"/>
                                            </p:txEl>
                                          </p:spTgt>
                                        </p:tgtEl>
                                        <p:attrNameLst>
                                          <p:attrName>style.visibility</p:attrName>
                                        </p:attrNameLst>
                                      </p:cBhvr>
                                      <p:to>
                                        <p:strVal val="visible"/>
                                      </p:to>
                                    </p:set>
                                    <p:animEffect filter="fade" transition="in">
                                      <p:cBhvr>
                                        <p:cTn dur="500"/>
                                        <p:tgtEl>
                                          <p:spTgt spid="8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7" st="7"/>
                                            </p:txEl>
                                          </p:spTgt>
                                        </p:tgtEl>
                                        <p:attrNameLst>
                                          <p:attrName>style.visibility</p:attrName>
                                        </p:attrNameLst>
                                      </p:cBhvr>
                                      <p:to>
                                        <p:strVal val="visible"/>
                                      </p:to>
                                    </p:set>
                                    <p:animEffect filter="fade" transition="in">
                                      <p:cBhvr>
                                        <p:cTn dur="500"/>
                                        <p:tgtEl>
                                          <p:spTgt spid="8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8" st="8"/>
                                            </p:txEl>
                                          </p:spTgt>
                                        </p:tgtEl>
                                        <p:attrNameLst>
                                          <p:attrName>style.visibility</p:attrName>
                                        </p:attrNameLst>
                                      </p:cBhvr>
                                      <p:to>
                                        <p:strVal val="visible"/>
                                      </p:to>
                                    </p:set>
                                    <p:animEffect filter="fade" transition="in">
                                      <p:cBhvr>
                                        <p:cTn dur="500"/>
                                        <p:tgtEl>
                                          <p:spTgt spid="8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9" st="9"/>
                                            </p:txEl>
                                          </p:spTgt>
                                        </p:tgtEl>
                                        <p:attrNameLst>
                                          <p:attrName>style.visibility</p:attrName>
                                        </p:attrNameLst>
                                      </p:cBhvr>
                                      <p:to>
                                        <p:strVal val="visible"/>
                                      </p:to>
                                    </p:set>
                                    <p:animEffect filter="fade" transition="in">
                                      <p:cBhvr>
                                        <p:cTn dur="500"/>
                                        <p:tgtEl>
                                          <p:spTgt spid="8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xEl>
                                              <p:pRg end="10" st="10"/>
                                            </p:txEl>
                                          </p:spTgt>
                                        </p:tgtEl>
                                        <p:attrNameLst>
                                          <p:attrName>style.visibility</p:attrName>
                                        </p:attrNameLst>
                                      </p:cBhvr>
                                      <p:to>
                                        <p:strVal val="visible"/>
                                      </p:to>
                                    </p:set>
                                    <p:animEffect filter="fade" transition="in">
                                      <p:cBhvr>
                                        <p:cTn dur="500"/>
                                        <p:tgtEl>
                                          <p:spTgt spid="81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56"/>
          <p:cNvSpPr txBox="1"/>
          <p:nvPr>
            <p:ph idx="1" type="body"/>
          </p:nvPr>
        </p:nvSpPr>
        <p:spPr>
          <a:xfrm>
            <a:off x="152400" y="762000"/>
            <a:ext cx="8915400" cy="57150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2"/>
              </a:buClr>
              <a:buSzPts val="3200"/>
              <a:buFont typeface="Noto Sans Symbols"/>
              <a:buNone/>
            </a:pPr>
            <a:r>
              <a:rPr b="0" i="0" lang="en-US" sz="3200" u="none">
                <a:solidFill>
                  <a:schemeClr val="dk2"/>
                </a:solidFill>
                <a:latin typeface="Times New Roman"/>
                <a:ea typeface="Times New Roman"/>
                <a:cs typeface="Times New Roman"/>
                <a:sym typeface="Times New Roman"/>
              </a:rPr>
              <a:t>	</a:t>
            </a:r>
            <a:r>
              <a:rPr b="0" i="0" lang="en-US" sz="3000" u="none">
                <a:solidFill>
                  <a:schemeClr val="dk2"/>
                </a:solidFill>
                <a:latin typeface="Times New Roman"/>
                <a:ea typeface="Times New Roman"/>
                <a:cs typeface="Times New Roman"/>
                <a:sym typeface="Times New Roman"/>
              </a:rPr>
              <a:t>Yêu cầu quan trọng khi đồng bộ hóa tến trình là giải quyết vấn đề đoạn nguy hiểm và loại trừ tương hỗ.</a:t>
            </a:r>
            <a:endParaRPr/>
          </a:p>
          <a:p>
            <a:pPr indent="0" lvl="0" marL="0" marR="0" rtl="0" algn="just">
              <a:lnSpc>
                <a:spcPct val="90000"/>
              </a:lnSpc>
              <a:spcBef>
                <a:spcPts val="600"/>
              </a:spcBef>
              <a:spcAft>
                <a:spcPts val="0"/>
              </a:spcAft>
              <a:buClr>
                <a:schemeClr val="dk2"/>
              </a:buClr>
              <a:buSzPts val="3000"/>
              <a:buFont typeface="Noto Sans Symbols"/>
              <a:buNone/>
            </a:pPr>
            <a:r>
              <a:rPr b="0" i="0" lang="en-US" sz="3000" u="none">
                <a:solidFill>
                  <a:schemeClr val="dk2"/>
                </a:solidFill>
                <a:latin typeface="Times New Roman"/>
                <a:ea typeface="Times New Roman"/>
                <a:cs typeface="Times New Roman"/>
                <a:sym typeface="Times New Roman"/>
              </a:rPr>
              <a:t>Giải pháp cho vấn đề đoạn nguy hiểm cần thỏa mãn yêu cầu sau:</a:t>
            </a:r>
            <a:endParaRPr/>
          </a:p>
          <a:p>
            <a:pPr indent="-203200" lvl="0" marL="0" marR="0" rtl="0" algn="just">
              <a:lnSpc>
                <a:spcPct val="9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Loại trừ tương hỗ: </a:t>
            </a:r>
            <a:r>
              <a:rPr b="0" i="0" lang="en-US" sz="2800" u="none">
                <a:solidFill>
                  <a:schemeClr val="dk1"/>
                </a:solidFill>
                <a:latin typeface="Times New Roman"/>
                <a:ea typeface="Times New Roman"/>
                <a:cs typeface="Times New Roman"/>
                <a:sym typeface="Times New Roman"/>
              </a:rPr>
              <a:t>nếu nhiều tiến trình có đoạn nguy hiểm đối với cùng một tài nguyên thì tại mỗi thời điểm, chỉ một tiến trình được ở trong đoạn nguy hiểm.</a:t>
            </a:r>
            <a:endParaRPr/>
          </a:p>
          <a:p>
            <a:pPr indent="-203200" lvl="0" marL="0" marR="0" rtl="0" algn="just">
              <a:lnSpc>
                <a:spcPct val="9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Tiến triển: </a:t>
            </a:r>
            <a:r>
              <a:rPr b="0" i="0" lang="en-US" sz="2800" u="none">
                <a:solidFill>
                  <a:schemeClr val="dk1"/>
                </a:solidFill>
                <a:latin typeface="Times New Roman"/>
                <a:ea typeface="Times New Roman"/>
                <a:cs typeface="Times New Roman"/>
                <a:sym typeface="Times New Roman"/>
              </a:rPr>
              <a:t>một tiến trình đang thực hiện ở ngoài đoạn nguy hiểm không được phép ngăn cản các tiến trình khác vào đoạn nguy hiểm của mình. Chẳng hạn, nếumột tiến trình bị treo ở ngoài đoạn nguy hiểm thì điều đó không được phép ảnh hướng tới tiến trình khác.</a:t>
            </a:r>
            <a:endParaRPr/>
          </a:p>
          <a:p>
            <a:pPr indent="0" lvl="0" marL="0" marR="0" rtl="0" algn="l">
              <a:lnSpc>
                <a:spcPct val="90000"/>
              </a:lnSpc>
              <a:spcBef>
                <a:spcPts val="64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9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9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25" name="Google Shape;825;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6" name="Google Shape;826;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7" name="Google Shape;827;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8" name="Google Shape;828;p5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0" st="0"/>
                                            </p:txEl>
                                          </p:spTgt>
                                        </p:tgtEl>
                                        <p:attrNameLst>
                                          <p:attrName>style.visibility</p:attrName>
                                        </p:attrNameLst>
                                      </p:cBhvr>
                                      <p:to>
                                        <p:strVal val="visible"/>
                                      </p:to>
                                    </p:set>
                                    <p:animEffect filter="fade" transition="in">
                                      <p:cBhvr>
                                        <p:cTn dur="500"/>
                                        <p:tgtEl>
                                          <p:spTgt spid="8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1" st="1"/>
                                            </p:txEl>
                                          </p:spTgt>
                                        </p:tgtEl>
                                        <p:attrNameLst>
                                          <p:attrName>style.visibility</p:attrName>
                                        </p:attrNameLst>
                                      </p:cBhvr>
                                      <p:to>
                                        <p:strVal val="visible"/>
                                      </p:to>
                                    </p:set>
                                    <p:animEffect filter="fade" transition="in">
                                      <p:cBhvr>
                                        <p:cTn dur="500"/>
                                        <p:tgtEl>
                                          <p:spTgt spid="8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2" st="2"/>
                                            </p:txEl>
                                          </p:spTgt>
                                        </p:tgtEl>
                                        <p:attrNameLst>
                                          <p:attrName>style.visibility</p:attrName>
                                        </p:attrNameLst>
                                      </p:cBhvr>
                                      <p:to>
                                        <p:strVal val="visible"/>
                                      </p:to>
                                    </p:set>
                                    <p:animEffect filter="fade" transition="in">
                                      <p:cBhvr>
                                        <p:cTn dur="500"/>
                                        <p:tgtEl>
                                          <p:spTgt spid="8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3" st="3"/>
                                            </p:txEl>
                                          </p:spTgt>
                                        </p:tgtEl>
                                        <p:attrNameLst>
                                          <p:attrName>style.visibility</p:attrName>
                                        </p:attrNameLst>
                                      </p:cBhvr>
                                      <p:to>
                                        <p:strVal val="visible"/>
                                      </p:to>
                                    </p:set>
                                    <p:animEffect filter="fade" transition="in">
                                      <p:cBhvr>
                                        <p:cTn dur="500"/>
                                        <p:tgtEl>
                                          <p:spTgt spid="8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4" st="4"/>
                                            </p:txEl>
                                          </p:spTgt>
                                        </p:tgtEl>
                                        <p:attrNameLst>
                                          <p:attrName>style.visibility</p:attrName>
                                        </p:attrNameLst>
                                      </p:cBhvr>
                                      <p:to>
                                        <p:strVal val="visible"/>
                                      </p:to>
                                    </p:set>
                                    <p:animEffect filter="fade" transition="in">
                                      <p:cBhvr>
                                        <p:cTn dur="500"/>
                                        <p:tgtEl>
                                          <p:spTgt spid="8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5" st="5"/>
                                            </p:txEl>
                                          </p:spTgt>
                                        </p:tgtEl>
                                        <p:attrNameLst>
                                          <p:attrName>style.visibility</p:attrName>
                                        </p:attrNameLst>
                                      </p:cBhvr>
                                      <p:to>
                                        <p:strVal val="visible"/>
                                      </p:to>
                                    </p:set>
                                    <p:animEffect filter="fade" transition="in">
                                      <p:cBhvr>
                                        <p:cTn dur="500"/>
                                        <p:tgtEl>
                                          <p:spTgt spid="8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6" st="6"/>
                                            </p:txEl>
                                          </p:spTgt>
                                        </p:tgtEl>
                                        <p:attrNameLst>
                                          <p:attrName>style.visibility</p:attrName>
                                        </p:attrNameLst>
                                      </p:cBhvr>
                                      <p:to>
                                        <p:strVal val="visible"/>
                                      </p:to>
                                    </p:set>
                                    <p:animEffect filter="fade" transition="in">
                                      <p:cBhvr>
                                        <p:cTn dur="500"/>
                                        <p:tgtEl>
                                          <p:spTgt spid="8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7" st="7"/>
                                            </p:txEl>
                                          </p:spTgt>
                                        </p:tgtEl>
                                        <p:attrNameLst>
                                          <p:attrName>style.visibility</p:attrName>
                                        </p:attrNameLst>
                                      </p:cBhvr>
                                      <p:to>
                                        <p:strVal val="visible"/>
                                      </p:to>
                                    </p:set>
                                    <p:animEffect filter="fade" transition="in">
                                      <p:cBhvr>
                                        <p:cTn dur="500"/>
                                        <p:tgtEl>
                                          <p:spTgt spid="8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8" st="8"/>
                                            </p:txEl>
                                          </p:spTgt>
                                        </p:tgtEl>
                                        <p:attrNameLst>
                                          <p:attrName>style.visibility</p:attrName>
                                        </p:attrNameLst>
                                      </p:cBhvr>
                                      <p:to>
                                        <p:strVal val="visible"/>
                                      </p:to>
                                    </p:set>
                                    <p:animEffect filter="fade" transition="in">
                                      <p:cBhvr>
                                        <p:cTn dur="500"/>
                                        <p:tgtEl>
                                          <p:spTgt spid="8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xEl>
                                              <p:pRg end="9" st="9"/>
                                            </p:txEl>
                                          </p:spTgt>
                                        </p:tgtEl>
                                        <p:attrNameLst>
                                          <p:attrName>style.visibility</p:attrName>
                                        </p:attrNameLst>
                                      </p:cBhvr>
                                      <p:to>
                                        <p:strVal val="visible"/>
                                      </p:to>
                                    </p:set>
                                    <p:animEffect filter="fade" transition="in">
                                      <p:cBhvr>
                                        <p:cTn dur="500"/>
                                        <p:tgtEl>
                                          <p:spTgt spid="82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Chờ đợi có giới hạn: </a:t>
            </a:r>
            <a:r>
              <a:rPr b="0" i="0" lang="en-US" sz="2800" u="none">
                <a:solidFill>
                  <a:schemeClr val="dk1"/>
                </a:solidFill>
                <a:latin typeface="Times New Roman"/>
                <a:ea typeface="Times New Roman"/>
                <a:cs typeface="Times New Roman"/>
                <a:sym typeface="Times New Roman"/>
              </a:rPr>
              <a:t>nếu tiến trình có nhu cầu vào đoạn nguy hiểm thì tiến trình đó phải được vào sau một khoảng thời gian hữu hạn nào đó. Điều này có nghĩa là  không được phép xảy ra bế tắc hoặc tình trạng bị đói đối với tiến trình.</a:t>
            </a:r>
            <a:endParaRPr b="0" i="0" sz="32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35" name="Google Shape;835;p5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36" name="Google Shape;836;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7" name="Google Shape;837;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8" name="Google Shape;838;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9" name="Google Shape;839;p5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0" st="0"/>
                                            </p:txEl>
                                          </p:spTgt>
                                        </p:tgtEl>
                                        <p:attrNameLst>
                                          <p:attrName>style.visibility</p:attrName>
                                        </p:attrNameLst>
                                      </p:cBhvr>
                                      <p:to>
                                        <p:strVal val="visible"/>
                                      </p:to>
                                    </p:set>
                                    <p:animEffect filter="fade" transition="in">
                                      <p:cBhvr>
                                        <p:cTn dur="500"/>
                                        <p:tgtEl>
                                          <p:spTgt spid="8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1" st="1"/>
                                            </p:txEl>
                                          </p:spTgt>
                                        </p:tgtEl>
                                        <p:attrNameLst>
                                          <p:attrName>style.visibility</p:attrName>
                                        </p:attrNameLst>
                                      </p:cBhvr>
                                      <p:to>
                                        <p:strVal val="visible"/>
                                      </p:to>
                                    </p:set>
                                    <p:animEffect filter="fade" transition="in">
                                      <p:cBhvr>
                                        <p:cTn dur="500"/>
                                        <p:tgtEl>
                                          <p:spTgt spid="8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2" st="2"/>
                                            </p:txEl>
                                          </p:spTgt>
                                        </p:tgtEl>
                                        <p:attrNameLst>
                                          <p:attrName>style.visibility</p:attrName>
                                        </p:attrNameLst>
                                      </p:cBhvr>
                                      <p:to>
                                        <p:strVal val="visible"/>
                                      </p:to>
                                    </p:set>
                                    <p:animEffect filter="fade" transition="in">
                                      <p:cBhvr>
                                        <p:cTn dur="500"/>
                                        <p:tgtEl>
                                          <p:spTgt spid="8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3" st="3"/>
                                            </p:txEl>
                                          </p:spTgt>
                                        </p:tgtEl>
                                        <p:attrNameLst>
                                          <p:attrName>style.visibility</p:attrName>
                                        </p:attrNameLst>
                                      </p:cBhvr>
                                      <p:to>
                                        <p:strVal val="visible"/>
                                      </p:to>
                                    </p:set>
                                    <p:animEffect filter="fade" transition="in">
                                      <p:cBhvr>
                                        <p:cTn dur="500"/>
                                        <p:tgtEl>
                                          <p:spTgt spid="8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4" st="4"/>
                                            </p:txEl>
                                          </p:spTgt>
                                        </p:tgtEl>
                                        <p:attrNameLst>
                                          <p:attrName>style.visibility</p:attrName>
                                        </p:attrNameLst>
                                      </p:cBhvr>
                                      <p:to>
                                        <p:strVal val="visible"/>
                                      </p:to>
                                    </p:set>
                                    <p:animEffect filter="fade" transition="in">
                                      <p:cBhvr>
                                        <p:cTn dur="500"/>
                                        <p:tgtEl>
                                          <p:spTgt spid="8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xEl>
                                              <p:pRg end="5" st="5"/>
                                            </p:txEl>
                                          </p:spTgt>
                                        </p:tgtEl>
                                        <p:attrNameLst>
                                          <p:attrName>style.visibility</p:attrName>
                                        </p:attrNameLst>
                                      </p:cBhvr>
                                      <p:to>
                                        <p:strVal val="visible"/>
                                      </p:to>
                                    </p:set>
                                    <p:animEffect filter="fade" transition="in">
                                      <p:cBhvr>
                                        <p:cTn dur="500"/>
                                        <p:tgtEl>
                                          <p:spTgt spid="83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8"/>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Bên cạnh đó, giải pháp cho vấn đề đoạn nguy hiểm được xây dựng dựa trên các giả thiết sau:</a:t>
            </a:r>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Các giả thiết:</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Giải pháp không phụ thuộc vào tốc độ của các tiến trình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Không tiến trình nào được phép nằm quá lâu trong đoạn nguy hiểm</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Thao tác đọc và ghi bộ nhớ là thao tác nguyên tử (atomic) và không thể bị xen ngang giữa chừng</a:t>
            </a:r>
            <a:endParaRPr b="0" i="0" sz="2800" u="none" cap="none" strike="noStrike">
              <a:solidFill>
                <a:schemeClr val="dk2"/>
              </a:solidFill>
              <a:latin typeface="Times New Roman"/>
              <a:ea typeface="Times New Roman"/>
              <a:cs typeface="Times New Roman"/>
              <a:sym typeface="Times New Roman"/>
            </a:endParaRPr>
          </a:p>
          <a:p>
            <a:pPr indent="-311150" lvl="0" marL="514350" marR="0" rtl="0" algn="l">
              <a:lnSpc>
                <a:spcPct val="100000"/>
              </a:lnSpc>
              <a:spcBef>
                <a:spcPts val="64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46" name="Google Shape;846;p5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47" name="Google Shape;847;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8" name="Google Shape;848;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9" name="Google Shape;849;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0" name="Google Shape;850;p5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0" st="0"/>
                                            </p:txEl>
                                          </p:spTgt>
                                        </p:tgtEl>
                                        <p:attrNameLst>
                                          <p:attrName>style.visibility</p:attrName>
                                        </p:attrNameLst>
                                      </p:cBhvr>
                                      <p:to>
                                        <p:strVal val="visible"/>
                                      </p:to>
                                    </p:set>
                                    <p:animEffect filter="fade" transition="in">
                                      <p:cBhvr>
                                        <p:cTn dur="500"/>
                                        <p:tgtEl>
                                          <p:spTgt spid="8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1" st="1"/>
                                            </p:txEl>
                                          </p:spTgt>
                                        </p:tgtEl>
                                        <p:attrNameLst>
                                          <p:attrName>style.visibility</p:attrName>
                                        </p:attrNameLst>
                                      </p:cBhvr>
                                      <p:to>
                                        <p:strVal val="visible"/>
                                      </p:to>
                                    </p:set>
                                    <p:animEffect filter="fade" transition="in">
                                      <p:cBhvr>
                                        <p:cTn dur="500"/>
                                        <p:tgtEl>
                                          <p:spTgt spid="8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2" st="2"/>
                                            </p:txEl>
                                          </p:spTgt>
                                        </p:tgtEl>
                                        <p:attrNameLst>
                                          <p:attrName>style.visibility</p:attrName>
                                        </p:attrNameLst>
                                      </p:cBhvr>
                                      <p:to>
                                        <p:strVal val="visible"/>
                                      </p:to>
                                    </p:set>
                                    <p:animEffect filter="fade" transition="in">
                                      <p:cBhvr>
                                        <p:cTn dur="500"/>
                                        <p:tgtEl>
                                          <p:spTgt spid="8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3" st="3"/>
                                            </p:txEl>
                                          </p:spTgt>
                                        </p:tgtEl>
                                        <p:attrNameLst>
                                          <p:attrName>style.visibility</p:attrName>
                                        </p:attrNameLst>
                                      </p:cBhvr>
                                      <p:to>
                                        <p:strVal val="visible"/>
                                      </p:to>
                                    </p:set>
                                    <p:animEffect filter="fade" transition="in">
                                      <p:cBhvr>
                                        <p:cTn dur="500"/>
                                        <p:tgtEl>
                                          <p:spTgt spid="8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4" st="4"/>
                                            </p:txEl>
                                          </p:spTgt>
                                        </p:tgtEl>
                                        <p:attrNameLst>
                                          <p:attrName>style.visibility</p:attrName>
                                        </p:attrNameLst>
                                      </p:cBhvr>
                                      <p:to>
                                        <p:strVal val="visible"/>
                                      </p:to>
                                    </p:set>
                                    <p:animEffect filter="fade" transition="in">
                                      <p:cBhvr>
                                        <p:cTn dur="500"/>
                                        <p:tgtEl>
                                          <p:spTgt spid="8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5" st="5"/>
                                            </p:txEl>
                                          </p:spTgt>
                                        </p:tgtEl>
                                        <p:attrNameLst>
                                          <p:attrName>style.visibility</p:attrName>
                                        </p:attrNameLst>
                                      </p:cBhvr>
                                      <p:to>
                                        <p:strVal val="visible"/>
                                      </p:to>
                                    </p:set>
                                    <p:animEffect filter="fade" transition="in">
                                      <p:cBhvr>
                                        <p:cTn dur="500"/>
                                        <p:tgtEl>
                                          <p:spTgt spid="8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6" st="6"/>
                                            </p:txEl>
                                          </p:spTgt>
                                        </p:tgtEl>
                                        <p:attrNameLst>
                                          <p:attrName>style.visibility</p:attrName>
                                        </p:attrNameLst>
                                      </p:cBhvr>
                                      <p:to>
                                        <p:strVal val="visible"/>
                                      </p:to>
                                    </p:set>
                                    <p:animEffect filter="fade" transition="in">
                                      <p:cBhvr>
                                        <p:cTn dur="500"/>
                                        <p:tgtEl>
                                          <p:spTgt spid="8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7" st="7"/>
                                            </p:txEl>
                                          </p:spTgt>
                                        </p:tgtEl>
                                        <p:attrNameLst>
                                          <p:attrName>style.visibility</p:attrName>
                                        </p:attrNameLst>
                                      </p:cBhvr>
                                      <p:to>
                                        <p:strVal val="visible"/>
                                      </p:to>
                                    </p:set>
                                    <p:animEffect filter="fade" transition="in">
                                      <p:cBhvr>
                                        <p:cTn dur="500"/>
                                        <p:tgtEl>
                                          <p:spTgt spid="8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8" st="8"/>
                                            </p:txEl>
                                          </p:spTgt>
                                        </p:tgtEl>
                                        <p:attrNameLst>
                                          <p:attrName>style.visibility</p:attrName>
                                        </p:attrNameLst>
                                      </p:cBhvr>
                                      <p:to>
                                        <p:strVal val="visible"/>
                                      </p:to>
                                    </p:set>
                                    <p:animEffect filter="fade" transition="in">
                                      <p:cBhvr>
                                        <p:cTn dur="500"/>
                                        <p:tgtEl>
                                          <p:spTgt spid="8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9" st="9"/>
                                            </p:txEl>
                                          </p:spTgt>
                                        </p:tgtEl>
                                        <p:attrNameLst>
                                          <p:attrName>style.visibility</p:attrName>
                                        </p:attrNameLst>
                                      </p:cBhvr>
                                      <p:to>
                                        <p:strVal val="visible"/>
                                      </p:to>
                                    </p:set>
                                    <p:animEffect filter="fade" transition="in">
                                      <p:cBhvr>
                                        <p:cTn dur="500"/>
                                        <p:tgtEl>
                                          <p:spTgt spid="8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xEl>
                                              <p:pRg end="10" st="10"/>
                                            </p:txEl>
                                          </p:spTgt>
                                        </p:tgtEl>
                                        <p:attrNameLst>
                                          <p:attrName>style.visibility</p:attrName>
                                        </p:attrNameLst>
                                      </p:cBhvr>
                                      <p:to>
                                        <p:strVal val="visible"/>
                                      </p:to>
                                    </p:set>
                                    <p:animEffect filter="fade" transition="in">
                                      <p:cBhvr>
                                        <p:cTn dur="500"/>
                                        <p:tgtEl>
                                          <p:spTgt spid="84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9"/>
          <p:cNvSpPr txBox="1"/>
          <p:nvPr>
            <p:ph idx="1" type="body"/>
          </p:nvPr>
        </p:nvSpPr>
        <p:spPr>
          <a:xfrm>
            <a:off x="0" y="457200"/>
            <a:ext cx="9144000" cy="5715000"/>
          </a:xfrm>
          <a:prstGeom prst="rect">
            <a:avLst/>
          </a:prstGeom>
          <a:noFill/>
          <a:ln>
            <a:noFill/>
          </a:ln>
        </p:spPr>
        <p:txBody>
          <a:bodyPr anchorCtr="0" anchor="t" bIns="45700" lIns="91425" spcFirstLastPara="1" rIns="91425" wrap="square" tIns="45700">
            <a:normAutofit/>
          </a:bodyPr>
          <a:lstStyle/>
          <a:p>
            <a:pPr indent="-361950" lvl="0" marL="51435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Các giải pháp được chia thành 3 nhóm chính: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giải pháp phần mềm (software solutions)</a:t>
            </a:r>
            <a:endParaRPr/>
          </a:p>
          <a:p>
            <a:pPr indent="-514349" lvl="2" marL="1189037"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User/programmer tự thực hiện (thông thường sẽ có sự hỗ trợ của các thư viện lập trình)</a:t>
            </a:r>
            <a:endParaRPr/>
          </a:p>
          <a:p>
            <a:pPr indent="-514349" lvl="2" marL="1189037"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OS cung cấp một số công cụ (các hàm và cấu trúc dữ liệu hỗ trợ cho programmer qua system calls)</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giải pháp phần cứng (hardware solutions)</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Dựa trên một số lệnh máy đặc biệt ( Interrupt disable, test-and-set)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Nhóm sử dụng hỗ trợ của HDH hoặc thư viện ngôn ngữ lập trình</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57" name="Google Shape;857;p5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Yêu cầu với giải pháp cho đoạn nguy hiểm</a:t>
            </a:r>
            <a:br>
              <a:rPr b="1" i="0" lang="en-US" sz="2500" u="none">
                <a:solidFill>
                  <a:srgbClr val="000066"/>
                </a:solidFill>
                <a:latin typeface="Times New Roman"/>
                <a:ea typeface="Times New Roman"/>
                <a:cs typeface="Times New Roman"/>
                <a:sym typeface="Times New Roman"/>
              </a:rPr>
            </a:br>
            <a:endParaRPr/>
          </a:p>
        </p:txBody>
      </p:sp>
      <p:sp>
        <p:nvSpPr>
          <p:cNvPr id="858" name="Google Shape;858;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9" name="Google Shape;859;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0" name="Google Shape;860;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1" name="Google Shape;861;p5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0"/>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Giải pháp thuộc nhóm phần mềm không đòi hỏi sự hỗ trợ từ phía phần cứng hay hệ điều hành.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Đề xuất ban đầu cho đồng bộ 2 tiến trình.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P0 và P1 thực hiện đồng thời với một tài nguyên chung và một đoạn nguy hiểm chung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tiến trình thực hiện vô hạn và xen kẽ giữa đoạn nguy hiểm với phần còn lại của tiến trình</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Yêu cầu 2 tiến trình trao đổi thông tin qua 2 biến chung: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Int Turn: xác định đến lượt tiến trình nào được vào đoạn nguy hiểm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Cờ cho mỗi tiến trình: flag[i]=true nếu tiến trình thứ i yêu cầu được vào đoạn nguy hiểm</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68" name="Google Shape;868;p6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a:t>
            </a:r>
            <a:br>
              <a:rPr b="1" i="0" lang="en-US" sz="2500" u="none">
                <a:solidFill>
                  <a:srgbClr val="000066"/>
                </a:solidFill>
                <a:latin typeface="Times New Roman"/>
                <a:ea typeface="Times New Roman"/>
                <a:cs typeface="Times New Roman"/>
                <a:sym typeface="Times New Roman"/>
              </a:rPr>
            </a:br>
            <a:endParaRPr/>
          </a:p>
        </p:txBody>
      </p:sp>
      <p:sp>
        <p:nvSpPr>
          <p:cNvPr id="869" name="Google Shape;869;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0" name="Google Shape;870;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1" name="Google Shape;871;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2" name="Google Shape;872;p6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0" st="0"/>
                                            </p:txEl>
                                          </p:spTgt>
                                        </p:tgtEl>
                                        <p:attrNameLst>
                                          <p:attrName>style.visibility</p:attrName>
                                        </p:attrNameLst>
                                      </p:cBhvr>
                                      <p:to>
                                        <p:strVal val="visible"/>
                                      </p:to>
                                    </p:set>
                                    <p:animEffect filter="fade" transition="in">
                                      <p:cBhvr>
                                        <p:cTn dur="500"/>
                                        <p:tgtEl>
                                          <p:spTgt spid="8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 st="1"/>
                                            </p:txEl>
                                          </p:spTgt>
                                        </p:tgtEl>
                                        <p:attrNameLst>
                                          <p:attrName>style.visibility</p:attrName>
                                        </p:attrNameLst>
                                      </p:cBhvr>
                                      <p:to>
                                        <p:strVal val="visible"/>
                                      </p:to>
                                    </p:set>
                                    <p:animEffect filter="fade" transition="in">
                                      <p:cBhvr>
                                        <p:cTn dur="500"/>
                                        <p:tgtEl>
                                          <p:spTgt spid="8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2" st="2"/>
                                            </p:txEl>
                                          </p:spTgt>
                                        </p:tgtEl>
                                        <p:attrNameLst>
                                          <p:attrName>style.visibility</p:attrName>
                                        </p:attrNameLst>
                                      </p:cBhvr>
                                      <p:to>
                                        <p:strVal val="visible"/>
                                      </p:to>
                                    </p:set>
                                    <p:animEffect filter="fade" transition="in">
                                      <p:cBhvr>
                                        <p:cTn dur="500"/>
                                        <p:tgtEl>
                                          <p:spTgt spid="8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3" st="3"/>
                                            </p:txEl>
                                          </p:spTgt>
                                        </p:tgtEl>
                                        <p:attrNameLst>
                                          <p:attrName>style.visibility</p:attrName>
                                        </p:attrNameLst>
                                      </p:cBhvr>
                                      <p:to>
                                        <p:strVal val="visible"/>
                                      </p:to>
                                    </p:set>
                                    <p:animEffect filter="fade" transition="in">
                                      <p:cBhvr>
                                        <p:cTn dur="500"/>
                                        <p:tgtEl>
                                          <p:spTgt spid="8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4" st="4"/>
                                            </p:txEl>
                                          </p:spTgt>
                                        </p:tgtEl>
                                        <p:attrNameLst>
                                          <p:attrName>style.visibility</p:attrName>
                                        </p:attrNameLst>
                                      </p:cBhvr>
                                      <p:to>
                                        <p:strVal val="visible"/>
                                      </p:to>
                                    </p:set>
                                    <p:animEffect filter="fade" transition="in">
                                      <p:cBhvr>
                                        <p:cTn dur="500"/>
                                        <p:tgtEl>
                                          <p:spTgt spid="8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5" st="5"/>
                                            </p:txEl>
                                          </p:spTgt>
                                        </p:tgtEl>
                                        <p:attrNameLst>
                                          <p:attrName>style.visibility</p:attrName>
                                        </p:attrNameLst>
                                      </p:cBhvr>
                                      <p:to>
                                        <p:strVal val="visible"/>
                                      </p:to>
                                    </p:set>
                                    <p:animEffect filter="fade" transition="in">
                                      <p:cBhvr>
                                        <p:cTn dur="500"/>
                                        <p:tgtEl>
                                          <p:spTgt spid="8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6" st="6"/>
                                            </p:txEl>
                                          </p:spTgt>
                                        </p:tgtEl>
                                        <p:attrNameLst>
                                          <p:attrName>style.visibility</p:attrName>
                                        </p:attrNameLst>
                                      </p:cBhvr>
                                      <p:to>
                                        <p:strVal val="visible"/>
                                      </p:to>
                                    </p:set>
                                    <p:animEffect filter="fade" transition="in">
                                      <p:cBhvr>
                                        <p:cTn dur="500"/>
                                        <p:tgtEl>
                                          <p:spTgt spid="8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7" st="7"/>
                                            </p:txEl>
                                          </p:spTgt>
                                        </p:tgtEl>
                                        <p:attrNameLst>
                                          <p:attrName>style.visibility</p:attrName>
                                        </p:attrNameLst>
                                      </p:cBhvr>
                                      <p:to>
                                        <p:strVal val="visible"/>
                                      </p:to>
                                    </p:set>
                                    <p:animEffect filter="fade" transition="in">
                                      <p:cBhvr>
                                        <p:cTn dur="500"/>
                                        <p:tgtEl>
                                          <p:spTgt spid="8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8" st="8"/>
                                            </p:txEl>
                                          </p:spTgt>
                                        </p:tgtEl>
                                        <p:attrNameLst>
                                          <p:attrName>style.visibility</p:attrName>
                                        </p:attrNameLst>
                                      </p:cBhvr>
                                      <p:to>
                                        <p:strVal val="visible"/>
                                      </p:to>
                                    </p:set>
                                    <p:animEffect filter="fade" transition="in">
                                      <p:cBhvr>
                                        <p:cTn dur="500"/>
                                        <p:tgtEl>
                                          <p:spTgt spid="8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9" st="9"/>
                                            </p:txEl>
                                          </p:spTgt>
                                        </p:tgtEl>
                                        <p:attrNameLst>
                                          <p:attrName>style.visibility</p:attrName>
                                        </p:attrNameLst>
                                      </p:cBhvr>
                                      <p:to>
                                        <p:strVal val="visible"/>
                                      </p:to>
                                    </p:set>
                                    <p:animEffect filter="fade" transition="in">
                                      <p:cBhvr>
                                        <p:cTn dur="500"/>
                                        <p:tgtEl>
                                          <p:spTgt spid="8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0" st="10"/>
                                            </p:txEl>
                                          </p:spTgt>
                                        </p:tgtEl>
                                        <p:attrNameLst>
                                          <p:attrName>style.visibility</p:attrName>
                                        </p:attrNameLst>
                                      </p:cBhvr>
                                      <p:to>
                                        <p:strVal val="visible"/>
                                      </p:to>
                                    </p:set>
                                    <p:animEffect filter="fade" transition="in">
                                      <p:cBhvr>
                                        <p:cTn dur="500"/>
                                        <p:tgtEl>
                                          <p:spTgt spid="8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1" st="11"/>
                                            </p:txEl>
                                          </p:spTgt>
                                        </p:tgtEl>
                                        <p:attrNameLst>
                                          <p:attrName>style.visibility</p:attrName>
                                        </p:attrNameLst>
                                      </p:cBhvr>
                                      <p:to>
                                        <p:strVal val="visible"/>
                                      </p:to>
                                    </p:set>
                                    <p:animEffect filter="fade" transition="in">
                                      <p:cBhvr>
                                        <p:cTn dur="500"/>
                                        <p:tgtEl>
                                          <p:spTgt spid="8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xEl>
                                              <p:pRg end="12" st="12"/>
                                            </p:txEl>
                                          </p:spTgt>
                                        </p:tgtEl>
                                        <p:attrNameLst>
                                          <p:attrName>style.visibility</p:attrName>
                                        </p:attrNameLst>
                                      </p:cBhvr>
                                      <p:to>
                                        <p:strVal val="visible"/>
                                      </p:to>
                                    </p:set>
                                    <p:animEffect filter="fade" transition="in">
                                      <p:cBhvr>
                                        <p:cTn dur="500"/>
                                        <p:tgtEl>
                                          <p:spTgt spid="86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61"/>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Thỏa mãn các yêu cầu:</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kiện loại trừ tương hỗ</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Điều kiện tiến triển:</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P0 chỉ có thể bị P1 ngăn cản vào đoạn nguy hiểm nếu flag[1] = true và turn =1 luôn đúng</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Có 2 khả năng với P1 ở ngoài đoạn nguy hiểm:</a:t>
            </a:r>
            <a:endParaRPr/>
          </a:p>
          <a:p>
            <a:pPr indent="-514349" lvl="3" marL="1338262"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P1 chưa sẵn sàng vào đoạn nguy hiểm =&gt; flag[1] = false, P0 có thể vào ngay đoạn nguy hiểm</a:t>
            </a:r>
            <a:endParaRPr/>
          </a:p>
          <a:p>
            <a:pPr indent="-514349" lvl="3" marL="1338262" marR="0" rtl="0" algn="l">
              <a:lnSpc>
                <a:spcPct val="100000"/>
              </a:lnSpc>
              <a:spcBef>
                <a:spcPts val="400"/>
              </a:spcBef>
              <a:spcAft>
                <a:spcPts val="0"/>
              </a:spcAft>
              <a:buClr>
                <a:schemeClr val="dk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P1 đã đặt flag[1]=true và đang trong vòng lặp while =&gt; turn = 1 hoặc 0</a:t>
            </a:r>
            <a:endParaRPr/>
          </a:p>
          <a:p>
            <a:pPr indent="-514350" lvl="4" marL="16129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Turn = 0:  P0 vào đoạn nguy hiểm ngay</a:t>
            </a:r>
            <a:endParaRPr/>
          </a:p>
          <a:p>
            <a:pPr indent="-514350" lvl="4" marL="1612900" marR="0" rtl="0" algn="l">
              <a:lnSpc>
                <a:spcPct val="100000"/>
              </a:lnSpc>
              <a:spcBef>
                <a:spcPts val="360"/>
              </a:spcBef>
              <a:spcAft>
                <a:spcPts val="0"/>
              </a:spcAft>
              <a:buClr>
                <a:schemeClr val="dk1"/>
              </a:buClr>
              <a:buSzPts val="1800"/>
              <a:buFont typeface="Noto Sans Symbols"/>
              <a:buChar char="▪"/>
            </a:pPr>
            <a:r>
              <a:rPr b="0" i="0" lang="en-US" sz="1800" u="none" cap="none" strike="noStrike">
                <a:solidFill>
                  <a:schemeClr val="dk1"/>
                </a:solidFill>
                <a:latin typeface="Times New Roman"/>
                <a:ea typeface="Times New Roman"/>
                <a:cs typeface="Times New Roman"/>
                <a:sym typeface="Times New Roman"/>
              </a:rPr>
              <a:t>Turn = 1: P1 vào đoạn nguy hiểm, sau đó đặt flag[1] = false  =&gt; quay lại khả năng 1</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Chờ đợi có giới hạn</a:t>
            </a:r>
            <a:endParaRPr b="0" i="0" sz="24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79" name="Google Shape;879;p6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880" name="Google Shape;880;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1" name="Google Shape;881;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2" name="Google Shape;882;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3" name="Google Shape;883;p6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0" st="0"/>
                                            </p:txEl>
                                          </p:spTgt>
                                        </p:tgtEl>
                                        <p:attrNameLst>
                                          <p:attrName>style.visibility</p:attrName>
                                        </p:attrNameLst>
                                      </p:cBhvr>
                                      <p:to>
                                        <p:strVal val="visible"/>
                                      </p:to>
                                    </p:set>
                                    <p:animEffect filter="fade" transition="in">
                                      <p:cBhvr>
                                        <p:cTn dur="500"/>
                                        <p:tgtEl>
                                          <p:spTgt spid="8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 st="1"/>
                                            </p:txEl>
                                          </p:spTgt>
                                        </p:tgtEl>
                                        <p:attrNameLst>
                                          <p:attrName>style.visibility</p:attrName>
                                        </p:attrNameLst>
                                      </p:cBhvr>
                                      <p:to>
                                        <p:strVal val="visible"/>
                                      </p:to>
                                    </p:set>
                                    <p:animEffect filter="fade" transition="in">
                                      <p:cBhvr>
                                        <p:cTn dur="500"/>
                                        <p:tgtEl>
                                          <p:spTgt spid="8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2" st="2"/>
                                            </p:txEl>
                                          </p:spTgt>
                                        </p:tgtEl>
                                        <p:attrNameLst>
                                          <p:attrName>style.visibility</p:attrName>
                                        </p:attrNameLst>
                                      </p:cBhvr>
                                      <p:to>
                                        <p:strVal val="visible"/>
                                      </p:to>
                                    </p:set>
                                    <p:animEffect filter="fade" transition="in">
                                      <p:cBhvr>
                                        <p:cTn dur="500"/>
                                        <p:tgtEl>
                                          <p:spTgt spid="8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3" st="3"/>
                                            </p:txEl>
                                          </p:spTgt>
                                        </p:tgtEl>
                                        <p:attrNameLst>
                                          <p:attrName>style.visibility</p:attrName>
                                        </p:attrNameLst>
                                      </p:cBhvr>
                                      <p:to>
                                        <p:strVal val="visible"/>
                                      </p:to>
                                    </p:set>
                                    <p:animEffect filter="fade" transition="in">
                                      <p:cBhvr>
                                        <p:cTn dur="500"/>
                                        <p:tgtEl>
                                          <p:spTgt spid="8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4" st="4"/>
                                            </p:txEl>
                                          </p:spTgt>
                                        </p:tgtEl>
                                        <p:attrNameLst>
                                          <p:attrName>style.visibility</p:attrName>
                                        </p:attrNameLst>
                                      </p:cBhvr>
                                      <p:to>
                                        <p:strVal val="visible"/>
                                      </p:to>
                                    </p:set>
                                    <p:animEffect filter="fade" transition="in">
                                      <p:cBhvr>
                                        <p:cTn dur="500"/>
                                        <p:tgtEl>
                                          <p:spTgt spid="8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5" st="5"/>
                                            </p:txEl>
                                          </p:spTgt>
                                        </p:tgtEl>
                                        <p:attrNameLst>
                                          <p:attrName>style.visibility</p:attrName>
                                        </p:attrNameLst>
                                      </p:cBhvr>
                                      <p:to>
                                        <p:strVal val="visible"/>
                                      </p:to>
                                    </p:set>
                                    <p:animEffect filter="fade" transition="in">
                                      <p:cBhvr>
                                        <p:cTn dur="500"/>
                                        <p:tgtEl>
                                          <p:spTgt spid="8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6" st="6"/>
                                            </p:txEl>
                                          </p:spTgt>
                                        </p:tgtEl>
                                        <p:attrNameLst>
                                          <p:attrName>style.visibility</p:attrName>
                                        </p:attrNameLst>
                                      </p:cBhvr>
                                      <p:to>
                                        <p:strVal val="visible"/>
                                      </p:to>
                                    </p:set>
                                    <p:animEffect filter="fade" transition="in">
                                      <p:cBhvr>
                                        <p:cTn dur="500"/>
                                        <p:tgtEl>
                                          <p:spTgt spid="8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7" st="7"/>
                                            </p:txEl>
                                          </p:spTgt>
                                        </p:tgtEl>
                                        <p:attrNameLst>
                                          <p:attrName>style.visibility</p:attrName>
                                        </p:attrNameLst>
                                      </p:cBhvr>
                                      <p:to>
                                        <p:strVal val="visible"/>
                                      </p:to>
                                    </p:set>
                                    <p:animEffect filter="fade" transition="in">
                                      <p:cBhvr>
                                        <p:cTn dur="500"/>
                                        <p:tgtEl>
                                          <p:spTgt spid="8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8" st="8"/>
                                            </p:txEl>
                                          </p:spTgt>
                                        </p:tgtEl>
                                        <p:attrNameLst>
                                          <p:attrName>style.visibility</p:attrName>
                                        </p:attrNameLst>
                                      </p:cBhvr>
                                      <p:to>
                                        <p:strVal val="visible"/>
                                      </p:to>
                                    </p:set>
                                    <p:animEffect filter="fade" transition="in">
                                      <p:cBhvr>
                                        <p:cTn dur="500"/>
                                        <p:tgtEl>
                                          <p:spTgt spid="8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9" st="9"/>
                                            </p:txEl>
                                          </p:spTgt>
                                        </p:tgtEl>
                                        <p:attrNameLst>
                                          <p:attrName>style.visibility</p:attrName>
                                        </p:attrNameLst>
                                      </p:cBhvr>
                                      <p:to>
                                        <p:strVal val="visible"/>
                                      </p:to>
                                    </p:set>
                                    <p:animEffect filter="fade" transition="in">
                                      <p:cBhvr>
                                        <p:cTn dur="500"/>
                                        <p:tgtEl>
                                          <p:spTgt spid="87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0" st="10"/>
                                            </p:txEl>
                                          </p:spTgt>
                                        </p:tgtEl>
                                        <p:attrNameLst>
                                          <p:attrName>style.visibility</p:attrName>
                                        </p:attrNameLst>
                                      </p:cBhvr>
                                      <p:to>
                                        <p:strVal val="visible"/>
                                      </p:to>
                                    </p:set>
                                    <p:animEffect filter="fade" transition="in">
                                      <p:cBhvr>
                                        <p:cTn dur="500"/>
                                        <p:tgtEl>
                                          <p:spTgt spid="87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1" st="11"/>
                                            </p:txEl>
                                          </p:spTgt>
                                        </p:tgtEl>
                                        <p:attrNameLst>
                                          <p:attrName>style.visibility</p:attrName>
                                        </p:attrNameLst>
                                      </p:cBhvr>
                                      <p:to>
                                        <p:strVal val="visible"/>
                                      </p:to>
                                    </p:set>
                                    <p:animEffect filter="fade" transition="in">
                                      <p:cBhvr>
                                        <p:cTn dur="500"/>
                                        <p:tgtEl>
                                          <p:spTgt spid="87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2" st="12"/>
                                            </p:txEl>
                                          </p:spTgt>
                                        </p:tgtEl>
                                        <p:attrNameLst>
                                          <p:attrName>style.visibility</p:attrName>
                                        </p:attrNameLst>
                                      </p:cBhvr>
                                      <p:to>
                                        <p:strVal val="visible"/>
                                      </p:to>
                                    </p:set>
                                    <p:animEffect filter="fade" transition="in">
                                      <p:cBhvr>
                                        <p:cTn dur="500"/>
                                        <p:tgtEl>
                                          <p:spTgt spid="87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3" st="13"/>
                                            </p:txEl>
                                          </p:spTgt>
                                        </p:tgtEl>
                                        <p:attrNameLst>
                                          <p:attrName>style.visibility</p:attrName>
                                        </p:attrNameLst>
                                      </p:cBhvr>
                                      <p:to>
                                        <p:strVal val="visible"/>
                                      </p:to>
                                    </p:set>
                                    <p:animEffect filter="fade" transition="in">
                                      <p:cBhvr>
                                        <p:cTn dur="500"/>
                                        <p:tgtEl>
                                          <p:spTgt spid="87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4" st="14"/>
                                            </p:txEl>
                                          </p:spTgt>
                                        </p:tgtEl>
                                        <p:attrNameLst>
                                          <p:attrName>style.visibility</p:attrName>
                                        </p:attrNameLst>
                                      </p:cBhvr>
                                      <p:to>
                                        <p:strVal val="visible"/>
                                      </p:to>
                                    </p:set>
                                    <p:animEffect filter="fade" transition="in">
                                      <p:cBhvr>
                                        <p:cTn dur="500"/>
                                        <p:tgtEl>
                                          <p:spTgt spid="87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5" st="15"/>
                                            </p:txEl>
                                          </p:spTgt>
                                        </p:tgtEl>
                                        <p:attrNameLst>
                                          <p:attrName>style.visibility</p:attrName>
                                        </p:attrNameLst>
                                      </p:cBhvr>
                                      <p:to>
                                        <p:strVal val="visible"/>
                                      </p:to>
                                    </p:set>
                                    <p:animEffect filter="fade" transition="in">
                                      <p:cBhvr>
                                        <p:cTn dur="500"/>
                                        <p:tgtEl>
                                          <p:spTgt spid="878">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6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890" name="Google Shape;890;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1" name="Google Shape;891;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2" name="Google Shape;892;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3" name="Google Shape;893;p6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894" name="Google Shape;894;p62"/>
          <p:cNvPicPr preferRelativeResize="0"/>
          <p:nvPr/>
        </p:nvPicPr>
        <p:blipFill rotWithShape="1">
          <a:blip r:embed="rId3">
            <a:alphaModFix/>
          </a:blip>
          <a:srcRect b="0" l="0" r="0" t="0"/>
          <a:stretch/>
        </p:blipFill>
        <p:spPr>
          <a:xfrm>
            <a:off x="720725" y="269875"/>
            <a:ext cx="7559675" cy="61309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Sử dụng trên thực tế tương đối phức tạp</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Đòi hỏi tiến trình đang yêu cầu vào đoạn nguy hiểm phải nằm trong trạng thái </a:t>
            </a:r>
            <a:r>
              <a:rPr b="1" i="1" lang="en-US" sz="3200" u="none">
                <a:solidFill>
                  <a:schemeClr val="dk2"/>
                </a:solidFill>
                <a:latin typeface="Times New Roman"/>
                <a:ea typeface="Times New Roman"/>
                <a:cs typeface="Times New Roman"/>
                <a:sym typeface="Times New Roman"/>
              </a:rPr>
              <a:t>chờ đợi tích cực</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Chờ đợi tích cực: tiến trình vẫn phải sử dụng CPU để kiểm tra xem có thể vào đoạn nguy hiểm?</a:t>
            </a:r>
            <a:endParaRPr/>
          </a:p>
          <a:p>
            <a:pPr indent="-514350" lvl="0" marL="51435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=&gt; Lãng phí CPU</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01" name="Google Shape;901;p6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Giải thuật peterson (tt)</a:t>
            </a:r>
            <a:br>
              <a:rPr b="1" i="0" lang="en-US" sz="2500" u="none">
                <a:solidFill>
                  <a:srgbClr val="000066"/>
                </a:solidFill>
                <a:latin typeface="Times New Roman"/>
                <a:ea typeface="Times New Roman"/>
                <a:cs typeface="Times New Roman"/>
                <a:sym typeface="Times New Roman"/>
              </a:rPr>
            </a:br>
            <a:endParaRPr/>
          </a:p>
        </p:txBody>
      </p:sp>
      <p:sp>
        <p:nvSpPr>
          <p:cNvPr id="902" name="Google Shape;902;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3" name="Google Shape;903;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4" name="Google Shape;904;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5" name="Google Shape;905;p6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0" st="0"/>
                                            </p:txEl>
                                          </p:spTgt>
                                        </p:tgtEl>
                                        <p:attrNameLst>
                                          <p:attrName>style.visibility</p:attrName>
                                        </p:attrNameLst>
                                      </p:cBhvr>
                                      <p:to>
                                        <p:strVal val="visible"/>
                                      </p:to>
                                    </p:set>
                                    <p:animEffect filter="fade" transition="in">
                                      <p:cBhvr>
                                        <p:cTn dur="500"/>
                                        <p:tgtEl>
                                          <p:spTgt spid="9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1" st="1"/>
                                            </p:txEl>
                                          </p:spTgt>
                                        </p:tgtEl>
                                        <p:attrNameLst>
                                          <p:attrName>style.visibility</p:attrName>
                                        </p:attrNameLst>
                                      </p:cBhvr>
                                      <p:to>
                                        <p:strVal val="visible"/>
                                      </p:to>
                                    </p:set>
                                    <p:animEffect filter="fade" transition="in">
                                      <p:cBhvr>
                                        <p:cTn dur="500"/>
                                        <p:tgtEl>
                                          <p:spTgt spid="9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2" st="2"/>
                                            </p:txEl>
                                          </p:spTgt>
                                        </p:tgtEl>
                                        <p:attrNameLst>
                                          <p:attrName>style.visibility</p:attrName>
                                        </p:attrNameLst>
                                      </p:cBhvr>
                                      <p:to>
                                        <p:strVal val="visible"/>
                                      </p:to>
                                    </p:set>
                                    <p:animEffect filter="fade" transition="in">
                                      <p:cBhvr>
                                        <p:cTn dur="500"/>
                                        <p:tgtEl>
                                          <p:spTgt spid="9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3" st="3"/>
                                            </p:txEl>
                                          </p:spTgt>
                                        </p:tgtEl>
                                        <p:attrNameLst>
                                          <p:attrName>style.visibility</p:attrName>
                                        </p:attrNameLst>
                                      </p:cBhvr>
                                      <p:to>
                                        <p:strVal val="visible"/>
                                      </p:to>
                                    </p:set>
                                    <p:animEffect filter="fade" transition="in">
                                      <p:cBhvr>
                                        <p:cTn dur="500"/>
                                        <p:tgtEl>
                                          <p:spTgt spid="9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4" st="4"/>
                                            </p:txEl>
                                          </p:spTgt>
                                        </p:tgtEl>
                                        <p:attrNameLst>
                                          <p:attrName>style.visibility</p:attrName>
                                        </p:attrNameLst>
                                      </p:cBhvr>
                                      <p:to>
                                        <p:strVal val="visible"/>
                                      </p:to>
                                    </p:set>
                                    <p:animEffect filter="fade" transition="in">
                                      <p:cBhvr>
                                        <p:cTn dur="500"/>
                                        <p:tgtEl>
                                          <p:spTgt spid="9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5" st="5"/>
                                            </p:txEl>
                                          </p:spTgt>
                                        </p:tgtEl>
                                        <p:attrNameLst>
                                          <p:attrName>style.visibility</p:attrName>
                                        </p:attrNameLst>
                                      </p:cBhvr>
                                      <p:to>
                                        <p:strVal val="visible"/>
                                      </p:to>
                                    </p:set>
                                    <p:animEffect filter="fade" transition="in">
                                      <p:cBhvr>
                                        <p:cTn dur="500"/>
                                        <p:tgtEl>
                                          <p:spTgt spid="9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6" st="6"/>
                                            </p:txEl>
                                          </p:spTgt>
                                        </p:tgtEl>
                                        <p:attrNameLst>
                                          <p:attrName>style.visibility</p:attrName>
                                        </p:attrNameLst>
                                      </p:cBhvr>
                                      <p:to>
                                        <p:strVal val="visible"/>
                                      </p:to>
                                    </p:set>
                                    <p:animEffect filter="fade" transition="in">
                                      <p:cBhvr>
                                        <p:cTn dur="500"/>
                                        <p:tgtEl>
                                          <p:spTgt spid="9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7" st="7"/>
                                            </p:txEl>
                                          </p:spTgt>
                                        </p:tgtEl>
                                        <p:attrNameLst>
                                          <p:attrName>style.visibility</p:attrName>
                                        </p:attrNameLst>
                                      </p:cBhvr>
                                      <p:to>
                                        <p:strVal val="visible"/>
                                      </p:to>
                                    </p:set>
                                    <p:animEffect filter="fade" transition="in">
                                      <p:cBhvr>
                                        <p:cTn dur="500"/>
                                        <p:tgtEl>
                                          <p:spTgt spid="9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8" st="8"/>
                                            </p:txEl>
                                          </p:spTgt>
                                        </p:tgtEl>
                                        <p:attrNameLst>
                                          <p:attrName>style.visibility</p:attrName>
                                        </p:attrNameLst>
                                      </p:cBhvr>
                                      <p:to>
                                        <p:strVal val="visible"/>
                                      </p:to>
                                    </p:set>
                                    <p:animEffect filter="fade" transition="in">
                                      <p:cBhvr>
                                        <p:cTn dur="500"/>
                                        <p:tgtEl>
                                          <p:spTgt spid="9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xEl>
                                              <p:pRg end="9" st="9"/>
                                            </p:txEl>
                                          </p:spTgt>
                                        </p:tgtEl>
                                        <p:attrNameLst>
                                          <p:attrName>style.visibility</p:attrName>
                                        </p:attrNameLst>
                                      </p:cBhvr>
                                      <p:to>
                                        <p:strVal val="visible"/>
                                      </p:to>
                                    </p:set>
                                    <p:animEffect filter="fade" transition="in">
                                      <p:cBhvr>
                                        <p:cTn dur="500"/>
                                        <p:tgtEl>
                                          <p:spTgt spid="90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64"/>
          <p:cNvSpPr txBox="1"/>
          <p:nvPr>
            <p:ph idx="1" type="body"/>
          </p:nvPr>
        </p:nvSpPr>
        <p:spPr>
          <a:xfrm>
            <a:off x="152400" y="1066800"/>
            <a:ext cx="8610600" cy="3962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Phần cứng máy tính có thể được thiết kế để giải quyết vấn đề loại trừ trong tương hỗ và đoạn nguy hiểm.</a:t>
            </a:r>
            <a:endParaRPr/>
          </a:p>
          <a:p>
            <a:pPr indent="-342900" lvl="0" marL="34290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pháp phần cứng thường dễ sử dụng và có tốc độ tốt.</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12" name="Google Shape;912;p6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a:t>
            </a:r>
            <a:br>
              <a:rPr b="1" i="0" lang="en-US" sz="2500" u="none">
                <a:solidFill>
                  <a:srgbClr val="000066"/>
                </a:solidFill>
                <a:latin typeface="Times New Roman"/>
                <a:ea typeface="Times New Roman"/>
                <a:cs typeface="Times New Roman"/>
                <a:sym typeface="Times New Roman"/>
              </a:rPr>
            </a:br>
            <a:endParaRPr/>
          </a:p>
        </p:txBody>
      </p:sp>
      <p:sp>
        <p:nvSpPr>
          <p:cNvPr id="913" name="Google Shape;913;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4" name="Google Shape;914;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5" name="Google Shape;915;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6" name="Google Shape;916;p6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0" st="0"/>
                                            </p:txEl>
                                          </p:spTgt>
                                        </p:tgtEl>
                                        <p:attrNameLst>
                                          <p:attrName>style.visibility</p:attrName>
                                        </p:attrNameLst>
                                      </p:cBhvr>
                                      <p:to>
                                        <p:strVal val="visible"/>
                                      </p:to>
                                    </p:set>
                                    <p:animEffect filter="fade" transition="in">
                                      <p:cBhvr>
                                        <p:cTn dur="500"/>
                                        <p:tgtEl>
                                          <p:spTgt spid="9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1" st="1"/>
                                            </p:txEl>
                                          </p:spTgt>
                                        </p:tgtEl>
                                        <p:attrNameLst>
                                          <p:attrName>style.visibility</p:attrName>
                                        </p:attrNameLst>
                                      </p:cBhvr>
                                      <p:to>
                                        <p:strVal val="visible"/>
                                      </p:to>
                                    </p:set>
                                    <p:animEffect filter="fade" transition="in">
                                      <p:cBhvr>
                                        <p:cTn dur="500"/>
                                        <p:tgtEl>
                                          <p:spTgt spid="9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2" st="2"/>
                                            </p:txEl>
                                          </p:spTgt>
                                        </p:tgtEl>
                                        <p:attrNameLst>
                                          <p:attrName>style.visibility</p:attrName>
                                        </p:attrNameLst>
                                      </p:cBhvr>
                                      <p:to>
                                        <p:strVal val="visible"/>
                                      </p:to>
                                    </p:set>
                                    <p:animEffect filter="fade" transition="in">
                                      <p:cBhvr>
                                        <p:cTn dur="500"/>
                                        <p:tgtEl>
                                          <p:spTgt spid="9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3" st="3"/>
                                            </p:txEl>
                                          </p:spTgt>
                                        </p:tgtEl>
                                        <p:attrNameLst>
                                          <p:attrName>style.visibility</p:attrName>
                                        </p:attrNameLst>
                                      </p:cBhvr>
                                      <p:to>
                                        <p:strVal val="visible"/>
                                      </p:to>
                                    </p:set>
                                    <p:animEffect filter="fade" transition="in">
                                      <p:cBhvr>
                                        <p:cTn dur="500"/>
                                        <p:tgtEl>
                                          <p:spTgt spid="9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4" st="4"/>
                                            </p:txEl>
                                          </p:spTgt>
                                        </p:tgtEl>
                                        <p:attrNameLst>
                                          <p:attrName>style.visibility</p:attrName>
                                        </p:attrNameLst>
                                      </p:cBhvr>
                                      <p:to>
                                        <p:strVal val="visible"/>
                                      </p:to>
                                    </p:set>
                                    <p:animEffect filter="fade" transition="in">
                                      <p:cBhvr>
                                        <p:cTn dur="500"/>
                                        <p:tgtEl>
                                          <p:spTgt spid="9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5" st="5"/>
                                            </p:txEl>
                                          </p:spTgt>
                                        </p:tgtEl>
                                        <p:attrNameLst>
                                          <p:attrName>style.visibility</p:attrName>
                                        </p:attrNameLst>
                                      </p:cBhvr>
                                      <p:to>
                                        <p:strVal val="visible"/>
                                      </p:to>
                                    </p:set>
                                    <p:animEffect filter="fade" transition="in">
                                      <p:cBhvr>
                                        <p:cTn dur="500"/>
                                        <p:tgtEl>
                                          <p:spTgt spid="9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6" st="6"/>
                                            </p:txEl>
                                          </p:spTgt>
                                        </p:tgtEl>
                                        <p:attrNameLst>
                                          <p:attrName>style.visibility</p:attrName>
                                        </p:attrNameLst>
                                      </p:cBhvr>
                                      <p:to>
                                        <p:strVal val="visible"/>
                                      </p:to>
                                    </p:set>
                                    <p:animEffect filter="fade" transition="in">
                                      <p:cBhvr>
                                        <p:cTn dur="500"/>
                                        <p:tgtEl>
                                          <p:spTgt spid="9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xEl>
                                              <p:pRg end="7" st="7"/>
                                            </p:txEl>
                                          </p:spTgt>
                                        </p:tgtEl>
                                        <p:attrNameLst>
                                          <p:attrName>style.visibility</p:attrName>
                                        </p:attrNameLst>
                                      </p:cBhvr>
                                      <p:to>
                                        <p:strVal val="visible"/>
                                      </p:to>
                                    </p:set>
                                    <p:animEffect filter="fade" transition="in">
                                      <p:cBhvr>
                                        <p:cTn dur="500"/>
                                        <p:tgtEl>
                                          <p:spTgt spid="91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65"/>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90000"/>
              </a:lnSpc>
              <a:spcBef>
                <a:spcPts val="0"/>
              </a:spcBef>
              <a:spcAft>
                <a:spcPts val="0"/>
              </a:spcAft>
              <a:buClr>
                <a:schemeClr val="dk2"/>
              </a:buClr>
              <a:buSzPts val="3000"/>
              <a:buFont typeface="Arial"/>
              <a:buAutoNum type="arabicPeriod"/>
            </a:pPr>
            <a:r>
              <a:rPr b="0" i="0" lang="en-US" sz="3000" u="none">
                <a:solidFill>
                  <a:schemeClr val="dk2"/>
                </a:solidFill>
                <a:latin typeface="Times New Roman"/>
                <a:ea typeface="Times New Roman"/>
                <a:cs typeface="Times New Roman"/>
                <a:sym typeface="Times New Roman"/>
              </a:rPr>
              <a:t>Cấm các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Trong trường hợp máy tính chỉ có một CPU, tại mỗi thời điểm chỉ có một tiến trình được thực hiện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Tiến trình đang có CPU sẽ thực hiện cho đến khi tiến trình đó gọi dịch vụ hệ điều hành hoặc bị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Để gq Đoạn nguy hiểm =&gt; cấm không để xẩy ra ngắt trong thời gian tiến trình đang ở trong đoạn nguy hiểm để truy cập tài nguyên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Đảm bảo tiến trình được thực hiện trọn vẹn đoạn nguy hiểm và không bị tiến trình khác chen vào</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Đơn giản</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Giảm tính mềm dẻo của HDH =&gt; ảnh hưởng tới khả năng đáp ứng các sự kiện cần ngắt.</a:t>
            </a:r>
            <a:endParaRPr/>
          </a:p>
          <a:p>
            <a:pPr indent="-514349" lvl="1" marL="788987" marR="0" rtl="0" algn="just">
              <a:lnSpc>
                <a:spcPct val="90000"/>
              </a:lnSpc>
              <a:spcBef>
                <a:spcPts val="520"/>
              </a:spcBef>
              <a:spcAft>
                <a:spcPts val="0"/>
              </a:spcAft>
              <a:buClr>
                <a:schemeClr val="accent1"/>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Không áp dụng với máy tính nhiều CPU</a:t>
            </a:r>
            <a:endParaRPr b="0" i="0" sz="2000" u="none" cap="none" strike="noStrik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74650" lvl="0" marL="514350" marR="0" rtl="0" algn="just">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393699" lvl="1" marL="788987" marR="0" rtl="0" algn="just">
              <a:lnSpc>
                <a:spcPct val="90000"/>
              </a:lnSpc>
              <a:spcBef>
                <a:spcPts val="380"/>
              </a:spcBef>
              <a:spcAft>
                <a:spcPts val="0"/>
              </a:spcAft>
              <a:buClr>
                <a:schemeClr val="accent1"/>
              </a:buClr>
              <a:buSzPts val="1900"/>
              <a:buFont typeface="Noto Sans Symbols"/>
              <a:buNone/>
            </a:pPr>
            <a:r>
              <a:t/>
            </a:r>
            <a:endParaRPr b="0" i="0" sz="1900" u="none" cap="none" strike="noStrike">
              <a:solidFill>
                <a:schemeClr val="dk2"/>
              </a:solidFill>
              <a:latin typeface="Times New Roman"/>
              <a:ea typeface="Times New Roman"/>
              <a:cs typeface="Times New Roman"/>
              <a:sym typeface="Times New Roman"/>
            </a:endParaRPr>
          </a:p>
          <a:p>
            <a:pPr indent="-374649" lvl="1" marL="788987" marR="0" rtl="0" algn="just">
              <a:lnSpc>
                <a:spcPct val="9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203200" lvl="0" marL="342900" marR="0" rtl="0" algn="l">
              <a:spcBef>
                <a:spcPts val="440"/>
              </a:spcBef>
              <a:spcAft>
                <a:spcPts val="0"/>
              </a:spcAft>
              <a:buClr>
                <a:schemeClr val="dk2"/>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p:txBody>
      </p:sp>
      <p:sp>
        <p:nvSpPr>
          <p:cNvPr id="923" name="Google Shape;923;p6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a:t>
            </a:r>
            <a:br>
              <a:rPr b="1" i="0" lang="en-US" sz="2500" u="none">
                <a:solidFill>
                  <a:srgbClr val="000066"/>
                </a:solidFill>
                <a:latin typeface="Times New Roman"/>
                <a:ea typeface="Times New Roman"/>
                <a:cs typeface="Times New Roman"/>
                <a:sym typeface="Times New Roman"/>
              </a:rPr>
            </a:br>
            <a:endParaRPr/>
          </a:p>
        </p:txBody>
      </p:sp>
      <p:sp>
        <p:nvSpPr>
          <p:cNvPr id="924" name="Google Shape;924;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5" name="Google Shape;925;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6" name="Google Shape;926;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7" name="Google Shape;927;p6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0" st="0"/>
                                            </p:txEl>
                                          </p:spTgt>
                                        </p:tgtEl>
                                        <p:attrNameLst>
                                          <p:attrName>style.visibility</p:attrName>
                                        </p:attrNameLst>
                                      </p:cBhvr>
                                      <p:to>
                                        <p:strVal val="visible"/>
                                      </p:to>
                                    </p:set>
                                    <p:animEffect filter="fade" transition="in">
                                      <p:cBhvr>
                                        <p:cTn dur="500"/>
                                        <p:tgtEl>
                                          <p:spTgt spid="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 st="1"/>
                                            </p:txEl>
                                          </p:spTgt>
                                        </p:tgtEl>
                                        <p:attrNameLst>
                                          <p:attrName>style.visibility</p:attrName>
                                        </p:attrNameLst>
                                      </p:cBhvr>
                                      <p:to>
                                        <p:strVal val="visible"/>
                                      </p:to>
                                    </p:set>
                                    <p:animEffect filter="fade" transition="in">
                                      <p:cBhvr>
                                        <p:cTn dur="500"/>
                                        <p:tgtEl>
                                          <p:spTgt spid="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2" st="2"/>
                                            </p:txEl>
                                          </p:spTgt>
                                        </p:tgtEl>
                                        <p:attrNameLst>
                                          <p:attrName>style.visibility</p:attrName>
                                        </p:attrNameLst>
                                      </p:cBhvr>
                                      <p:to>
                                        <p:strVal val="visible"/>
                                      </p:to>
                                    </p:set>
                                    <p:animEffect filter="fade" transition="in">
                                      <p:cBhvr>
                                        <p:cTn dur="500"/>
                                        <p:tgtEl>
                                          <p:spTgt spid="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3" st="3"/>
                                            </p:txEl>
                                          </p:spTgt>
                                        </p:tgtEl>
                                        <p:attrNameLst>
                                          <p:attrName>style.visibility</p:attrName>
                                        </p:attrNameLst>
                                      </p:cBhvr>
                                      <p:to>
                                        <p:strVal val="visible"/>
                                      </p:to>
                                    </p:set>
                                    <p:animEffect filter="fade" transition="in">
                                      <p:cBhvr>
                                        <p:cTn dur="500"/>
                                        <p:tgtEl>
                                          <p:spTgt spid="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4" st="4"/>
                                            </p:txEl>
                                          </p:spTgt>
                                        </p:tgtEl>
                                        <p:attrNameLst>
                                          <p:attrName>style.visibility</p:attrName>
                                        </p:attrNameLst>
                                      </p:cBhvr>
                                      <p:to>
                                        <p:strVal val="visible"/>
                                      </p:to>
                                    </p:set>
                                    <p:animEffect filter="fade" transition="in">
                                      <p:cBhvr>
                                        <p:cTn dur="500"/>
                                        <p:tgtEl>
                                          <p:spTgt spid="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5" st="5"/>
                                            </p:txEl>
                                          </p:spTgt>
                                        </p:tgtEl>
                                        <p:attrNameLst>
                                          <p:attrName>style.visibility</p:attrName>
                                        </p:attrNameLst>
                                      </p:cBhvr>
                                      <p:to>
                                        <p:strVal val="visible"/>
                                      </p:to>
                                    </p:set>
                                    <p:animEffect filter="fade" transition="in">
                                      <p:cBhvr>
                                        <p:cTn dur="500"/>
                                        <p:tgtEl>
                                          <p:spTgt spid="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6" st="6"/>
                                            </p:txEl>
                                          </p:spTgt>
                                        </p:tgtEl>
                                        <p:attrNameLst>
                                          <p:attrName>style.visibility</p:attrName>
                                        </p:attrNameLst>
                                      </p:cBhvr>
                                      <p:to>
                                        <p:strVal val="visible"/>
                                      </p:to>
                                    </p:set>
                                    <p:animEffect filter="fade" transition="in">
                                      <p:cBhvr>
                                        <p:cTn dur="500"/>
                                        <p:tgtEl>
                                          <p:spTgt spid="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7" st="7"/>
                                            </p:txEl>
                                          </p:spTgt>
                                        </p:tgtEl>
                                        <p:attrNameLst>
                                          <p:attrName>style.visibility</p:attrName>
                                        </p:attrNameLst>
                                      </p:cBhvr>
                                      <p:to>
                                        <p:strVal val="visible"/>
                                      </p:to>
                                    </p:set>
                                    <p:animEffect filter="fade" transition="in">
                                      <p:cBhvr>
                                        <p:cTn dur="500"/>
                                        <p:tgtEl>
                                          <p:spTgt spid="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8" st="8"/>
                                            </p:txEl>
                                          </p:spTgt>
                                        </p:tgtEl>
                                        <p:attrNameLst>
                                          <p:attrName>style.visibility</p:attrName>
                                        </p:attrNameLst>
                                      </p:cBhvr>
                                      <p:to>
                                        <p:strVal val="visible"/>
                                      </p:to>
                                    </p:set>
                                    <p:animEffect filter="fade" transition="in">
                                      <p:cBhvr>
                                        <p:cTn dur="500"/>
                                        <p:tgtEl>
                                          <p:spTgt spid="9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9" st="9"/>
                                            </p:txEl>
                                          </p:spTgt>
                                        </p:tgtEl>
                                        <p:attrNameLst>
                                          <p:attrName>style.visibility</p:attrName>
                                        </p:attrNameLst>
                                      </p:cBhvr>
                                      <p:to>
                                        <p:strVal val="visible"/>
                                      </p:to>
                                    </p:set>
                                    <p:animEffect filter="fade" transition="in">
                                      <p:cBhvr>
                                        <p:cTn dur="500"/>
                                        <p:tgtEl>
                                          <p:spTgt spid="9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0" st="10"/>
                                            </p:txEl>
                                          </p:spTgt>
                                        </p:tgtEl>
                                        <p:attrNameLst>
                                          <p:attrName>style.visibility</p:attrName>
                                        </p:attrNameLst>
                                      </p:cBhvr>
                                      <p:to>
                                        <p:strVal val="visible"/>
                                      </p:to>
                                    </p:set>
                                    <p:animEffect filter="fade" transition="in">
                                      <p:cBhvr>
                                        <p:cTn dur="500"/>
                                        <p:tgtEl>
                                          <p:spTgt spid="9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1" st="11"/>
                                            </p:txEl>
                                          </p:spTgt>
                                        </p:tgtEl>
                                        <p:attrNameLst>
                                          <p:attrName>style.visibility</p:attrName>
                                        </p:attrNameLst>
                                      </p:cBhvr>
                                      <p:to>
                                        <p:strVal val="visible"/>
                                      </p:to>
                                    </p:set>
                                    <p:animEffect filter="fade" transition="in">
                                      <p:cBhvr>
                                        <p:cTn dur="500"/>
                                        <p:tgtEl>
                                          <p:spTgt spid="92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2" st="12"/>
                                            </p:txEl>
                                          </p:spTgt>
                                        </p:tgtEl>
                                        <p:attrNameLst>
                                          <p:attrName>style.visibility</p:attrName>
                                        </p:attrNameLst>
                                      </p:cBhvr>
                                      <p:to>
                                        <p:strVal val="visible"/>
                                      </p:to>
                                    </p:set>
                                    <p:animEffect filter="fade" transition="in">
                                      <p:cBhvr>
                                        <p:cTn dur="500"/>
                                        <p:tgtEl>
                                          <p:spTgt spid="92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3" st="13"/>
                                            </p:txEl>
                                          </p:spTgt>
                                        </p:tgtEl>
                                        <p:attrNameLst>
                                          <p:attrName>style.visibility</p:attrName>
                                        </p:attrNameLst>
                                      </p:cBhvr>
                                      <p:to>
                                        <p:strVal val="visible"/>
                                      </p:to>
                                    </p:set>
                                    <p:animEffect filter="fade" transition="in">
                                      <p:cBhvr>
                                        <p:cTn dur="500"/>
                                        <p:tgtEl>
                                          <p:spTgt spid="92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Phần cứng được thiết kế có một số lệnh máy đặc biệt </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2 thao tác kiểm tra và thay đổi giá trị cho một biến (ô nhớ), hoặc các thao tác so sánh và hoán đổi giá trị hai biến, được thực hiện trong cùng một lệnh máy</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=&gt; Đảm bảo được thực hiện cùng nhau mà không bị xen vào giữa – thao tác nguyên tử (atomic)</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Gọi là lệnh “kiểm tra và xác lập” – Test_and_Set</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34" name="Google Shape;934;p6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35" name="Google Shape;935;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6" name="Google Shape;936;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7" name="Google Shape;937;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8" name="Google Shape;938;p6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0" st="0"/>
                                            </p:txEl>
                                          </p:spTgt>
                                        </p:tgtEl>
                                        <p:attrNameLst>
                                          <p:attrName>style.visibility</p:attrName>
                                        </p:attrNameLst>
                                      </p:cBhvr>
                                      <p:to>
                                        <p:strVal val="visible"/>
                                      </p:to>
                                    </p:set>
                                    <p:animEffect filter="fade" transition="in">
                                      <p:cBhvr>
                                        <p:cTn dur="500"/>
                                        <p:tgtEl>
                                          <p:spTgt spid="9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1" st="1"/>
                                            </p:txEl>
                                          </p:spTgt>
                                        </p:tgtEl>
                                        <p:attrNameLst>
                                          <p:attrName>style.visibility</p:attrName>
                                        </p:attrNameLst>
                                      </p:cBhvr>
                                      <p:to>
                                        <p:strVal val="visible"/>
                                      </p:to>
                                    </p:set>
                                    <p:animEffect filter="fade" transition="in">
                                      <p:cBhvr>
                                        <p:cTn dur="500"/>
                                        <p:tgtEl>
                                          <p:spTgt spid="9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2" st="2"/>
                                            </p:txEl>
                                          </p:spTgt>
                                        </p:tgtEl>
                                        <p:attrNameLst>
                                          <p:attrName>style.visibility</p:attrName>
                                        </p:attrNameLst>
                                      </p:cBhvr>
                                      <p:to>
                                        <p:strVal val="visible"/>
                                      </p:to>
                                    </p:set>
                                    <p:animEffect filter="fade" transition="in">
                                      <p:cBhvr>
                                        <p:cTn dur="500"/>
                                        <p:tgtEl>
                                          <p:spTgt spid="9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3" st="3"/>
                                            </p:txEl>
                                          </p:spTgt>
                                        </p:tgtEl>
                                        <p:attrNameLst>
                                          <p:attrName>style.visibility</p:attrName>
                                        </p:attrNameLst>
                                      </p:cBhvr>
                                      <p:to>
                                        <p:strVal val="visible"/>
                                      </p:to>
                                    </p:set>
                                    <p:animEffect filter="fade" transition="in">
                                      <p:cBhvr>
                                        <p:cTn dur="500"/>
                                        <p:tgtEl>
                                          <p:spTgt spid="9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4" st="4"/>
                                            </p:txEl>
                                          </p:spTgt>
                                        </p:tgtEl>
                                        <p:attrNameLst>
                                          <p:attrName>style.visibility</p:attrName>
                                        </p:attrNameLst>
                                      </p:cBhvr>
                                      <p:to>
                                        <p:strVal val="visible"/>
                                      </p:to>
                                    </p:set>
                                    <p:animEffect filter="fade" transition="in">
                                      <p:cBhvr>
                                        <p:cTn dur="500"/>
                                        <p:tgtEl>
                                          <p:spTgt spid="9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5" st="5"/>
                                            </p:txEl>
                                          </p:spTgt>
                                        </p:tgtEl>
                                        <p:attrNameLst>
                                          <p:attrName>style.visibility</p:attrName>
                                        </p:attrNameLst>
                                      </p:cBhvr>
                                      <p:to>
                                        <p:strVal val="visible"/>
                                      </p:to>
                                    </p:set>
                                    <p:animEffect filter="fade" transition="in">
                                      <p:cBhvr>
                                        <p:cTn dur="500"/>
                                        <p:tgtEl>
                                          <p:spTgt spid="9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6" st="6"/>
                                            </p:txEl>
                                          </p:spTgt>
                                        </p:tgtEl>
                                        <p:attrNameLst>
                                          <p:attrName>style.visibility</p:attrName>
                                        </p:attrNameLst>
                                      </p:cBhvr>
                                      <p:to>
                                        <p:strVal val="visible"/>
                                      </p:to>
                                    </p:set>
                                    <p:animEffect filter="fade" transition="in">
                                      <p:cBhvr>
                                        <p:cTn dur="500"/>
                                        <p:tgtEl>
                                          <p:spTgt spid="9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7" st="7"/>
                                            </p:txEl>
                                          </p:spTgt>
                                        </p:tgtEl>
                                        <p:attrNameLst>
                                          <p:attrName>style.visibility</p:attrName>
                                        </p:attrNameLst>
                                      </p:cBhvr>
                                      <p:to>
                                        <p:strVal val="visible"/>
                                      </p:to>
                                    </p:set>
                                    <p:animEffect filter="fade" transition="in">
                                      <p:cBhvr>
                                        <p:cTn dur="500"/>
                                        <p:tgtEl>
                                          <p:spTgt spid="9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8" st="8"/>
                                            </p:txEl>
                                          </p:spTgt>
                                        </p:tgtEl>
                                        <p:attrNameLst>
                                          <p:attrName>style.visibility</p:attrName>
                                        </p:attrNameLst>
                                      </p:cBhvr>
                                      <p:to>
                                        <p:strVal val="visible"/>
                                      </p:to>
                                    </p:set>
                                    <p:animEffect filter="fade" transition="in">
                                      <p:cBhvr>
                                        <p:cTn dur="500"/>
                                        <p:tgtEl>
                                          <p:spTgt spid="93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9" st="9"/>
                                            </p:txEl>
                                          </p:spTgt>
                                        </p:tgtEl>
                                        <p:attrNameLst>
                                          <p:attrName>style.visibility</p:attrName>
                                        </p:attrNameLst>
                                      </p:cBhvr>
                                      <p:to>
                                        <p:strVal val="visible"/>
                                      </p:to>
                                    </p:set>
                                    <p:animEffect filter="fade" transition="in">
                                      <p:cBhvr>
                                        <p:cTn dur="500"/>
                                        <p:tgtEl>
                                          <p:spTgt spid="93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xEl>
                                              <p:pRg end="10" st="10"/>
                                            </p:txEl>
                                          </p:spTgt>
                                        </p:tgtEl>
                                        <p:attrNameLst>
                                          <p:attrName>style.visibility</p:attrName>
                                        </p:attrNameLst>
                                      </p:cBhvr>
                                      <p:to>
                                        <p:strVal val="visible"/>
                                      </p:to>
                                    </p:set>
                                    <p:animEffect filter="fade" transition="in">
                                      <p:cBhvr>
                                        <p:cTn dur="500"/>
                                        <p:tgtEl>
                                          <p:spTgt spid="93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7"/>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 (tt):</a:t>
            </a:r>
            <a:endParaRPr/>
          </a:p>
          <a:p>
            <a:pPr indent="-374649" lvl="1" marL="788987"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45" name="Google Shape;945;p6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46" name="Google Shape;946;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7" name="Google Shape;947;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8" name="Google Shape;948;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49" name="Google Shape;949;p67"/>
          <p:cNvGraphicFramePr/>
          <p:nvPr/>
        </p:nvGraphicFramePr>
        <p:xfrm>
          <a:off x="381000" y="1363662"/>
          <a:ext cx="3000000" cy="3000000"/>
        </p:xfrm>
        <a:graphic>
          <a:graphicData uri="http://schemas.openxmlformats.org/drawingml/2006/table">
            <a:tbl>
              <a:tblPr>
                <a:noFill/>
                <a:tableStyleId>{4128A9BA-1566-4610-BFC4-80AE836C2761}</a:tableStyleId>
              </a:tblPr>
              <a:tblGrid>
                <a:gridCol w="8229600"/>
              </a:tblGrid>
              <a:tr h="4732325">
                <a:tc>
                  <a:txBody>
                    <a:bodyPr/>
                    <a:lstStyle/>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const int n; //n là số lượng tiến trình</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bool lock;</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void P(int i){    //tiến trình P(i)</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for(;;){    //lặp vô hạn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while(Test_and_Set(lock));//lặp đến khi điều kiện không thỏa</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&lt;Đoạn nguy hiểm&gt;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lock = false;</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&lt;Phần còn lại của tiến trình&gt;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void main(){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lock = false;</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//tắt tiến trình chính, chạy đồng thời n tiến trình</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StartProcess(P(1)); ….    StartProcess(P(n));</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950" name="Google Shape;950;p6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0" st="0"/>
                                            </p:txEl>
                                          </p:spTgt>
                                        </p:tgtEl>
                                        <p:attrNameLst>
                                          <p:attrName>style.visibility</p:attrName>
                                        </p:attrNameLst>
                                      </p:cBhvr>
                                      <p:to>
                                        <p:strVal val="visible"/>
                                      </p:to>
                                    </p:set>
                                    <p:animEffect filter="fade" transition="in">
                                      <p:cBhvr>
                                        <p:cTn dur="500"/>
                                        <p:tgtEl>
                                          <p:spTgt spid="9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1" st="1"/>
                                            </p:txEl>
                                          </p:spTgt>
                                        </p:tgtEl>
                                        <p:attrNameLst>
                                          <p:attrName>style.visibility</p:attrName>
                                        </p:attrNameLst>
                                      </p:cBhvr>
                                      <p:to>
                                        <p:strVal val="visible"/>
                                      </p:to>
                                    </p:set>
                                    <p:animEffect filter="fade" transition="in">
                                      <p:cBhvr>
                                        <p:cTn dur="500"/>
                                        <p:tgtEl>
                                          <p:spTgt spid="9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2" st="2"/>
                                            </p:txEl>
                                          </p:spTgt>
                                        </p:tgtEl>
                                        <p:attrNameLst>
                                          <p:attrName>style.visibility</p:attrName>
                                        </p:attrNameLst>
                                      </p:cBhvr>
                                      <p:to>
                                        <p:strVal val="visible"/>
                                      </p:to>
                                    </p:set>
                                    <p:animEffect filter="fade" transition="in">
                                      <p:cBhvr>
                                        <p:cTn dur="500"/>
                                        <p:tgtEl>
                                          <p:spTgt spid="9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3" st="3"/>
                                            </p:txEl>
                                          </p:spTgt>
                                        </p:tgtEl>
                                        <p:attrNameLst>
                                          <p:attrName>style.visibility</p:attrName>
                                        </p:attrNameLst>
                                      </p:cBhvr>
                                      <p:to>
                                        <p:strVal val="visible"/>
                                      </p:to>
                                    </p:set>
                                    <p:animEffect filter="fade" transition="in">
                                      <p:cBhvr>
                                        <p:cTn dur="500"/>
                                        <p:tgtEl>
                                          <p:spTgt spid="9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4" st="4"/>
                                            </p:txEl>
                                          </p:spTgt>
                                        </p:tgtEl>
                                        <p:attrNameLst>
                                          <p:attrName>style.visibility</p:attrName>
                                        </p:attrNameLst>
                                      </p:cBhvr>
                                      <p:to>
                                        <p:strVal val="visible"/>
                                      </p:to>
                                    </p:set>
                                    <p:animEffect filter="fade" transition="in">
                                      <p:cBhvr>
                                        <p:cTn dur="500"/>
                                        <p:tgtEl>
                                          <p:spTgt spid="9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5" st="5"/>
                                            </p:txEl>
                                          </p:spTgt>
                                        </p:tgtEl>
                                        <p:attrNameLst>
                                          <p:attrName>style.visibility</p:attrName>
                                        </p:attrNameLst>
                                      </p:cBhvr>
                                      <p:to>
                                        <p:strVal val="visible"/>
                                      </p:to>
                                    </p:set>
                                    <p:animEffect filter="fade" transition="in">
                                      <p:cBhvr>
                                        <p:cTn dur="500"/>
                                        <p:tgtEl>
                                          <p:spTgt spid="9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6" st="6"/>
                                            </p:txEl>
                                          </p:spTgt>
                                        </p:tgtEl>
                                        <p:attrNameLst>
                                          <p:attrName>style.visibility</p:attrName>
                                        </p:attrNameLst>
                                      </p:cBhvr>
                                      <p:to>
                                        <p:strVal val="visible"/>
                                      </p:to>
                                    </p:set>
                                    <p:animEffect filter="fade" transition="in">
                                      <p:cBhvr>
                                        <p:cTn dur="500"/>
                                        <p:tgtEl>
                                          <p:spTgt spid="94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xEl>
                                              <p:pRg end="7" st="7"/>
                                            </p:txEl>
                                          </p:spTgt>
                                        </p:tgtEl>
                                        <p:attrNameLst>
                                          <p:attrName>style.visibility</p:attrName>
                                        </p:attrNameLst>
                                      </p:cBhvr>
                                      <p:to>
                                        <p:strVal val="visible"/>
                                      </p:to>
                                    </p:set>
                                    <p:animEffect filter="fade" transition="in">
                                      <p:cBhvr>
                                        <p:cTn dur="500"/>
                                        <p:tgtEl>
                                          <p:spTgt spid="94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6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3200"/>
              <a:buFont typeface="Arial"/>
              <a:buAutoNum type="arabicPeriod" startAt="2"/>
            </a:pPr>
            <a:r>
              <a:rPr b="0" i="0" lang="en-US" sz="3200" u="none">
                <a:solidFill>
                  <a:schemeClr val="dk2"/>
                </a:solidFill>
                <a:latin typeface="Times New Roman"/>
                <a:ea typeface="Times New Roman"/>
                <a:cs typeface="Times New Roman"/>
                <a:sym typeface="Times New Roman"/>
              </a:rPr>
              <a:t>Sử dụng lệnh máy đặc biệt (tt):</a:t>
            </a:r>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Ưu điểm:</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Việc sử dụng tương đối đơn giản và trực quan</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dùng để đồng bộ nhiều tiến trình</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sử dụng cho trường hợp đa xử lý với nhiều CPU nhưng có bộ nhớ chung</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Nhược điểm:</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Chờ đợi tích cực</a:t>
            </a:r>
            <a:endParaRPr/>
          </a:p>
          <a:p>
            <a:pPr indent="-514350" lvl="2" marL="1063625"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thể gây đói</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57" name="Google Shape;957;p6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Giải pháp phần cứng (tt)</a:t>
            </a:r>
            <a:br>
              <a:rPr b="1" i="0" lang="en-US" sz="2500" u="none">
                <a:solidFill>
                  <a:srgbClr val="000066"/>
                </a:solidFill>
                <a:latin typeface="Times New Roman"/>
                <a:ea typeface="Times New Roman"/>
                <a:cs typeface="Times New Roman"/>
                <a:sym typeface="Times New Roman"/>
              </a:rPr>
            </a:br>
            <a:endParaRPr/>
          </a:p>
        </p:txBody>
      </p:sp>
      <p:sp>
        <p:nvSpPr>
          <p:cNvPr id="958" name="Google Shape;958;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9" name="Google Shape;959;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0" name="Google Shape;960;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1" name="Google Shape;961;p6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0" st="0"/>
                                            </p:txEl>
                                          </p:spTgt>
                                        </p:tgtEl>
                                        <p:attrNameLst>
                                          <p:attrName>style.visibility</p:attrName>
                                        </p:attrNameLst>
                                      </p:cBhvr>
                                      <p:to>
                                        <p:strVal val="visible"/>
                                      </p:to>
                                    </p:set>
                                    <p:animEffect filter="fade" transition="in">
                                      <p:cBhvr>
                                        <p:cTn dur="500"/>
                                        <p:tgtEl>
                                          <p:spTgt spid="9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 st="1"/>
                                            </p:txEl>
                                          </p:spTgt>
                                        </p:tgtEl>
                                        <p:attrNameLst>
                                          <p:attrName>style.visibility</p:attrName>
                                        </p:attrNameLst>
                                      </p:cBhvr>
                                      <p:to>
                                        <p:strVal val="visible"/>
                                      </p:to>
                                    </p:set>
                                    <p:animEffect filter="fade" transition="in">
                                      <p:cBhvr>
                                        <p:cTn dur="500"/>
                                        <p:tgtEl>
                                          <p:spTgt spid="9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2" st="2"/>
                                            </p:txEl>
                                          </p:spTgt>
                                        </p:tgtEl>
                                        <p:attrNameLst>
                                          <p:attrName>style.visibility</p:attrName>
                                        </p:attrNameLst>
                                      </p:cBhvr>
                                      <p:to>
                                        <p:strVal val="visible"/>
                                      </p:to>
                                    </p:set>
                                    <p:animEffect filter="fade" transition="in">
                                      <p:cBhvr>
                                        <p:cTn dur="500"/>
                                        <p:tgtEl>
                                          <p:spTgt spid="9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3" st="3"/>
                                            </p:txEl>
                                          </p:spTgt>
                                        </p:tgtEl>
                                        <p:attrNameLst>
                                          <p:attrName>style.visibility</p:attrName>
                                        </p:attrNameLst>
                                      </p:cBhvr>
                                      <p:to>
                                        <p:strVal val="visible"/>
                                      </p:to>
                                    </p:set>
                                    <p:animEffect filter="fade" transition="in">
                                      <p:cBhvr>
                                        <p:cTn dur="500"/>
                                        <p:tgtEl>
                                          <p:spTgt spid="9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4" st="4"/>
                                            </p:txEl>
                                          </p:spTgt>
                                        </p:tgtEl>
                                        <p:attrNameLst>
                                          <p:attrName>style.visibility</p:attrName>
                                        </p:attrNameLst>
                                      </p:cBhvr>
                                      <p:to>
                                        <p:strVal val="visible"/>
                                      </p:to>
                                    </p:set>
                                    <p:animEffect filter="fade" transition="in">
                                      <p:cBhvr>
                                        <p:cTn dur="500"/>
                                        <p:tgtEl>
                                          <p:spTgt spid="9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5" st="5"/>
                                            </p:txEl>
                                          </p:spTgt>
                                        </p:tgtEl>
                                        <p:attrNameLst>
                                          <p:attrName>style.visibility</p:attrName>
                                        </p:attrNameLst>
                                      </p:cBhvr>
                                      <p:to>
                                        <p:strVal val="visible"/>
                                      </p:to>
                                    </p:set>
                                    <p:animEffect filter="fade" transition="in">
                                      <p:cBhvr>
                                        <p:cTn dur="500"/>
                                        <p:tgtEl>
                                          <p:spTgt spid="9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6" st="6"/>
                                            </p:txEl>
                                          </p:spTgt>
                                        </p:tgtEl>
                                        <p:attrNameLst>
                                          <p:attrName>style.visibility</p:attrName>
                                        </p:attrNameLst>
                                      </p:cBhvr>
                                      <p:to>
                                        <p:strVal val="visible"/>
                                      </p:to>
                                    </p:set>
                                    <p:animEffect filter="fade" transition="in">
                                      <p:cBhvr>
                                        <p:cTn dur="500"/>
                                        <p:tgtEl>
                                          <p:spTgt spid="9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7" st="7"/>
                                            </p:txEl>
                                          </p:spTgt>
                                        </p:tgtEl>
                                        <p:attrNameLst>
                                          <p:attrName>style.visibility</p:attrName>
                                        </p:attrNameLst>
                                      </p:cBhvr>
                                      <p:to>
                                        <p:strVal val="visible"/>
                                      </p:to>
                                    </p:set>
                                    <p:animEffect filter="fade" transition="in">
                                      <p:cBhvr>
                                        <p:cTn dur="500"/>
                                        <p:tgtEl>
                                          <p:spTgt spid="9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8" st="8"/>
                                            </p:txEl>
                                          </p:spTgt>
                                        </p:tgtEl>
                                        <p:attrNameLst>
                                          <p:attrName>style.visibility</p:attrName>
                                        </p:attrNameLst>
                                      </p:cBhvr>
                                      <p:to>
                                        <p:strVal val="visible"/>
                                      </p:to>
                                    </p:set>
                                    <p:animEffect filter="fade" transition="in">
                                      <p:cBhvr>
                                        <p:cTn dur="500"/>
                                        <p:tgtEl>
                                          <p:spTgt spid="9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9" st="9"/>
                                            </p:txEl>
                                          </p:spTgt>
                                        </p:tgtEl>
                                        <p:attrNameLst>
                                          <p:attrName>style.visibility</p:attrName>
                                        </p:attrNameLst>
                                      </p:cBhvr>
                                      <p:to>
                                        <p:strVal val="visible"/>
                                      </p:to>
                                    </p:set>
                                    <p:animEffect filter="fade" transition="in">
                                      <p:cBhvr>
                                        <p:cTn dur="500"/>
                                        <p:tgtEl>
                                          <p:spTgt spid="9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0" st="10"/>
                                            </p:txEl>
                                          </p:spTgt>
                                        </p:tgtEl>
                                        <p:attrNameLst>
                                          <p:attrName>style.visibility</p:attrName>
                                        </p:attrNameLst>
                                      </p:cBhvr>
                                      <p:to>
                                        <p:strVal val="visible"/>
                                      </p:to>
                                    </p:set>
                                    <p:animEffect filter="fade" transition="in">
                                      <p:cBhvr>
                                        <p:cTn dur="500"/>
                                        <p:tgtEl>
                                          <p:spTgt spid="9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1" st="11"/>
                                            </p:txEl>
                                          </p:spTgt>
                                        </p:tgtEl>
                                        <p:attrNameLst>
                                          <p:attrName>style.visibility</p:attrName>
                                        </p:attrNameLst>
                                      </p:cBhvr>
                                      <p:to>
                                        <p:strVal val="visible"/>
                                      </p:to>
                                    </p:set>
                                    <p:animEffect filter="fade" transition="in">
                                      <p:cBhvr>
                                        <p:cTn dur="500"/>
                                        <p:tgtEl>
                                          <p:spTgt spid="9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2" st="12"/>
                                            </p:txEl>
                                          </p:spTgt>
                                        </p:tgtEl>
                                        <p:attrNameLst>
                                          <p:attrName>style.visibility</p:attrName>
                                        </p:attrNameLst>
                                      </p:cBhvr>
                                      <p:to>
                                        <p:strVal val="visible"/>
                                      </p:to>
                                    </p:set>
                                    <p:animEffect filter="fade" transition="in">
                                      <p:cBhvr>
                                        <p:cTn dur="500"/>
                                        <p:tgtEl>
                                          <p:spTgt spid="9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xEl>
                                              <p:pRg end="13" st="13"/>
                                            </p:txEl>
                                          </p:spTgt>
                                        </p:tgtEl>
                                        <p:attrNameLst>
                                          <p:attrName>style.visibility</p:attrName>
                                        </p:attrNameLst>
                                      </p:cBhvr>
                                      <p:to>
                                        <p:strVal val="visible"/>
                                      </p:to>
                                    </p:set>
                                    <p:animEffect filter="fade" transition="in">
                                      <p:cBhvr>
                                        <p:cTn dur="500"/>
                                        <p:tgtEl>
                                          <p:spTgt spid="95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69"/>
          <p:cNvSpPr txBox="1"/>
          <p:nvPr>
            <p:ph idx="1" type="body"/>
          </p:nvPr>
        </p:nvSpPr>
        <p:spPr>
          <a:xfrm>
            <a:off x="0" y="9906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Cờ hiệu S là 1 biến nguyên được khởi tạo bằng khả năng phục vụ đồng thời của tài nguyên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Giá trị của S chỉ có thể thay đổi nhờ gọi 2 thao tác là Wait và Signal</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Wait(S):</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Giảm S đi 1 đơn vị</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giá trị của S&lt;0 thì tiến trình gọi wait(S) sẽ bị phong tỏa</a:t>
            </a:r>
            <a:endParaRPr b="0" i="0" sz="18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Signal(S):</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Tăng S lên 1 đơn vị</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giá trị của S≤0: 1 trong các tiến trình đang bị phong tỏa được giải phóng và có thể thực hiện tiếp</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68" name="Google Shape;968;p6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a:t>
            </a:r>
            <a:br>
              <a:rPr b="1" i="0" lang="en-US" sz="2500" u="none">
                <a:solidFill>
                  <a:srgbClr val="000066"/>
                </a:solidFill>
                <a:latin typeface="Times New Roman"/>
                <a:ea typeface="Times New Roman"/>
                <a:cs typeface="Times New Roman"/>
                <a:sym typeface="Times New Roman"/>
              </a:rPr>
            </a:br>
            <a:endParaRPr/>
          </a:p>
        </p:txBody>
      </p:sp>
      <p:sp>
        <p:nvSpPr>
          <p:cNvPr id="969" name="Google Shape;969;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0" name="Google Shape;970;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1" name="Google Shape;971;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2" name="Google Shape;972;p6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0" st="0"/>
                                            </p:txEl>
                                          </p:spTgt>
                                        </p:tgtEl>
                                        <p:attrNameLst>
                                          <p:attrName>style.visibility</p:attrName>
                                        </p:attrNameLst>
                                      </p:cBhvr>
                                      <p:to>
                                        <p:strVal val="visible"/>
                                      </p:to>
                                    </p:set>
                                    <p:animEffect filter="fade" transition="in">
                                      <p:cBhvr>
                                        <p:cTn dur="500"/>
                                        <p:tgtEl>
                                          <p:spTgt spid="9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 st="1"/>
                                            </p:txEl>
                                          </p:spTgt>
                                        </p:tgtEl>
                                        <p:attrNameLst>
                                          <p:attrName>style.visibility</p:attrName>
                                        </p:attrNameLst>
                                      </p:cBhvr>
                                      <p:to>
                                        <p:strVal val="visible"/>
                                      </p:to>
                                    </p:set>
                                    <p:animEffect filter="fade" transition="in">
                                      <p:cBhvr>
                                        <p:cTn dur="500"/>
                                        <p:tgtEl>
                                          <p:spTgt spid="9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2" st="2"/>
                                            </p:txEl>
                                          </p:spTgt>
                                        </p:tgtEl>
                                        <p:attrNameLst>
                                          <p:attrName>style.visibility</p:attrName>
                                        </p:attrNameLst>
                                      </p:cBhvr>
                                      <p:to>
                                        <p:strVal val="visible"/>
                                      </p:to>
                                    </p:set>
                                    <p:animEffect filter="fade" transition="in">
                                      <p:cBhvr>
                                        <p:cTn dur="500"/>
                                        <p:tgtEl>
                                          <p:spTgt spid="9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3" st="3"/>
                                            </p:txEl>
                                          </p:spTgt>
                                        </p:tgtEl>
                                        <p:attrNameLst>
                                          <p:attrName>style.visibility</p:attrName>
                                        </p:attrNameLst>
                                      </p:cBhvr>
                                      <p:to>
                                        <p:strVal val="visible"/>
                                      </p:to>
                                    </p:set>
                                    <p:animEffect filter="fade" transition="in">
                                      <p:cBhvr>
                                        <p:cTn dur="500"/>
                                        <p:tgtEl>
                                          <p:spTgt spid="9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4" st="4"/>
                                            </p:txEl>
                                          </p:spTgt>
                                        </p:tgtEl>
                                        <p:attrNameLst>
                                          <p:attrName>style.visibility</p:attrName>
                                        </p:attrNameLst>
                                      </p:cBhvr>
                                      <p:to>
                                        <p:strVal val="visible"/>
                                      </p:to>
                                    </p:set>
                                    <p:animEffect filter="fade" transition="in">
                                      <p:cBhvr>
                                        <p:cTn dur="500"/>
                                        <p:tgtEl>
                                          <p:spTgt spid="9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5" st="5"/>
                                            </p:txEl>
                                          </p:spTgt>
                                        </p:tgtEl>
                                        <p:attrNameLst>
                                          <p:attrName>style.visibility</p:attrName>
                                        </p:attrNameLst>
                                      </p:cBhvr>
                                      <p:to>
                                        <p:strVal val="visible"/>
                                      </p:to>
                                    </p:set>
                                    <p:animEffect filter="fade" transition="in">
                                      <p:cBhvr>
                                        <p:cTn dur="500"/>
                                        <p:tgtEl>
                                          <p:spTgt spid="9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6" st="6"/>
                                            </p:txEl>
                                          </p:spTgt>
                                        </p:tgtEl>
                                        <p:attrNameLst>
                                          <p:attrName>style.visibility</p:attrName>
                                        </p:attrNameLst>
                                      </p:cBhvr>
                                      <p:to>
                                        <p:strVal val="visible"/>
                                      </p:to>
                                    </p:set>
                                    <p:animEffect filter="fade" transition="in">
                                      <p:cBhvr>
                                        <p:cTn dur="500"/>
                                        <p:tgtEl>
                                          <p:spTgt spid="9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7" st="7"/>
                                            </p:txEl>
                                          </p:spTgt>
                                        </p:tgtEl>
                                        <p:attrNameLst>
                                          <p:attrName>style.visibility</p:attrName>
                                        </p:attrNameLst>
                                      </p:cBhvr>
                                      <p:to>
                                        <p:strVal val="visible"/>
                                      </p:to>
                                    </p:set>
                                    <p:animEffect filter="fade" transition="in">
                                      <p:cBhvr>
                                        <p:cTn dur="500"/>
                                        <p:tgtEl>
                                          <p:spTgt spid="9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8" st="8"/>
                                            </p:txEl>
                                          </p:spTgt>
                                        </p:tgtEl>
                                        <p:attrNameLst>
                                          <p:attrName>style.visibility</p:attrName>
                                        </p:attrNameLst>
                                      </p:cBhvr>
                                      <p:to>
                                        <p:strVal val="visible"/>
                                      </p:to>
                                    </p:set>
                                    <p:animEffect filter="fade" transition="in">
                                      <p:cBhvr>
                                        <p:cTn dur="500"/>
                                        <p:tgtEl>
                                          <p:spTgt spid="9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9" st="9"/>
                                            </p:txEl>
                                          </p:spTgt>
                                        </p:tgtEl>
                                        <p:attrNameLst>
                                          <p:attrName>style.visibility</p:attrName>
                                        </p:attrNameLst>
                                      </p:cBhvr>
                                      <p:to>
                                        <p:strVal val="visible"/>
                                      </p:to>
                                    </p:set>
                                    <p:animEffect filter="fade" transition="in">
                                      <p:cBhvr>
                                        <p:cTn dur="500"/>
                                        <p:tgtEl>
                                          <p:spTgt spid="9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0" st="10"/>
                                            </p:txEl>
                                          </p:spTgt>
                                        </p:tgtEl>
                                        <p:attrNameLst>
                                          <p:attrName>style.visibility</p:attrName>
                                        </p:attrNameLst>
                                      </p:cBhvr>
                                      <p:to>
                                        <p:strVal val="visible"/>
                                      </p:to>
                                    </p:set>
                                    <p:animEffect filter="fade" transition="in">
                                      <p:cBhvr>
                                        <p:cTn dur="500"/>
                                        <p:tgtEl>
                                          <p:spTgt spid="9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1" st="11"/>
                                            </p:txEl>
                                          </p:spTgt>
                                        </p:tgtEl>
                                        <p:attrNameLst>
                                          <p:attrName>style.visibility</p:attrName>
                                        </p:attrNameLst>
                                      </p:cBhvr>
                                      <p:to>
                                        <p:strVal val="visible"/>
                                      </p:to>
                                    </p:set>
                                    <p:animEffect filter="fade" transition="in">
                                      <p:cBhvr>
                                        <p:cTn dur="500"/>
                                        <p:tgtEl>
                                          <p:spTgt spid="9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2" st="12"/>
                                            </p:txEl>
                                          </p:spTgt>
                                        </p:tgtEl>
                                        <p:attrNameLst>
                                          <p:attrName>style.visibility</p:attrName>
                                        </p:attrNameLst>
                                      </p:cBhvr>
                                      <p:to>
                                        <p:strVal val="visible"/>
                                      </p:to>
                                    </p:set>
                                    <p:animEffect filter="fade" transition="in">
                                      <p:cBhvr>
                                        <p:cTn dur="500"/>
                                        <p:tgtEl>
                                          <p:spTgt spid="96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xEl>
                                              <p:pRg end="13" st="13"/>
                                            </p:txEl>
                                          </p:spTgt>
                                        </p:tgtEl>
                                        <p:attrNameLst>
                                          <p:attrName>style.visibility</p:attrName>
                                        </p:attrNameLst>
                                      </p:cBhvr>
                                      <p:to>
                                        <p:strVal val="visible"/>
                                      </p:to>
                                    </p:set>
                                    <p:animEffect filter="fade" transition="in">
                                      <p:cBhvr>
                                        <p:cTn dur="500"/>
                                        <p:tgtEl>
                                          <p:spTgt spid="967">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7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Wait và Signal là những thao tác nguyên tử</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tránh tình trạng chờ đợi tích cực, sử dụng 2 thao tác phong tỏa và đánh thức: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Nếu tiến trình thực hiện thao tác wait, giá trị cờ hiệu âm thì thay vì chờ đợi tích cực nó sẽ bị phong tỏa  ( bởi thao tác block) và thêm vào hàng đợi của cờ hiệu </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Khi có 1 tiến trình thực hiện thao tác signal thì 1 trong các tiến trình bị khóa sẽ được chuyển sang trạng thái sẵn sàng nhờ thao tác đánh thức  (wakeup) chứa trong signal</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79" name="Google Shape;979;p7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980" name="Google Shape;980;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1" name="Google Shape;981;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2" name="Google Shape;982;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3" name="Google Shape;983;p7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0" st="0"/>
                                            </p:txEl>
                                          </p:spTgt>
                                        </p:tgtEl>
                                        <p:attrNameLst>
                                          <p:attrName>style.visibility</p:attrName>
                                        </p:attrNameLst>
                                      </p:cBhvr>
                                      <p:to>
                                        <p:strVal val="visible"/>
                                      </p:to>
                                    </p:set>
                                    <p:animEffect filter="fade" transition="in">
                                      <p:cBhvr>
                                        <p:cTn dur="500"/>
                                        <p:tgtEl>
                                          <p:spTgt spid="9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1" st="1"/>
                                            </p:txEl>
                                          </p:spTgt>
                                        </p:tgtEl>
                                        <p:attrNameLst>
                                          <p:attrName>style.visibility</p:attrName>
                                        </p:attrNameLst>
                                      </p:cBhvr>
                                      <p:to>
                                        <p:strVal val="visible"/>
                                      </p:to>
                                    </p:set>
                                    <p:animEffect filter="fade" transition="in">
                                      <p:cBhvr>
                                        <p:cTn dur="500"/>
                                        <p:tgtEl>
                                          <p:spTgt spid="9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2" st="2"/>
                                            </p:txEl>
                                          </p:spTgt>
                                        </p:tgtEl>
                                        <p:attrNameLst>
                                          <p:attrName>style.visibility</p:attrName>
                                        </p:attrNameLst>
                                      </p:cBhvr>
                                      <p:to>
                                        <p:strVal val="visible"/>
                                      </p:to>
                                    </p:set>
                                    <p:animEffect filter="fade" transition="in">
                                      <p:cBhvr>
                                        <p:cTn dur="500"/>
                                        <p:tgtEl>
                                          <p:spTgt spid="9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3" st="3"/>
                                            </p:txEl>
                                          </p:spTgt>
                                        </p:tgtEl>
                                        <p:attrNameLst>
                                          <p:attrName>style.visibility</p:attrName>
                                        </p:attrNameLst>
                                      </p:cBhvr>
                                      <p:to>
                                        <p:strVal val="visible"/>
                                      </p:to>
                                    </p:set>
                                    <p:animEffect filter="fade" transition="in">
                                      <p:cBhvr>
                                        <p:cTn dur="500"/>
                                        <p:tgtEl>
                                          <p:spTgt spid="9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4" st="4"/>
                                            </p:txEl>
                                          </p:spTgt>
                                        </p:tgtEl>
                                        <p:attrNameLst>
                                          <p:attrName>style.visibility</p:attrName>
                                        </p:attrNameLst>
                                      </p:cBhvr>
                                      <p:to>
                                        <p:strVal val="visible"/>
                                      </p:to>
                                    </p:set>
                                    <p:animEffect filter="fade" transition="in">
                                      <p:cBhvr>
                                        <p:cTn dur="500"/>
                                        <p:tgtEl>
                                          <p:spTgt spid="9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5" st="5"/>
                                            </p:txEl>
                                          </p:spTgt>
                                        </p:tgtEl>
                                        <p:attrNameLst>
                                          <p:attrName>style.visibility</p:attrName>
                                        </p:attrNameLst>
                                      </p:cBhvr>
                                      <p:to>
                                        <p:strVal val="visible"/>
                                      </p:to>
                                    </p:set>
                                    <p:animEffect filter="fade" transition="in">
                                      <p:cBhvr>
                                        <p:cTn dur="500"/>
                                        <p:tgtEl>
                                          <p:spTgt spid="9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6" st="6"/>
                                            </p:txEl>
                                          </p:spTgt>
                                        </p:tgtEl>
                                        <p:attrNameLst>
                                          <p:attrName>style.visibility</p:attrName>
                                        </p:attrNameLst>
                                      </p:cBhvr>
                                      <p:to>
                                        <p:strVal val="visible"/>
                                      </p:to>
                                    </p:set>
                                    <p:animEffect filter="fade" transition="in">
                                      <p:cBhvr>
                                        <p:cTn dur="500"/>
                                        <p:tgtEl>
                                          <p:spTgt spid="9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7" st="7"/>
                                            </p:txEl>
                                          </p:spTgt>
                                        </p:tgtEl>
                                        <p:attrNameLst>
                                          <p:attrName>style.visibility</p:attrName>
                                        </p:attrNameLst>
                                      </p:cBhvr>
                                      <p:to>
                                        <p:strVal val="visible"/>
                                      </p:to>
                                    </p:set>
                                    <p:animEffect filter="fade" transition="in">
                                      <p:cBhvr>
                                        <p:cTn dur="500"/>
                                        <p:tgtEl>
                                          <p:spTgt spid="9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8" st="8"/>
                                            </p:txEl>
                                          </p:spTgt>
                                        </p:tgtEl>
                                        <p:attrNameLst>
                                          <p:attrName>style.visibility</p:attrName>
                                        </p:attrNameLst>
                                      </p:cBhvr>
                                      <p:to>
                                        <p:strVal val="visible"/>
                                      </p:to>
                                    </p:set>
                                    <p:animEffect filter="fade" transition="in">
                                      <p:cBhvr>
                                        <p:cTn dur="500"/>
                                        <p:tgtEl>
                                          <p:spTgt spid="9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9" st="9"/>
                                            </p:txEl>
                                          </p:spTgt>
                                        </p:tgtEl>
                                        <p:attrNameLst>
                                          <p:attrName>style.visibility</p:attrName>
                                        </p:attrNameLst>
                                      </p:cBhvr>
                                      <p:to>
                                        <p:strVal val="visible"/>
                                      </p:to>
                                    </p:set>
                                    <p:animEffect filter="fade" transition="in">
                                      <p:cBhvr>
                                        <p:cTn dur="500"/>
                                        <p:tgtEl>
                                          <p:spTgt spid="97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71"/>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Cờ hiệu được tiến trình sử dụng để gửi tín hiệu trước khi vào và sau khi ra khỏi đoạn nguy hiểm</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tiến trình cần truy cập tài nguyên, thực hiện thao tác Wait của cờ hiệu tương ứng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Giá trị cờ hiệu âm: </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Tài nguyên được sử dụng hết khả năng</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thực hiện Wait sẽ bị phong tỏa đến khi tài nguyên được giải phóng</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tiến trình khác thực hiện Wait trên cờ hiệu, giá trị cờ hiệu sẽ giảm tiếp</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Giá trị tuyệt đối của cờ hiệu âm tương ứng với số tiến trình bị phong tỏa</a:t>
            </a:r>
            <a:endParaRPr b="0" i="0" sz="1800" u="none" cap="none" strike="noStrik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Sau khi dùng xong tài nguyên, tiến trình thực hiện thao tác Signal trên cùng cờ hiệu: tăng giá trị cờ hiệu và cho phép một tiến trình đang phong tỏa được thực hiện tiếp</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90" name="Google Shape;990;p7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991" name="Google Shape;991;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2" name="Google Shape;992;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3" name="Google Shape;993;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4" name="Google Shape;994;p7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0" st="0"/>
                                            </p:txEl>
                                          </p:spTgt>
                                        </p:tgtEl>
                                        <p:attrNameLst>
                                          <p:attrName>style.visibility</p:attrName>
                                        </p:attrNameLst>
                                      </p:cBhvr>
                                      <p:to>
                                        <p:strVal val="visible"/>
                                      </p:to>
                                    </p:set>
                                    <p:animEffect filter="fade" transition="in">
                                      <p:cBhvr>
                                        <p:cTn dur="500"/>
                                        <p:tgtEl>
                                          <p:spTgt spid="9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 st="1"/>
                                            </p:txEl>
                                          </p:spTgt>
                                        </p:tgtEl>
                                        <p:attrNameLst>
                                          <p:attrName>style.visibility</p:attrName>
                                        </p:attrNameLst>
                                      </p:cBhvr>
                                      <p:to>
                                        <p:strVal val="visible"/>
                                      </p:to>
                                    </p:set>
                                    <p:animEffect filter="fade" transition="in">
                                      <p:cBhvr>
                                        <p:cTn dur="500"/>
                                        <p:tgtEl>
                                          <p:spTgt spid="9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2" st="2"/>
                                            </p:txEl>
                                          </p:spTgt>
                                        </p:tgtEl>
                                        <p:attrNameLst>
                                          <p:attrName>style.visibility</p:attrName>
                                        </p:attrNameLst>
                                      </p:cBhvr>
                                      <p:to>
                                        <p:strVal val="visible"/>
                                      </p:to>
                                    </p:set>
                                    <p:animEffect filter="fade" transition="in">
                                      <p:cBhvr>
                                        <p:cTn dur="500"/>
                                        <p:tgtEl>
                                          <p:spTgt spid="9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3" st="3"/>
                                            </p:txEl>
                                          </p:spTgt>
                                        </p:tgtEl>
                                        <p:attrNameLst>
                                          <p:attrName>style.visibility</p:attrName>
                                        </p:attrNameLst>
                                      </p:cBhvr>
                                      <p:to>
                                        <p:strVal val="visible"/>
                                      </p:to>
                                    </p:set>
                                    <p:animEffect filter="fade" transition="in">
                                      <p:cBhvr>
                                        <p:cTn dur="500"/>
                                        <p:tgtEl>
                                          <p:spTgt spid="9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4" st="4"/>
                                            </p:txEl>
                                          </p:spTgt>
                                        </p:tgtEl>
                                        <p:attrNameLst>
                                          <p:attrName>style.visibility</p:attrName>
                                        </p:attrNameLst>
                                      </p:cBhvr>
                                      <p:to>
                                        <p:strVal val="visible"/>
                                      </p:to>
                                    </p:set>
                                    <p:animEffect filter="fade" transition="in">
                                      <p:cBhvr>
                                        <p:cTn dur="500"/>
                                        <p:tgtEl>
                                          <p:spTgt spid="9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5" st="5"/>
                                            </p:txEl>
                                          </p:spTgt>
                                        </p:tgtEl>
                                        <p:attrNameLst>
                                          <p:attrName>style.visibility</p:attrName>
                                        </p:attrNameLst>
                                      </p:cBhvr>
                                      <p:to>
                                        <p:strVal val="visible"/>
                                      </p:to>
                                    </p:set>
                                    <p:animEffect filter="fade" transition="in">
                                      <p:cBhvr>
                                        <p:cTn dur="500"/>
                                        <p:tgtEl>
                                          <p:spTgt spid="9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6" st="6"/>
                                            </p:txEl>
                                          </p:spTgt>
                                        </p:tgtEl>
                                        <p:attrNameLst>
                                          <p:attrName>style.visibility</p:attrName>
                                        </p:attrNameLst>
                                      </p:cBhvr>
                                      <p:to>
                                        <p:strVal val="visible"/>
                                      </p:to>
                                    </p:set>
                                    <p:animEffect filter="fade" transition="in">
                                      <p:cBhvr>
                                        <p:cTn dur="500"/>
                                        <p:tgtEl>
                                          <p:spTgt spid="9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7" st="7"/>
                                            </p:txEl>
                                          </p:spTgt>
                                        </p:tgtEl>
                                        <p:attrNameLst>
                                          <p:attrName>style.visibility</p:attrName>
                                        </p:attrNameLst>
                                      </p:cBhvr>
                                      <p:to>
                                        <p:strVal val="visible"/>
                                      </p:to>
                                    </p:set>
                                    <p:animEffect filter="fade" transition="in">
                                      <p:cBhvr>
                                        <p:cTn dur="500"/>
                                        <p:tgtEl>
                                          <p:spTgt spid="9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8" st="8"/>
                                            </p:txEl>
                                          </p:spTgt>
                                        </p:tgtEl>
                                        <p:attrNameLst>
                                          <p:attrName>style.visibility</p:attrName>
                                        </p:attrNameLst>
                                      </p:cBhvr>
                                      <p:to>
                                        <p:strVal val="visible"/>
                                      </p:to>
                                    </p:set>
                                    <p:animEffect filter="fade" transition="in">
                                      <p:cBhvr>
                                        <p:cTn dur="500"/>
                                        <p:tgtEl>
                                          <p:spTgt spid="9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9" st="9"/>
                                            </p:txEl>
                                          </p:spTgt>
                                        </p:tgtEl>
                                        <p:attrNameLst>
                                          <p:attrName>style.visibility</p:attrName>
                                        </p:attrNameLst>
                                      </p:cBhvr>
                                      <p:to>
                                        <p:strVal val="visible"/>
                                      </p:to>
                                    </p:set>
                                    <p:animEffect filter="fade" transition="in">
                                      <p:cBhvr>
                                        <p:cTn dur="500"/>
                                        <p:tgtEl>
                                          <p:spTgt spid="9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0" st="10"/>
                                            </p:txEl>
                                          </p:spTgt>
                                        </p:tgtEl>
                                        <p:attrNameLst>
                                          <p:attrName>style.visibility</p:attrName>
                                        </p:attrNameLst>
                                      </p:cBhvr>
                                      <p:to>
                                        <p:strVal val="visible"/>
                                      </p:to>
                                    </p:set>
                                    <p:animEffect filter="fade" transition="in">
                                      <p:cBhvr>
                                        <p:cTn dur="500"/>
                                        <p:tgtEl>
                                          <p:spTgt spid="9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1" st="11"/>
                                            </p:txEl>
                                          </p:spTgt>
                                        </p:tgtEl>
                                        <p:attrNameLst>
                                          <p:attrName>style.visibility</p:attrName>
                                        </p:attrNameLst>
                                      </p:cBhvr>
                                      <p:to>
                                        <p:strVal val="visible"/>
                                      </p:to>
                                    </p:set>
                                    <p:animEffect filter="fade" transition="in">
                                      <p:cBhvr>
                                        <p:cTn dur="500"/>
                                        <p:tgtEl>
                                          <p:spTgt spid="9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2" st="12"/>
                                            </p:txEl>
                                          </p:spTgt>
                                        </p:tgtEl>
                                        <p:attrNameLst>
                                          <p:attrName>style.visibility</p:attrName>
                                        </p:attrNameLst>
                                      </p:cBhvr>
                                      <p:to>
                                        <p:strVal val="visible"/>
                                      </p:to>
                                    </p:set>
                                    <p:animEffect filter="fade" transition="in">
                                      <p:cBhvr>
                                        <p:cTn dur="500"/>
                                        <p:tgtEl>
                                          <p:spTgt spid="98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xEl>
                                              <p:pRg end="13" st="13"/>
                                            </p:txEl>
                                          </p:spTgt>
                                        </p:tgtEl>
                                        <p:attrNameLst>
                                          <p:attrName>style.visibility</p:attrName>
                                        </p:attrNameLst>
                                      </p:cBhvr>
                                      <p:to>
                                        <p:strVal val="visible"/>
                                      </p:to>
                                    </p:set>
                                    <p:animEffect filter="fade" transition="in">
                                      <p:cBhvr>
                                        <p:cTn dur="500"/>
                                        <p:tgtEl>
                                          <p:spTgt spid="98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7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01" name="Google Shape;1001;p72"/>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Cờ hiệu (tt)</a:t>
            </a:r>
            <a:br>
              <a:rPr b="1" i="0" lang="en-US" sz="2500" u="none">
                <a:solidFill>
                  <a:srgbClr val="000066"/>
                </a:solidFill>
                <a:latin typeface="Times New Roman"/>
                <a:ea typeface="Times New Roman"/>
                <a:cs typeface="Times New Roman"/>
                <a:sym typeface="Times New Roman"/>
              </a:rPr>
            </a:br>
            <a:endParaRPr/>
          </a:p>
        </p:txBody>
      </p:sp>
      <p:sp>
        <p:nvSpPr>
          <p:cNvPr id="1002" name="Google Shape;1002;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3" name="Google Shape;1003;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4" name="Google Shape;1004;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05" name="Google Shape;1005;p72"/>
          <p:cNvGraphicFramePr/>
          <p:nvPr/>
        </p:nvGraphicFramePr>
        <p:xfrm>
          <a:off x="1143000" y="952500"/>
          <a:ext cx="3000000" cy="3000000"/>
        </p:xfrm>
        <a:graphic>
          <a:graphicData uri="http://schemas.openxmlformats.org/drawingml/2006/table">
            <a:tbl>
              <a:tblPr>
                <a:noFill/>
                <a:tableStyleId>{4128A9BA-1566-4610-BFC4-80AE836C2761}</a:tableStyleId>
              </a:tblPr>
              <a:tblGrid>
                <a:gridCol w="6858000"/>
              </a:tblGrid>
              <a:tr h="5029200">
                <a:tc>
                  <a:txBody>
                    <a:bodyPr/>
                    <a:lstStyle/>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const int n; //n là số lượng tiến trình</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semaphore S = 1;</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void P(int i){    //tiến trình P(i)</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for(;;){    //lặp vô hạn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Wait(S);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&lt;Đoạn nguy hiểm&gt;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Signal(S);</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&lt;Phần còn lại của tiến trình&gt;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void main(){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//tắt tiến trình chính, chạy đồng thời n tiến trình</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StartProcess(P(1));</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	StartProcess(P(n));</a:t>
                      </a:r>
                      <a:endParaRPr/>
                    </a:p>
                    <a:p>
                      <a:pPr indent="0" lvl="0" marL="0" marR="0" rtl="0" algn="just">
                        <a:lnSpc>
                          <a:spcPct val="115000"/>
                        </a:lnSpc>
                        <a:spcBef>
                          <a:spcPts val="0"/>
                        </a:spcBef>
                        <a:spcAft>
                          <a:spcPts val="0"/>
                        </a:spcAft>
                        <a:buClr>
                          <a:schemeClr val="dk1"/>
                        </a:buClr>
                        <a:buSzPts val="1800"/>
                        <a:buFont typeface="Monda"/>
                        <a:buNone/>
                      </a:pPr>
                      <a:r>
                        <a:rPr b="0" i="0" lang="en-US" sz="1800" u="none" cap="none" strike="noStrike">
                          <a:solidFill>
                            <a:schemeClr val="dk1"/>
                          </a:solidFill>
                          <a:latin typeface="Monda"/>
                          <a:ea typeface="Monda"/>
                          <a:cs typeface="Monda"/>
                          <a:sym typeface="Monda"/>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06" name="Google Shape;1006;p7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0" st="0"/>
                                            </p:txEl>
                                          </p:spTgt>
                                        </p:tgtEl>
                                        <p:attrNameLst>
                                          <p:attrName>style.visibility</p:attrName>
                                        </p:attrNameLst>
                                      </p:cBhvr>
                                      <p:to>
                                        <p:strVal val="visible"/>
                                      </p:to>
                                    </p:set>
                                    <p:animEffect filter="fade" transition="in">
                                      <p:cBhvr>
                                        <p:cTn dur="500"/>
                                        <p:tgtEl>
                                          <p:spTgt spid="10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1" st="1"/>
                                            </p:txEl>
                                          </p:spTgt>
                                        </p:tgtEl>
                                        <p:attrNameLst>
                                          <p:attrName>style.visibility</p:attrName>
                                        </p:attrNameLst>
                                      </p:cBhvr>
                                      <p:to>
                                        <p:strVal val="visible"/>
                                      </p:to>
                                    </p:set>
                                    <p:animEffect filter="fade" transition="in">
                                      <p:cBhvr>
                                        <p:cTn dur="500"/>
                                        <p:tgtEl>
                                          <p:spTgt spid="10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2" st="2"/>
                                            </p:txEl>
                                          </p:spTgt>
                                        </p:tgtEl>
                                        <p:attrNameLst>
                                          <p:attrName>style.visibility</p:attrName>
                                        </p:attrNameLst>
                                      </p:cBhvr>
                                      <p:to>
                                        <p:strVal val="visible"/>
                                      </p:to>
                                    </p:set>
                                    <p:animEffect filter="fade" transition="in">
                                      <p:cBhvr>
                                        <p:cTn dur="500"/>
                                        <p:tgtEl>
                                          <p:spTgt spid="10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3" st="3"/>
                                            </p:txEl>
                                          </p:spTgt>
                                        </p:tgtEl>
                                        <p:attrNameLst>
                                          <p:attrName>style.visibility</p:attrName>
                                        </p:attrNameLst>
                                      </p:cBhvr>
                                      <p:to>
                                        <p:strVal val="visible"/>
                                      </p:to>
                                    </p:set>
                                    <p:animEffect filter="fade" transition="in">
                                      <p:cBhvr>
                                        <p:cTn dur="500"/>
                                        <p:tgtEl>
                                          <p:spTgt spid="10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4" st="4"/>
                                            </p:txEl>
                                          </p:spTgt>
                                        </p:tgtEl>
                                        <p:attrNameLst>
                                          <p:attrName>style.visibility</p:attrName>
                                        </p:attrNameLst>
                                      </p:cBhvr>
                                      <p:to>
                                        <p:strVal val="visible"/>
                                      </p:to>
                                    </p:set>
                                    <p:animEffect filter="fade" transition="in">
                                      <p:cBhvr>
                                        <p:cTn dur="500"/>
                                        <p:tgtEl>
                                          <p:spTgt spid="10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5" st="5"/>
                                            </p:txEl>
                                          </p:spTgt>
                                        </p:tgtEl>
                                        <p:attrNameLst>
                                          <p:attrName>style.visibility</p:attrName>
                                        </p:attrNameLst>
                                      </p:cBhvr>
                                      <p:to>
                                        <p:strVal val="visible"/>
                                      </p:to>
                                    </p:set>
                                    <p:animEffect filter="fade" transition="in">
                                      <p:cBhvr>
                                        <p:cTn dur="500"/>
                                        <p:tgtEl>
                                          <p:spTgt spid="10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0">
                                            <p:txEl>
                                              <p:pRg end="6" st="6"/>
                                            </p:txEl>
                                          </p:spTgt>
                                        </p:tgtEl>
                                        <p:attrNameLst>
                                          <p:attrName>style.visibility</p:attrName>
                                        </p:attrNameLst>
                                      </p:cBhvr>
                                      <p:to>
                                        <p:strVal val="visible"/>
                                      </p:to>
                                    </p:set>
                                    <p:animEffect filter="fade" transition="in">
                                      <p:cBhvr>
                                        <p:cTn dur="500"/>
                                        <p:tgtEl>
                                          <p:spTgt spid="100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3"/>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Bài toán triết gia ăn cơm: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5 triết gia ngồi trên ghế quanh 1 bàn tròn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Trên bàn có 5 cái đũa: bên phải và bên trái mỗi người có 1 cái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Triết gia có thể nhặt 2 chiếc đũa theo thứ tự bất kì: phải nhặt từng chiếc một và đũa không nằm trong tay người khác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cầm được cả 2 đũa: triết gia bắt đầu ăn và không đặt đũa trong thời gian ăn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Sau khi ăn xong, triết gia đặt 2 đũa xuống bàn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5 triết gia như 5 tiến trình đồng thời với tài nguyên nguy hiểm là đũa và đoạn nguy hiểm là đoạn dùng đũa để ăn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Cờ hiệu cho phép giải quyết bài toán như sau:</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Mỗi đũa được biểu diễn bằng 1 cờ hiệu</a:t>
            </a:r>
            <a:endParaRPr/>
          </a:p>
          <a:p>
            <a:pPr indent="-514349" lvl="2" marL="1189037" marR="0" rtl="0" algn="l">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Nhặt đũa: wait(); đặt đũa xuống: signal()</a:t>
            </a:r>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13" name="Google Shape;1013;p7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a:t>
            </a:r>
            <a:br>
              <a:rPr b="1" i="0" lang="en-US" sz="2500" u="none">
                <a:solidFill>
                  <a:srgbClr val="000066"/>
                </a:solidFill>
                <a:latin typeface="Times New Roman"/>
                <a:ea typeface="Times New Roman"/>
                <a:cs typeface="Times New Roman"/>
                <a:sym typeface="Times New Roman"/>
              </a:rPr>
            </a:br>
            <a:endParaRPr/>
          </a:p>
        </p:txBody>
      </p:sp>
      <p:sp>
        <p:nvSpPr>
          <p:cNvPr id="1014" name="Google Shape;1014;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5" name="Google Shape;1015;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6" name="Google Shape;1016;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7" name="Google Shape;1017;p7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0" st="0"/>
                                            </p:txEl>
                                          </p:spTgt>
                                        </p:tgtEl>
                                        <p:attrNameLst>
                                          <p:attrName>style.visibility</p:attrName>
                                        </p:attrNameLst>
                                      </p:cBhvr>
                                      <p:to>
                                        <p:strVal val="visible"/>
                                      </p:to>
                                    </p:set>
                                    <p:animEffect filter="fade" transition="in">
                                      <p:cBhvr>
                                        <p:cTn dur="500"/>
                                        <p:tgtEl>
                                          <p:spTgt spid="10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 st="1"/>
                                            </p:txEl>
                                          </p:spTgt>
                                        </p:tgtEl>
                                        <p:attrNameLst>
                                          <p:attrName>style.visibility</p:attrName>
                                        </p:attrNameLst>
                                      </p:cBhvr>
                                      <p:to>
                                        <p:strVal val="visible"/>
                                      </p:to>
                                    </p:set>
                                    <p:animEffect filter="fade" transition="in">
                                      <p:cBhvr>
                                        <p:cTn dur="500"/>
                                        <p:tgtEl>
                                          <p:spTgt spid="10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2" st="2"/>
                                            </p:txEl>
                                          </p:spTgt>
                                        </p:tgtEl>
                                        <p:attrNameLst>
                                          <p:attrName>style.visibility</p:attrName>
                                        </p:attrNameLst>
                                      </p:cBhvr>
                                      <p:to>
                                        <p:strVal val="visible"/>
                                      </p:to>
                                    </p:set>
                                    <p:animEffect filter="fade" transition="in">
                                      <p:cBhvr>
                                        <p:cTn dur="500"/>
                                        <p:tgtEl>
                                          <p:spTgt spid="10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3" st="3"/>
                                            </p:txEl>
                                          </p:spTgt>
                                        </p:tgtEl>
                                        <p:attrNameLst>
                                          <p:attrName>style.visibility</p:attrName>
                                        </p:attrNameLst>
                                      </p:cBhvr>
                                      <p:to>
                                        <p:strVal val="visible"/>
                                      </p:to>
                                    </p:set>
                                    <p:animEffect filter="fade" transition="in">
                                      <p:cBhvr>
                                        <p:cTn dur="500"/>
                                        <p:tgtEl>
                                          <p:spTgt spid="10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4" st="4"/>
                                            </p:txEl>
                                          </p:spTgt>
                                        </p:tgtEl>
                                        <p:attrNameLst>
                                          <p:attrName>style.visibility</p:attrName>
                                        </p:attrNameLst>
                                      </p:cBhvr>
                                      <p:to>
                                        <p:strVal val="visible"/>
                                      </p:to>
                                    </p:set>
                                    <p:animEffect filter="fade" transition="in">
                                      <p:cBhvr>
                                        <p:cTn dur="500"/>
                                        <p:tgtEl>
                                          <p:spTgt spid="10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5" st="5"/>
                                            </p:txEl>
                                          </p:spTgt>
                                        </p:tgtEl>
                                        <p:attrNameLst>
                                          <p:attrName>style.visibility</p:attrName>
                                        </p:attrNameLst>
                                      </p:cBhvr>
                                      <p:to>
                                        <p:strVal val="visible"/>
                                      </p:to>
                                    </p:set>
                                    <p:animEffect filter="fade" transition="in">
                                      <p:cBhvr>
                                        <p:cTn dur="500"/>
                                        <p:tgtEl>
                                          <p:spTgt spid="10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6" st="6"/>
                                            </p:txEl>
                                          </p:spTgt>
                                        </p:tgtEl>
                                        <p:attrNameLst>
                                          <p:attrName>style.visibility</p:attrName>
                                        </p:attrNameLst>
                                      </p:cBhvr>
                                      <p:to>
                                        <p:strVal val="visible"/>
                                      </p:to>
                                    </p:set>
                                    <p:animEffect filter="fade" transition="in">
                                      <p:cBhvr>
                                        <p:cTn dur="500"/>
                                        <p:tgtEl>
                                          <p:spTgt spid="10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7" st="7"/>
                                            </p:txEl>
                                          </p:spTgt>
                                        </p:tgtEl>
                                        <p:attrNameLst>
                                          <p:attrName>style.visibility</p:attrName>
                                        </p:attrNameLst>
                                      </p:cBhvr>
                                      <p:to>
                                        <p:strVal val="visible"/>
                                      </p:to>
                                    </p:set>
                                    <p:animEffect filter="fade" transition="in">
                                      <p:cBhvr>
                                        <p:cTn dur="500"/>
                                        <p:tgtEl>
                                          <p:spTgt spid="10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8" st="8"/>
                                            </p:txEl>
                                          </p:spTgt>
                                        </p:tgtEl>
                                        <p:attrNameLst>
                                          <p:attrName>style.visibility</p:attrName>
                                        </p:attrNameLst>
                                      </p:cBhvr>
                                      <p:to>
                                        <p:strVal val="visible"/>
                                      </p:to>
                                    </p:set>
                                    <p:animEffect filter="fade" transition="in">
                                      <p:cBhvr>
                                        <p:cTn dur="500"/>
                                        <p:tgtEl>
                                          <p:spTgt spid="10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9" st="9"/>
                                            </p:txEl>
                                          </p:spTgt>
                                        </p:tgtEl>
                                        <p:attrNameLst>
                                          <p:attrName>style.visibility</p:attrName>
                                        </p:attrNameLst>
                                      </p:cBhvr>
                                      <p:to>
                                        <p:strVal val="visible"/>
                                      </p:to>
                                    </p:set>
                                    <p:animEffect filter="fade" transition="in">
                                      <p:cBhvr>
                                        <p:cTn dur="500"/>
                                        <p:tgtEl>
                                          <p:spTgt spid="10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0" st="10"/>
                                            </p:txEl>
                                          </p:spTgt>
                                        </p:tgtEl>
                                        <p:attrNameLst>
                                          <p:attrName>style.visibility</p:attrName>
                                        </p:attrNameLst>
                                      </p:cBhvr>
                                      <p:to>
                                        <p:strVal val="visible"/>
                                      </p:to>
                                    </p:set>
                                    <p:animEffect filter="fade" transition="in">
                                      <p:cBhvr>
                                        <p:cTn dur="500"/>
                                        <p:tgtEl>
                                          <p:spTgt spid="10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1" st="11"/>
                                            </p:txEl>
                                          </p:spTgt>
                                        </p:tgtEl>
                                        <p:attrNameLst>
                                          <p:attrName>style.visibility</p:attrName>
                                        </p:attrNameLst>
                                      </p:cBhvr>
                                      <p:to>
                                        <p:strVal val="visible"/>
                                      </p:to>
                                    </p:set>
                                    <p:animEffect filter="fade" transition="in">
                                      <p:cBhvr>
                                        <p:cTn dur="500"/>
                                        <p:tgtEl>
                                          <p:spTgt spid="101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2" st="12"/>
                                            </p:txEl>
                                          </p:spTgt>
                                        </p:tgtEl>
                                        <p:attrNameLst>
                                          <p:attrName>style.visibility</p:attrName>
                                        </p:attrNameLst>
                                      </p:cBhvr>
                                      <p:to>
                                        <p:strVal val="visible"/>
                                      </p:to>
                                    </p:set>
                                    <p:animEffect filter="fade" transition="in">
                                      <p:cBhvr>
                                        <p:cTn dur="500"/>
                                        <p:tgtEl>
                                          <p:spTgt spid="101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3" st="13"/>
                                            </p:txEl>
                                          </p:spTgt>
                                        </p:tgtEl>
                                        <p:attrNameLst>
                                          <p:attrName>style.visibility</p:attrName>
                                        </p:attrNameLst>
                                      </p:cBhvr>
                                      <p:to>
                                        <p:strVal val="visible"/>
                                      </p:to>
                                    </p:set>
                                    <p:animEffect filter="fade" transition="in">
                                      <p:cBhvr>
                                        <p:cTn dur="500"/>
                                        <p:tgtEl>
                                          <p:spTgt spid="101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4" st="14"/>
                                            </p:txEl>
                                          </p:spTgt>
                                        </p:tgtEl>
                                        <p:attrNameLst>
                                          <p:attrName>style.visibility</p:attrName>
                                        </p:attrNameLst>
                                      </p:cBhvr>
                                      <p:to>
                                        <p:strVal val="visible"/>
                                      </p:to>
                                    </p:set>
                                    <p:animEffect filter="fade" transition="in">
                                      <p:cBhvr>
                                        <p:cTn dur="500"/>
                                        <p:tgtEl>
                                          <p:spTgt spid="101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5" st="15"/>
                                            </p:txEl>
                                          </p:spTgt>
                                        </p:tgtEl>
                                        <p:attrNameLst>
                                          <p:attrName>style.visibility</p:attrName>
                                        </p:attrNameLst>
                                      </p:cBhvr>
                                      <p:to>
                                        <p:strVal val="visible"/>
                                      </p:to>
                                    </p:set>
                                    <p:animEffect filter="fade" transition="in">
                                      <p:cBhvr>
                                        <p:cTn dur="500"/>
                                        <p:tgtEl>
                                          <p:spTgt spid="1012">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xEl>
                                              <p:pRg end="16" st="16"/>
                                            </p:txEl>
                                          </p:spTgt>
                                        </p:tgtEl>
                                        <p:attrNameLst>
                                          <p:attrName>style.visibility</p:attrName>
                                        </p:attrNameLst>
                                      </p:cBhvr>
                                      <p:to>
                                        <p:strVal val="visible"/>
                                      </p:to>
                                    </p:set>
                                    <p:animEffect filter="fade" transition="in">
                                      <p:cBhvr>
                                        <p:cTn dur="500"/>
                                        <p:tgtEl>
                                          <p:spTgt spid="1012">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4"/>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a:pPr>
            <a:r>
              <a:rPr b="0" i="0" lang="en-US" sz="2800" u="none">
                <a:solidFill>
                  <a:schemeClr val="dk2"/>
                </a:solidFill>
                <a:latin typeface="Times New Roman"/>
                <a:ea typeface="Times New Roman"/>
                <a:cs typeface="Times New Roman"/>
                <a:sym typeface="Times New Roman"/>
              </a:rPr>
              <a:t>Bài toán triết gia ăn cơm:</a:t>
            </a:r>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24" name="Google Shape;1024;p7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25" name="Google Shape;1025;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6" name="Google Shape;1026;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7" name="Google Shape;1027;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28" name="Google Shape;1028;p74"/>
          <p:cNvGraphicFramePr/>
          <p:nvPr/>
        </p:nvGraphicFramePr>
        <p:xfrm>
          <a:off x="685800" y="1219200"/>
          <a:ext cx="3000000" cy="3000000"/>
        </p:xfrm>
        <a:graphic>
          <a:graphicData uri="http://schemas.openxmlformats.org/drawingml/2006/table">
            <a:tbl>
              <a:tblPr>
                <a:noFill/>
                <a:tableStyleId>{4128A9BA-1566-4610-BFC4-80AE836C2761}</a:tableStyleId>
              </a:tblPr>
              <a:tblGrid>
                <a:gridCol w="7772400"/>
              </a:tblGrid>
              <a:tr h="5083175">
                <a:tc>
                  <a:txBody>
                    <a:bodyPr/>
                    <a:lstStyle/>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semaphore chopstick[5] = {1,1,1,1,1};</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void Philosopher(int i){    	//tiến trình P(i)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for(;;){    //lặp vô hạn</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Wait(chopstick[i]);		//lấy đũa bên trái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Wait(chopstick[(i+1)%5]);	//lấy đũa bên phải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&lt;Ăn cơm&gt;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Signal(chopstick[(i+1)%5]);</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Signal(chopstick[i]);</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&lt;Suy nghĩ&gt;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void main(){</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chạy đồng thời 5 tiến trình</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StartProcess(Philosopher(0));</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a:t>
                      </a:r>
                      <a:endParaRPr/>
                    </a:p>
                    <a:p>
                      <a:pPr indent="0" lvl="0" marL="0" marR="0" rtl="0" algn="just">
                        <a:lnSpc>
                          <a:spcPct val="115000"/>
                        </a:lnSpc>
                        <a:spcBef>
                          <a:spcPts val="0"/>
                        </a:spcBef>
                        <a:spcAft>
                          <a:spcPts val="0"/>
                        </a:spcAft>
                        <a:buClr>
                          <a:schemeClr val="dk1"/>
                        </a:buClr>
                        <a:buSzPts val="1700"/>
                        <a:buFont typeface="Arial"/>
                        <a:buNone/>
                      </a:pPr>
                      <a:r>
                        <a:rPr b="0" i="0" lang="en-US" sz="1700" u="none" cap="none" strike="noStrike">
                          <a:solidFill>
                            <a:schemeClr val="dk1"/>
                          </a:solidFill>
                          <a:latin typeface="Arial"/>
                          <a:ea typeface="Arial"/>
                          <a:cs typeface="Arial"/>
                          <a:sym typeface="Arial"/>
                        </a:rPr>
                        <a:t>	StartProcess(Philosopher (4));</a:t>
                      </a:r>
                      <a:endParaRPr/>
                    </a:p>
                    <a:p>
                      <a:pPr indent="0" lvl="0" marL="0" marR="0" rtl="0" algn="just">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29" name="Google Shape;1029;p7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0" st="0"/>
                                            </p:txEl>
                                          </p:spTgt>
                                        </p:tgtEl>
                                        <p:attrNameLst>
                                          <p:attrName>style.visibility</p:attrName>
                                        </p:attrNameLst>
                                      </p:cBhvr>
                                      <p:to>
                                        <p:strVal val="visible"/>
                                      </p:to>
                                    </p:set>
                                    <p:animEffect filter="fade" transition="in">
                                      <p:cBhvr>
                                        <p:cTn dur="500"/>
                                        <p:tgtEl>
                                          <p:spTgt spid="10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1" st="1"/>
                                            </p:txEl>
                                          </p:spTgt>
                                        </p:tgtEl>
                                        <p:attrNameLst>
                                          <p:attrName>style.visibility</p:attrName>
                                        </p:attrNameLst>
                                      </p:cBhvr>
                                      <p:to>
                                        <p:strVal val="visible"/>
                                      </p:to>
                                    </p:set>
                                    <p:animEffect filter="fade" transition="in">
                                      <p:cBhvr>
                                        <p:cTn dur="500"/>
                                        <p:tgtEl>
                                          <p:spTgt spid="10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2" st="2"/>
                                            </p:txEl>
                                          </p:spTgt>
                                        </p:tgtEl>
                                        <p:attrNameLst>
                                          <p:attrName>style.visibility</p:attrName>
                                        </p:attrNameLst>
                                      </p:cBhvr>
                                      <p:to>
                                        <p:strVal val="visible"/>
                                      </p:to>
                                    </p:set>
                                    <p:animEffect filter="fade" transition="in">
                                      <p:cBhvr>
                                        <p:cTn dur="500"/>
                                        <p:tgtEl>
                                          <p:spTgt spid="10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3" st="3"/>
                                            </p:txEl>
                                          </p:spTgt>
                                        </p:tgtEl>
                                        <p:attrNameLst>
                                          <p:attrName>style.visibility</p:attrName>
                                        </p:attrNameLst>
                                      </p:cBhvr>
                                      <p:to>
                                        <p:strVal val="visible"/>
                                      </p:to>
                                    </p:set>
                                    <p:animEffect filter="fade" transition="in">
                                      <p:cBhvr>
                                        <p:cTn dur="500"/>
                                        <p:tgtEl>
                                          <p:spTgt spid="10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4" st="4"/>
                                            </p:txEl>
                                          </p:spTgt>
                                        </p:tgtEl>
                                        <p:attrNameLst>
                                          <p:attrName>style.visibility</p:attrName>
                                        </p:attrNameLst>
                                      </p:cBhvr>
                                      <p:to>
                                        <p:strVal val="visible"/>
                                      </p:to>
                                    </p:set>
                                    <p:animEffect filter="fade" transition="in">
                                      <p:cBhvr>
                                        <p:cTn dur="500"/>
                                        <p:tgtEl>
                                          <p:spTgt spid="10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5" st="5"/>
                                            </p:txEl>
                                          </p:spTgt>
                                        </p:tgtEl>
                                        <p:attrNameLst>
                                          <p:attrName>style.visibility</p:attrName>
                                        </p:attrNameLst>
                                      </p:cBhvr>
                                      <p:to>
                                        <p:strVal val="visible"/>
                                      </p:to>
                                    </p:set>
                                    <p:animEffect filter="fade" transition="in">
                                      <p:cBhvr>
                                        <p:cTn dur="500"/>
                                        <p:tgtEl>
                                          <p:spTgt spid="10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6" st="6"/>
                                            </p:txEl>
                                          </p:spTgt>
                                        </p:tgtEl>
                                        <p:attrNameLst>
                                          <p:attrName>style.visibility</p:attrName>
                                        </p:attrNameLst>
                                      </p:cBhvr>
                                      <p:to>
                                        <p:strVal val="visible"/>
                                      </p:to>
                                    </p:set>
                                    <p:animEffect filter="fade" transition="in">
                                      <p:cBhvr>
                                        <p:cTn dur="500"/>
                                        <p:tgtEl>
                                          <p:spTgt spid="10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7" st="7"/>
                                            </p:txEl>
                                          </p:spTgt>
                                        </p:tgtEl>
                                        <p:attrNameLst>
                                          <p:attrName>style.visibility</p:attrName>
                                        </p:attrNameLst>
                                      </p:cBhvr>
                                      <p:to>
                                        <p:strVal val="visible"/>
                                      </p:to>
                                    </p:set>
                                    <p:animEffect filter="fade" transition="in">
                                      <p:cBhvr>
                                        <p:cTn dur="500"/>
                                        <p:tgtEl>
                                          <p:spTgt spid="10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xEl>
                                              <p:pRg end="8" st="8"/>
                                            </p:txEl>
                                          </p:spTgt>
                                        </p:tgtEl>
                                        <p:attrNameLst>
                                          <p:attrName>style.visibility</p:attrName>
                                        </p:attrNameLst>
                                      </p:cBhvr>
                                      <p:to>
                                        <p:strVal val="visible"/>
                                      </p:to>
                                    </p:set>
                                    <p:animEffect filter="fade" transition="in">
                                      <p:cBhvr>
                                        <p:cTn dur="500"/>
                                        <p:tgtEl>
                                          <p:spTgt spid="102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7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 với bộ đệm hạn chế:</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Người sản xuất: tạo ra sản phẩm, xếp nó vào 1 chỗ gọi là bộ đệm, mỗi lần 1 sản phẩm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Người tiêu dùng: lấy sản phẩm từ bộ đệm, mỗi lần 1 sản phẩm, để sử dụng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Dung lượng bộ đệm hạn chế, chứa tối đa N sản phẩm</a:t>
            </a:r>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6" name="Google Shape;1036;p7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37" name="Google Shape;1037;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8" name="Google Shape;1038;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9" name="Google Shape;1039;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0" name="Google Shape;1040;p7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0" st="0"/>
                                            </p:txEl>
                                          </p:spTgt>
                                        </p:tgtEl>
                                        <p:attrNameLst>
                                          <p:attrName>style.visibility</p:attrName>
                                        </p:attrNameLst>
                                      </p:cBhvr>
                                      <p:to>
                                        <p:strVal val="visible"/>
                                      </p:to>
                                    </p:set>
                                    <p:animEffect filter="fade" transition="in">
                                      <p:cBhvr>
                                        <p:cTn dur="500"/>
                                        <p:tgtEl>
                                          <p:spTgt spid="10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1" st="1"/>
                                            </p:txEl>
                                          </p:spTgt>
                                        </p:tgtEl>
                                        <p:attrNameLst>
                                          <p:attrName>style.visibility</p:attrName>
                                        </p:attrNameLst>
                                      </p:cBhvr>
                                      <p:to>
                                        <p:strVal val="visible"/>
                                      </p:to>
                                    </p:set>
                                    <p:animEffect filter="fade" transition="in">
                                      <p:cBhvr>
                                        <p:cTn dur="500"/>
                                        <p:tgtEl>
                                          <p:spTgt spid="10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2" st="2"/>
                                            </p:txEl>
                                          </p:spTgt>
                                        </p:tgtEl>
                                        <p:attrNameLst>
                                          <p:attrName>style.visibility</p:attrName>
                                        </p:attrNameLst>
                                      </p:cBhvr>
                                      <p:to>
                                        <p:strVal val="visible"/>
                                      </p:to>
                                    </p:set>
                                    <p:animEffect filter="fade" transition="in">
                                      <p:cBhvr>
                                        <p:cTn dur="500"/>
                                        <p:tgtEl>
                                          <p:spTgt spid="10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3" st="3"/>
                                            </p:txEl>
                                          </p:spTgt>
                                        </p:tgtEl>
                                        <p:attrNameLst>
                                          <p:attrName>style.visibility</p:attrName>
                                        </p:attrNameLst>
                                      </p:cBhvr>
                                      <p:to>
                                        <p:strVal val="visible"/>
                                      </p:to>
                                    </p:set>
                                    <p:animEffect filter="fade" transition="in">
                                      <p:cBhvr>
                                        <p:cTn dur="500"/>
                                        <p:tgtEl>
                                          <p:spTgt spid="10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4" st="4"/>
                                            </p:txEl>
                                          </p:spTgt>
                                        </p:tgtEl>
                                        <p:attrNameLst>
                                          <p:attrName>style.visibility</p:attrName>
                                        </p:attrNameLst>
                                      </p:cBhvr>
                                      <p:to>
                                        <p:strVal val="visible"/>
                                      </p:to>
                                    </p:set>
                                    <p:animEffect filter="fade" transition="in">
                                      <p:cBhvr>
                                        <p:cTn dur="500"/>
                                        <p:tgtEl>
                                          <p:spTgt spid="10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5" st="5"/>
                                            </p:txEl>
                                          </p:spTgt>
                                        </p:tgtEl>
                                        <p:attrNameLst>
                                          <p:attrName>style.visibility</p:attrName>
                                        </p:attrNameLst>
                                      </p:cBhvr>
                                      <p:to>
                                        <p:strVal val="visible"/>
                                      </p:to>
                                    </p:set>
                                    <p:animEffect filter="fade" transition="in">
                                      <p:cBhvr>
                                        <p:cTn dur="500"/>
                                        <p:tgtEl>
                                          <p:spTgt spid="10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6" st="6"/>
                                            </p:txEl>
                                          </p:spTgt>
                                        </p:tgtEl>
                                        <p:attrNameLst>
                                          <p:attrName>style.visibility</p:attrName>
                                        </p:attrNameLst>
                                      </p:cBhvr>
                                      <p:to>
                                        <p:strVal val="visible"/>
                                      </p:to>
                                    </p:set>
                                    <p:animEffect filter="fade" transition="in">
                                      <p:cBhvr>
                                        <p:cTn dur="500"/>
                                        <p:tgtEl>
                                          <p:spTgt spid="10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7" st="7"/>
                                            </p:txEl>
                                          </p:spTgt>
                                        </p:tgtEl>
                                        <p:attrNameLst>
                                          <p:attrName>style.visibility</p:attrName>
                                        </p:attrNameLst>
                                      </p:cBhvr>
                                      <p:to>
                                        <p:strVal val="visible"/>
                                      </p:to>
                                    </p:set>
                                    <p:animEffect filter="fade" transition="in">
                                      <p:cBhvr>
                                        <p:cTn dur="500"/>
                                        <p:tgtEl>
                                          <p:spTgt spid="10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8" st="8"/>
                                            </p:txEl>
                                          </p:spTgt>
                                        </p:tgtEl>
                                        <p:attrNameLst>
                                          <p:attrName>style.visibility</p:attrName>
                                        </p:attrNameLst>
                                      </p:cBhvr>
                                      <p:to>
                                        <p:strVal val="visible"/>
                                      </p:to>
                                    </p:set>
                                    <p:animEffect filter="fade" transition="in">
                                      <p:cBhvr>
                                        <p:cTn dur="500"/>
                                        <p:tgtEl>
                                          <p:spTgt spid="10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9" st="9"/>
                                            </p:txEl>
                                          </p:spTgt>
                                        </p:tgtEl>
                                        <p:attrNameLst>
                                          <p:attrName>style.visibility</p:attrName>
                                        </p:attrNameLst>
                                      </p:cBhvr>
                                      <p:to>
                                        <p:strVal val="visible"/>
                                      </p:to>
                                    </p:set>
                                    <p:animEffect filter="fade" transition="in">
                                      <p:cBhvr>
                                        <p:cTn dur="500"/>
                                        <p:tgtEl>
                                          <p:spTgt spid="10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5">
                                            <p:txEl>
                                              <p:pRg end="10" st="10"/>
                                            </p:txEl>
                                          </p:spTgt>
                                        </p:tgtEl>
                                        <p:attrNameLst>
                                          <p:attrName>style.visibility</p:attrName>
                                        </p:attrNameLst>
                                      </p:cBhvr>
                                      <p:to>
                                        <p:strVal val="visible"/>
                                      </p:to>
                                    </p:set>
                                    <p:animEffect filter="fade" transition="in">
                                      <p:cBhvr>
                                        <p:cTn dur="500"/>
                                        <p:tgtEl>
                                          <p:spTgt spid="103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 với bộ đệm hạn chế:</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3 yêu cầu đồng bộ:</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Người sản xuất và tiêu dùng không được sử dụng bộ đệm cùng lúc</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Khi bộ đệm rỗng, người tiêu dùng không nên cố lấy sản phẩm</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Khi bộ đệm đầy, người sản xuất không được thêm sản phẩm</a:t>
            </a:r>
            <a:endParaRPr b="0" i="0" sz="2200" u="none" cap="none" strike="noStrik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Giải quyết bằng cờ hiệu:</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1: sử dụng cờ hiệu lock khởi tạo bằng 1</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2: cờ hiệu empty, khởi tạo bằng 0</a:t>
            </a:r>
            <a:endParaRPr/>
          </a:p>
          <a:p>
            <a:pPr indent="-514350" lvl="2" marL="1063625" marR="0" rtl="0" algn="l">
              <a:lnSpc>
                <a:spcPct val="100000"/>
              </a:lnSpc>
              <a:spcBef>
                <a:spcPts val="400"/>
              </a:spcBef>
              <a:spcAft>
                <a:spcPts val="0"/>
              </a:spcAft>
              <a:buClr>
                <a:schemeClr val="accent2"/>
              </a:buClr>
              <a:buSzPts val="2000"/>
              <a:buFont typeface="Times New Roman"/>
              <a:buAutoNum type="arabicPeriod"/>
            </a:pPr>
            <a:r>
              <a:rPr b="0" i="0" lang="en-US" sz="2000" u="none" cap="none" strike="noStrike">
                <a:solidFill>
                  <a:schemeClr val="dk2"/>
                </a:solidFill>
                <a:latin typeface="Times New Roman"/>
                <a:ea typeface="Times New Roman"/>
                <a:cs typeface="Times New Roman"/>
                <a:sym typeface="Times New Roman"/>
              </a:rPr>
              <a:t>Yêu cầu 3: cờ hiệu full, khởi tạo bằng N</a:t>
            </a:r>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47" name="Google Shape;1047;p7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48" name="Google Shape;1048;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9" name="Google Shape;1049;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0" name="Google Shape;1050;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1" name="Google Shape;1051;p7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0" st="0"/>
                                            </p:txEl>
                                          </p:spTgt>
                                        </p:tgtEl>
                                        <p:attrNameLst>
                                          <p:attrName>style.visibility</p:attrName>
                                        </p:attrNameLst>
                                      </p:cBhvr>
                                      <p:to>
                                        <p:strVal val="visible"/>
                                      </p:to>
                                    </p:set>
                                    <p:animEffect filter="fade" transition="in">
                                      <p:cBhvr>
                                        <p:cTn dur="500"/>
                                        <p:tgtEl>
                                          <p:spTgt spid="10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 st="1"/>
                                            </p:txEl>
                                          </p:spTgt>
                                        </p:tgtEl>
                                        <p:attrNameLst>
                                          <p:attrName>style.visibility</p:attrName>
                                        </p:attrNameLst>
                                      </p:cBhvr>
                                      <p:to>
                                        <p:strVal val="visible"/>
                                      </p:to>
                                    </p:set>
                                    <p:animEffect filter="fade" transition="in">
                                      <p:cBhvr>
                                        <p:cTn dur="500"/>
                                        <p:tgtEl>
                                          <p:spTgt spid="10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2" st="2"/>
                                            </p:txEl>
                                          </p:spTgt>
                                        </p:tgtEl>
                                        <p:attrNameLst>
                                          <p:attrName>style.visibility</p:attrName>
                                        </p:attrNameLst>
                                      </p:cBhvr>
                                      <p:to>
                                        <p:strVal val="visible"/>
                                      </p:to>
                                    </p:set>
                                    <p:animEffect filter="fade" transition="in">
                                      <p:cBhvr>
                                        <p:cTn dur="500"/>
                                        <p:tgtEl>
                                          <p:spTgt spid="10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3" st="3"/>
                                            </p:txEl>
                                          </p:spTgt>
                                        </p:tgtEl>
                                        <p:attrNameLst>
                                          <p:attrName>style.visibility</p:attrName>
                                        </p:attrNameLst>
                                      </p:cBhvr>
                                      <p:to>
                                        <p:strVal val="visible"/>
                                      </p:to>
                                    </p:set>
                                    <p:animEffect filter="fade" transition="in">
                                      <p:cBhvr>
                                        <p:cTn dur="500"/>
                                        <p:tgtEl>
                                          <p:spTgt spid="10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4" st="4"/>
                                            </p:txEl>
                                          </p:spTgt>
                                        </p:tgtEl>
                                        <p:attrNameLst>
                                          <p:attrName>style.visibility</p:attrName>
                                        </p:attrNameLst>
                                      </p:cBhvr>
                                      <p:to>
                                        <p:strVal val="visible"/>
                                      </p:to>
                                    </p:set>
                                    <p:animEffect filter="fade" transition="in">
                                      <p:cBhvr>
                                        <p:cTn dur="500"/>
                                        <p:tgtEl>
                                          <p:spTgt spid="10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5" st="5"/>
                                            </p:txEl>
                                          </p:spTgt>
                                        </p:tgtEl>
                                        <p:attrNameLst>
                                          <p:attrName>style.visibility</p:attrName>
                                        </p:attrNameLst>
                                      </p:cBhvr>
                                      <p:to>
                                        <p:strVal val="visible"/>
                                      </p:to>
                                    </p:set>
                                    <p:animEffect filter="fade" transition="in">
                                      <p:cBhvr>
                                        <p:cTn dur="500"/>
                                        <p:tgtEl>
                                          <p:spTgt spid="10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6" st="6"/>
                                            </p:txEl>
                                          </p:spTgt>
                                        </p:tgtEl>
                                        <p:attrNameLst>
                                          <p:attrName>style.visibility</p:attrName>
                                        </p:attrNameLst>
                                      </p:cBhvr>
                                      <p:to>
                                        <p:strVal val="visible"/>
                                      </p:to>
                                    </p:set>
                                    <p:animEffect filter="fade" transition="in">
                                      <p:cBhvr>
                                        <p:cTn dur="500"/>
                                        <p:tgtEl>
                                          <p:spTgt spid="10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7" st="7"/>
                                            </p:txEl>
                                          </p:spTgt>
                                        </p:tgtEl>
                                        <p:attrNameLst>
                                          <p:attrName>style.visibility</p:attrName>
                                        </p:attrNameLst>
                                      </p:cBhvr>
                                      <p:to>
                                        <p:strVal val="visible"/>
                                      </p:to>
                                    </p:set>
                                    <p:animEffect filter="fade" transition="in">
                                      <p:cBhvr>
                                        <p:cTn dur="500"/>
                                        <p:tgtEl>
                                          <p:spTgt spid="10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8" st="8"/>
                                            </p:txEl>
                                          </p:spTgt>
                                        </p:tgtEl>
                                        <p:attrNameLst>
                                          <p:attrName>style.visibility</p:attrName>
                                        </p:attrNameLst>
                                      </p:cBhvr>
                                      <p:to>
                                        <p:strVal val="visible"/>
                                      </p:to>
                                    </p:set>
                                    <p:animEffect filter="fade" transition="in">
                                      <p:cBhvr>
                                        <p:cTn dur="500"/>
                                        <p:tgtEl>
                                          <p:spTgt spid="10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9" st="9"/>
                                            </p:txEl>
                                          </p:spTgt>
                                        </p:tgtEl>
                                        <p:attrNameLst>
                                          <p:attrName>style.visibility</p:attrName>
                                        </p:attrNameLst>
                                      </p:cBhvr>
                                      <p:to>
                                        <p:strVal val="visible"/>
                                      </p:to>
                                    </p:set>
                                    <p:animEffect filter="fade" transition="in">
                                      <p:cBhvr>
                                        <p:cTn dur="500"/>
                                        <p:tgtEl>
                                          <p:spTgt spid="10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0" st="10"/>
                                            </p:txEl>
                                          </p:spTgt>
                                        </p:tgtEl>
                                        <p:attrNameLst>
                                          <p:attrName>style.visibility</p:attrName>
                                        </p:attrNameLst>
                                      </p:cBhvr>
                                      <p:to>
                                        <p:strVal val="visible"/>
                                      </p:to>
                                    </p:set>
                                    <p:animEffect filter="fade" transition="in">
                                      <p:cBhvr>
                                        <p:cTn dur="500"/>
                                        <p:tgtEl>
                                          <p:spTgt spid="104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1" st="11"/>
                                            </p:txEl>
                                          </p:spTgt>
                                        </p:tgtEl>
                                        <p:attrNameLst>
                                          <p:attrName>style.visibility</p:attrName>
                                        </p:attrNameLst>
                                      </p:cBhvr>
                                      <p:to>
                                        <p:strVal val="visible"/>
                                      </p:to>
                                    </p:set>
                                    <p:animEffect filter="fade" transition="in">
                                      <p:cBhvr>
                                        <p:cTn dur="500"/>
                                        <p:tgtEl>
                                          <p:spTgt spid="104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2" st="12"/>
                                            </p:txEl>
                                          </p:spTgt>
                                        </p:tgtEl>
                                        <p:attrNameLst>
                                          <p:attrName>style.visibility</p:attrName>
                                        </p:attrNameLst>
                                      </p:cBhvr>
                                      <p:to>
                                        <p:strVal val="visible"/>
                                      </p:to>
                                    </p:set>
                                    <p:animEffect filter="fade" transition="in">
                                      <p:cBhvr>
                                        <p:cTn dur="500"/>
                                        <p:tgtEl>
                                          <p:spTgt spid="104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3" st="13"/>
                                            </p:txEl>
                                          </p:spTgt>
                                        </p:tgtEl>
                                        <p:attrNameLst>
                                          <p:attrName>style.visibility</p:attrName>
                                        </p:attrNameLst>
                                      </p:cBhvr>
                                      <p:to>
                                        <p:strVal val="visible"/>
                                      </p:to>
                                    </p:set>
                                    <p:animEffect filter="fade" transition="in">
                                      <p:cBhvr>
                                        <p:cTn dur="500"/>
                                        <p:tgtEl>
                                          <p:spTgt spid="104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4" st="14"/>
                                            </p:txEl>
                                          </p:spTgt>
                                        </p:tgtEl>
                                        <p:attrNameLst>
                                          <p:attrName>style.visibility</p:attrName>
                                        </p:attrNameLst>
                                      </p:cBhvr>
                                      <p:to>
                                        <p:strVal val="visible"/>
                                      </p:to>
                                    </p:set>
                                    <p:animEffect filter="fade" transition="in">
                                      <p:cBhvr>
                                        <p:cTn dur="500"/>
                                        <p:tgtEl>
                                          <p:spTgt spid="104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5" st="15"/>
                                            </p:txEl>
                                          </p:spTgt>
                                        </p:tgtEl>
                                        <p:attrNameLst>
                                          <p:attrName>style.visibility</p:attrName>
                                        </p:attrNameLst>
                                      </p:cBhvr>
                                      <p:to>
                                        <p:strVal val="visible"/>
                                      </p:to>
                                    </p:set>
                                    <p:animEffect filter="fade" transition="in">
                                      <p:cBhvr>
                                        <p:cTn dur="500"/>
                                        <p:tgtEl>
                                          <p:spTgt spid="104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xEl>
                                              <p:pRg end="16" st="16"/>
                                            </p:txEl>
                                          </p:spTgt>
                                        </p:tgtEl>
                                        <p:attrNameLst>
                                          <p:attrName>style.visibility</p:attrName>
                                        </p:attrNameLst>
                                      </p:cBhvr>
                                      <p:to>
                                        <p:strVal val="visible"/>
                                      </p:to>
                                    </p:set>
                                    <p:animEffect filter="fade" transition="in">
                                      <p:cBhvr>
                                        <p:cTn dur="500"/>
                                        <p:tgtEl>
                                          <p:spTgt spid="1046">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7"/>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Arial"/>
              <a:buAutoNum type="arabicPeriod" startAt="2"/>
            </a:pPr>
            <a:r>
              <a:rPr b="0" i="0" lang="en-US" sz="2800" u="none">
                <a:solidFill>
                  <a:schemeClr val="dk2"/>
                </a:solidFill>
                <a:latin typeface="Times New Roman"/>
                <a:ea typeface="Times New Roman"/>
                <a:cs typeface="Times New Roman"/>
                <a:sym typeface="Times New Roman"/>
              </a:rPr>
              <a:t>Bài toán người sản xuất, người tiêu dùng:</a:t>
            </a:r>
            <a:endParaRPr b="0" i="0" sz="2400" u="none">
              <a:solidFill>
                <a:schemeClr val="dk2"/>
              </a:solidFill>
              <a:latin typeface="Times New Roman"/>
              <a:ea typeface="Times New Roman"/>
              <a:cs typeface="Times New Roman"/>
              <a:sym typeface="Times New Roman"/>
            </a:endParaRPr>
          </a:p>
          <a:p>
            <a:pPr indent="-355600" lvl="0" marL="514350" marR="0" rtl="0" algn="l">
              <a:lnSpc>
                <a:spcPct val="100000"/>
              </a:lnSpc>
              <a:spcBef>
                <a:spcPts val="50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58" name="Google Shape;1058;p7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6. Một số bài toán đồng bộ (tt)</a:t>
            </a:r>
            <a:br>
              <a:rPr b="1" i="0" lang="en-US" sz="2500" u="none">
                <a:solidFill>
                  <a:srgbClr val="000066"/>
                </a:solidFill>
                <a:latin typeface="Times New Roman"/>
                <a:ea typeface="Times New Roman"/>
                <a:cs typeface="Times New Roman"/>
                <a:sym typeface="Times New Roman"/>
              </a:rPr>
            </a:br>
            <a:endParaRPr/>
          </a:p>
        </p:txBody>
      </p:sp>
      <p:sp>
        <p:nvSpPr>
          <p:cNvPr id="1059" name="Google Shape;1059;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0" name="Google Shape;1060;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1" name="Google Shape;1061;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062" name="Google Shape;1062;p77"/>
          <p:cNvGraphicFramePr/>
          <p:nvPr/>
        </p:nvGraphicFramePr>
        <p:xfrm>
          <a:off x="152400" y="1431925"/>
          <a:ext cx="3000000" cy="3000000"/>
        </p:xfrm>
        <a:graphic>
          <a:graphicData uri="http://schemas.openxmlformats.org/drawingml/2006/table">
            <a:tbl>
              <a:tblPr>
                <a:noFill/>
                <a:tableStyleId>{4128A9BA-1566-4610-BFC4-80AE836C2761}</a:tableStyleId>
              </a:tblPr>
              <a:tblGrid>
                <a:gridCol w="4305300"/>
                <a:gridCol w="4305300"/>
              </a:tblGrid>
              <a:tr h="719125">
                <a:tc gridSpan="2">
                  <a:txBody>
                    <a:bodyPr/>
                    <a:lstStyle/>
                    <a:p>
                      <a:pPr indent="0" lvl="0" marL="0" marR="0" rtl="0" algn="l">
                        <a:lnSpc>
                          <a:spcPct val="100000"/>
                        </a:lnSpc>
                        <a:spcBef>
                          <a:spcPts val="0"/>
                        </a:spcBef>
                        <a:spcAft>
                          <a:spcPts val="0"/>
                        </a:spcAft>
                        <a:buClr>
                          <a:srgbClr val="FFFFFF"/>
                        </a:buClr>
                        <a:buSzPts val="1800"/>
                        <a:buFont typeface="Monda"/>
                        <a:buNone/>
                      </a:pPr>
                      <a:r>
                        <a:rPr b="1" i="0" lang="en-US" sz="1800" u="none" cap="none" strike="noStrike">
                          <a:solidFill>
                            <a:srgbClr val="FFFFFF"/>
                          </a:solidFill>
                          <a:latin typeface="Monda"/>
                          <a:ea typeface="Monda"/>
                          <a:cs typeface="Monda"/>
                          <a:sym typeface="Monda"/>
                        </a:rPr>
                        <a:t>Const int N; // kích thước bộ đệm                   Semaphore empty = 0;</a:t>
                      </a:r>
                      <a:endParaRPr/>
                    </a:p>
                    <a:p>
                      <a:pPr indent="0" lvl="0" marL="0" marR="0" rtl="0" algn="l">
                        <a:lnSpc>
                          <a:spcPct val="100000"/>
                        </a:lnSpc>
                        <a:spcBef>
                          <a:spcPts val="0"/>
                        </a:spcBef>
                        <a:spcAft>
                          <a:spcPts val="0"/>
                        </a:spcAft>
                        <a:buClr>
                          <a:srgbClr val="FFFFFF"/>
                        </a:buClr>
                        <a:buSzPts val="1800"/>
                        <a:buFont typeface="Monda"/>
                        <a:buNone/>
                      </a:pPr>
                      <a:r>
                        <a:rPr b="1" i="0" lang="en-US" sz="1800" u="none" cap="none" strike="noStrike">
                          <a:solidFill>
                            <a:srgbClr val="FFFFFF"/>
                          </a:solidFill>
                          <a:latin typeface="Monda"/>
                          <a:ea typeface="Monda"/>
                          <a:cs typeface="Monda"/>
                          <a:sym typeface="Monda"/>
                        </a:rPr>
                        <a:t>Semaphore lock = 1;                                           Semaphore full = 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hMerge="1"/>
              </a:tr>
              <a:tr h="2833675">
                <a:tc>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producer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for (;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&lt;sản xuất&gt;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(full);</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&lt;thêm 1 sản phẩm vào bộ đệm&gt;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(empty);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consumer()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for (; ;)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(empty);</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wait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&lt;lấy 1 sản phẩm từ bộ đệm&gt;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(lock);</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signal (full);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&lt;tiêu dùng&gt;</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1189025">
                <a:tc gridSpan="2">
                  <a:txBody>
                    <a:bodyPr/>
                    <a:lstStyle/>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Void main()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startProcess(producer);  </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    startProcess(consumer);</a:t>
                      </a:r>
                      <a:endParaRPr/>
                    </a:p>
                    <a:p>
                      <a:pPr indent="0" lvl="0" marL="0" marR="0" rtl="0" algn="l">
                        <a:lnSpc>
                          <a:spcPct val="100000"/>
                        </a:lnSpc>
                        <a:spcBef>
                          <a:spcPts val="0"/>
                        </a:spcBef>
                        <a:spcAft>
                          <a:spcPts val="0"/>
                        </a:spcAft>
                        <a:buClr>
                          <a:srgbClr val="000000"/>
                        </a:buClr>
                        <a:buSzPts val="1800"/>
                        <a:buFont typeface="Monda"/>
                        <a:buNone/>
                      </a:pPr>
                      <a:r>
                        <a:rPr b="0" i="0" lang="en-US" sz="1800" u="none" cap="none" strike="noStrike">
                          <a:solidFill>
                            <a:srgbClr val="000000"/>
                          </a:solidFill>
                          <a:latin typeface="Monda"/>
                          <a:ea typeface="Monda"/>
                          <a:cs typeface="Monda"/>
                          <a:sym typeface="Monda"/>
                        </a:rPr>
                        <a: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hMerge="1"/>
              </a:tr>
            </a:tbl>
          </a:graphicData>
        </a:graphic>
      </p:graphicFrame>
      <p:sp>
        <p:nvSpPr>
          <p:cNvPr id="1063" name="Google Shape;1063;p7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0" st="0"/>
                                            </p:txEl>
                                          </p:spTgt>
                                        </p:tgtEl>
                                        <p:attrNameLst>
                                          <p:attrName>style.visibility</p:attrName>
                                        </p:attrNameLst>
                                      </p:cBhvr>
                                      <p:to>
                                        <p:strVal val="visible"/>
                                      </p:to>
                                    </p:set>
                                    <p:animEffect filter="fade" transition="in">
                                      <p:cBhvr>
                                        <p:cTn dur="500"/>
                                        <p:tgtEl>
                                          <p:spTgt spid="10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1" st="1"/>
                                            </p:txEl>
                                          </p:spTgt>
                                        </p:tgtEl>
                                        <p:attrNameLst>
                                          <p:attrName>style.visibility</p:attrName>
                                        </p:attrNameLst>
                                      </p:cBhvr>
                                      <p:to>
                                        <p:strVal val="visible"/>
                                      </p:to>
                                    </p:set>
                                    <p:animEffect filter="fade" transition="in">
                                      <p:cBhvr>
                                        <p:cTn dur="500"/>
                                        <p:tgtEl>
                                          <p:spTgt spid="10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2" st="2"/>
                                            </p:txEl>
                                          </p:spTgt>
                                        </p:tgtEl>
                                        <p:attrNameLst>
                                          <p:attrName>style.visibility</p:attrName>
                                        </p:attrNameLst>
                                      </p:cBhvr>
                                      <p:to>
                                        <p:strVal val="visible"/>
                                      </p:to>
                                    </p:set>
                                    <p:animEffect filter="fade" transition="in">
                                      <p:cBhvr>
                                        <p:cTn dur="500"/>
                                        <p:tgtEl>
                                          <p:spTgt spid="10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3" st="3"/>
                                            </p:txEl>
                                          </p:spTgt>
                                        </p:tgtEl>
                                        <p:attrNameLst>
                                          <p:attrName>style.visibility</p:attrName>
                                        </p:attrNameLst>
                                      </p:cBhvr>
                                      <p:to>
                                        <p:strVal val="visible"/>
                                      </p:to>
                                    </p:set>
                                    <p:animEffect filter="fade" transition="in">
                                      <p:cBhvr>
                                        <p:cTn dur="500"/>
                                        <p:tgtEl>
                                          <p:spTgt spid="10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4" st="4"/>
                                            </p:txEl>
                                          </p:spTgt>
                                        </p:tgtEl>
                                        <p:attrNameLst>
                                          <p:attrName>style.visibility</p:attrName>
                                        </p:attrNameLst>
                                      </p:cBhvr>
                                      <p:to>
                                        <p:strVal val="visible"/>
                                      </p:to>
                                    </p:set>
                                    <p:animEffect filter="fade" transition="in">
                                      <p:cBhvr>
                                        <p:cTn dur="500"/>
                                        <p:tgtEl>
                                          <p:spTgt spid="10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5" st="5"/>
                                            </p:txEl>
                                          </p:spTgt>
                                        </p:tgtEl>
                                        <p:attrNameLst>
                                          <p:attrName>style.visibility</p:attrName>
                                        </p:attrNameLst>
                                      </p:cBhvr>
                                      <p:to>
                                        <p:strVal val="visible"/>
                                      </p:to>
                                    </p:set>
                                    <p:animEffect filter="fade" transition="in">
                                      <p:cBhvr>
                                        <p:cTn dur="500"/>
                                        <p:tgtEl>
                                          <p:spTgt spid="10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6" st="6"/>
                                            </p:txEl>
                                          </p:spTgt>
                                        </p:tgtEl>
                                        <p:attrNameLst>
                                          <p:attrName>style.visibility</p:attrName>
                                        </p:attrNameLst>
                                      </p:cBhvr>
                                      <p:to>
                                        <p:strVal val="visible"/>
                                      </p:to>
                                    </p:set>
                                    <p:animEffect filter="fade" transition="in">
                                      <p:cBhvr>
                                        <p:cTn dur="500"/>
                                        <p:tgtEl>
                                          <p:spTgt spid="10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xEl>
                                              <p:pRg end="7" st="7"/>
                                            </p:txEl>
                                          </p:spTgt>
                                        </p:tgtEl>
                                        <p:attrNameLst>
                                          <p:attrName>style.visibility</p:attrName>
                                        </p:attrNameLst>
                                      </p:cBhvr>
                                      <p:to>
                                        <p:strVal val="visible"/>
                                      </p:to>
                                    </p:set>
                                    <p:animEffect filter="fade" transition="in">
                                      <p:cBhvr>
                                        <p:cTn dur="500"/>
                                        <p:tgtEl>
                                          <p:spTgt spid="105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78"/>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Được định nghĩa dưới dạng một kiểu dữ liệu trừu tượng của ngôn ngữ lập trình bậc cao</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Gồm một dữ liệu riêng, hàm khởi tạo, và một số hàm hoặc phương thức để truy cập dữ liệu: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trình/dòng chỉ có thể truy cập dữ liệu của monitor thông qua các hàm hoặc phương thức của monitor</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Tại mỗi thời điểm:</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Chỉ một tiến trình được thực hiện trong monitor</a:t>
            </a:r>
            <a:endParaRPr b="0" i="0" sz="1800" u="none" cap="none" strike="noStrike">
              <a:solidFill>
                <a:schemeClr val="dk2"/>
              </a:solidFill>
              <a:latin typeface="Times New Roman"/>
              <a:ea typeface="Times New Roman"/>
              <a:cs typeface="Times New Roman"/>
              <a:sym typeface="Times New Roman"/>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Tiến trình khác gọi hàm của monitor sẽ bị phong tỏa, xếp vào hàng đợi của monitor để chờ cho đến khi monitor được giải phóng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Đảm bảo loại trừ tương hỗ đối với đoạn nguy hiểm</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Đặt tài nguyên nguy hiểm vào trong monitor</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70" name="Google Shape;1070;p78"/>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a:t>
            </a:r>
            <a:br>
              <a:rPr b="1" i="0" lang="en-US" sz="2500" u="none">
                <a:solidFill>
                  <a:srgbClr val="000066"/>
                </a:solidFill>
                <a:latin typeface="Times New Roman"/>
                <a:ea typeface="Times New Roman"/>
                <a:cs typeface="Times New Roman"/>
                <a:sym typeface="Times New Roman"/>
              </a:rPr>
            </a:br>
            <a:endParaRPr/>
          </a:p>
        </p:txBody>
      </p:sp>
      <p:sp>
        <p:nvSpPr>
          <p:cNvPr id="1071" name="Google Shape;1071;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2" name="Google Shape;1072;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3" name="Google Shape;1073;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4" name="Google Shape;1074;p7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0" st="0"/>
                                            </p:txEl>
                                          </p:spTgt>
                                        </p:tgtEl>
                                        <p:attrNameLst>
                                          <p:attrName>style.visibility</p:attrName>
                                        </p:attrNameLst>
                                      </p:cBhvr>
                                      <p:to>
                                        <p:strVal val="visible"/>
                                      </p:to>
                                    </p:set>
                                    <p:animEffect filter="fade" transition="in">
                                      <p:cBhvr>
                                        <p:cTn dur="500"/>
                                        <p:tgtEl>
                                          <p:spTgt spid="10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 st="1"/>
                                            </p:txEl>
                                          </p:spTgt>
                                        </p:tgtEl>
                                        <p:attrNameLst>
                                          <p:attrName>style.visibility</p:attrName>
                                        </p:attrNameLst>
                                      </p:cBhvr>
                                      <p:to>
                                        <p:strVal val="visible"/>
                                      </p:to>
                                    </p:set>
                                    <p:animEffect filter="fade" transition="in">
                                      <p:cBhvr>
                                        <p:cTn dur="500"/>
                                        <p:tgtEl>
                                          <p:spTgt spid="10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2" st="2"/>
                                            </p:txEl>
                                          </p:spTgt>
                                        </p:tgtEl>
                                        <p:attrNameLst>
                                          <p:attrName>style.visibility</p:attrName>
                                        </p:attrNameLst>
                                      </p:cBhvr>
                                      <p:to>
                                        <p:strVal val="visible"/>
                                      </p:to>
                                    </p:set>
                                    <p:animEffect filter="fade" transition="in">
                                      <p:cBhvr>
                                        <p:cTn dur="500"/>
                                        <p:tgtEl>
                                          <p:spTgt spid="10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3" st="3"/>
                                            </p:txEl>
                                          </p:spTgt>
                                        </p:tgtEl>
                                        <p:attrNameLst>
                                          <p:attrName>style.visibility</p:attrName>
                                        </p:attrNameLst>
                                      </p:cBhvr>
                                      <p:to>
                                        <p:strVal val="visible"/>
                                      </p:to>
                                    </p:set>
                                    <p:animEffect filter="fade" transition="in">
                                      <p:cBhvr>
                                        <p:cTn dur="500"/>
                                        <p:tgtEl>
                                          <p:spTgt spid="10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4" st="4"/>
                                            </p:txEl>
                                          </p:spTgt>
                                        </p:tgtEl>
                                        <p:attrNameLst>
                                          <p:attrName>style.visibility</p:attrName>
                                        </p:attrNameLst>
                                      </p:cBhvr>
                                      <p:to>
                                        <p:strVal val="visible"/>
                                      </p:to>
                                    </p:set>
                                    <p:animEffect filter="fade" transition="in">
                                      <p:cBhvr>
                                        <p:cTn dur="500"/>
                                        <p:tgtEl>
                                          <p:spTgt spid="10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5" st="5"/>
                                            </p:txEl>
                                          </p:spTgt>
                                        </p:tgtEl>
                                        <p:attrNameLst>
                                          <p:attrName>style.visibility</p:attrName>
                                        </p:attrNameLst>
                                      </p:cBhvr>
                                      <p:to>
                                        <p:strVal val="visible"/>
                                      </p:to>
                                    </p:set>
                                    <p:animEffect filter="fade" transition="in">
                                      <p:cBhvr>
                                        <p:cTn dur="500"/>
                                        <p:tgtEl>
                                          <p:spTgt spid="10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6" st="6"/>
                                            </p:txEl>
                                          </p:spTgt>
                                        </p:tgtEl>
                                        <p:attrNameLst>
                                          <p:attrName>style.visibility</p:attrName>
                                        </p:attrNameLst>
                                      </p:cBhvr>
                                      <p:to>
                                        <p:strVal val="visible"/>
                                      </p:to>
                                    </p:set>
                                    <p:animEffect filter="fade" transition="in">
                                      <p:cBhvr>
                                        <p:cTn dur="500"/>
                                        <p:tgtEl>
                                          <p:spTgt spid="10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7" st="7"/>
                                            </p:txEl>
                                          </p:spTgt>
                                        </p:tgtEl>
                                        <p:attrNameLst>
                                          <p:attrName>style.visibility</p:attrName>
                                        </p:attrNameLst>
                                      </p:cBhvr>
                                      <p:to>
                                        <p:strVal val="visible"/>
                                      </p:to>
                                    </p:set>
                                    <p:animEffect filter="fade" transition="in">
                                      <p:cBhvr>
                                        <p:cTn dur="500"/>
                                        <p:tgtEl>
                                          <p:spTgt spid="10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8" st="8"/>
                                            </p:txEl>
                                          </p:spTgt>
                                        </p:tgtEl>
                                        <p:attrNameLst>
                                          <p:attrName>style.visibility</p:attrName>
                                        </p:attrNameLst>
                                      </p:cBhvr>
                                      <p:to>
                                        <p:strVal val="visible"/>
                                      </p:to>
                                    </p:set>
                                    <p:animEffect filter="fade" transition="in">
                                      <p:cBhvr>
                                        <p:cTn dur="500"/>
                                        <p:tgtEl>
                                          <p:spTgt spid="10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9" st="9"/>
                                            </p:txEl>
                                          </p:spTgt>
                                        </p:tgtEl>
                                        <p:attrNameLst>
                                          <p:attrName>style.visibility</p:attrName>
                                        </p:attrNameLst>
                                      </p:cBhvr>
                                      <p:to>
                                        <p:strVal val="visible"/>
                                      </p:to>
                                    </p:set>
                                    <p:animEffect filter="fade" transition="in">
                                      <p:cBhvr>
                                        <p:cTn dur="500"/>
                                        <p:tgtEl>
                                          <p:spTgt spid="10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0" st="10"/>
                                            </p:txEl>
                                          </p:spTgt>
                                        </p:tgtEl>
                                        <p:attrNameLst>
                                          <p:attrName>style.visibility</p:attrName>
                                        </p:attrNameLst>
                                      </p:cBhvr>
                                      <p:to>
                                        <p:strVal val="visible"/>
                                      </p:to>
                                    </p:set>
                                    <p:animEffect filter="fade" transition="in">
                                      <p:cBhvr>
                                        <p:cTn dur="500"/>
                                        <p:tgtEl>
                                          <p:spTgt spid="10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1" st="11"/>
                                            </p:txEl>
                                          </p:spTgt>
                                        </p:tgtEl>
                                        <p:attrNameLst>
                                          <p:attrName>style.visibility</p:attrName>
                                        </p:attrNameLst>
                                      </p:cBhvr>
                                      <p:to>
                                        <p:strVal val="visible"/>
                                      </p:to>
                                    </p:set>
                                    <p:animEffect filter="fade" transition="in">
                                      <p:cBhvr>
                                        <p:cTn dur="500"/>
                                        <p:tgtEl>
                                          <p:spTgt spid="10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2" st="12"/>
                                            </p:txEl>
                                          </p:spTgt>
                                        </p:tgtEl>
                                        <p:attrNameLst>
                                          <p:attrName>style.visibility</p:attrName>
                                        </p:attrNameLst>
                                      </p:cBhvr>
                                      <p:to>
                                        <p:strVal val="visible"/>
                                      </p:to>
                                    </p:set>
                                    <p:animEffect filter="fade" transition="in">
                                      <p:cBhvr>
                                        <p:cTn dur="500"/>
                                        <p:tgtEl>
                                          <p:spTgt spid="10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3" st="13"/>
                                            </p:txEl>
                                          </p:spTgt>
                                        </p:tgtEl>
                                        <p:attrNameLst>
                                          <p:attrName>style.visibility</p:attrName>
                                        </p:attrNameLst>
                                      </p:cBhvr>
                                      <p:to>
                                        <p:strVal val="visible"/>
                                      </p:to>
                                    </p:set>
                                    <p:animEffect filter="fade" transition="in">
                                      <p:cBhvr>
                                        <p:cTn dur="500"/>
                                        <p:tgtEl>
                                          <p:spTgt spid="106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79"/>
          <p:cNvSpPr txBox="1"/>
          <p:nvPr>
            <p:ph idx="1" type="body"/>
          </p:nvPr>
        </p:nvSpPr>
        <p:spPr>
          <a:xfrm>
            <a:off x="152400" y="914400"/>
            <a:ext cx="86868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đang thực hiện trong monitor và bị dừng lại để đợi sự kiện  hay một điều kiện nào đó được thỏa mãn =&gt; trả lại monitor để tiến trình khác sử dụng.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chờ đợi sẽ được khôi phục lại từ điểm dừng sau khi điều kiện đang chờ đợi được thỏa mãn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Sử dụng các biến điều kiện</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Được khai báo và sử dụng trong monitor với 2 thao tác: cwait() và csignal()</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81" name="Google Shape;1081;p7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082" name="Google Shape;1082;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3" name="Google Shape;1083;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4" name="Google Shape;1084;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5" name="Google Shape;1085;p7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0" st="0"/>
                                            </p:txEl>
                                          </p:spTgt>
                                        </p:tgtEl>
                                        <p:attrNameLst>
                                          <p:attrName>style.visibility</p:attrName>
                                        </p:attrNameLst>
                                      </p:cBhvr>
                                      <p:to>
                                        <p:strVal val="visible"/>
                                      </p:to>
                                    </p:set>
                                    <p:animEffect filter="fade" transition="in">
                                      <p:cBhvr>
                                        <p:cTn dur="500"/>
                                        <p:tgtEl>
                                          <p:spTgt spid="10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1" st="1"/>
                                            </p:txEl>
                                          </p:spTgt>
                                        </p:tgtEl>
                                        <p:attrNameLst>
                                          <p:attrName>style.visibility</p:attrName>
                                        </p:attrNameLst>
                                      </p:cBhvr>
                                      <p:to>
                                        <p:strVal val="visible"/>
                                      </p:to>
                                    </p:set>
                                    <p:animEffect filter="fade" transition="in">
                                      <p:cBhvr>
                                        <p:cTn dur="500"/>
                                        <p:tgtEl>
                                          <p:spTgt spid="10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2" st="2"/>
                                            </p:txEl>
                                          </p:spTgt>
                                        </p:tgtEl>
                                        <p:attrNameLst>
                                          <p:attrName>style.visibility</p:attrName>
                                        </p:attrNameLst>
                                      </p:cBhvr>
                                      <p:to>
                                        <p:strVal val="visible"/>
                                      </p:to>
                                    </p:set>
                                    <p:animEffect filter="fade" transition="in">
                                      <p:cBhvr>
                                        <p:cTn dur="500"/>
                                        <p:tgtEl>
                                          <p:spTgt spid="10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3" st="3"/>
                                            </p:txEl>
                                          </p:spTgt>
                                        </p:tgtEl>
                                        <p:attrNameLst>
                                          <p:attrName>style.visibility</p:attrName>
                                        </p:attrNameLst>
                                      </p:cBhvr>
                                      <p:to>
                                        <p:strVal val="visible"/>
                                      </p:to>
                                    </p:set>
                                    <p:animEffect filter="fade" transition="in">
                                      <p:cBhvr>
                                        <p:cTn dur="500"/>
                                        <p:tgtEl>
                                          <p:spTgt spid="10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4" st="4"/>
                                            </p:txEl>
                                          </p:spTgt>
                                        </p:tgtEl>
                                        <p:attrNameLst>
                                          <p:attrName>style.visibility</p:attrName>
                                        </p:attrNameLst>
                                      </p:cBhvr>
                                      <p:to>
                                        <p:strVal val="visible"/>
                                      </p:to>
                                    </p:set>
                                    <p:animEffect filter="fade" transition="in">
                                      <p:cBhvr>
                                        <p:cTn dur="500"/>
                                        <p:tgtEl>
                                          <p:spTgt spid="10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5" st="5"/>
                                            </p:txEl>
                                          </p:spTgt>
                                        </p:tgtEl>
                                        <p:attrNameLst>
                                          <p:attrName>style.visibility</p:attrName>
                                        </p:attrNameLst>
                                      </p:cBhvr>
                                      <p:to>
                                        <p:strVal val="visible"/>
                                      </p:to>
                                    </p:set>
                                    <p:animEffect filter="fade" transition="in">
                                      <p:cBhvr>
                                        <p:cTn dur="500"/>
                                        <p:tgtEl>
                                          <p:spTgt spid="10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6" st="6"/>
                                            </p:txEl>
                                          </p:spTgt>
                                        </p:tgtEl>
                                        <p:attrNameLst>
                                          <p:attrName>style.visibility</p:attrName>
                                        </p:attrNameLst>
                                      </p:cBhvr>
                                      <p:to>
                                        <p:strVal val="visible"/>
                                      </p:to>
                                    </p:set>
                                    <p:animEffect filter="fade" transition="in">
                                      <p:cBhvr>
                                        <p:cTn dur="500"/>
                                        <p:tgtEl>
                                          <p:spTgt spid="10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7" st="7"/>
                                            </p:txEl>
                                          </p:spTgt>
                                        </p:tgtEl>
                                        <p:attrNameLst>
                                          <p:attrName>style.visibility</p:attrName>
                                        </p:attrNameLst>
                                      </p:cBhvr>
                                      <p:to>
                                        <p:strVal val="visible"/>
                                      </p:to>
                                    </p:set>
                                    <p:animEffect filter="fade" transition="in">
                                      <p:cBhvr>
                                        <p:cTn dur="500"/>
                                        <p:tgtEl>
                                          <p:spTgt spid="10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8" st="8"/>
                                            </p:txEl>
                                          </p:spTgt>
                                        </p:tgtEl>
                                        <p:attrNameLst>
                                          <p:attrName>style.visibility</p:attrName>
                                        </p:attrNameLst>
                                      </p:cBhvr>
                                      <p:to>
                                        <p:strVal val="visible"/>
                                      </p:to>
                                    </p:set>
                                    <p:animEffect filter="fade" transition="in">
                                      <p:cBhvr>
                                        <p:cTn dur="500"/>
                                        <p:tgtEl>
                                          <p:spTgt spid="10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xEl>
                                              <p:pRg end="9" st="9"/>
                                            </p:txEl>
                                          </p:spTgt>
                                        </p:tgtEl>
                                        <p:attrNameLst>
                                          <p:attrName>style.visibility</p:attrName>
                                        </p:attrNameLst>
                                      </p:cBhvr>
                                      <p:to>
                                        <p:strVal val="visible"/>
                                      </p:to>
                                    </p:set>
                                    <p:animEffect filter="fade" transition="in">
                                      <p:cBhvr>
                                        <p:cTn dur="500"/>
                                        <p:tgtEl>
                                          <p:spTgt spid="108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8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x.cwait():</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đang ở trong monitor và gọi cwait bị phong tỏa cho tới khi điều kiện x xẩy ra</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bị xếp vào hàng đợi của biến điều kiện x</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Monitor được giải phóng và một tiến trình khác sẽ được vào</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x.csignal():</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gọi csignal để thông báo điều kiện x đã thỏa mãn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có tiến trình đang bị phong tỏa và nằm trong hàng đợi của x do gọi x.cwait() trước đó sẽ được giải phóng</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không có tiến trình bị phong tỏa thì thao tác csignal sẽ không có tác dụng gì cả</a:t>
            </a:r>
            <a:endParaRPr b="0" i="0" sz="2200" u="none" cap="none" strike="noStrik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92" name="Google Shape;1092;p8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093" name="Google Shape;1093;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4" name="Google Shape;1094;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5" name="Google Shape;1095;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6" name="Google Shape;1096;p8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0" st="0"/>
                                            </p:txEl>
                                          </p:spTgt>
                                        </p:tgtEl>
                                        <p:attrNameLst>
                                          <p:attrName>style.visibility</p:attrName>
                                        </p:attrNameLst>
                                      </p:cBhvr>
                                      <p:to>
                                        <p:strVal val="visible"/>
                                      </p:to>
                                    </p:set>
                                    <p:animEffect filter="fade" transition="in">
                                      <p:cBhvr>
                                        <p:cTn dur="500"/>
                                        <p:tgtEl>
                                          <p:spTgt spid="10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 st="1"/>
                                            </p:txEl>
                                          </p:spTgt>
                                        </p:tgtEl>
                                        <p:attrNameLst>
                                          <p:attrName>style.visibility</p:attrName>
                                        </p:attrNameLst>
                                      </p:cBhvr>
                                      <p:to>
                                        <p:strVal val="visible"/>
                                      </p:to>
                                    </p:set>
                                    <p:animEffect filter="fade" transition="in">
                                      <p:cBhvr>
                                        <p:cTn dur="500"/>
                                        <p:tgtEl>
                                          <p:spTgt spid="10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2" st="2"/>
                                            </p:txEl>
                                          </p:spTgt>
                                        </p:tgtEl>
                                        <p:attrNameLst>
                                          <p:attrName>style.visibility</p:attrName>
                                        </p:attrNameLst>
                                      </p:cBhvr>
                                      <p:to>
                                        <p:strVal val="visible"/>
                                      </p:to>
                                    </p:set>
                                    <p:animEffect filter="fade" transition="in">
                                      <p:cBhvr>
                                        <p:cTn dur="500"/>
                                        <p:tgtEl>
                                          <p:spTgt spid="10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3" st="3"/>
                                            </p:txEl>
                                          </p:spTgt>
                                        </p:tgtEl>
                                        <p:attrNameLst>
                                          <p:attrName>style.visibility</p:attrName>
                                        </p:attrNameLst>
                                      </p:cBhvr>
                                      <p:to>
                                        <p:strVal val="visible"/>
                                      </p:to>
                                    </p:set>
                                    <p:animEffect filter="fade" transition="in">
                                      <p:cBhvr>
                                        <p:cTn dur="500"/>
                                        <p:tgtEl>
                                          <p:spTgt spid="10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4" st="4"/>
                                            </p:txEl>
                                          </p:spTgt>
                                        </p:tgtEl>
                                        <p:attrNameLst>
                                          <p:attrName>style.visibility</p:attrName>
                                        </p:attrNameLst>
                                      </p:cBhvr>
                                      <p:to>
                                        <p:strVal val="visible"/>
                                      </p:to>
                                    </p:set>
                                    <p:animEffect filter="fade" transition="in">
                                      <p:cBhvr>
                                        <p:cTn dur="500"/>
                                        <p:tgtEl>
                                          <p:spTgt spid="10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5" st="5"/>
                                            </p:txEl>
                                          </p:spTgt>
                                        </p:tgtEl>
                                        <p:attrNameLst>
                                          <p:attrName>style.visibility</p:attrName>
                                        </p:attrNameLst>
                                      </p:cBhvr>
                                      <p:to>
                                        <p:strVal val="visible"/>
                                      </p:to>
                                    </p:set>
                                    <p:animEffect filter="fade" transition="in">
                                      <p:cBhvr>
                                        <p:cTn dur="500"/>
                                        <p:tgtEl>
                                          <p:spTgt spid="10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6" st="6"/>
                                            </p:txEl>
                                          </p:spTgt>
                                        </p:tgtEl>
                                        <p:attrNameLst>
                                          <p:attrName>style.visibility</p:attrName>
                                        </p:attrNameLst>
                                      </p:cBhvr>
                                      <p:to>
                                        <p:strVal val="visible"/>
                                      </p:to>
                                    </p:set>
                                    <p:animEffect filter="fade" transition="in">
                                      <p:cBhvr>
                                        <p:cTn dur="500"/>
                                        <p:tgtEl>
                                          <p:spTgt spid="10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7" st="7"/>
                                            </p:txEl>
                                          </p:spTgt>
                                        </p:tgtEl>
                                        <p:attrNameLst>
                                          <p:attrName>style.visibility</p:attrName>
                                        </p:attrNameLst>
                                      </p:cBhvr>
                                      <p:to>
                                        <p:strVal val="visible"/>
                                      </p:to>
                                    </p:set>
                                    <p:animEffect filter="fade" transition="in">
                                      <p:cBhvr>
                                        <p:cTn dur="500"/>
                                        <p:tgtEl>
                                          <p:spTgt spid="10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8" st="8"/>
                                            </p:txEl>
                                          </p:spTgt>
                                        </p:tgtEl>
                                        <p:attrNameLst>
                                          <p:attrName>style.visibility</p:attrName>
                                        </p:attrNameLst>
                                      </p:cBhvr>
                                      <p:to>
                                        <p:strVal val="visible"/>
                                      </p:to>
                                    </p:set>
                                    <p:animEffect filter="fade" transition="in">
                                      <p:cBhvr>
                                        <p:cTn dur="500"/>
                                        <p:tgtEl>
                                          <p:spTgt spid="10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9" st="9"/>
                                            </p:txEl>
                                          </p:spTgt>
                                        </p:tgtEl>
                                        <p:attrNameLst>
                                          <p:attrName>style.visibility</p:attrName>
                                        </p:attrNameLst>
                                      </p:cBhvr>
                                      <p:to>
                                        <p:strVal val="visible"/>
                                      </p:to>
                                    </p:set>
                                    <p:animEffect filter="fade" transition="in">
                                      <p:cBhvr>
                                        <p:cTn dur="500"/>
                                        <p:tgtEl>
                                          <p:spTgt spid="10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0" st="10"/>
                                            </p:txEl>
                                          </p:spTgt>
                                        </p:tgtEl>
                                        <p:attrNameLst>
                                          <p:attrName>style.visibility</p:attrName>
                                        </p:attrNameLst>
                                      </p:cBhvr>
                                      <p:to>
                                        <p:strVal val="visible"/>
                                      </p:to>
                                    </p:set>
                                    <p:animEffect filter="fade" transition="in">
                                      <p:cBhvr>
                                        <p:cTn dur="500"/>
                                        <p:tgtEl>
                                          <p:spTgt spid="109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1" st="11"/>
                                            </p:txEl>
                                          </p:spTgt>
                                        </p:tgtEl>
                                        <p:attrNameLst>
                                          <p:attrName>style.visibility</p:attrName>
                                        </p:attrNameLst>
                                      </p:cBhvr>
                                      <p:to>
                                        <p:strVal val="visible"/>
                                      </p:to>
                                    </p:set>
                                    <p:animEffect filter="fade" transition="in">
                                      <p:cBhvr>
                                        <p:cTn dur="500"/>
                                        <p:tgtEl>
                                          <p:spTgt spid="109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xEl>
                                              <p:pRg end="12" st="12"/>
                                            </p:txEl>
                                          </p:spTgt>
                                        </p:tgtEl>
                                        <p:attrNameLst>
                                          <p:attrName>style.visibility</p:attrName>
                                        </p:attrNameLst>
                                      </p:cBhvr>
                                      <p:to>
                                        <p:strVal val="visible"/>
                                      </p:to>
                                    </p:set>
                                    <p:animEffect filter="fade" transition="in">
                                      <p:cBhvr>
                                        <p:cTn dur="500"/>
                                        <p:tgtEl>
                                          <p:spTgt spid="109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03" name="Google Shape;1103;p8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04" name="Google Shape;1104;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5" name="Google Shape;1105;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6" name="Google Shape;1106;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107" name="Google Shape;1107;p81"/>
          <p:cNvGrpSpPr/>
          <p:nvPr/>
        </p:nvGrpSpPr>
        <p:grpSpPr>
          <a:xfrm>
            <a:off x="1447800" y="762000"/>
            <a:ext cx="7086600" cy="5638800"/>
            <a:chOff x="1440" y="2512"/>
            <a:chExt cx="5940" cy="5040"/>
          </a:xfrm>
        </p:grpSpPr>
        <p:sp>
          <p:nvSpPr>
            <p:cNvPr id="1108" name="Google Shape;1108;p81"/>
            <p:cNvSpPr/>
            <p:nvPr/>
          </p:nvSpPr>
          <p:spPr>
            <a:xfrm>
              <a:off x="1440" y="2512"/>
              <a:ext cx="5940" cy="5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9" name="Google Shape;1109;p81"/>
            <p:cNvSpPr txBox="1"/>
            <p:nvPr/>
          </p:nvSpPr>
          <p:spPr>
            <a:xfrm>
              <a:off x="1800" y="3052"/>
              <a:ext cx="3600" cy="4320"/>
            </a:xfrm>
            <a:prstGeom prst="rect">
              <a:avLst/>
            </a:prstGeom>
            <a:solidFill>
              <a:srgbClr val="EAEAEA"/>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0" name="Google Shape;1110;p81"/>
            <p:cNvSpPr txBox="1"/>
            <p:nvPr/>
          </p:nvSpPr>
          <p:spPr>
            <a:xfrm>
              <a:off x="2520" y="3232"/>
              <a:ext cx="216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Dữ liệu cục bộ</a:t>
              </a:r>
              <a:endParaRPr/>
            </a:p>
          </p:txBody>
        </p:sp>
        <p:cxnSp>
          <p:nvCxnSpPr>
            <p:cNvPr id="1111" name="Google Shape;1111;p81"/>
            <p:cNvCxnSpPr/>
            <p:nvPr/>
          </p:nvCxnSpPr>
          <p:spPr>
            <a:xfrm>
              <a:off x="5400" y="5830"/>
              <a:ext cx="1260" cy="1"/>
            </a:xfrm>
            <a:prstGeom prst="straightConnector1">
              <a:avLst/>
            </a:prstGeom>
            <a:noFill/>
            <a:ln cap="flat" cmpd="sng" w="9525">
              <a:solidFill>
                <a:srgbClr val="000000"/>
              </a:solidFill>
              <a:prstDash val="solid"/>
              <a:miter lim="800000"/>
              <a:headEnd len="med" w="med" type="none"/>
              <a:tailEnd len="med" w="med" type="none"/>
            </a:ln>
          </p:spPr>
        </p:cxnSp>
        <p:sp>
          <p:nvSpPr>
            <p:cNvPr id="1112" name="Google Shape;1112;p81"/>
            <p:cNvSpPr txBox="1"/>
            <p:nvPr/>
          </p:nvSpPr>
          <p:spPr>
            <a:xfrm>
              <a:off x="5580" y="5683"/>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3" name="Google Shape;1113;p81"/>
            <p:cNvSpPr txBox="1"/>
            <p:nvPr/>
          </p:nvSpPr>
          <p:spPr>
            <a:xfrm>
              <a:off x="5940" y="5676"/>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4" name="Google Shape;1114;p81"/>
            <p:cNvSpPr txBox="1"/>
            <p:nvPr/>
          </p:nvSpPr>
          <p:spPr>
            <a:xfrm>
              <a:off x="6307" y="5676"/>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15" name="Google Shape;1115;p81"/>
            <p:cNvCxnSpPr/>
            <p:nvPr/>
          </p:nvCxnSpPr>
          <p:spPr>
            <a:xfrm>
              <a:off x="3945" y="4312"/>
              <a:ext cx="915" cy="1"/>
            </a:xfrm>
            <a:prstGeom prst="straightConnector1">
              <a:avLst/>
            </a:prstGeom>
            <a:noFill/>
            <a:ln cap="flat" cmpd="sng" w="9525">
              <a:solidFill>
                <a:srgbClr val="000000"/>
              </a:solidFill>
              <a:prstDash val="solid"/>
              <a:miter lim="800000"/>
              <a:headEnd len="med" w="med" type="none"/>
              <a:tailEnd len="med" w="med" type="none"/>
            </a:ln>
          </p:spPr>
        </p:cxnSp>
        <p:sp>
          <p:nvSpPr>
            <p:cNvPr id="1116" name="Google Shape;1116;p81"/>
            <p:cNvSpPr txBox="1"/>
            <p:nvPr/>
          </p:nvSpPr>
          <p:spPr>
            <a:xfrm>
              <a:off x="4125" y="4165"/>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7" name="Google Shape;1117;p81"/>
            <p:cNvSpPr txBox="1"/>
            <p:nvPr/>
          </p:nvSpPr>
          <p:spPr>
            <a:xfrm>
              <a:off x="4443" y="4171"/>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118" name="Google Shape;1118;p81"/>
            <p:cNvCxnSpPr/>
            <p:nvPr/>
          </p:nvCxnSpPr>
          <p:spPr>
            <a:xfrm>
              <a:off x="3945" y="4735"/>
              <a:ext cx="735" cy="1"/>
            </a:xfrm>
            <a:prstGeom prst="straightConnector1">
              <a:avLst/>
            </a:prstGeom>
            <a:noFill/>
            <a:ln cap="flat" cmpd="sng" w="9525">
              <a:solidFill>
                <a:srgbClr val="000000"/>
              </a:solidFill>
              <a:prstDash val="solid"/>
              <a:miter lim="800000"/>
              <a:headEnd len="med" w="med" type="none"/>
              <a:tailEnd len="med" w="med" type="none"/>
            </a:ln>
          </p:spPr>
        </p:cxnSp>
        <p:sp>
          <p:nvSpPr>
            <p:cNvPr id="1119" name="Google Shape;1119;p81"/>
            <p:cNvSpPr txBox="1"/>
            <p:nvPr/>
          </p:nvSpPr>
          <p:spPr>
            <a:xfrm>
              <a:off x="4125" y="4588"/>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0" name="Google Shape;1120;p81"/>
            <p:cNvSpPr txBox="1"/>
            <p:nvPr/>
          </p:nvSpPr>
          <p:spPr>
            <a:xfrm>
              <a:off x="4443" y="4594"/>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1" name="Google Shape;1121;p81"/>
            <p:cNvSpPr txBox="1"/>
            <p:nvPr/>
          </p:nvSpPr>
          <p:spPr>
            <a:xfrm>
              <a:off x="4765" y="4171"/>
              <a:ext cx="249" cy="249"/>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2" name="Google Shape;1122;p81"/>
            <p:cNvSpPr txBox="1"/>
            <p:nvPr/>
          </p:nvSpPr>
          <p:spPr>
            <a:xfrm>
              <a:off x="1839" y="4286"/>
              <a:ext cx="90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các biến điều kiện</a:t>
              </a:r>
              <a:endParaRPr/>
            </a:p>
          </p:txBody>
        </p:sp>
        <p:sp>
          <p:nvSpPr>
            <p:cNvPr id="1123" name="Google Shape;1123;p81"/>
            <p:cNvSpPr txBox="1"/>
            <p:nvPr/>
          </p:nvSpPr>
          <p:spPr>
            <a:xfrm>
              <a:off x="2700" y="4132"/>
              <a:ext cx="126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condition x</a:t>
              </a:r>
              <a:endParaRPr/>
            </a:p>
          </p:txBody>
        </p:sp>
        <p:sp>
          <p:nvSpPr>
            <p:cNvPr id="1124" name="Google Shape;1124;p81"/>
            <p:cNvSpPr txBox="1"/>
            <p:nvPr/>
          </p:nvSpPr>
          <p:spPr>
            <a:xfrm>
              <a:off x="2700" y="4555"/>
              <a:ext cx="126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condition y</a:t>
              </a:r>
              <a:endParaRPr/>
            </a:p>
          </p:txBody>
        </p:sp>
        <p:sp>
          <p:nvSpPr>
            <p:cNvPr id="1125" name="Google Shape;1125;p81"/>
            <p:cNvSpPr txBox="1"/>
            <p:nvPr/>
          </p:nvSpPr>
          <p:spPr>
            <a:xfrm>
              <a:off x="2160"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6" name="Google Shape;1126;p81"/>
            <p:cNvSpPr txBox="1"/>
            <p:nvPr/>
          </p:nvSpPr>
          <p:spPr>
            <a:xfrm>
              <a:off x="3177"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7" name="Google Shape;1127;p81"/>
            <p:cNvSpPr txBox="1"/>
            <p:nvPr/>
          </p:nvSpPr>
          <p:spPr>
            <a:xfrm>
              <a:off x="4257" y="5457"/>
              <a:ext cx="72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a:t>
              </a:r>
              <a:endParaRPr/>
            </a:p>
          </p:txBody>
        </p:sp>
        <p:sp>
          <p:nvSpPr>
            <p:cNvPr id="1128" name="Google Shape;1128;p81"/>
            <p:cNvSpPr txBox="1"/>
            <p:nvPr/>
          </p:nvSpPr>
          <p:spPr>
            <a:xfrm>
              <a:off x="2700" y="6652"/>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hàm khởi tạo</a:t>
              </a:r>
              <a:endParaRPr/>
            </a:p>
          </p:txBody>
        </p:sp>
        <p:sp>
          <p:nvSpPr>
            <p:cNvPr id="1129" name="Google Shape;1129;p81"/>
            <p:cNvSpPr txBox="1"/>
            <p:nvPr/>
          </p:nvSpPr>
          <p:spPr>
            <a:xfrm>
              <a:off x="5760" y="5136"/>
              <a:ext cx="162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hàng đợi chung của monitor</a:t>
              </a:r>
              <a:endParaRPr/>
            </a:p>
          </p:txBody>
        </p:sp>
        <p:sp>
          <p:nvSpPr>
            <p:cNvPr id="1130" name="Google Shape;1130;p81"/>
            <p:cNvSpPr txBox="1"/>
            <p:nvPr/>
          </p:nvSpPr>
          <p:spPr>
            <a:xfrm>
              <a:off x="5760" y="4132"/>
              <a:ext cx="1080" cy="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hàng đợi điều kiện</a:t>
              </a:r>
              <a:endParaRPr/>
            </a:p>
          </p:txBody>
        </p:sp>
        <p:cxnSp>
          <p:nvCxnSpPr>
            <p:cNvPr id="1131" name="Google Shape;1131;p81"/>
            <p:cNvCxnSpPr/>
            <p:nvPr/>
          </p:nvCxnSpPr>
          <p:spPr>
            <a:xfrm>
              <a:off x="5220" y="4312"/>
              <a:ext cx="360" cy="1"/>
            </a:xfrm>
            <a:prstGeom prst="straightConnector1">
              <a:avLst/>
            </a:prstGeom>
            <a:noFill/>
            <a:ln cap="flat" cmpd="sng" w="9525">
              <a:solidFill>
                <a:srgbClr val="000000"/>
              </a:solidFill>
              <a:prstDash val="solid"/>
              <a:miter lim="800000"/>
              <a:headEnd len="med" w="med" type="none"/>
              <a:tailEnd len="med" w="med" type="none"/>
            </a:ln>
          </p:spPr>
        </p:cxnSp>
        <p:cxnSp>
          <p:nvCxnSpPr>
            <p:cNvPr id="1132" name="Google Shape;1132;p81"/>
            <p:cNvCxnSpPr/>
            <p:nvPr/>
          </p:nvCxnSpPr>
          <p:spPr>
            <a:xfrm flipH="1">
              <a:off x="4860" y="4312"/>
              <a:ext cx="720" cy="360"/>
            </a:xfrm>
            <a:prstGeom prst="straightConnector1">
              <a:avLst/>
            </a:prstGeom>
            <a:noFill/>
            <a:ln cap="flat" cmpd="sng" w="9525">
              <a:solidFill>
                <a:srgbClr val="000000"/>
              </a:solidFill>
              <a:prstDash val="solid"/>
              <a:miter lim="800000"/>
              <a:headEnd len="med" w="med" type="none"/>
              <a:tailEnd len="med" w="med" type="none"/>
            </a:ln>
          </p:spPr>
        </p:cxnSp>
        <p:sp>
          <p:nvSpPr>
            <p:cNvPr id="1133" name="Google Shape;1133;p81"/>
            <p:cNvSpPr txBox="1"/>
            <p:nvPr/>
          </p:nvSpPr>
          <p:spPr>
            <a:xfrm>
              <a:off x="3240" y="2692"/>
              <a:ext cx="720" cy="24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Monitor</a:t>
              </a:r>
              <a:endParaRPr/>
            </a:p>
          </p:txBody>
        </p:sp>
      </p:grpSp>
      <p:sp>
        <p:nvSpPr>
          <p:cNvPr id="1134" name="Google Shape;1134;p8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0" st="0"/>
                                            </p:txEl>
                                          </p:spTgt>
                                        </p:tgtEl>
                                        <p:attrNameLst>
                                          <p:attrName>style.visibility</p:attrName>
                                        </p:attrNameLst>
                                      </p:cBhvr>
                                      <p:to>
                                        <p:strVal val="visible"/>
                                      </p:to>
                                    </p:set>
                                    <p:animEffect filter="fade" transition="in">
                                      <p:cBhvr>
                                        <p:cTn dur="500"/>
                                        <p:tgtEl>
                                          <p:spTgt spid="1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1" st="1"/>
                                            </p:txEl>
                                          </p:spTgt>
                                        </p:tgtEl>
                                        <p:attrNameLst>
                                          <p:attrName>style.visibility</p:attrName>
                                        </p:attrNameLst>
                                      </p:cBhvr>
                                      <p:to>
                                        <p:strVal val="visible"/>
                                      </p:to>
                                    </p:set>
                                    <p:animEffect filter="fade" transition="in">
                                      <p:cBhvr>
                                        <p:cTn dur="500"/>
                                        <p:tgtEl>
                                          <p:spTgt spid="1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2" st="2"/>
                                            </p:txEl>
                                          </p:spTgt>
                                        </p:tgtEl>
                                        <p:attrNameLst>
                                          <p:attrName>style.visibility</p:attrName>
                                        </p:attrNameLst>
                                      </p:cBhvr>
                                      <p:to>
                                        <p:strVal val="visible"/>
                                      </p:to>
                                    </p:set>
                                    <p:animEffect filter="fade" transition="in">
                                      <p:cBhvr>
                                        <p:cTn dur="500"/>
                                        <p:tgtEl>
                                          <p:spTgt spid="1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3" st="3"/>
                                            </p:txEl>
                                          </p:spTgt>
                                        </p:tgtEl>
                                        <p:attrNameLst>
                                          <p:attrName>style.visibility</p:attrName>
                                        </p:attrNameLst>
                                      </p:cBhvr>
                                      <p:to>
                                        <p:strVal val="visible"/>
                                      </p:to>
                                    </p:set>
                                    <p:animEffect filter="fade" transition="in">
                                      <p:cBhvr>
                                        <p:cTn dur="500"/>
                                        <p:tgtEl>
                                          <p:spTgt spid="1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4" st="4"/>
                                            </p:txEl>
                                          </p:spTgt>
                                        </p:tgtEl>
                                        <p:attrNameLst>
                                          <p:attrName>style.visibility</p:attrName>
                                        </p:attrNameLst>
                                      </p:cBhvr>
                                      <p:to>
                                        <p:strVal val="visible"/>
                                      </p:to>
                                    </p:set>
                                    <p:animEffect filter="fade" transition="in">
                                      <p:cBhvr>
                                        <p:cTn dur="500"/>
                                        <p:tgtEl>
                                          <p:spTgt spid="1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5" st="5"/>
                                            </p:txEl>
                                          </p:spTgt>
                                        </p:tgtEl>
                                        <p:attrNameLst>
                                          <p:attrName>style.visibility</p:attrName>
                                        </p:attrNameLst>
                                      </p:cBhvr>
                                      <p:to>
                                        <p:strVal val="visible"/>
                                      </p:to>
                                    </p:set>
                                    <p:animEffect filter="fade" transition="in">
                                      <p:cBhvr>
                                        <p:cTn dur="500"/>
                                        <p:tgtEl>
                                          <p:spTgt spid="1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6" st="6"/>
                                            </p:txEl>
                                          </p:spTgt>
                                        </p:tgtEl>
                                        <p:attrNameLst>
                                          <p:attrName>style.visibility</p:attrName>
                                        </p:attrNameLst>
                                      </p:cBhvr>
                                      <p:to>
                                        <p:strVal val="visible"/>
                                      </p:to>
                                    </p:set>
                                    <p:animEffect filter="fade" transition="in">
                                      <p:cBhvr>
                                        <p:cTn dur="500"/>
                                        <p:tgtEl>
                                          <p:spTgt spid="11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8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41" name="Google Shape;1141;p82"/>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42" name="Google Shape;1142;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3" name="Google Shape;1143;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4" name="Google Shape;1144;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5" name="Google Shape;1145;p82"/>
          <p:cNvSpPr txBox="1"/>
          <p:nvPr/>
        </p:nvSpPr>
        <p:spPr>
          <a:xfrm>
            <a:off x="1066800" y="990600"/>
            <a:ext cx="91440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monitor BoundedBuffer</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buffer[N];    //bộ đệm chứa N sản phẩm kiểu product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int count;           //số lượng sản phẩm hiện thời trong bộ đệm</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condition notFull, notEmpty;    //các biến điều kiện</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public:</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boundedbuffer( ) {  //khởi tạo</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 = 0;</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void append (product x)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if (count == N)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notFull.cwait ( );  //dừng và chờ đến khi buffer có chỗ</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&lt;Thêm một sản phẩm vào buffer&gt;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notEmpty.csignal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46" name="Google Shape;1146;p8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0" st="0"/>
                                            </p:txEl>
                                          </p:spTgt>
                                        </p:tgtEl>
                                        <p:attrNameLst>
                                          <p:attrName>style.visibility</p:attrName>
                                        </p:attrNameLst>
                                      </p:cBhvr>
                                      <p:to>
                                        <p:strVal val="visible"/>
                                      </p:to>
                                    </p:set>
                                    <p:animEffect filter="fade" transition="in">
                                      <p:cBhvr>
                                        <p:cTn dur="500"/>
                                        <p:tgtEl>
                                          <p:spTgt spid="1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1" st="1"/>
                                            </p:txEl>
                                          </p:spTgt>
                                        </p:tgtEl>
                                        <p:attrNameLst>
                                          <p:attrName>style.visibility</p:attrName>
                                        </p:attrNameLst>
                                      </p:cBhvr>
                                      <p:to>
                                        <p:strVal val="visible"/>
                                      </p:to>
                                    </p:set>
                                    <p:animEffect filter="fade" transition="in">
                                      <p:cBhvr>
                                        <p:cTn dur="500"/>
                                        <p:tgtEl>
                                          <p:spTgt spid="1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2" st="2"/>
                                            </p:txEl>
                                          </p:spTgt>
                                        </p:tgtEl>
                                        <p:attrNameLst>
                                          <p:attrName>style.visibility</p:attrName>
                                        </p:attrNameLst>
                                      </p:cBhvr>
                                      <p:to>
                                        <p:strVal val="visible"/>
                                      </p:to>
                                    </p:set>
                                    <p:animEffect filter="fade" transition="in">
                                      <p:cBhvr>
                                        <p:cTn dur="500"/>
                                        <p:tgtEl>
                                          <p:spTgt spid="11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3" st="3"/>
                                            </p:txEl>
                                          </p:spTgt>
                                        </p:tgtEl>
                                        <p:attrNameLst>
                                          <p:attrName>style.visibility</p:attrName>
                                        </p:attrNameLst>
                                      </p:cBhvr>
                                      <p:to>
                                        <p:strVal val="visible"/>
                                      </p:to>
                                    </p:set>
                                    <p:animEffect filter="fade" transition="in">
                                      <p:cBhvr>
                                        <p:cTn dur="500"/>
                                        <p:tgtEl>
                                          <p:spTgt spid="11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4" st="4"/>
                                            </p:txEl>
                                          </p:spTgt>
                                        </p:tgtEl>
                                        <p:attrNameLst>
                                          <p:attrName>style.visibility</p:attrName>
                                        </p:attrNameLst>
                                      </p:cBhvr>
                                      <p:to>
                                        <p:strVal val="visible"/>
                                      </p:to>
                                    </p:set>
                                    <p:animEffect filter="fade" transition="in">
                                      <p:cBhvr>
                                        <p:cTn dur="500"/>
                                        <p:tgtEl>
                                          <p:spTgt spid="11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5" st="5"/>
                                            </p:txEl>
                                          </p:spTgt>
                                        </p:tgtEl>
                                        <p:attrNameLst>
                                          <p:attrName>style.visibility</p:attrName>
                                        </p:attrNameLst>
                                      </p:cBhvr>
                                      <p:to>
                                        <p:strVal val="visible"/>
                                      </p:to>
                                    </p:set>
                                    <p:animEffect filter="fade" transition="in">
                                      <p:cBhvr>
                                        <p:cTn dur="500"/>
                                        <p:tgtEl>
                                          <p:spTgt spid="11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xEl>
                                              <p:pRg end="6" st="6"/>
                                            </p:txEl>
                                          </p:spTgt>
                                        </p:tgtEl>
                                        <p:attrNameLst>
                                          <p:attrName>style.visibility</p:attrName>
                                        </p:attrNameLst>
                                      </p:cBhvr>
                                      <p:to>
                                        <p:strVal val="visible"/>
                                      </p:to>
                                    </p:set>
                                    <p:animEffect filter="fade" transition="in">
                                      <p:cBhvr>
                                        <p:cTn dur="500"/>
                                        <p:tgtEl>
                                          <p:spTgt spid="114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8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53" name="Google Shape;1153;p8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54" name="Google Shape;1154;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5" name="Google Shape;1155;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6" name="Google Shape;1156;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7" name="Google Shape;1157;p83"/>
          <p:cNvSpPr txBox="1"/>
          <p:nvPr/>
        </p:nvSpPr>
        <p:spPr>
          <a:xfrm>
            <a:off x="457200" y="1143000"/>
            <a:ext cx="91440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take ( )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if (count == 0)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notEmptry.cwait ();  //chờ đến khi buffer không rỗng</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&lt;Lấy một sản phẩm x từ buffer&gt;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count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notFull.csignal (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1"/>
              </a:buClr>
              <a:buSzPts val="1800"/>
              <a:buFont typeface="Arial"/>
              <a:buNone/>
            </a:pPr>
            <a:r>
              <a:t/>
            </a:r>
            <a:endParaRPr b="0" i="0" sz="1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producer ( )  {   //tiến trình người sản xuất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for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&lt;Sản xuất sản phẩm x&gt;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BoundedBuffer.append (x);</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1"/>
              </a:buClr>
              <a:buSzPts val="1800"/>
              <a:buFont typeface="Arial"/>
              <a:buNone/>
            </a:pPr>
            <a:r>
              <a:t/>
            </a:r>
            <a:endParaRPr b="0" i="0" sz="18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58" name="Google Shape;1158;p8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0" st="0"/>
                                            </p:txEl>
                                          </p:spTgt>
                                        </p:tgtEl>
                                        <p:attrNameLst>
                                          <p:attrName>style.visibility</p:attrName>
                                        </p:attrNameLst>
                                      </p:cBhvr>
                                      <p:to>
                                        <p:strVal val="visible"/>
                                      </p:to>
                                    </p:set>
                                    <p:animEffect filter="fade" transition="in">
                                      <p:cBhvr>
                                        <p:cTn dur="500"/>
                                        <p:tgtEl>
                                          <p:spTgt spid="1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1" st="1"/>
                                            </p:txEl>
                                          </p:spTgt>
                                        </p:tgtEl>
                                        <p:attrNameLst>
                                          <p:attrName>style.visibility</p:attrName>
                                        </p:attrNameLst>
                                      </p:cBhvr>
                                      <p:to>
                                        <p:strVal val="visible"/>
                                      </p:to>
                                    </p:set>
                                    <p:animEffect filter="fade" transition="in">
                                      <p:cBhvr>
                                        <p:cTn dur="500"/>
                                        <p:tgtEl>
                                          <p:spTgt spid="1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2" st="2"/>
                                            </p:txEl>
                                          </p:spTgt>
                                        </p:tgtEl>
                                        <p:attrNameLst>
                                          <p:attrName>style.visibility</p:attrName>
                                        </p:attrNameLst>
                                      </p:cBhvr>
                                      <p:to>
                                        <p:strVal val="visible"/>
                                      </p:to>
                                    </p:set>
                                    <p:animEffect filter="fade" transition="in">
                                      <p:cBhvr>
                                        <p:cTn dur="500"/>
                                        <p:tgtEl>
                                          <p:spTgt spid="1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3" st="3"/>
                                            </p:txEl>
                                          </p:spTgt>
                                        </p:tgtEl>
                                        <p:attrNameLst>
                                          <p:attrName>style.visibility</p:attrName>
                                        </p:attrNameLst>
                                      </p:cBhvr>
                                      <p:to>
                                        <p:strVal val="visible"/>
                                      </p:to>
                                    </p:set>
                                    <p:animEffect filter="fade" transition="in">
                                      <p:cBhvr>
                                        <p:cTn dur="500"/>
                                        <p:tgtEl>
                                          <p:spTgt spid="11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4" st="4"/>
                                            </p:txEl>
                                          </p:spTgt>
                                        </p:tgtEl>
                                        <p:attrNameLst>
                                          <p:attrName>style.visibility</p:attrName>
                                        </p:attrNameLst>
                                      </p:cBhvr>
                                      <p:to>
                                        <p:strVal val="visible"/>
                                      </p:to>
                                    </p:set>
                                    <p:animEffect filter="fade" transition="in">
                                      <p:cBhvr>
                                        <p:cTn dur="500"/>
                                        <p:tgtEl>
                                          <p:spTgt spid="11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5" st="5"/>
                                            </p:txEl>
                                          </p:spTgt>
                                        </p:tgtEl>
                                        <p:attrNameLst>
                                          <p:attrName>style.visibility</p:attrName>
                                        </p:attrNameLst>
                                      </p:cBhvr>
                                      <p:to>
                                        <p:strVal val="visible"/>
                                      </p:to>
                                    </p:set>
                                    <p:animEffect filter="fade" transition="in">
                                      <p:cBhvr>
                                        <p:cTn dur="500"/>
                                        <p:tgtEl>
                                          <p:spTgt spid="11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xEl>
                                              <p:pRg end="6" st="6"/>
                                            </p:txEl>
                                          </p:spTgt>
                                        </p:tgtEl>
                                        <p:attrNameLst>
                                          <p:attrName>style.visibility</p:attrName>
                                        </p:attrNameLst>
                                      </p:cBhvr>
                                      <p:to>
                                        <p:strVal val="visible"/>
                                      </p:to>
                                    </p:set>
                                    <p:animEffect filter="fade" transition="in">
                                      <p:cBhvr>
                                        <p:cTn dur="500"/>
                                        <p:tgtEl>
                                          <p:spTgt spid="11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8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55600" lvl="0" marL="514350" marR="0" rtl="0" algn="l">
              <a:lnSpc>
                <a:spcPct val="100000"/>
              </a:lnSpc>
              <a:spcBef>
                <a:spcPts val="0"/>
              </a:spcBef>
              <a:spcAft>
                <a:spcPts val="0"/>
              </a:spcAft>
              <a:buClr>
                <a:schemeClr val="dk2"/>
              </a:buClr>
              <a:buSzPts val="2500"/>
              <a:buFont typeface="Noto Sans Symbols"/>
              <a:buNone/>
            </a:pPr>
            <a:r>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65" name="Google Shape;1165;p8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ĐỒNG BỘ HÓA CÁC TIẾN TRÌNH ĐỒNG THỜI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7. Monitor (tt)</a:t>
            </a:r>
            <a:br>
              <a:rPr b="1" i="0" lang="en-US" sz="2500" u="none">
                <a:solidFill>
                  <a:srgbClr val="000066"/>
                </a:solidFill>
                <a:latin typeface="Times New Roman"/>
                <a:ea typeface="Times New Roman"/>
                <a:cs typeface="Times New Roman"/>
                <a:sym typeface="Times New Roman"/>
              </a:rPr>
            </a:br>
            <a:endParaRPr/>
          </a:p>
        </p:txBody>
      </p:sp>
      <p:sp>
        <p:nvSpPr>
          <p:cNvPr id="1166" name="Google Shape;1166;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7" name="Google Shape;1167;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8" name="Google Shape;1168;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9" name="Google Shape;1169;p84"/>
          <p:cNvSpPr txBox="1"/>
          <p:nvPr/>
        </p:nvSpPr>
        <p:spPr>
          <a:xfrm>
            <a:off x="685800" y="1143000"/>
            <a:ext cx="7467600" cy="50133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consumer ( )  {   //tiến trình người tiêu dùng</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for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product x = BoundedBuffer.take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&lt;Tiêu dùng x&gt;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void main() {</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Thực hiện song song producer và consumer.</a:t>
            </a:r>
            <a:endParaRPr/>
          </a:p>
          <a:p>
            <a:pPr indent="-514350" lvl="0" marL="51435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a:t>
            </a:r>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170" name="Google Shape;1170;p8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0" st="0"/>
                                            </p:txEl>
                                          </p:spTgt>
                                        </p:tgtEl>
                                        <p:attrNameLst>
                                          <p:attrName>style.visibility</p:attrName>
                                        </p:attrNameLst>
                                      </p:cBhvr>
                                      <p:to>
                                        <p:strVal val="visible"/>
                                      </p:to>
                                    </p:set>
                                    <p:animEffect filter="fade" transition="in">
                                      <p:cBhvr>
                                        <p:cTn dur="500"/>
                                        <p:tgtEl>
                                          <p:spTgt spid="1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1" st="1"/>
                                            </p:txEl>
                                          </p:spTgt>
                                        </p:tgtEl>
                                        <p:attrNameLst>
                                          <p:attrName>style.visibility</p:attrName>
                                        </p:attrNameLst>
                                      </p:cBhvr>
                                      <p:to>
                                        <p:strVal val="visible"/>
                                      </p:to>
                                    </p:set>
                                    <p:animEffect filter="fade" transition="in">
                                      <p:cBhvr>
                                        <p:cTn dur="500"/>
                                        <p:tgtEl>
                                          <p:spTgt spid="1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2" st="2"/>
                                            </p:txEl>
                                          </p:spTgt>
                                        </p:tgtEl>
                                        <p:attrNameLst>
                                          <p:attrName>style.visibility</p:attrName>
                                        </p:attrNameLst>
                                      </p:cBhvr>
                                      <p:to>
                                        <p:strVal val="visible"/>
                                      </p:to>
                                    </p:set>
                                    <p:animEffect filter="fade" transition="in">
                                      <p:cBhvr>
                                        <p:cTn dur="500"/>
                                        <p:tgtEl>
                                          <p:spTgt spid="1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3" st="3"/>
                                            </p:txEl>
                                          </p:spTgt>
                                        </p:tgtEl>
                                        <p:attrNameLst>
                                          <p:attrName>style.visibility</p:attrName>
                                        </p:attrNameLst>
                                      </p:cBhvr>
                                      <p:to>
                                        <p:strVal val="visible"/>
                                      </p:to>
                                    </p:set>
                                    <p:animEffect filter="fade" transition="in">
                                      <p:cBhvr>
                                        <p:cTn dur="500"/>
                                        <p:tgtEl>
                                          <p:spTgt spid="1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4" st="4"/>
                                            </p:txEl>
                                          </p:spTgt>
                                        </p:tgtEl>
                                        <p:attrNameLst>
                                          <p:attrName>style.visibility</p:attrName>
                                        </p:attrNameLst>
                                      </p:cBhvr>
                                      <p:to>
                                        <p:strVal val="visible"/>
                                      </p:to>
                                    </p:set>
                                    <p:animEffect filter="fade" transition="in">
                                      <p:cBhvr>
                                        <p:cTn dur="500"/>
                                        <p:tgtEl>
                                          <p:spTgt spid="11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5" st="5"/>
                                            </p:txEl>
                                          </p:spTgt>
                                        </p:tgtEl>
                                        <p:attrNameLst>
                                          <p:attrName>style.visibility</p:attrName>
                                        </p:attrNameLst>
                                      </p:cBhvr>
                                      <p:to>
                                        <p:strVal val="visible"/>
                                      </p:to>
                                    </p:set>
                                    <p:animEffect filter="fade" transition="in">
                                      <p:cBhvr>
                                        <p:cTn dur="500"/>
                                        <p:tgtEl>
                                          <p:spTgt spid="11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xEl>
                                              <p:pRg end="6" st="6"/>
                                            </p:txEl>
                                          </p:spTgt>
                                        </p:tgtEl>
                                        <p:attrNameLst>
                                          <p:attrName>style.visibility</p:attrName>
                                        </p:attrNameLst>
                                      </p:cBhvr>
                                      <p:to>
                                        <p:strVal val="visible"/>
                                      </p:to>
                                    </p:set>
                                    <p:animEffect filter="fade" transition="in">
                                      <p:cBhvr>
                                        <p:cTn dur="500"/>
                                        <p:tgtEl>
                                          <p:spTgt spid="116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85"/>
          <p:cNvSpPr txBox="1"/>
          <p:nvPr>
            <p:ph idx="1" type="body"/>
          </p:nvPr>
        </p:nvSpPr>
        <p:spPr>
          <a:xfrm>
            <a:off x="127000" y="838200"/>
            <a:ext cx="87884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Một vấn đề gây nhiều khó khăn đối với các tiến trình đồng thời là tình trạng bế tắc.</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Bế tắc</a:t>
            </a:r>
            <a:r>
              <a:rPr b="0" i="0" lang="en-US" sz="2800" u="none">
                <a:solidFill>
                  <a:schemeClr val="dk2"/>
                </a:solidFill>
                <a:latin typeface="Times New Roman"/>
                <a:ea typeface="Times New Roman"/>
                <a:cs typeface="Times New Roman"/>
                <a:sym typeface="Times New Roman"/>
              </a:rPr>
              <a:t> là tình trạng một nhóm tiến trình có cạnh tranh về tài nguyên hay có hợp tác phải dừng vô hạn</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Do tiến trình phải chờ đợi một sự kiện chỉ có thể sinh ra bởi tiến trình khác cũng đang trong trạng thái chờ đợi</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77" name="Google Shape;1177;p8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78" name="Google Shape;1178;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9" name="Google Shape;1179;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0" name="Google Shape;1180;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1" name="Google Shape;1181;p8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0" st="0"/>
                                            </p:txEl>
                                          </p:spTgt>
                                        </p:tgtEl>
                                        <p:attrNameLst>
                                          <p:attrName>style.visibility</p:attrName>
                                        </p:attrNameLst>
                                      </p:cBhvr>
                                      <p:to>
                                        <p:strVal val="visible"/>
                                      </p:to>
                                    </p:set>
                                    <p:animEffect filter="fade" transition="in">
                                      <p:cBhvr>
                                        <p:cTn dur="500"/>
                                        <p:tgtEl>
                                          <p:spTgt spid="1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1" st="1"/>
                                            </p:txEl>
                                          </p:spTgt>
                                        </p:tgtEl>
                                        <p:attrNameLst>
                                          <p:attrName>style.visibility</p:attrName>
                                        </p:attrNameLst>
                                      </p:cBhvr>
                                      <p:to>
                                        <p:strVal val="visible"/>
                                      </p:to>
                                    </p:set>
                                    <p:animEffect filter="fade" transition="in">
                                      <p:cBhvr>
                                        <p:cTn dur="500"/>
                                        <p:tgtEl>
                                          <p:spTgt spid="1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2" st="2"/>
                                            </p:txEl>
                                          </p:spTgt>
                                        </p:tgtEl>
                                        <p:attrNameLst>
                                          <p:attrName>style.visibility</p:attrName>
                                        </p:attrNameLst>
                                      </p:cBhvr>
                                      <p:to>
                                        <p:strVal val="visible"/>
                                      </p:to>
                                    </p:set>
                                    <p:animEffect filter="fade" transition="in">
                                      <p:cBhvr>
                                        <p:cTn dur="500"/>
                                        <p:tgtEl>
                                          <p:spTgt spid="1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3" st="3"/>
                                            </p:txEl>
                                          </p:spTgt>
                                        </p:tgtEl>
                                        <p:attrNameLst>
                                          <p:attrName>style.visibility</p:attrName>
                                        </p:attrNameLst>
                                      </p:cBhvr>
                                      <p:to>
                                        <p:strVal val="visible"/>
                                      </p:to>
                                    </p:set>
                                    <p:animEffect filter="fade" transition="in">
                                      <p:cBhvr>
                                        <p:cTn dur="500"/>
                                        <p:tgtEl>
                                          <p:spTgt spid="1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4" st="4"/>
                                            </p:txEl>
                                          </p:spTgt>
                                        </p:tgtEl>
                                        <p:attrNameLst>
                                          <p:attrName>style.visibility</p:attrName>
                                        </p:attrNameLst>
                                      </p:cBhvr>
                                      <p:to>
                                        <p:strVal val="visible"/>
                                      </p:to>
                                    </p:set>
                                    <p:animEffect filter="fade" transition="in">
                                      <p:cBhvr>
                                        <p:cTn dur="500"/>
                                        <p:tgtEl>
                                          <p:spTgt spid="1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5" st="5"/>
                                            </p:txEl>
                                          </p:spTgt>
                                        </p:tgtEl>
                                        <p:attrNameLst>
                                          <p:attrName>style.visibility</p:attrName>
                                        </p:attrNameLst>
                                      </p:cBhvr>
                                      <p:to>
                                        <p:strVal val="visible"/>
                                      </p:to>
                                    </p:set>
                                    <p:animEffect filter="fade" transition="in">
                                      <p:cBhvr>
                                        <p:cTn dur="500"/>
                                        <p:tgtEl>
                                          <p:spTgt spid="1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6" st="6"/>
                                            </p:txEl>
                                          </p:spTgt>
                                        </p:tgtEl>
                                        <p:attrNameLst>
                                          <p:attrName>style.visibility</p:attrName>
                                        </p:attrNameLst>
                                      </p:cBhvr>
                                      <p:to>
                                        <p:strVal val="visible"/>
                                      </p:to>
                                    </p:set>
                                    <p:animEffect filter="fade" transition="in">
                                      <p:cBhvr>
                                        <p:cTn dur="500"/>
                                        <p:tgtEl>
                                          <p:spTgt spid="11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7" st="7"/>
                                            </p:txEl>
                                          </p:spTgt>
                                        </p:tgtEl>
                                        <p:attrNameLst>
                                          <p:attrName>style.visibility</p:attrName>
                                        </p:attrNameLst>
                                      </p:cBhvr>
                                      <p:to>
                                        <p:strVal val="visible"/>
                                      </p:to>
                                    </p:set>
                                    <p:animEffect filter="fade" transition="in">
                                      <p:cBhvr>
                                        <p:cTn dur="500"/>
                                        <p:tgtEl>
                                          <p:spTgt spid="117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xEl>
                                              <p:pRg end="8" st="8"/>
                                            </p:txEl>
                                          </p:spTgt>
                                        </p:tgtEl>
                                        <p:attrNameLst>
                                          <p:attrName>style.visibility</p:attrName>
                                        </p:attrNameLst>
                                      </p:cBhvr>
                                      <p:to>
                                        <p:strVal val="visible"/>
                                      </p:to>
                                    </p:set>
                                    <p:animEffect filter="fade" transition="in">
                                      <p:cBhvr>
                                        <p:cTn dur="500"/>
                                        <p:tgtEl>
                                          <p:spTgt spid="117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86"/>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Ví dụ: </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Hai tiến trình P và Q thực hiện đồng thời</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Mỗi tiến trình cần sử dụng đồng thời hai tài nguyên X và Y trong một khoảng thời gian nhất định</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Tài nguyên X và Y chỉ có khả năng phục vụ 1 tiến trình tại 1 thời điểm</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Để sử dụng tài nguyên, mỗi tiến trình cần thực hiện thao tác yêu cầu tài nguyên Request.</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1"/>
                </a:solidFill>
                <a:latin typeface="Times New Roman"/>
                <a:ea typeface="Times New Roman"/>
                <a:cs typeface="Times New Roman"/>
                <a:sym typeface="Times New Roman"/>
              </a:rPr>
              <a:t>Sau khi thực hiện xong, tiến trình giải phóng tài nguyên bằng thao tác Release. </a:t>
            </a:r>
            <a:endParaRPr b="0" i="0" sz="2500" u="non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88" name="Google Shape;1188;p8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89" name="Google Shape;1189;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0" name="Google Shape;1190;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1" name="Google Shape;1191;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2" name="Google Shape;1192;p8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0" st="0"/>
                                            </p:txEl>
                                          </p:spTgt>
                                        </p:tgtEl>
                                        <p:attrNameLst>
                                          <p:attrName>style.visibility</p:attrName>
                                        </p:attrNameLst>
                                      </p:cBhvr>
                                      <p:to>
                                        <p:strVal val="visible"/>
                                      </p:to>
                                    </p:set>
                                    <p:animEffect filter="fade" transition="in">
                                      <p:cBhvr>
                                        <p:cTn dur="500"/>
                                        <p:tgtEl>
                                          <p:spTgt spid="1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 st="1"/>
                                            </p:txEl>
                                          </p:spTgt>
                                        </p:tgtEl>
                                        <p:attrNameLst>
                                          <p:attrName>style.visibility</p:attrName>
                                        </p:attrNameLst>
                                      </p:cBhvr>
                                      <p:to>
                                        <p:strVal val="visible"/>
                                      </p:to>
                                    </p:set>
                                    <p:animEffect filter="fade" transition="in">
                                      <p:cBhvr>
                                        <p:cTn dur="500"/>
                                        <p:tgtEl>
                                          <p:spTgt spid="1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2" st="2"/>
                                            </p:txEl>
                                          </p:spTgt>
                                        </p:tgtEl>
                                        <p:attrNameLst>
                                          <p:attrName>style.visibility</p:attrName>
                                        </p:attrNameLst>
                                      </p:cBhvr>
                                      <p:to>
                                        <p:strVal val="visible"/>
                                      </p:to>
                                    </p:set>
                                    <p:animEffect filter="fade" transition="in">
                                      <p:cBhvr>
                                        <p:cTn dur="500"/>
                                        <p:tgtEl>
                                          <p:spTgt spid="1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3" st="3"/>
                                            </p:txEl>
                                          </p:spTgt>
                                        </p:tgtEl>
                                        <p:attrNameLst>
                                          <p:attrName>style.visibility</p:attrName>
                                        </p:attrNameLst>
                                      </p:cBhvr>
                                      <p:to>
                                        <p:strVal val="visible"/>
                                      </p:to>
                                    </p:set>
                                    <p:animEffect filter="fade" transition="in">
                                      <p:cBhvr>
                                        <p:cTn dur="500"/>
                                        <p:tgtEl>
                                          <p:spTgt spid="1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4" st="4"/>
                                            </p:txEl>
                                          </p:spTgt>
                                        </p:tgtEl>
                                        <p:attrNameLst>
                                          <p:attrName>style.visibility</p:attrName>
                                        </p:attrNameLst>
                                      </p:cBhvr>
                                      <p:to>
                                        <p:strVal val="visible"/>
                                      </p:to>
                                    </p:set>
                                    <p:animEffect filter="fade" transition="in">
                                      <p:cBhvr>
                                        <p:cTn dur="500"/>
                                        <p:tgtEl>
                                          <p:spTgt spid="11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5" st="5"/>
                                            </p:txEl>
                                          </p:spTgt>
                                        </p:tgtEl>
                                        <p:attrNameLst>
                                          <p:attrName>style.visibility</p:attrName>
                                        </p:attrNameLst>
                                      </p:cBhvr>
                                      <p:to>
                                        <p:strVal val="visible"/>
                                      </p:to>
                                    </p:set>
                                    <p:animEffect filter="fade" transition="in">
                                      <p:cBhvr>
                                        <p:cTn dur="500"/>
                                        <p:tgtEl>
                                          <p:spTgt spid="11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6" st="6"/>
                                            </p:txEl>
                                          </p:spTgt>
                                        </p:tgtEl>
                                        <p:attrNameLst>
                                          <p:attrName>style.visibility</p:attrName>
                                        </p:attrNameLst>
                                      </p:cBhvr>
                                      <p:to>
                                        <p:strVal val="visible"/>
                                      </p:to>
                                    </p:set>
                                    <p:animEffect filter="fade" transition="in">
                                      <p:cBhvr>
                                        <p:cTn dur="500"/>
                                        <p:tgtEl>
                                          <p:spTgt spid="11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7" st="7"/>
                                            </p:txEl>
                                          </p:spTgt>
                                        </p:tgtEl>
                                        <p:attrNameLst>
                                          <p:attrName>style.visibility</p:attrName>
                                        </p:attrNameLst>
                                      </p:cBhvr>
                                      <p:to>
                                        <p:strVal val="visible"/>
                                      </p:to>
                                    </p:set>
                                    <p:animEffect filter="fade" transition="in">
                                      <p:cBhvr>
                                        <p:cTn dur="500"/>
                                        <p:tgtEl>
                                          <p:spTgt spid="11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8" st="8"/>
                                            </p:txEl>
                                          </p:spTgt>
                                        </p:tgtEl>
                                        <p:attrNameLst>
                                          <p:attrName>style.visibility</p:attrName>
                                        </p:attrNameLst>
                                      </p:cBhvr>
                                      <p:to>
                                        <p:strVal val="visible"/>
                                      </p:to>
                                    </p:set>
                                    <p:animEffect filter="fade" transition="in">
                                      <p:cBhvr>
                                        <p:cTn dur="500"/>
                                        <p:tgtEl>
                                          <p:spTgt spid="11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9" st="9"/>
                                            </p:txEl>
                                          </p:spTgt>
                                        </p:tgtEl>
                                        <p:attrNameLst>
                                          <p:attrName>style.visibility</p:attrName>
                                        </p:attrNameLst>
                                      </p:cBhvr>
                                      <p:to>
                                        <p:strVal val="visible"/>
                                      </p:to>
                                    </p:set>
                                    <p:animEffect filter="fade" transition="in">
                                      <p:cBhvr>
                                        <p:cTn dur="500"/>
                                        <p:tgtEl>
                                          <p:spTgt spid="11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0" st="10"/>
                                            </p:txEl>
                                          </p:spTgt>
                                        </p:tgtEl>
                                        <p:attrNameLst>
                                          <p:attrName>style.visibility</p:attrName>
                                        </p:attrNameLst>
                                      </p:cBhvr>
                                      <p:to>
                                        <p:strVal val="visible"/>
                                      </p:to>
                                    </p:set>
                                    <p:animEffect filter="fade" transition="in">
                                      <p:cBhvr>
                                        <p:cTn dur="500"/>
                                        <p:tgtEl>
                                          <p:spTgt spid="11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xEl>
                                              <p:pRg end="11" st="11"/>
                                            </p:txEl>
                                          </p:spTgt>
                                        </p:tgtEl>
                                        <p:attrNameLst>
                                          <p:attrName>style.visibility</p:attrName>
                                        </p:attrNameLst>
                                      </p:cBhvr>
                                      <p:to>
                                        <p:strVal val="visible"/>
                                      </p:to>
                                    </p:set>
                                    <p:animEffect filter="fade" transition="in">
                                      <p:cBhvr>
                                        <p:cTn dur="500"/>
                                        <p:tgtEl>
                                          <p:spTgt spid="118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87"/>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(DEADLOCK)</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Định nghĩa</a:t>
            </a:r>
            <a:br>
              <a:rPr b="1" i="0" lang="en-US" sz="2500" u="none">
                <a:solidFill>
                  <a:srgbClr val="000066"/>
                </a:solidFill>
                <a:latin typeface="Times New Roman"/>
                <a:ea typeface="Times New Roman"/>
                <a:cs typeface="Times New Roman"/>
                <a:sym typeface="Times New Roman"/>
              </a:rPr>
            </a:br>
            <a:endParaRPr/>
          </a:p>
        </p:txBody>
      </p:sp>
      <p:sp>
        <p:nvSpPr>
          <p:cNvPr id="1199" name="Google Shape;1199;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0" name="Google Shape;1200;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1" name="Google Shape;1201;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2" name="Google Shape;1202;p8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03" name="Google Shape;1203;p87"/>
          <p:cNvPicPr preferRelativeResize="0"/>
          <p:nvPr/>
        </p:nvPicPr>
        <p:blipFill rotWithShape="1">
          <a:blip r:embed="rId3">
            <a:alphaModFix/>
          </a:blip>
          <a:srcRect b="0" l="0" r="0" t="0"/>
          <a:stretch/>
        </p:blipFill>
        <p:spPr>
          <a:xfrm>
            <a:off x="368300" y="1011237"/>
            <a:ext cx="8242300" cy="3560762"/>
          </a:xfrm>
          <a:prstGeom prst="rect">
            <a:avLst/>
          </a:prstGeom>
          <a:noFill/>
          <a:ln>
            <a:noFill/>
          </a:ln>
        </p:spPr>
      </p:pic>
      <p:pic>
        <p:nvPicPr>
          <p:cNvPr id="1204" name="Google Shape;1204;p87"/>
          <p:cNvPicPr preferRelativeResize="0"/>
          <p:nvPr/>
        </p:nvPicPr>
        <p:blipFill>
          <a:blip r:embed="rId4">
            <a:alphaModFix/>
          </a:blip>
          <a:stretch>
            <a:fillRect/>
          </a:stretch>
        </p:blipFill>
        <p:spPr>
          <a:xfrm>
            <a:off x="4836063" y="1607263"/>
            <a:ext cx="4086225" cy="18764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88"/>
          <p:cNvSpPr txBox="1"/>
          <p:nvPr>
            <p:ph idx="1" type="body"/>
          </p:nvPr>
        </p:nvSpPr>
        <p:spPr>
          <a:xfrm>
            <a:off x="0" y="1066800"/>
            <a:ext cx="8763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Tình trạng bế tắc xẩy ra khi 4 điều kiện sau đồng thời thỏa mãn:</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Loại trừ tương hỗ</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có tài nguyên nguy hiểm, tại 1 thời điểm duy nhất 1 tiến trình sử dụng. Tiến trình khác yêu cầu tài nguyên này sẽ phải dừng lại chờ khi tài nguyên được giải phóng.</a:t>
            </a:r>
            <a:endParaRPr b="0" i="0" sz="2400" u="none" cap="none" strike="noStrike">
              <a:solidFill>
                <a:schemeClr val="dk2"/>
              </a:solidFill>
              <a:latin typeface="Times New Roman"/>
              <a:ea typeface="Times New Roman"/>
              <a:cs typeface="Times New Roman"/>
              <a:sym typeface="Times New Roman"/>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Giữ và chờ</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tiến trình giữ tài nguyên trong khi chờ đợi, chẳng hạn chờ đợi để được cấp thêm tài nguyên khác.</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Không có phân phối lại (no preemption)</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tài nguyên do tiến trình giữ không thể phân phối lại cho tiến trình khác trừ khi tiến trình đang giữ tự nguyện giải phóng tài nguyên</a:t>
            </a:r>
            <a:endParaRPr/>
          </a:p>
          <a:p>
            <a:pPr indent="-514349" lvl="1" marL="788987" marR="0" rtl="0" algn="just">
              <a:lnSpc>
                <a:spcPct val="100000"/>
              </a:lnSpc>
              <a:spcBef>
                <a:spcPts val="480"/>
              </a:spcBef>
              <a:spcAft>
                <a:spcPts val="0"/>
              </a:spcAft>
              <a:buClr>
                <a:schemeClr val="accent1"/>
              </a:buClr>
              <a:buSzPts val="2400"/>
              <a:buFont typeface="Arial"/>
              <a:buAutoNum type="arabicPeriod"/>
            </a:pPr>
            <a:r>
              <a:rPr b="1" i="0" lang="en-US" sz="2400" u="none" cap="none" strike="noStrike">
                <a:solidFill>
                  <a:schemeClr val="dk2"/>
                </a:solidFill>
                <a:latin typeface="Times New Roman"/>
                <a:ea typeface="Times New Roman"/>
                <a:cs typeface="Times New Roman"/>
                <a:sym typeface="Times New Roman"/>
              </a:rPr>
              <a:t>Chờ đợi vòng tròn</a:t>
            </a:r>
            <a:r>
              <a:rPr b="0" i="0" lang="en-US" sz="2400" u="none" cap="none" strike="noStrike">
                <a:solidFill>
                  <a:schemeClr val="dk2"/>
                </a:solidFill>
                <a:latin typeface="Times New Roman"/>
                <a:ea typeface="Times New Roman"/>
                <a:cs typeface="Times New Roman"/>
                <a:sym typeface="Times New Roman"/>
              </a:rPr>
              <a:t>: </a:t>
            </a:r>
            <a:r>
              <a:rPr b="0" i="0" lang="en-US" sz="2000" u="none" cap="none" strike="noStrike">
                <a:solidFill>
                  <a:schemeClr val="dk2"/>
                </a:solidFill>
                <a:latin typeface="Times New Roman"/>
                <a:ea typeface="Times New Roman"/>
                <a:cs typeface="Times New Roman"/>
                <a:sym typeface="Times New Roman"/>
              </a:rPr>
              <a:t>tồn tại nhóm tiến trình P1, P2, …, Pn sao cho P1 chờ đợi tài nguyên do P2 đang giữ, P2 chờ tài nguyên do P3 đang giữ, …, Pn chờ tài nguyên do P1 đang giữ.</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11" name="Google Shape;1211;p8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Điều kiện xảy ra bế tắc</a:t>
            </a:r>
            <a:br>
              <a:rPr b="1" i="0" lang="en-US" sz="2500" u="none">
                <a:solidFill>
                  <a:srgbClr val="000066"/>
                </a:solidFill>
                <a:latin typeface="Times New Roman"/>
                <a:ea typeface="Times New Roman"/>
                <a:cs typeface="Times New Roman"/>
                <a:sym typeface="Times New Roman"/>
              </a:rPr>
            </a:br>
            <a:endParaRPr/>
          </a:p>
        </p:txBody>
      </p:sp>
      <p:sp>
        <p:nvSpPr>
          <p:cNvPr id="1212" name="Google Shape;1212;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3" name="Google Shape;1213;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4" name="Google Shape;1214;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5" name="Google Shape;1215;p8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0" st="0"/>
                                            </p:txEl>
                                          </p:spTgt>
                                        </p:tgtEl>
                                        <p:attrNameLst>
                                          <p:attrName>style.visibility</p:attrName>
                                        </p:attrNameLst>
                                      </p:cBhvr>
                                      <p:to>
                                        <p:strVal val="visible"/>
                                      </p:to>
                                    </p:set>
                                    <p:animEffect filter="fade" transition="in">
                                      <p:cBhvr>
                                        <p:cTn dur="500"/>
                                        <p:tgtEl>
                                          <p:spTgt spid="12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1" st="1"/>
                                            </p:txEl>
                                          </p:spTgt>
                                        </p:tgtEl>
                                        <p:attrNameLst>
                                          <p:attrName>style.visibility</p:attrName>
                                        </p:attrNameLst>
                                      </p:cBhvr>
                                      <p:to>
                                        <p:strVal val="visible"/>
                                      </p:to>
                                    </p:set>
                                    <p:animEffect filter="fade" transition="in">
                                      <p:cBhvr>
                                        <p:cTn dur="500"/>
                                        <p:tgtEl>
                                          <p:spTgt spid="12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2" st="2"/>
                                            </p:txEl>
                                          </p:spTgt>
                                        </p:tgtEl>
                                        <p:attrNameLst>
                                          <p:attrName>style.visibility</p:attrName>
                                        </p:attrNameLst>
                                      </p:cBhvr>
                                      <p:to>
                                        <p:strVal val="visible"/>
                                      </p:to>
                                    </p:set>
                                    <p:animEffect filter="fade" transition="in">
                                      <p:cBhvr>
                                        <p:cTn dur="500"/>
                                        <p:tgtEl>
                                          <p:spTgt spid="12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3" st="3"/>
                                            </p:txEl>
                                          </p:spTgt>
                                        </p:tgtEl>
                                        <p:attrNameLst>
                                          <p:attrName>style.visibility</p:attrName>
                                        </p:attrNameLst>
                                      </p:cBhvr>
                                      <p:to>
                                        <p:strVal val="visible"/>
                                      </p:to>
                                    </p:set>
                                    <p:animEffect filter="fade" transition="in">
                                      <p:cBhvr>
                                        <p:cTn dur="500"/>
                                        <p:tgtEl>
                                          <p:spTgt spid="12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4" st="4"/>
                                            </p:txEl>
                                          </p:spTgt>
                                        </p:tgtEl>
                                        <p:attrNameLst>
                                          <p:attrName>style.visibility</p:attrName>
                                        </p:attrNameLst>
                                      </p:cBhvr>
                                      <p:to>
                                        <p:strVal val="visible"/>
                                      </p:to>
                                    </p:set>
                                    <p:animEffect filter="fade" transition="in">
                                      <p:cBhvr>
                                        <p:cTn dur="500"/>
                                        <p:tgtEl>
                                          <p:spTgt spid="12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5" st="5"/>
                                            </p:txEl>
                                          </p:spTgt>
                                        </p:tgtEl>
                                        <p:attrNameLst>
                                          <p:attrName>style.visibility</p:attrName>
                                        </p:attrNameLst>
                                      </p:cBhvr>
                                      <p:to>
                                        <p:strVal val="visible"/>
                                      </p:to>
                                    </p:set>
                                    <p:animEffect filter="fade" transition="in">
                                      <p:cBhvr>
                                        <p:cTn dur="500"/>
                                        <p:tgtEl>
                                          <p:spTgt spid="12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6" st="6"/>
                                            </p:txEl>
                                          </p:spTgt>
                                        </p:tgtEl>
                                        <p:attrNameLst>
                                          <p:attrName>style.visibility</p:attrName>
                                        </p:attrNameLst>
                                      </p:cBhvr>
                                      <p:to>
                                        <p:strVal val="visible"/>
                                      </p:to>
                                    </p:set>
                                    <p:animEffect filter="fade" transition="in">
                                      <p:cBhvr>
                                        <p:cTn dur="500"/>
                                        <p:tgtEl>
                                          <p:spTgt spid="12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7" st="7"/>
                                            </p:txEl>
                                          </p:spTgt>
                                        </p:tgtEl>
                                        <p:attrNameLst>
                                          <p:attrName>style.visibility</p:attrName>
                                        </p:attrNameLst>
                                      </p:cBhvr>
                                      <p:to>
                                        <p:strVal val="visible"/>
                                      </p:to>
                                    </p:set>
                                    <p:animEffect filter="fade" transition="in">
                                      <p:cBhvr>
                                        <p:cTn dur="500"/>
                                        <p:tgtEl>
                                          <p:spTgt spid="12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8" st="8"/>
                                            </p:txEl>
                                          </p:spTgt>
                                        </p:tgtEl>
                                        <p:attrNameLst>
                                          <p:attrName>style.visibility</p:attrName>
                                        </p:attrNameLst>
                                      </p:cBhvr>
                                      <p:to>
                                        <p:strVal val="visible"/>
                                      </p:to>
                                    </p:set>
                                    <p:animEffect filter="fade" transition="in">
                                      <p:cBhvr>
                                        <p:cTn dur="500"/>
                                        <p:tgtEl>
                                          <p:spTgt spid="12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9" st="9"/>
                                            </p:txEl>
                                          </p:spTgt>
                                        </p:tgtEl>
                                        <p:attrNameLst>
                                          <p:attrName>style.visibility</p:attrName>
                                        </p:attrNameLst>
                                      </p:cBhvr>
                                      <p:to>
                                        <p:strVal val="visible"/>
                                      </p:to>
                                    </p:set>
                                    <p:animEffect filter="fade" transition="in">
                                      <p:cBhvr>
                                        <p:cTn dur="500"/>
                                        <p:tgtEl>
                                          <p:spTgt spid="12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xEl>
                                              <p:pRg end="10" st="10"/>
                                            </p:txEl>
                                          </p:spTgt>
                                        </p:tgtEl>
                                        <p:attrNameLst>
                                          <p:attrName>style.visibility</p:attrName>
                                        </p:attrNameLst>
                                      </p:cBhvr>
                                      <p:to>
                                        <p:strVal val="visible"/>
                                      </p:to>
                                    </p:set>
                                    <p:animEffect filter="fade" transition="in">
                                      <p:cBhvr>
                                        <p:cTn dur="500"/>
                                        <p:tgtEl>
                                          <p:spTgt spid="121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9"/>
          <p:cNvSpPr txBox="1"/>
          <p:nvPr>
            <p:ph idx="1" type="body"/>
          </p:nvPr>
        </p:nvSpPr>
        <p:spPr>
          <a:xfrm>
            <a:off x="0" y="609600"/>
            <a:ext cx="8763000" cy="5715000"/>
          </a:xfrm>
          <a:prstGeom prst="rect">
            <a:avLst/>
          </a:prstGeom>
          <a:noFill/>
          <a:ln>
            <a:noFill/>
          </a:ln>
        </p:spPr>
        <p:txBody>
          <a:bodyPr anchorCtr="0" anchor="t" bIns="45700" lIns="91425" spcFirstLastPara="1" rIns="91425" wrap="square" tIns="45700">
            <a:normAutofit/>
          </a:bodyPr>
          <a:lstStyle/>
          <a:p>
            <a:pPr indent="-311150" lvl="0" marL="514350" marR="0" rtl="0" algn="l">
              <a:lnSpc>
                <a:spcPct val="100000"/>
              </a:lnSpc>
              <a:spcBef>
                <a:spcPts val="0"/>
              </a:spcBef>
              <a:spcAft>
                <a:spcPts val="0"/>
              </a:spcAft>
              <a:buClr>
                <a:schemeClr val="dk2"/>
              </a:buClr>
              <a:buSzPts val="3200"/>
              <a:buFont typeface="Noto Sans Symbols"/>
              <a:buNone/>
            </a:pPr>
            <a:r>
              <a:t/>
            </a:r>
            <a:endParaRPr b="0" i="0" sz="3200" u="none">
              <a:solidFill>
                <a:schemeClr val="dk2"/>
              </a:solidFill>
              <a:latin typeface="Times New Roman"/>
              <a:ea typeface="Times New Roman"/>
              <a:cs typeface="Times New Roman"/>
              <a:sym typeface="Times New Roman"/>
            </a:endParaRPr>
          </a:p>
          <a:p>
            <a:pPr indent="-514350" lvl="0" marL="514350" marR="0" rtl="0" algn="just">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quyết vấn đề bế tắc theo cách:</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Ngăn ngừa </a:t>
            </a:r>
            <a:r>
              <a:rPr b="0" i="0" lang="en-US" sz="2800" u="none" cap="none" strike="noStrike">
                <a:solidFill>
                  <a:schemeClr val="dk2"/>
                </a:solidFill>
                <a:latin typeface="Times New Roman"/>
                <a:ea typeface="Times New Roman"/>
                <a:cs typeface="Times New Roman"/>
                <a:sym typeface="Times New Roman"/>
              </a:rPr>
              <a:t>(deadlock prevention): đảm bảo để một trong bốn điều kiện xẩy ra bế tắc không bao giờ thỏa mãn</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Phòng tránh </a:t>
            </a:r>
            <a:r>
              <a:rPr b="0" i="0" lang="en-US" sz="2800" u="none" cap="none" strike="noStrike">
                <a:solidFill>
                  <a:schemeClr val="dk2"/>
                </a:solidFill>
                <a:latin typeface="Times New Roman"/>
                <a:ea typeface="Times New Roman"/>
                <a:cs typeface="Times New Roman"/>
                <a:sym typeface="Times New Roman"/>
              </a:rPr>
              <a:t>(deadlock avoidance): cho phép một số điều kiện bế tắc được thỏa mãn nhưng đảm bảo để không đạt tới điểm bế tắc</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1" i="0" lang="en-US" sz="2800" u="none" cap="none" strike="noStrike">
                <a:solidFill>
                  <a:schemeClr val="dk2"/>
                </a:solidFill>
                <a:latin typeface="Times New Roman"/>
                <a:ea typeface="Times New Roman"/>
                <a:cs typeface="Times New Roman"/>
                <a:sym typeface="Times New Roman"/>
              </a:rPr>
              <a:t>Phát hiện và giải quyết </a:t>
            </a:r>
            <a:r>
              <a:rPr b="0" i="0" lang="en-US" sz="2800" u="none" cap="none" strike="noStrike">
                <a:solidFill>
                  <a:schemeClr val="dk2"/>
                </a:solidFill>
                <a:latin typeface="Times New Roman"/>
                <a:ea typeface="Times New Roman"/>
                <a:cs typeface="Times New Roman"/>
                <a:sym typeface="Times New Roman"/>
              </a:rPr>
              <a:t>(deadlock detection): cho phép bế tắc xẩy ra, phát hiện bế tắc và khôi phục hệ thống về tình trạng không bế tắc</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22" name="Google Shape;1222;p89"/>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Điều kiện xảy ra bế tắc (tt)</a:t>
            </a:r>
            <a:br>
              <a:rPr b="1" i="0" lang="en-US" sz="2500" u="none">
                <a:solidFill>
                  <a:srgbClr val="000066"/>
                </a:solidFill>
                <a:latin typeface="Times New Roman"/>
                <a:ea typeface="Times New Roman"/>
                <a:cs typeface="Times New Roman"/>
                <a:sym typeface="Times New Roman"/>
              </a:rPr>
            </a:br>
            <a:endParaRPr/>
          </a:p>
        </p:txBody>
      </p:sp>
      <p:sp>
        <p:nvSpPr>
          <p:cNvPr id="1223" name="Google Shape;1223;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4" name="Google Shape;1224;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5" name="Google Shape;1225;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6" name="Google Shape;1226;p8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90"/>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500"/>
              <a:buFont typeface="Noto Sans Symbols"/>
              <a:buChar char="▪"/>
            </a:pPr>
            <a:r>
              <a:rPr b="0" i="0" lang="en-US" sz="3500" u="none">
                <a:solidFill>
                  <a:schemeClr val="dk2"/>
                </a:solidFill>
                <a:latin typeface="Times New Roman"/>
                <a:ea typeface="Times New Roman"/>
                <a:cs typeface="Times New Roman"/>
                <a:sym typeface="Times New Roman"/>
              </a:rPr>
              <a:t>Đảm bảo ít nhất 1 trong 4 điều kiện không xảy ra</a:t>
            </a:r>
            <a:endParaRPr/>
          </a:p>
          <a:p>
            <a:pPr indent="-514350" lvl="0" marL="514350" marR="0" rtl="0" algn="just">
              <a:lnSpc>
                <a:spcPct val="100000"/>
              </a:lnSpc>
              <a:spcBef>
                <a:spcPts val="700"/>
              </a:spcBef>
              <a:spcAft>
                <a:spcPts val="0"/>
              </a:spcAft>
              <a:buClr>
                <a:schemeClr val="dk2"/>
              </a:buClr>
              <a:buSzPts val="3500"/>
              <a:buFont typeface="Noto Sans Symbols"/>
              <a:buChar char="▪"/>
            </a:pPr>
            <a:r>
              <a:rPr b="1" i="0" lang="en-US" sz="3500" u="none">
                <a:solidFill>
                  <a:schemeClr val="dk2"/>
                </a:solidFill>
                <a:latin typeface="Times New Roman"/>
                <a:ea typeface="Times New Roman"/>
                <a:cs typeface="Times New Roman"/>
                <a:sym typeface="Times New Roman"/>
              </a:rPr>
              <a:t>Loại trừ tương hỗ: </a:t>
            </a:r>
            <a:r>
              <a:rPr b="0" i="0" lang="en-US" sz="3000" u="none">
                <a:solidFill>
                  <a:schemeClr val="dk2"/>
                </a:solidFill>
                <a:latin typeface="Times New Roman"/>
                <a:ea typeface="Times New Roman"/>
                <a:cs typeface="Times New Roman"/>
                <a:sym typeface="Times New Roman"/>
              </a:rPr>
              <a:t>có thể tránh loại trừ tương hỗ với những tài nguyên cho phép nhiều tiến trình sử dụng một lúc ví dụ các file trong chế độ đọc. Tuy nhiên, trên thực tế luôn tồn tài tài nguyên không có khả năng chia sẻ  đồng thời như vậy =&gt; không thể ngăn ngừa điều kiện về loại trừ tương hỗ</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33" name="Google Shape;1233;p90"/>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a:t>
            </a:r>
            <a:br>
              <a:rPr b="1" i="0" lang="en-US" sz="2500" u="none">
                <a:solidFill>
                  <a:srgbClr val="000066"/>
                </a:solidFill>
                <a:latin typeface="Times New Roman"/>
                <a:ea typeface="Times New Roman"/>
                <a:cs typeface="Times New Roman"/>
                <a:sym typeface="Times New Roman"/>
              </a:rPr>
            </a:br>
            <a:endParaRPr/>
          </a:p>
        </p:txBody>
      </p:sp>
      <p:sp>
        <p:nvSpPr>
          <p:cNvPr id="1234" name="Google Shape;1234;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5" name="Google Shape;1235;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6" name="Google Shape;1236;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7" name="Google Shape;1237;p9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0" st="0"/>
                                            </p:txEl>
                                          </p:spTgt>
                                        </p:tgtEl>
                                        <p:attrNameLst>
                                          <p:attrName>style.visibility</p:attrName>
                                        </p:attrNameLst>
                                      </p:cBhvr>
                                      <p:to>
                                        <p:strVal val="visible"/>
                                      </p:to>
                                    </p:set>
                                    <p:animEffect filter="fade" transition="in">
                                      <p:cBhvr>
                                        <p:cTn dur="500"/>
                                        <p:tgtEl>
                                          <p:spTgt spid="1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1" st="1"/>
                                            </p:txEl>
                                          </p:spTgt>
                                        </p:tgtEl>
                                        <p:attrNameLst>
                                          <p:attrName>style.visibility</p:attrName>
                                        </p:attrNameLst>
                                      </p:cBhvr>
                                      <p:to>
                                        <p:strVal val="visible"/>
                                      </p:to>
                                    </p:set>
                                    <p:animEffect filter="fade" transition="in">
                                      <p:cBhvr>
                                        <p:cTn dur="500"/>
                                        <p:tgtEl>
                                          <p:spTgt spid="1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2" st="2"/>
                                            </p:txEl>
                                          </p:spTgt>
                                        </p:tgtEl>
                                        <p:attrNameLst>
                                          <p:attrName>style.visibility</p:attrName>
                                        </p:attrNameLst>
                                      </p:cBhvr>
                                      <p:to>
                                        <p:strVal val="visible"/>
                                      </p:to>
                                    </p:set>
                                    <p:animEffect filter="fade" transition="in">
                                      <p:cBhvr>
                                        <p:cTn dur="500"/>
                                        <p:tgtEl>
                                          <p:spTgt spid="1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3" st="3"/>
                                            </p:txEl>
                                          </p:spTgt>
                                        </p:tgtEl>
                                        <p:attrNameLst>
                                          <p:attrName>style.visibility</p:attrName>
                                        </p:attrNameLst>
                                      </p:cBhvr>
                                      <p:to>
                                        <p:strVal val="visible"/>
                                      </p:to>
                                    </p:set>
                                    <p:animEffect filter="fade" transition="in">
                                      <p:cBhvr>
                                        <p:cTn dur="500"/>
                                        <p:tgtEl>
                                          <p:spTgt spid="1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4" st="4"/>
                                            </p:txEl>
                                          </p:spTgt>
                                        </p:tgtEl>
                                        <p:attrNameLst>
                                          <p:attrName>style.visibility</p:attrName>
                                        </p:attrNameLst>
                                      </p:cBhvr>
                                      <p:to>
                                        <p:strVal val="visible"/>
                                      </p:to>
                                    </p:set>
                                    <p:animEffect filter="fade" transition="in">
                                      <p:cBhvr>
                                        <p:cTn dur="500"/>
                                        <p:tgtEl>
                                          <p:spTgt spid="1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5" st="5"/>
                                            </p:txEl>
                                          </p:spTgt>
                                        </p:tgtEl>
                                        <p:attrNameLst>
                                          <p:attrName>style.visibility</p:attrName>
                                        </p:attrNameLst>
                                      </p:cBhvr>
                                      <p:to>
                                        <p:strVal val="visible"/>
                                      </p:to>
                                    </p:set>
                                    <p:animEffect filter="fade" transition="in">
                                      <p:cBhvr>
                                        <p:cTn dur="500"/>
                                        <p:tgtEl>
                                          <p:spTgt spid="1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6" st="6"/>
                                            </p:txEl>
                                          </p:spTgt>
                                        </p:tgtEl>
                                        <p:attrNameLst>
                                          <p:attrName>style.visibility</p:attrName>
                                        </p:attrNameLst>
                                      </p:cBhvr>
                                      <p:to>
                                        <p:strVal val="visible"/>
                                      </p:to>
                                    </p:set>
                                    <p:animEffect filter="fade" transition="in">
                                      <p:cBhvr>
                                        <p:cTn dur="500"/>
                                        <p:tgtEl>
                                          <p:spTgt spid="123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91"/>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Giữ và chờ: </a:t>
            </a:r>
            <a:r>
              <a:rPr b="0" i="0" lang="en-US" sz="2800" u="none">
                <a:solidFill>
                  <a:schemeClr val="dk2"/>
                </a:solidFill>
                <a:latin typeface="Times New Roman"/>
                <a:ea typeface="Times New Roman"/>
                <a:cs typeface="Times New Roman"/>
                <a:sym typeface="Times New Roman"/>
              </a:rPr>
              <a:t>Có hai cách ngăn ngừa điều kiện này:</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1:</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Yêu cầu tiến trình phải nhận đủ toàn bộ tài nguyên cần thiết trước khi thực hiện tiếp</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Nếu không nhận đủ, tiến trình bị phong tỏa để chờ cho đến khi có thể nhận đủ tài nguyên</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Cách 2:</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Tiến trình chỉ được yêu cầu tài nguyên nếu không giữ tài nguyên khác</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Trước khi yêu cầu thêm tài nguyên, tiến trình phải giải phóng tài nguyên đã được cấp và yêu cầu lại (nếu cần) cùng với tài nguyên mới</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44" name="Google Shape;1244;p91"/>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a:t>
            </a:r>
            <a:br>
              <a:rPr b="1" i="0" lang="en-US" sz="2500" u="none">
                <a:solidFill>
                  <a:srgbClr val="000066"/>
                </a:solidFill>
                <a:latin typeface="Times New Roman"/>
                <a:ea typeface="Times New Roman"/>
                <a:cs typeface="Times New Roman"/>
                <a:sym typeface="Times New Roman"/>
              </a:rPr>
            </a:br>
            <a:endParaRPr/>
          </a:p>
        </p:txBody>
      </p:sp>
      <p:sp>
        <p:nvSpPr>
          <p:cNvPr id="1245" name="Google Shape;1245;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6" name="Google Shape;1246;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7" name="Google Shape;1247;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8" name="Google Shape;1248;p9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0" st="0"/>
                                            </p:txEl>
                                          </p:spTgt>
                                        </p:tgtEl>
                                        <p:attrNameLst>
                                          <p:attrName>style.visibility</p:attrName>
                                        </p:attrNameLst>
                                      </p:cBhvr>
                                      <p:to>
                                        <p:strVal val="visible"/>
                                      </p:to>
                                    </p:set>
                                    <p:animEffect filter="fade" transition="in">
                                      <p:cBhvr>
                                        <p:cTn dur="500"/>
                                        <p:tgtEl>
                                          <p:spTgt spid="1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 st="1"/>
                                            </p:txEl>
                                          </p:spTgt>
                                        </p:tgtEl>
                                        <p:attrNameLst>
                                          <p:attrName>style.visibility</p:attrName>
                                        </p:attrNameLst>
                                      </p:cBhvr>
                                      <p:to>
                                        <p:strVal val="visible"/>
                                      </p:to>
                                    </p:set>
                                    <p:animEffect filter="fade" transition="in">
                                      <p:cBhvr>
                                        <p:cTn dur="500"/>
                                        <p:tgtEl>
                                          <p:spTgt spid="1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2" st="2"/>
                                            </p:txEl>
                                          </p:spTgt>
                                        </p:tgtEl>
                                        <p:attrNameLst>
                                          <p:attrName>style.visibility</p:attrName>
                                        </p:attrNameLst>
                                      </p:cBhvr>
                                      <p:to>
                                        <p:strVal val="visible"/>
                                      </p:to>
                                    </p:set>
                                    <p:animEffect filter="fade" transition="in">
                                      <p:cBhvr>
                                        <p:cTn dur="500"/>
                                        <p:tgtEl>
                                          <p:spTgt spid="1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3" st="3"/>
                                            </p:txEl>
                                          </p:spTgt>
                                        </p:tgtEl>
                                        <p:attrNameLst>
                                          <p:attrName>style.visibility</p:attrName>
                                        </p:attrNameLst>
                                      </p:cBhvr>
                                      <p:to>
                                        <p:strVal val="visible"/>
                                      </p:to>
                                    </p:set>
                                    <p:animEffect filter="fade" transition="in">
                                      <p:cBhvr>
                                        <p:cTn dur="500"/>
                                        <p:tgtEl>
                                          <p:spTgt spid="1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4" st="4"/>
                                            </p:txEl>
                                          </p:spTgt>
                                        </p:tgtEl>
                                        <p:attrNameLst>
                                          <p:attrName>style.visibility</p:attrName>
                                        </p:attrNameLst>
                                      </p:cBhvr>
                                      <p:to>
                                        <p:strVal val="visible"/>
                                      </p:to>
                                    </p:set>
                                    <p:animEffect filter="fade" transition="in">
                                      <p:cBhvr>
                                        <p:cTn dur="500"/>
                                        <p:tgtEl>
                                          <p:spTgt spid="12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5" st="5"/>
                                            </p:txEl>
                                          </p:spTgt>
                                        </p:tgtEl>
                                        <p:attrNameLst>
                                          <p:attrName>style.visibility</p:attrName>
                                        </p:attrNameLst>
                                      </p:cBhvr>
                                      <p:to>
                                        <p:strVal val="visible"/>
                                      </p:to>
                                    </p:set>
                                    <p:animEffect filter="fade" transition="in">
                                      <p:cBhvr>
                                        <p:cTn dur="500"/>
                                        <p:tgtEl>
                                          <p:spTgt spid="12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6" st="6"/>
                                            </p:txEl>
                                          </p:spTgt>
                                        </p:tgtEl>
                                        <p:attrNameLst>
                                          <p:attrName>style.visibility</p:attrName>
                                        </p:attrNameLst>
                                      </p:cBhvr>
                                      <p:to>
                                        <p:strVal val="visible"/>
                                      </p:to>
                                    </p:set>
                                    <p:animEffect filter="fade" transition="in">
                                      <p:cBhvr>
                                        <p:cTn dur="500"/>
                                        <p:tgtEl>
                                          <p:spTgt spid="12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7" st="7"/>
                                            </p:txEl>
                                          </p:spTgt>
                                        </p:tgtEl>
                                        <p:attrNameLst>
                                          <p:attrName>style.visibility</p:attrName>
                                        </p:attrNameLst>
                                      </p:cBhvr>
                                      <p:to>
                                        <p:strVal val="visible"/>
                                      </p:to>
                                    </p:set>
                                    <p:animEffect filter="fade" transition="in">
                                      <p:cBhvr>
                                        <p:cTn dur="500"/>
                                        <p:tgtEl>
                                          <p:spTgt spid="12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8" st="8"/>
                                            </p:txEl>
                                          </p:spTgt>
                                        </p:tgtEl>
                                        <p:attrNameLst>
                                          <p:attrName>style.visibility</p:attrName>
                                        </p:attrNameLst>
                                      </p:cBhvr>
                                      <p:to>
                                        <p:strVal val="visible"/>
                                      </p:to>
                                    </p:set>
                                    <p:animEffect filter="fade" transition="in">
                                      <p:cBhvr>
                                        <p:cTn dur="500"/>
                                        <p:tgtEl>
                                          <p:spTgt spid="12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9" st="9"/>
                                            </p:txEl>
                                          </p:spTgt>
                                        </p:tgtEl>
                                        <p:attrNameLst>
                                          <p:attrName>style.visibility</p:attrName>
                                        </p:attrNameLst>
                                      </p:cBhvr>
                                      <p:to>
                                        <p:strVal val="visible"/>
                                      </p:to>
                                    </p:set>
                                    <p:animEffect filter="fade" transition="in">
                                      <p:cBhvr>
                                        <p:cTn dur="500"/>
                                        <p:tgtEl>
                                          <p:spTgt spid="12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0" st="10"/>
                                            </p:txEl>
                                          </p:spTgt>
                                        </p:tgtEl>
                                        <p:attrNameLst>
                                          <p:attrName>style.visibility</p:attrName>
                                        </p:attrNameLst>
                                      </p:cBhvr>
                                      <p:to>
                                        <p:strVal val="visible"/>
                                      </p:to>
                                    </p:set>
                                    <p:animEffect filter="fade" transition="in">
                                      <p:cBhvr>
                                        <p:cTn dur="500"/>
                                        <p:tgtEl>
                                          <p:spTgt spid="124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1" st="11"/>
                                            </p:txEl>
                                          </p:spTgt>
                                        </p:tgtEl>
                                        <p:attrNameLst>
                                          <p:attrName>style.visibility</p:attrName>
                                        </p:attrNameLst>
                                      </p:cBhvr>
                                      <p:to>
                                        <p:strVal val="visible"/>
                                      </p:to>
                                    </p:set>
                                    <p:animEffect filter="fade" transition="in">
                                      <p:cBhvr>
                                        <p:cTn dur="500"/>
                                        <p:tgtEl>
                                          <p:spTgt spid="124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xEl>
                                              <p:pRg end="12" st="12"/>
                                            </p:txEl>
                                          </p:spTgt>
                                        </p:tgtEl>
                                        <p:attrNameLst>
                                          <p:attrName>style.visibility</p:attrName>
                                        </p:attrNameLst>
                                      </p:cBhvr>
                                      <p:to>
                                        <p:strVal val="visible"/>
                                      </p:to>
                                    </p:set>
                                    <p:animEffect filter="fade" transition="in">
                                      <p:cBhvr>
                                        <p:cTn dur="500"/>
                                        <p:tgtEl>
                                          <p:spTgt spid="1243">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9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Không có phân phối lại: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1:</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một tiến trình yêu cầu tài nguyên nhưng không được do đã bị cấp phát, HDH sẽ thu hồi lại toàn bộ tài nguyên nó đang giữ</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Tiến trình chỉ có thể thực hiện tiếp sau khi lấy được tài nguyên cũ cùng với tài nguyên mới yêu cầu</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Cách 2:</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tiến trình yêu cầu tài nguyên, nếu còn trống, sẽ được cấp phát ngay</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tài nguyên do tiến trình khác giữ mà tiến trình này đang chờ cấp thêm tài nguyên thì thu hồi lại để cấp cho tiến trình yêu cầu</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Nếu hai điều kiện trên đều không thỏa thì tiến trình yêu cầu tài nguyên phải chờ</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55" name="Google Shape;1255;p9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(tt)</a:t>
            </a:r>
            <a:br>
              <a:rPr b="1" i="0" lang="en-US" sz="2500" u="none">
                <a:solidFill>
                  <a:srgbClr val="000066"/>
                </a:solidFill>
                <a:latin typeface="Times New Roman"/>
                <a:ea typeface="Times New Roman"/>
                <a:cs typeface="Times New Roman"/>
                <a:sym typeface="Times New Roman"/>
              </a:rPr>
            </a:br>
            <a:endParaRPr/>
          </a:p>
        </p:txBody>
      </p:sp>
      <p:sp>
        <p:nvSpPr>
          <p:cNvPr id="1256" name="Google Shape;1256;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7" name="Google Shape;1257;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8" name="Google Shape;1258;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9" name="Google Shape;1259;p9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0" st="0"/>
                                            </p:txEl>
                                          </p:spTgt>
                                        </p:tgtEl>
                                        <p:attrNameLst>
                                          <p:attrName>style.visibility</p:attrName>
                                        </p:attrNameLst>
                                      </p:cBhvr>
                                      <p:to>
                                        <p:strVal val="visible"/>
                                      </p:to>
                                    </p:set>
                                    <p:animEffect filter="fade" transition="in">
                                      <p:cBhvr>
                                        <p:cTn dur="500"/>
                                        <p:tgtEl>
                                          <p:spTgt spid="1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 st="1"/>
                                            </p:txEl>
                                          </p:spTgt>
                                        </p:tgtEl>
                                        <p:attrNameLst>
                                          <p:attrName>style.visibility</p:attrName>
                                        </p:attrNameLst>
                                      </p:cBhvr>
                                      <p:to>
                                        <p:strVal val="visible"/>
                                      </p:to>
                                    </p:set>
                                    <p:animEffect filter="fade" transition="in">
                                      <p:cBhvr>
                                        <p:cTn dur="500"/>
                                        <p:tgtEl>
                                          <p:spTgt spid="12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2" st="2"/>
                                            </p:txEl>
                                          </p:spTgt>
                                        </p:tgtEl>
                                        <p:attrNameLst>
                                          <p:attrName>style.visibility</p:attrName>
                                        </p:attrNameLst>
                                      </p:cBhvr>
                                      <p:to>
                                        <p:strVal val="visible"/>
                                      </p:to>
                                    </p:set>
                                    <p:animEffect filter="fade" transition="in">
                                      <p:cBhvr>
                                        <p:cTn dur="500"/>
                                        <p:tgtEl>
                                          <p:spTgt spid="12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3" st="3"/>
                                            </p:txEl>
                                          </p:spTgt>
                                        </p:tgtEl>
                                        <p:attrNameLst>
                                          <p:attrName>style.visibility</p:attrName>
                                        </p:attrNameLst>
                                      </p:cBhvr>
                                      <p:to>
                                        <p:strVal val="visible"/>
                                      </p:to>
                                    </p:set>
                                    <p:animEffect filter="fade" transition="in">
                                      <p:cBhvr>
                                        <p:cTn dur="500"/>
                                        <p:tgtEl>
                                          <p:spTgt spid="12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4" st="4"/>
                                            </p:txEl>
                                          </p:spTgt>
                                        </p:tgtEl>
                                        <p:attrNameLst>
                                          <p:attrName>style.visibility</p:attrName>
                                        </p:attrNameLst>
                                      </p:cBhvr>
                                      <p:to>
                                        <p:strVal val="visible"/>
                                      </p:to>
                                    </p:set>
                                    <p:animEffect filter="fade" transition="in">
                                      <p:cBhvr>
                                        <p:cTn dur="500"/>
                                        <p:tgtEl>
                                          <p:spTgt spid="12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5" st="5"/>
                                            </p:txEl>
                                          </p:spTgt>
                                        </p:tgtEl>
                                        <p:attrNameLst>
                                          <p:attrName>style.visibility</p:attrName>
                                        </p:attrNameLst>
                                      </p:cBhvr>
                                      <p:to>
                                        <p:strVal val="visible"/>
                                      </p:to>
                                    </p:set>
                                    <p:animEffect filter="fade" transition="in">
                                      <p:cBhvr>
                                        <p:cTn dur="500"/>
                                        <p:tgtEl>
                                          <p:spTgt spid="12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6" st="6"/>
                                            </p:txEl>
                                          </p:spTgt>
                                        </p:tgtEl>
                                        <p:attrNameLst>
                                          <p:attrName>style.visibility</p:attrName>
                                        </p:attrNameLst>
                                      </p:cBhvr>
                                      <p:to>
                                        <p:strVal val="visible"/>
                                      </p:to>
                                    </p:set>
                                    <p:animEffect filter="fade" transition="in">
                                      <p:cBhvr>
                                        <p:cTn dur="500"/>
                                        <p:tgtEl>
                                          <p:spTgt spid="12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7" st="7"/>
                                            </p:txEl>
                                          </p:spTgt>
                                        </p:tgtEl>
                                        <p:attrNameLst>
                                          <p:attrName>style.visibility</p:attrName>
                                        </p:attrNameLst>
                                      </p:cBhvr>
                                      <p:to>
                                        <p:strVal val="visible"/>
                                      </p:to>
                                    </p:set>
                                    <p:animEffect filter="fade" transition="in">
                                      <p:cBhvr>
                                        <p:cTn dur="500"/>
                                        <p:tgtEl>
                                          <p:spTgt spid="125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8" st="8"/>
                                            </p:txEl>
                                          </p:spTgt>
                                        </p:tgtEl>
                                        <p:attrNameLst>
                                          <p:attrName>style.visibility</p:attrName>
                                        </p:attrNameLst>
                                      </p:cBhvr>
                                      <p:to>
                                        <p:strVal val="visible"/>
                                      </p:to>
                                    </p:set>
                                    <p:animEffect filter="fade" transition="in">
                                      <p:cBhvr>
                                        <p:cTn dur="500"/>
                                        <p:tgtEl>
                                          <p:spTgt spid="125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9" st="9"/>
                                            </p:txEl>
                                          </p:spTgt>
                                        </p:tgtEl>
                                        <p:attrNameLst>
                                          <p:attrName>style.visibility</p:attrName>
                                        </p:attrNameLst>
                                      </p:cBhvr>
                                      <p:to>
                                        <p:strVal val="visible"/>
                                      </p:to>
                                    </p:set>
                                    <p:animEffect filter="fade" transition="in">
                                      <p:cBhvr>
                                        <p:cTn dur="500"/>
                                        <p:tgtEl>
                                          <p:spTgt spid="125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0" st="10"/>
                                            </p:txEl>
                                          </p:spTgt>
                                        </p:tgtEl>
                                        <p:attrNameLst>
                                          <p:attrName>style.visibility</p:attrName>
                                        </p:attrNameLst>
                                      </p:cBhvr>
                                      <p:to>
                                        <p:strVal val="visible"/>
                                      </p:to>
                                    </p:set>
                                    <p:animEffect filter="fade" transition="in">
                                      <p:cBhvr>
                                        <p:cTn dur="500"/>
                                        <p:tgtEl>
                                          <p:spTgt spid="125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1" st="11"/>
                                            </p:txEl>
                                          </p:spTgt>
                                        </p:tgtEl>
                                        <p:attrNameLst>
                                          <p:attrName>style.visibility</p:attrName>
                                        </p:attrNameLst>
                                      </p:cBhvr>
                                      <p:to>
                                        <p:strVal val="visible"/>
                                      </p:to>
                                    </p:set>
                                    <p:animEffect filter="fade" transition="in">
                                      <p:cBhvr>
                                        <p:cTn dur="500"/>
                                        <p:tgtEl>
                                          <p:spTgt spid="125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2" st="12"/>
                                            </p:txEl>
                                          </p:spTgt>
                                        </p:tgtEl>
                                        <p:attrNameLst>
                                          <p:attrName>style.visibility</p:attrName>
                                        </p:attrNameLst>
                                      </p:cBhvr>
                                      <p:to>
                                        <p:strVal val="visible"/>
                                      </p:to>
                                    </p:set>
                                    <p:animEffect filter="fade" transition="in">
                                      <p:cBhvr>
                                        <p:cTn dur="500"/>
                                        <p:tgtEl>
                                          <p:spTgt spid="125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xEl>
                                              <p:pRg end="13" st="13"/>
                                            </p:txEl>
                                          </p:spTgt>
                                        </p:tgtEl>
                                        <p:attrNameLst>
                                          <p:attrName>style.visibility</p:attrName>
                                        </p:attrNameLst>
                                      </p:cBhvr>
                                      <p:to>
                                        <p:strVal val="visible"/>
                                      </p:to>
                                    </p:set>
                                    <p:animEffect filter="fade" transition="in">
                                      <p:cBhvr>
                                        <p:cTn dur="500"/>
                                        <p:tgtEl>
                                          <p:spTgt spid="125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9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Chờ đợi vòng tròn: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Xác định thứ tự cho các dạng tài nguyên và chỉ cho phép tiến trình yêu cầu tài nguyên sao cho tài nguyên mà tiến trình yêu cầu sau có thứ tự lớn hơn tài nguyên mà nó yêu cầu trước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 sử trong hệ thống có n dạng tài nguyên ký hiệu R1, R2, …, Rn</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 sử những dạng tài nguyên này được sắp xếp theo thứ tự tăng dần của chỉ số</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đã yêu cầu một số tài nguyên dạng Ri thì sau đó tiến trình chỉ được phép yêu cầu tài nguyên dạng Rj nếu j &gt; 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tiến trình cần nhiều tài nguyên cùng dạng thì tiến trình phải yêu cầu tất cả tài nguyên dạng đó cùng một lúc</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66" name="Google Shape;1266;p9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Ngăn ngừa bế tắc (tt)</a:t>
            </a:r>
            <a:br>
              <a:rPr b="1" i="0" lang="en-US" sz="2500" u="none">
                <a:solidFill>
                  <a:srgbClr val="000066"/>
                </a:solidFill>
                <a:latin typeface="Times New Roman"/>
                <a:ea typeface="Times New Roman"/>
                <a:cs typeface="Times New Roman"/>
                <a:sym typeface="Times New Roman"/>
              </a:rPr>
            </a:br>
            <a:endParaRPr/>
          </a:p>
        </p:txBody>
      </p:sp>
      <p:sp>
        <p:nvSpPr>
          <p:cNvPr id="1267" name="Google Shape;1267;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8" name="Google Shape;1268;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9" name="Google Shape;1269;p9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0" name="Google Shape;1270;p9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0" st="0"/>
                                            </p:txEl>
                                          </p:spTgt>
                                        </p:tgtEl>
                                        <p:attrNameLst>
                                          <p:attrName>style.visibility</p:attrName>
                                        </p:attrNameLst>
                                      </p:cBhvr>
                                      <p:to>
                                        <p:strVal val="visible"/>
                                      </p:to>
                                    </p:set>
                                    <p:animEffect filter="fade" transition="in">
                                      <p:cBhvr>
                                        <p:cTn dur="500"/>
                                        <p:tgtEl>
                                          <p:spTgt spid="1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 st="1"/>
                                            </p:txEl>
                                          </p:spTgt>
                                        </p:tgtEl>
                                        <p:attrNameLst>
                                          <p:attrName>style.visibility</p:attrName>
                                        </p:attrNameLst>
                                      </p:cBhvr>
                                      <p:to>
                                        <p:strVal val="visible"/>
                                      </p:to>
                                    </p:set>
                                    <p:animEffect filter="fade" transition="in">
                                      <p:cBhvr>
                                        <p:cTn dur="500"/>
                                        <p:tgtEl>
                                          <p:spTgt spid="1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2" st="2"/>
                                            </p:txEl>
                                          </p:spTgt>
                                        </p:tgtEl>
                                        <p:attrNameLst>
                                          <p:attrName>style.visibility</p:attrName>
                                        </p:attrNameLst>
                                      </p:cBhvr>
                                      <p:to>
                                        <p:strVal val="visible"/>
                                      </p:to>
                                    </p:set>
                                    <p:animEffect filter="fade" transition="in">
                                      <p:cBhvr>
                                        <p:cTn dur="500"/>
                                        <p:tgtEl>
                                          <p:spTgt spid="1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3" st="3"/>
                                            </p:txEl>
                                          </p:spTgt>
                                        </p:tgtEl>
                                        <p:attrNameLst>
                                          <p:attrName>style.visibility</p:attrName>
                                        </p:attrNameLst>
                                      </p:cBhvr>
                                      <p:to>
                                        <p:strVal val="visible"/>
                                      </p:to>
                                    </p:set>
                                    <p:animEffect filter="fade" transition="in">
                                      <p:cBhvr>
                                        <p:cTn dur="500"/>
                                        <p:tgtEl>
                                          <p:spTgt spid="12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4" st="4"/>
                                            </p:txEl>
                                          </p:spTgt>
                                        </p:tgtEl>
                                        <p:attrNameLst>
                                          <p:attrName>style.visibility</p:attrName>
                                        </p:attrNameLst>
                                      </p:cBhvr>
                                      <p:to>
                                        <p:strVal val="visible"/>
                                      </p:to>
                                    </p:set>
                                    <p:animEffect filter="fade" transition="in">
                                      <p:cBhvr>
                                        <p:cTn dur="500"/>
                                        <p:tgtEl>
                                          <p:spTgt spid="12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5" st="5"/>
                                            </p:txEl>
                                          </p:spTgt>
                                        </p:tgtEl>
                                        <p:attrNameLst>
                                          <p:attrName>style.visibility</p:attrName>
                                        </p:attrNameLst>
                                      </p:cBhvr>
                                      <p:to>
                                        <p:strVal val="visible"/>
                                      </p:to>
                                    </p:set>
                                    <p:animEffect filter="fade" transition="in">
                                      <p:cBhvr>
                                        <p:cTn dur="500"/>
                                        <p:tgtEl>
                                          <p:spTgt spid="12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6" st="6"/>
                                            </p:txEl>
                                          </p:spTgt>
                                        </p:tgtEl>
                                        <p:attrNameLst>
                                          <p:attrName>style.visibility</p:attrName>
                                        </p:attrNameLst>
                                      </p:cBhvr>
                                      <p:to>
                                        <p:strVal val="visible"/>
                                      </p:to>
                                    </p:set>
                                    <p:animEffect filter="fade" transition="in">
                                      <p:cBhvr>
                                        <p:cTn dur="500"/>
                                        <p:tgtEl>
                                          <p:spTgt spid="12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7" st="7"/>
                                            </p:txEl>
                                          </p:spTgt>
                                        </p:tgtEl>
                                        <p:attrNameLst>
                                          <p:attrName>style.visibility</p:attrName>
                                        </p:attrNameLst>
                                      </p:cBhvr>
                                      <p:to>
                                        <p:strVal val="visible"/>
                                      </p:to>
                                    </p:set>
                                    <p:animEffect filter="fade" transition="in">
                                      <p:cBhvr>
                                        <p:cTn dur="500"/>
                                        <p:tgtEl>
                                          <p:spTgt spid="12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8" st="8"/>
                                            </p:txEl>
                                          </p:spTgt>
                                        </p:tgtEl>
                                        <p:attrNameLst>
                                          <p:attrName>style.visibility</p:attrName>
                                        </p:attrNameLst>
                                      </p:cBhvr>
                                      <p:to>
                                        <p:strVal val="visible"/>
                                      </p:to>
                                    </p:set>
                                    <p:animEffect filter="fade" transition="in">
                                      <p:cBhvr>
                                        <p:cTn dur="500"/>
                                        <p:tgtEl>
                                          <p:spTgt spid="12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9" st="9"/>
                                            </p:txEl>
                                          </p:spTgt>
                                        </p:tgtEl>
                                        <p:attrNameLst>
                                          <p:attrName>style.visibility</p:attrName>
                                        </p:attrNameLst>
                                      </p:cBhvr>
                                      <p:to>
                                        <p:strVal val="visible"/>
                                      </p:to>
                                    </p:set>
                                    <p:animEffect filter="fade" transition="in">
                                      <p:cBhvr>
                                        <p:cTn dur="500"/>
                                        <p:tgtEl>
                                          <p:spTgt spid="12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0" st="10"/>
                                            </p:txEl>
                                          </p:spTgt>
                                        </p:tgtEl>
                                        <p:attrNameLst>
                                          <p:attrName>style.visibility</p:attrName>
                                        </p:attrNameLst>
                                      </p:cBhvr>
                                      <p:to>
                                        <p:strVal val="visible"/>
                                      </p:to>
                                    </p:set>
                                    <p:animEffect filter="fade" transition="in">
                                      <p:cBhvr>
                                        <p:cTn dur="500"/>
                                        <p:tgtEl>
                                          <p:spTgt spid="12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xEl>
                                              <p:pRg end="11" st="11"/>
                                            </p:txEl>
                                          </p:spTgt>
                                        </p:tgtEl>
                                        <p:attrNameLst>
                                          <p:attrName>style.visibility</p:attrName>
                                        </p:attrNameLst>
                                      </p:cBhvr>
                                      <p:to>
                                        <p:strVal val="visible"/>
                                      </p:to>
                                    </p:set>
                                    <p:animEffect filter="fade" transition="in">
                                      <p:cBhvr>
                                        <p:cTn dur="500"/>
                                        <p:tgtEl>
                                          <p:spTgt spid="126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94"/>
          <p:cNvSpPr txBox="1"/>
          <p:nvPr>
            <p:ph idx="1" type="body"/>
          </p:nvPr>
        </p:nvSpPr>
        <p:spPr>
          <a:xfrm>
            <a:off x="0" y="762000"/>
            <a:ext cx="88392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Giải pháp ngăn ngừa bế tắc tập trung vào việc sử dụng quy tắc hay ràng buộc  để ngăn ngừa điều kiện xảy ra bế tắc. Nhược điểm: làm cho việc sử dụng tài nguyên kém hiệu quả, giảm hiệu năng của tiến trình.</a:t>
            </a:r>
            <a:endParaRPr sz="2500"/>
          </a:p>
        </p:txBody>
      </p:sp>
      <p:sp>
        <p:nvSpPr>
          <p:cNvPr id="1277" name="Google Shape;1277;p9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a:t>
            </a:r>
            <a:br>
              <a:rPr b="1" i="0" lang="en-US" sz="2500" u="none">
                <a:solidFill>
                  <a:srgbClr val="000066"/>
                </a:solidFill>
                <a:latin typeface="Times New Roman"/>
                <a:ea typeface="Times New Roman"/>
                <a:cs typeface="Times New Roman"/>
                <a:sym typeface="Times New Roman"/>
              </a:rPr>
            </a:br>
            <a:endParaRPr/>
          </a:p>
        </p:txBody>
      </p:sp>
      <p:sp>
        <p:nvSpPr>
          <p:cNvPr id="1278" name="Google Shape;1278;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9" name="Google Shape;1279;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0" name="Google Shape;1280;p9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1" name="Google Shape;1281;p9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2" name="Google Shape;1282;p94"/>
          <p:cNvSpPr txBox="1"/>
          <p:nvPr/>
        </p:nvSpPr>
        <p:spPr>
          <a:xfrm>
            <a:off x="2895600" y="64008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6">
                                            <p:txEl>
                                              <p:pRg end="0" st="0"/>
                                            </p:txEl>
                                          </p:spTgt>
                                        </p:tgtEl>
                                        <p:attrNameLst>
                                          <p:attrName>style.visibility</p:attrName>
                                        </p:attrNameLst>
                                      </p:cBhvr>
                                      <p:to>
                                        <p:strVal val="visible"/>
                                      </p:to>
                                    </p:set>
                                    <p:animEffect filter="fade" transition="in">
                                      <p:cBhvr>
                                        <p:cTn dur="500"/>
                                        <p:tgtEl>
                                          <p:spTgt spid="12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95"/>
          <p:cNvSpPr txBox="1"/>
          <p:nvPr>
            <p:ph idx="1" type="body"/>
          </p:nvPr>
        </p:nvSpPr>
        <p:spPr>
          <a:xfrm>
            <a:off x="0" y="762000"/>
            <a:ext cx="8839200" cy="5334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Phòng tránh bế tắc:</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Cho phép 3 điều kiện đầu xẩy ra và chỉ đảm bảo sao cho trạng thái bế tắc không bao giờ đạt tới</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Mỗi yêu cầu cấp tài nguyên của tiến trình sẽ được xem xét và quyết định tùy theo tình hình cụ thể</a:t>
            </a:r>
            <a:endParaRPr/>
          </a:p>
          <a:p>
            <a:pPr indent="-514349" lvl="1" marL="788987"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HDH yêu cầu tiến trình cung cấp thông tin về việc sử dụng tài nguyên 	(số lượng tối đa tài nguyên tiến trình cần sử dụng)</a:t>
            </a:r>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89" name="Google Shape;1289;p9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a:t>
            </a:r>
            <a:br>
              <a:rPr b="1" i="0" lang="en-US" sz="2500" u="none">
                <a:solidFill>
                  <a:srgbClr val="000066"/>
                </a:solidFill>
                <a:latin typeface="Times New Roman"/>
                <a:ea typeface="Times New Roman"/>
                <a:cs typeface="Times New Roman"/>
                <a:sym typeface="Times New Roman"/>
              </a:rPr>
            </a:br>
            <a:endParaRPr/>
          </a:p>
        </p:txBody>
      </p:sp>
      <p:sp>
        <p:nvSpPr>
          <p:cNvPr id="1290" name="Google Shape;1290;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1" name="Google Shape;1291;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2" name="Google Shape;1292;p9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3" name="Google Shape;1293;p9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0" st="0"/>
                                            </p:txEl>
                                          </p:spTgt>
                                        </p:tgtEl>
                                        <p:attrNameLst>
                                          <p:attrName>style.visibility</p:attrName>
                                        </p:attrNameLst>
                                      </p:cBhvr>
                                      <p:to>
                                        <p:strVal val="visible"/>
                                      </p:to>
                                    </p:set>
                                    <p:animEffect filter="fade" transition="in">
                                      <p:cBhvr>
                                        <p:cTn dur="500"/>
                                        <p:tgtEl>
                                          <p:spTgt spid="1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1" st="1"/>
                                            </p:txEl>
                                          </p:spTgt>
                                        </p:tgtEl>
                                        <p:attrNameLst>
                                          <p:attrName>style.visibility</p:attrName>
                                        </p:attrNameLst>
                                      </p:cBhvr>
                                      <p:to>
                                        <p:strVal val="visible"/>
                                      </p:to>
                                    </p:set>
                                    <p:animEffect filter="fade" transition="in">
                                      <p:cBhvr>
                                        <p:cTn dur="500"/>
                                        <p:tgtEl>
                                          <p:spTgt spid="1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2" st="2"/>
                                            </p:txEl>
                                          </p:spTgt>
                                        </p:tgtEl>
                                        <p:attrNameLst>
                                          <p:attrName>style.visibility</p:attrName>
                                        </p:attrNameLst>
                                      </p:cBhvr>
                                      <p:to>
                                        <p:strVal val="visible"/>
                                      </p:to>
                                    </p:set>
                                    <p:animEffect filter="fade" transition="in">
                                      <p:cBhvr>
                                        <p:cTn dur="500"/>
                                        <p:tgtEl>
                                          <p:spTgt spid="1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3" st="3"/>
                                            </p:txEl>
                                          </p:spTgt>
                                        </p:tgtEl>
                                        <p:attrNameLst>
                                          <p:attrName>style.visibility</p:attrName>
                                        </p:attrNameLst>
                                      </p:cBhvr>
                                      <p:to>
                                        <p:strVal val="visible"/>
                                      </p:to>
                                    </p:set>
                                    <p:animEffect filter="fade" transition="in">
                                      <p:cBhvr>
                                        <p:cTn dur="500"/>
                                        <p:tgtEl>
                                          <p:spTgt spid="1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4" st="4"/>
                                            </p:txEl>
                                          </p:spTgt>
                                        </p:tgtEl>
                                        <p:attrNameLst>
                                          <p:attrName>style.visibility</p:attrName>
                                        </p:attrNameLst>
                                      </p:cBhvr>
                                      <p:to>
                                        <p:strVal val="visible"/>
                                      </p:to>
                                    </p:set>
                                    <p:animEffect filter="fade" transition="in">
                                      <p:cBhvr>
                                        <p:cTn dur="500"/>
                                        <p:tgtEl>
                                          <p:spTgt spid="1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5" st="5"/>
                                            </p:txEl>
                                          </p:spTgt>
                                        </p:tgtEl>
                                        <p:attrNameLst>
                                          <p:attrName>style.visibility</p:attrName>
                                        </p:attrNameLst>
                                      </p:cBhvr>
                                      <p:to>
                                        <p:strVal val="visible"/>
                                      </p:to>
                                    </p:set>
                                    <p:animEffect filter="fade" transition="in">
                                      <p:cBhvr>
                                        <p:cTn dur="500"/>
                                        <p:tgtEl>
                                          <p:spTgt spid="12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6" st="6"/>
                                            </p:txEl>
                                          </p:spTgt>
                                        </p:tgtEl>
                                        <p:attrNameLst>
                                          <p:attrName>style.visibility</p:attrName>
                                        </p:attrNameLst>
                                      </p:cBhvr>
                                      <p:to>
                                        <p:strVal val="visible"/>
                                      </p:to>
                                    </p:set>
                                    <p:animEffect filter="fade" transition="in">
                                      <p:cBhvr>
                                        <p:cTn dur="500"/>
                                        <p:tgtEl>
                                          <p:spTgt spid="12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7" st="7"/>
                                            </p:txEl>
                                          </p:spTgt>
                                        </p:tgtEl>
                                        <p:attrNameLst>
                                          <p:attrName>style.visibility</p:attrName>
                                        </p:attrNameLst>
                                      </p:cBhvr>
                                      <p:to>
                                        <p:strVal val="visible"/>
                                      </p:to>
                                    </p:set>
                                    <p:animEffect filter="fade" transition="in">
                                      <p:cBhvr>
                                        <p:cTn dur="500"/>
                                        <p:tgtEl>
                                          <p:spTgt spid="12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8" st="8"/>
                                            </p:txEl>
                                          </p:spTgt>
                                        </p:tgtEl>
                                        <p:attrNameLst>
                                          <p:attrName>style.visibility</p:attrName>
                                        </p:attrNameLst>
                                      </p:cBhvr>
                                      <p:to>
                                        <p:strVal val="visible"/>
                                      </p:to>
                                    </p:set>
                                    <p:animEffect filter="fade" transition="in">
                                      <p:cBhvr>
                                        <p:cTn dur="500"/>
                                        <p:tgtEl>
                                          <p:spTgt spid="12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xEl>
                                              <p:pRg end="9" st="9"/>
                                            </p:txEl>
                                          </p:spTgt>
                                        </p:tgtEl>
                                        <p:attrNameLst>
                                          <p:attrName>style.visibility</p:attrName>
                                        </p:attrNameLst>
                                      </p:cBhvr>
                                      <p:to>
                                        <p:strVal val="visible"/>
                                      </p:to>
                                    </p:set>
                                    <p:animEffect filter="fade" transition="in">
                                      <p:cBhvr>
                                        <p:cTn dur="500"/>
                                        <p:tgtEl>
                                          <p:spTgt spid="128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96"/>
          <p:cNvSpPr txBox="1"/>
          <p:nvPr>
            <p:ph idx="1" type="body"/>
          </p:nvPr>
        </p:nvSpPr>
        <p:spPr>
          <a:xfrm>
            <a:off x="381000" y="1162050"/>
            <a:ext cx="8458200" cy="5715000"/>
          </a:xfrm>
          <a:prstGeom prst="rect">
            <a:avLst/>
          </a:prstGeom>
          <a:noFill/>
          <a:ln>
            <a:noFill/>
          </a:ln>
        </p:spPr>
        <p:txBody>
          <a:bodyPr anchorCtr="0" anchor="t" bIns="45700" lIns="91425" spcFirstLastPara="1" rIns="91425" wrap="square" tIns="45700">
            <a:normAutofit/>
          </a:bodyPr>
          <a:lstStyle/>
          <a:p>
            <a:pPr indent="-514350" lvl="0" marL="51435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người cho vay vì sự tương tự giữa việc quyết định cho vay tiền với việc cấp phát tài nguyên trong máy tính.</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Người cho vay giỏi là người cho vay được nhiều</a:t>
            </a:r>
            <a:endParaRPr/>
          </a:p>
          <a:p>
            <a:pPr indent="-514350" lvl="0" marL="51435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Tuy nhiên, khi cho vay vượt quá số tiền thực có sẽ gặp rủi ro do mỗi người vay không thể vay đủ số tiền cần thiết để phục vụ kinh doanh và do đó, cả ngân hàng và ngời cho vay đều rơi vào tình trạng bế tắc.</a:t>
            </a:r>
            <a:endParaRPr/>
          </a:p>
          <a:p>
            <a:pPr indent="-336550" lvl="0" marL="51435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00" name="Google Shape;1300;p9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01" name="Google Shape;1301;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2" name="Google Shape;1302;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3" name="Google Shape;1303;p9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4" name="Google Shape;1304;p9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0" st="0"/>
                                            </p:txEl>
                                          </p:spTgt>
                                        </p:tgtEl>
                                        <p:attrNameLst>
                                          <p:attrName>style.visibility</p:attrName>
                                        </p:attrNameLst>
                                      </p:cBhvr>
                                      <p:to>
                                        <p:strVal val="visible"/>
                                      </p:to>
                                    </p:set>
                                    <p:animEffect filter="fade" transition="in">
                                      <p:cBhvr>
                                        <p:cTn dur="500"/>
                                        <p:tgtEl>
                                          <p:spTgt spid="1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1" st="1"/>
                                            </p:txEl>
                                          </p:spTgt>
                                        </p:tgtEl>
                                        <p:attrNameLst>
                                          <p:attrName>style.visibility</p:attrName>
                                        </p:attrNameLst>
                                      </p:cBhvr>
                                      <p:to>
                                        <p:strVal val="visible"/>
                                      </p:to>
                                    </p:set>
                                    <p:animEffect filter="fade" transition="in">
                                      <p:cBhvr>
                                        <p:cTn dur="500"/>
                                        <p:tgtEl>
                                          <p:spTgt spid="1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2" st="2"/>
                                            </p:txEl>
                                          </p:spTgt>
                                        </p:tgtEl>
                                        <p:attrNameLst>
                                          <p:attrName>style.visibility</p:attrName>
                                        </p:attrNameLst>
                                      </p:cBhvr>
                                      <p:to>
                                        <p:strVal val="visible"/>
                                      </p:to>
                                    </p:set>
                                    <p:animEffect filter="fade" transition="in">
                                      <p:cBhvr>
                                        <p:cTn dur="500"/>
                                        <p:tgtEl>
                                          <p:spTgt spid="1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3" st="3"/>
                                            </p:txEl>
                                          </p:spTgt>
                                        </p:tgtEl>
                                        <p:attrNameLst>
                                          <p:attrName>style.visibility</p:attrName>
                                        </p:attrNameLst>
                                      </p:cBhvr>
                                      <p:to>
                                        <p:strVal val="visible"/>
                                      </p:to>
                                    </p:set>
                                    <p:animEffect filter="fade" transition="in">
                                      <p:cBhvr>
                                        <p:cTn dur="500"/>
                                        <p:tgtEl>
                                          <p:spTgt spid="1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4" st="4"/>
                                            </p:txEl>
                                          </p:spTgt>
                                        </p:tgtEl>
                                        <p:attrNameLst>
                                          <p:attrName>style.visibility</p:attrName>
                                        </p:attrNameLst>
                                      </p:cBhvr>
                                      <p:to>
                                        <p:strVal val="visible"/>
                                      </p:to>
                                    </p:set>
                                    <p:animEffect filter="fade" transition="in">
                                      <p:cBhvr>
                                        <p:cTn dur="500"/>
                                        <p:tgtEl>
                                          <p:spTgt spid="1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5" st="5"/>
                                            </p:txEl>
                                          </p:spTgt>
                                        </p:tgtEl>
                                        <p:attrNameLst>
                                          <p:attrName>style.visibility</p:attrName>
                                        </p:attrNameLst>
                                      </p:cBhvr>
                                      <p:to>
                                        <p:strVal val="visible"/>
                                      </p:to>
                                    </p:set>
                                    <p:animEffect filter="fade" transition="in">
                                      <p:cBhvr>
                                        <p:cTn dur="500"/>
                                        <p:tgtEl>
                                          <p:spTgt spid="1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6" st="6"/>
                                            </p:txEl>
                                          </p:spTgt>
                                        </p:tgtEl>
                                        <p:attrNameLst>
                                          <p:attrName>style.visibility</p:attrName>
                                        </p:attrNameLst>
                                      </p:cBhvr>
                                      <p:to>
                                        <p:strVal val="visible"/>
                                      </p:to>
                                    </p:set>
                                    <p:animEffect filter="fade" transition="in">
                                      <p:cBhvr>
                                        <p:cTn dur="500"/>
                                        <p:tgtEl>
                                          <p:spTgt spid="12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7" st="7"/>
                                            </p:txEl>
                                          </p:spTgt>
                                        </p:tgtEl>
                                        <p:attrNameLst>
                                          <p:attrName>style.visibility</p:attrName>
                                        </p:attrNameLst>
                                      </p:cBhvr>
                                      <p:to>
                                        <p:strVal val="visible"/>
                                      </p:to>
                                    </p:set>
                                    <p:animEffect filter="fade" transition="in">
                                      <p:cBhvr>
                                        <p:cTn dur="500"/>
                                        <p:tgtEl>
                                          <p:spTgt spid="12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8" st="8"/>
                                            </p:txEl>
                                          </p:spTgt>
                                        </p:tgtEl>
                                        <p:attrNameLst>
                                          <p:attrName>style.visibility</p:attrName>
                                        </p:attrNameLst>
                                      </p:cBhvr>
                                      <p:to>
                                        <p:strVal val="visible"/>
                                      </p:to>
                                    </p:set>
                                    <p:animEffect filter="fade" transition="in">
                                      <p:cBhvr>
                                        <p:cTn dur="500"/>
                                        <p:tgtEl>
                                          <p:spTgt spid="12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xEl>
                                              <p:pRg end="9" st="9"/>
                                            </p:txEl>
                                          </p:spTgt>
                                        </p:tgtEl>
                                        <p:attrNameLst>
                                          <p:attrName>style.visibility</p:attrName>
                                        </p:attrNameLst>
                                      </p:cBhvr>
                                      <p:to>
                                        <p:strVal val="visible"/>
                                      </p:to>
                                    </p:set>
                                    <p:animEffect filter="fade" transition="in">
                                      <p:cBhvr>
                                        <p:cTn dur="500"/>
                                        <p:tgtEl>
                                          <p:spTgt spid="129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97"/>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rmAutofit fontScale="92500" lnSpcReduction="20000"/>
          </a:bodyPr>
          <a:lstStyle/>
          <a:p>
            <a:pPr indent="-501015" lvl="0" marL="514350" marR="0" rtl="0" algn="just">
              <a:lnSpc>
                <a:spcPct val="100000"/>
              </a:lnSpc>
              <a:spcBef>
                <a:spcPts val="0"/>
              </a:spcBef>
              <a:spcAft>
                <a:spcPts val="0"/>
              </a:spcAft>
              <a:buClr>
                <a:schemeClr val="dk2"/>
              </a:buClr>
              <a:buSzPct val="100000"/>
              <a:buFont typeface="Noto Sans Symbols"/>
              <a:buChar char="▪"/>
            </a:pPr>
            <a:r>
              <a:rPr b="0" i="0" lang="en-US" sz="2800" u="none">
                <a:solidFill>
                  <a:schemeClr val="dk2"/>
                </a:solidFill>
                <a:latin typeface="Times New Roman"/>
                <a:ea typeface="Times New Roman"/>
                <a:cs typeface="Times New Roman"/>
                <a:sym typeface="Times New Roman"/>
              </a:rPr>
              <a:t>HĐH yêu cầu tiến trình cung cấp thông tin về việc sử dụng tài nguyên của mình và sử dụng thông tin này khi cấp phát</a:t>
            </a:r>
            <a:endParaRPr/>
          </a:p>
          <a:p>
            <a:pPr indent="-501015" lvl="0" marL="514350" marR="0" rtl="0" algn="just">
              <a:lnSpc>
                <a:spcPct val="100000"/>
              </a:lnSpc>
              <a:spcBef>
                <a:spcPts val="560"/>
              </a:spcBef>
              <a:spcAft>
                <a:spcPts val="0"/>
              </a:spcAft>
              <a:buClr>
                <a:schemeClr val="dk2"/>
              </a:buClr>
              <a:buSzPct val="100000"/>
              <a:buFont typeface="Noto Sans Symbols"/>
              <a:buChar char="▪"/>
            </a:pPr>
            <a:r>
              <a:rPr b="0" i="0" lang="en-US" sz="2800" u="none">
                <a:solidFill>
                  <a:schemeClr val="dk2"/>
                </a:solidFill>
                <a:latin typeface="Times New Roman"/>
                <a:ea typeface="Times New Roman"/>
                <a:cs typeface="Times New Roman"/>
                <a:sym typeface="Times New Roman"/>
              </a:rPr>
              <a:t>Khi tiến trình muốn khởi tạo, thông báo dạng tài nguyên và số lượng tài nguyên tối đa cho mỗi dạng sẽ yêu cầu </a:t>
            </a:r>
            <a:endParaRPr/>
          </a:p>
          <a:p>
            <a:pPr indent="-501015" lvl="0" marL="514350" marR="0" rtl="0" algn="just">
              <a:lnSpc>
                <a:spcPct val="100000"/>
              </a:lnSpc>
              <a:spcBef>
                <a:spcPts val="560"/>
              </a:spcBef>
              <a:spcAft>
                <a:spcPts val="0"/>
              </a:spcAft>
              <a:buClr>
                <a:schemeClr val="dk2"/>
              </a:buClr>
              <a:buSzPct val="100000"/>
              <a:buFont typeface="Noto Sans Symbols"/>
              <a:buChar char="▪"/>
            </a:pPr>
            <a:r>
              <a:rPr b="0" i="0" lang="en-US" sz="2800" u="none">
                <a:solidFill>
                  <a:schemeClr val="dk2"/>
                </a:solidFill>
                <a:latin typeface="Times New Roman"/>
                <a:ea typeface="Times New Roman"/>
                <a:cs typeface="Times New Roman"/>
                <a:sym typeface="Times New Roman"/>
              </a:rPr>
              <a:t>Nếu số lượng yêu cầu không vượt quá khả năng hệ thống, tiến trình sẽ được khởi tạo</a:t>
            </a:r>
            <a:endParaRPr/>
          </a:p>
          <a:p>
            <a:pPr indent="-501015" lvl="0" marL="514350" marR="0" rtl="0" algn="just">
              <a:lnSpc>
                <a:spcPct val="100000"/>
              </a:lnSpc>
              <a:spcBef>
                <a:spcPts val="560"/>
              </a:spcBef>
              <a:spcAft>
                <a:spcPts val="0"/>
              </a:spcAft>
              <a:buClr>
                <a:schemeClr val="dk2"/>
              </a:buClr>
              <a:buSzPct val="100000"/>
              <a:buFont typeface="Noto Sans Symbols"/>
              <a:buChar char="▪"/>
            </a:pPr>
            <a:r>
              <a:rPr b="0" i="1" lang="en-US" sz="2800" u="none">
                <a:solidFill>
                  <a:schemeClr val="dk2"/>
                </a:solidFill>
                <a:latin typeface="Times New Roman"/>
                <a:ea typeface="Times New Roman"/>
                <a:cs typeface="Times New Roman"/>
                <a:sym typeface="Times New Roman"/>
              </a:rPr>
              <a:t>Trạng thái</a:t>
            </a:r>
            <a:r>
              <a:rPr b="0" i="0" lang="en-US" sz="2800" u="none">
                <a:solidFill>
                  <a:schemeClr val="dk2"/>
                </a:solidFill>
                <a:latin typeface="Times New Roman"/>
                <a:ea typeface="Times New Roman"/>
                <a:cs typeface="Times New Roman"/>
                <a:sym typeface="Times New Roman"/>
              </a:rPr>
              <a:t> được xác định bởi tình trạng sử dụng tài nguyên hiện thời trong hệ thống:	</a:t>
            </a:r>
            <a:endParaRPr/>
          </a:p>
          <a:p>
            <a:pPr indent="-502919" lvl="1" marL="788987" marR="0" rtl="0" algn="l">
              <a:lnSpc>
                <a:spcPct val="100000"/>
              </a:lnSpc>
              <a:spcBef>
                <a:spcPts val="480"/>
              </a:spcBef>
              <a:spcAft>
                <a:spcPts val="0"/>
              </a:spcAft>
              <a:buClr>
                <a:schemeClr val="accent1"/>
              </a:buClr>
              <a:buSzPct val="1000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tối đa tài nguyên mà tiến trình yêu cầu:</a:t>
            </a:r>
            <a:endParaRPr/>
          </a:p>
          <a:p>
            <a:pPr indent="-504348" lvl="2" marL="1063625" marR="0" rtl="0" algn="l">
              <a:lnSpc>
                <a:spcPct val="100000"/>
              </a:lnSpc>
              <a:spcBef>
                <a:spcPts val="420"/>
              </a:spcBef>
              <a:spcAft>
                <a:spcPts val="0"/>
              </a:spcAft>
              <a:buClr>
                <a:schemeClr val="accent2"/>
              </a:buClr>
              <a:buSzPct val="1000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M[n][m]: n là số lượng tiến trình, m: số tài nguyên</a:t>
            </a:r>
            <a:endParaRPr/>
          </a:p>
          <a:p>
            <a:pPr indent="-504348" lvl="2" marL="1063625" marR="0" rtl="0" algn="l">
              <a:lnSpc>
                <a:spcPct val="100000"/>
              </a:lnSpc>
              <a:spcBef>
                <a:spcPts val="420"/>
              </a:spcBef>
              <a:spcAft>
                <a:spcPts val="0"/>
              </a:spcAft>
              <a:buClr>
                <a:schemeClr val="accent2"/>
              </a:buClr>
              <a:buSzPct val="100000"/>
              <a:buFont typeface="Noto Sans Symbols"/>
              <a:buChar char="▪"/>
            </a:pPr>
            <a:r>
              <a:rPr b="0" i="0" lang="en-US" sz="2100" u="none" cap="none" strike="noStrike">
                <a:solidFill>
                  <a:schemeClr val="dk2"/>
                </a:solidFill>
                <a:latin typeface="Times New Roman"/>
                <a:ea typeface="Times New Roman"/>
                <a:cs typeface="Times New Roman"/>
                <a:sym typeface="Times New Roman"/>
              </a:rPr>
              <a:t>M[i][j]: số lượng tài nguyên tối đa dạng j mà tiến trình i yêu cầu</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ct val="1000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ct val="1000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ct val="1000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ct val="100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ct val="1000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ct val="1000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11" name="Google Shape;1311;p97"/>
          <p:cNvSpPr txBox="1"/>
          <p:nvPr>
            <p:ph type="title"/>
          </p:nvPr>
        </p:nvSpPr>
        <p:spPr>
          <a:xfrm>
            <a:off x="457200" y="0"/>
            <a:ext cx="8686800" cy="7620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100000"/>
              </a:lnSpc>
              <a:spcBef>
                <a:spcPts val="0"/>
              </a:spcBef>
              <a:spcAft>
                <a:spcPts val="0"/>
              </a:spcAft>
              <a:buClr>
                <a:srgbClr val="000066"/>
              </a:buClr>
              <a:buSzPct val="1000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12" name="Google Shape;1312;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3" name="Google Shape;1313;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4" name="Google Shape;1314;p9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5" name="Google Shape;1315;p9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16" name="Google Shape;1316;p97"/>
          <p:cNvPicPr preferRelativeResize="0"/>
          <p:nvPr/>
        </p:nvPicPr>
        <p:blipFill>
          <a:blip r:embed="rId3">
            <a:alphaModFix/>
          </a:blip>
          <a:stretch>
            <a:fillRect/>
          </a:stretch>
        </p:blipFill>
        <p:spPr>
          <a:xfrm>
            <a:off x="3414309" y="617950"/>
            <a:ext cx="2391575" cy="2192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0" st="0"/>
                                            </p:txEl>
                                          </p:spTgt>
                                        </p:tgtEl>
                                        <p:attrNameLst>
                                          <p:attrName>style.visibility</p:attrName>
                                        </p:attrNameLst>
                                      </p:cBhvr>
                                      <p:to>
                                        <p:strVal val="visible"/>
                                      </p:to>
                                    </p:set>
                                    <p:animEffect filter="fade" transition="in">
                                      <p:cBhvr>
                                        <p:cTn dur="500"/>
                                        <p:tgtEl>
                                          <p:spTgt spid="13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 st="1"/>
                                            </p:txEl>
                                          </p:spTgt>
                                        </p:tgtEl>
                                        <p:attrNameLst>
                                          <p:attrName>style.visibility</p:attrName>
                                        </p:attrNameLst>
                                      </p:cBhvr>
                                      <p:to>
                                        <p:strVal val="visible"/>
                                      </p:to>
                                    </p:set>
                                    <p:animEffect filter="fade" transition="in">
                                      <p:cBhvr>
                                        <p:cTn dur="500"/>
                                        <p:tgtEl>
                                          <p:spTgt spid="13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2" st="2"/>
                                            </p:txEl>
                                          </p:spTgt>
                                        </p:tgtEl>
                                        <p:attrNameLst>
                                          <p:attrName>style.visibility</p:attrName>
                                        </p:attrNameLst>
                                      </p:cBhvr>
                                      <p:to>
                                        <p:strVal val="visible"/>
                                      </p:to>
                                    </p:set>
                                    <p:animEffect filter="fade" transition="in">
                                      <p:cBhvr>
                                        <p:cTn dur="500"/>
                                        <p:tgtEl>
                                          <p:spTgt spid="13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3" st="3"/>
                                            </p:txEl>
                                          </p:spTgt>
                                        </p:tgtEl>
                                        <p:attrNameLst>
                                          <p:attrName>style.visibility</p:attrName>
                                        </p:attrNameLst>
                                      </p:cBhvr>
                                      <p:to>
                                        <p:strVal val="visible"/>
                                      </p:to>
                                    </p:set>
                                    <p:animEffect filter="fade" transition="in">
                                      <p:cBhvr>
                                        <p:cTn dur="500"/>
                                        <p:tgtEl>
                                          <p:spTgt spid="13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4" st="4"/>
                                            </p:txEl>
                                          </p:spTgt>
                                        </p:tgtEl>
                                        <p:attrNameLst>
                                          <p:attrName>style.visibility</p:attrName>
                                        </p:attrNameLst>
                                      </p:cBhvr>
                                      <p:to>
                                        <p:strVal val="visible"/>
                                      </p:to>
                                    </p:set>
                                    <p:animEffect filter="fade" transition="in">
                                      <p:cBhvr>
                                        <p:cTn dur="500"/>
                                        <p:tgtEl>
                                          <p:spTgt spid="13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5" st="5"/>
                                            </p:txEl>
                                          </p:spTgt>
                                        </p:tgtEl>
                                        <p:attrNameLst>
                                          <p:attrName>style.visibility</p:attrName>
                                        </p:attrNameLst>
                                      </p:cBhvr>
                                      <p:to>
                                        <p:strVal val="visible"/>
                                      </p:to>
                                    </p:set>
                                    <p:animEffect filter="fade" transition="in">
                                      <p:cBhvr>
                                        <p:cTn dur="500"/>
                                        <p:tgtEl>
                                          <p:spTgt spid="13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6" st="6"/>
                                            </p:txEl>
                                          </p:spTgt>
                                        </p:tgtEl>
                                        <p:attrNameLst>
                                          <p:attrName>style.visibility</p:attrName>
                                        </p:attrNameLst>
                                      </p:cBhvr>
                                      <p:to>
                                        <p:strVal val="visible"/>
                                      </p:to>
                                    </p:set>
                                    <p:animEffect filter="fade" transition="in">
                                      <p:cBhvr>
                                        <p:cTn dur="500"/>
                                        <p:tgtEl>
                                          <p:spTgt spid="13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7" st="7"/>
                                            </p:txEl>
                                          </p:spTgt>
                                        </p:tgtEl>
                                        <p:attrNameLst>
                                          <p:attrName>style.visibility</p:attrName>
                                        </p:attrNameLst>
                                      </p:cBhvr>
                                      <p:to>
                                        <p:strVal val="visible"/>
                                      </p:to>
                                    </p:set>
                                    <p:animEffect filter="fade" transition="in">
                                      <p:cBhvr>
                                        <p:cTn dur="500"/>
                                        <p:tgtEl>
                                          <p:spTgt spid="13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8" st="8"/>
                                            </p:txEl>
                                          </p:spTgt>
                                        </p:tgtEl>
                                        <p:attrNameLst>
                                          <p:attrName>style.visibility</p:attrName>
                                        </p:attrNameLst>
                                      </p:cBhvr>
                                      <p:to>
                                        <p:strVal val="visible"/>
                                      </p:to>
                                    </p:set>
                                    <p:animEffect filter="fade" transition="in">
                                      <p:cBhvr>
                                        <p:cTn dur="500"/>
                                        <p:tgtEl>
                                          <p:spTgt spid="13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9" st="9"/>
                                            </p:txEl>
                                          </p:spTgt>
                                        </p:tgtEl>
                                        <p:attrNameLst>
                                          <p:attrName>style.visibility</p:attrName>
                                        </p:attrNameLst>
                                      </p:cBhvr>
                                      <p:to>
                                        <p:strVal val="visible"/>
                                      </p:to>
                                    </p:set>
                                    <p:animEffect filter="fade" transition="in">
                                      <p:cBhvr>
                                        <p:cTn dur="500"/>
                                        <p:tgtEl>
                                          <p:spTgt spid="13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0" st="10"/>
                                            </p:txEl>
                                          </p:spTgt>
                                        </p:tgtEl>
                                        <p:attrNameLst>
                                          <p:attrName>style.visibility</p:attrName>
                                        </p:attrNameLst>
                                      </p:cBhvr>
                                      <p:to>
                                        <p:strVal val="visible"/>
                                      </p:to>
                                    </p:set>
                                    <p:animEffect filter="fade" transition="in">
                                      <p:cBhvr>
                                        <p:cTn dur="500"/>
                                        <p:tgtEl>
                                          <p:spTgt spid="131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1" st="11"/>
                                            </p:txEl>
                                          </p:spTgt>
                                        </p:tgtEl>
                                        <p:attrNameLst>
                                          <p:attrName>style.visibility</p:attrName>
                                        </p:attrNameLst>
                                      </p:cBhvr>
                                      <p:to>
                                        <p:strVal val="visible"/>
                                      </p:to>
                                    </p:set>
                                    <p:animEffect filter="fade" transition="in">
                                      <p:cBhvr>
                                        <p:cTn dur="500"/>
                                        <p:tgtEl>
                                          <p:spTgt spid="131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xEl>
                                              <p:pRg end="12" st="12"/>
                                            </p:txEl>
                                          </p:spTgt>
                                        </p:tgtEl>
                                        <p:attrNameLst>
                                          <p:attrName>style.visibility</p:attrName>
                                        </p:attrNameLst>
                                      </p:cBhvr>
                                      <p:to>
                                        <p:strVal val="visible"/>
                                      </p:to>
                                    </p:set>
                                    <p:animEffect filter="fade" transition="in">
                                      <p:cBhvr>
                                        <p:cTn dur="500"/>
                                        <p:tgtEl>
                                          <p:spTgt spid="131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98"/>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rmAutofit/>
          </a:bodyPr>
          <a:lstStyle/>
          <a:p>
            <a:pPr indent="-361949" lvl="1" marL="788987" marR="0" rtl="0" algn="l">
              <a:lnSpc>
                <a:spcPct val="100000"/>
              </a:lnSpc>
              <a:spcBef>
                <a:spcPts val="0"/>
              </a:spcBef>
              <a:spcAft>
                <a:spcPts val="0"/>
              </a:spcAft>
              <a:buClr>
                <a:schemeClr val="accent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Số lượng tài nguyên còn lại:</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vectơ A[m] </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A[j] là số lượng tài nguyên dạng j còn lại và có thể cấp phát</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Lượng tài nguyên đã cấp cho mỗi tiến trình:</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D[n][m]</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D[i][j] là lượng tài nguyên dạng j đã cấp cho tiến trình i</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Lượng tài nguyên còn cần cấp</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Dưới dạng ma trận C[n][m]</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C[i][j]=M[i][j]-D[i][j] là lượng tài nguyên dạng j mà tiến trình i còn cần cấp</a:t>
            </a:r>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23" name="Google Shape;1323;p98"/>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24" name="Google Shape;1324;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5" name="Google Shape;1325;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6" name="Google Shape;1326;p9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7" name="Google Shape;1327;p9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28" name="Google Shape;1328;p98"/>
          <p:cNvPicPr preferRelativeResize="0"/>
          <p:nvPr/>
        </p:nvPicPr>
        <p:blipFill>
          <a:blip r:embed="rId3">
            <a:alphaModFix/>
          </a:blip>
          <a:stretch>
            <a:fillRect/>
          </a:stretch>
        </p:blipFill>
        <p:spPr>
          <a:xfrm>
            <a:off x="1127225" y="538325"/>
            <a:ext cx="7346750" cy="257327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99"/>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336550" lvl="0" marL="51435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2"/>
              </a:buClr>
              <a:buSzPts val="2800"/>
              <a:buFont typeface="Noto Sans Symbols"/>
              <a:buChar char="▪"/>
            </a:pPr>
            <a:r>
              <a:rPr b="0" i="1" lang="en-US" sz="2800" u="none">
                <a:solidFill>
                  <a:schemeClr val="dk2"/>
                </a:solidFill>
                <a:latin typeface="Times New Roman"/>
                <a:ea typeface="Times New Roman"/>
                <a:cs typeface="Times New Roman"/>
                <a:sym typeface="Times New Roman"/>
              </a:rPr>
              <a:t>Trạng thái an toàn</a:t>
            </a:r>
            <a:r>
              <a:rPr b="0" i="0" lang="en-US" sz="2800" u="none">
                <a:solidFill>
                  <a:schemeClr val="dk2"/>
                </a:solidFill>
                <a:latin typeface="Times New Roman"/>
                <a:ea typeface="Times New Roman"/>
                <a:cs typeface="Times New Roman"/>
                <a:sym typeface="Times New Roman"/>
              </a:rPr>
              <a:t>: trạng thái mà từ đó có ít nhất một phương án cấp phát sao cho bế tắc không xẩy ra</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Cách phòng tránh bế tắc:</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Khi tiến trình có yêu cầu cấp tài nguyên, hệ thống giả sử tài nguyên được cấp</a:t>
            </a:r>
            <a:endParaRPr/>
          </a:p>
          <a:p>
            <a:pPr indent="-514349" lvl="1" marL="788987" marR="0" rtl="0" algn="l">
              <a:lnSpc>
                <a:spcPct val="100000"/>
              </a:lnSpc>
              <a:spcBef>
                <a:spcPts val="500"/>
              </a:spcBef>
              <a:spcAft>
                <a:spcPts val="0"/>
              </a:spcAft>
              <a:buClr>
                <a:schemeClr val="accent1"/>
              </a:buClr>
              <a:buSzPts val="2500"/>
              <a:buFont typeface="Noto Sans Symbols"/>
              <a:buChar char="▪"/>
            </a:pPr>
            <a:r>
              <a:rPr b="0" i="0" lang="en-US" sz="2500" u="none" cap="none" strike="noStrike">
                <a:solidFill>
                  <a:schemeClr val="dk1"/>
                </a:solidFill>
                <a:latin typeface="Times New Roman"/>
                <a:ea typeface="Times New Roman"/>
                <a:cs typeface="Times New Roman"/>
                <a:sym typeface="Times New Roman"/>
              </a:rPr>
              <a:t>Cập nhật lại trạng thái &amp; xác định xem trạng thái đó có an toàn? </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Nếu an toàn, tài nguyên sẽ được cấp thật</a:t>
            </a:r>
            <a:endParaRPr/>
          </a:p>
          <a:p>
            <a:pPr indent="-514350" lvl="2" marL="1063625"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Ngược lại, tiến trình bị phong tỏa &amp;chờ tới khi có thể cấp phát an toàn</a:t>
            </a:r>
            <a:endParaRPr b="0" i="0" sz="2100" u="none" cap="none" strike="noStrik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35" name="Google Shape;1335;p9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36" name="Google Shape;1336;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7" name="Google Shape;1337;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8" name="Google Shape;1338;p9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9" name="Google Shape;1339;p9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g278676d49e7_0_2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100000"/>
              </a:lnSpc>
              <a:spcBef>
                <a:spcPts val="0"/>
              </a:spcBef>
              <a:spcAft>
                <a:spcPts val="0"/>
              </a:spcAft>
              <a:buClr>
                <a:srgbClr val="000066"/>
              </a:buClr>
              <a:buSzPct val="1000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46" name="Google Shape;1346;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7" name="Google Shape;1347;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8" name="Google Shape;1348;g278676d49e7_0_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49" name="Google Shape;1349;g278676d49e7_0_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50" name="Google Shape;1350;g278676d49e7_0_28"/>
          <p:cNvPicPr preferRelativeResize="0"/>
          <p:nvPr/>
        </p:nvPicPr>
        <p:blipFill>
          <a:blip r:embed="rId3">
            <a:alphaModFix/>
          </a:blip>
          <a:stretch>
            <a:fillRect/>
          </a:stretch>
        </p:blipFill>
        <p:spPr>
          <a:xfrm>
            <a:off x="1314300" y="919000"/>
            <a:ext cx="6515400" cy="2282100"/>
          </a:xfrm>
          <a:prstGeom prst="rect">
            <a:avLst/>
          </a:prstGeom>
          <a:noFill/>
          <a:ln>
            <a:noFill/>
          </a:ln>
        </p:spPr>
      </p:pic>
      <p:pic>
        <p:nvPicPr>
          <p:cNvPr id="1351" name="Google Shape;1351;g278676d49e7_0_28"/>
          <p:cNvPicPr preferRelativeResize="0"/>
          <p:nvPr/>
        </p:nvPicPr>
        <p:blipFill>
          <a:blip r:embed="rId4">
            <a:alphaModFix/>
          </a:blip>
          <a:stretch>
            <a:fillRect/>
          </a:stretch>
        </p:blipFill>
        <p:spPr>
          <a:xfrm>
            <a:off x="2695575" y="3840400"/>
            <a:ext cx="3752850" cy="1581150"/>
          </a:xfrm>
          <a:prstGeom prst="rect">
            <a:avLst/>
          </a:prstGeom>
          <a:noFill/>
          <a:ln>
            <a:noFill/>
          </a:ln>
        </p:spPr>
      </p:pic>
      <p:sp>
        <p:nvSpPr>
          <p:cNvPr id="1352" name="Google Shape;1352;g278676d49e7_0_28"/>
          <p:cNvSpPr txBox="1"/>
          <p:nvPr/>
        </p:nvSpPr>
        <p:spPr>
          <a:xfrm>
            <a:off x="300425" y="1947600"/>
            <a:ext cx="59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4A86E8"/>
                </a:solidFill>
              </a:rPr>
              <a:t>An toàn</a:t>
            </a:r>
            <a:endParaRPr>
              <a:solidFill>
                <a:srgbClr val="4A86E8"/>
              </a:solidFill>
            </a:endParaRPr>
          </a:p>
        </p:txBody>
      </p:sp>
      <p:sp>
        <p:nvSpPr>
          <p:cNvPr id="1353" name="Google Shape;1353;g278676d49e7_0_28"/>
          <p:cNvSpPr txBox="1"/>
          <p:nvPr/>
        </p:nvSpPr>
        <p:spPr>
          <a:xfrm>
            <a:off x="300425" y="4430875"/>
            <a:ext cx="59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CC0000"/>
                </a:solidFill>
              </a:rPr>
              <a:t>Không an toàn</a:t>
            </a:r>
            <a:endParaRPr>
              <a:solidFill>
                <a:srgbClr val="CC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00"/>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xác định trạng thái an toàn:</a:t>
            </a:r>
            <a:endParaRPr b="0" i="0" sz="2100" u="non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60" name="Google Shape;1360;p10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Phòng tránh bế tắc – </a:t>
            </a:r>
            <a:r>
              <a:rPr b="1" i="0" lang="en-US" sz="2000" u="none">
                <a:solidFill>
                  <a:srgbClr val="000066"/>
                </a:solidFill>
                <a:latin typeface="Times New Roman"/>
                <a:ea typeface="Times New Roman"/>
                <a:cs typeface="Times New Roman"/>
                <a:sym typeface="Times New Roman"/>
              </a:rPr>
              <a:t>thuật toán người cho vay</a:t>
            </a:r>
            <a:br>
              <a:rPr b="1" i="0" lang="en-US" sz="2500" u="none">
                <a:solidFill>
                  <a:srgbClr val="000066"/>
                </a:solidFill>
                <a:latin typeface="Times New Roman"/>
                <a:ea typeface="Times New Roman"/>
                <a:cs typeface="Times New Roman"/>
                <a:sym typeface="Times New Roman"/>
              </a:rPr>
            </a:br>
            <a:endParaRPr/>
          </a:p>
        </p:txBody>
      </p:sp>
      <p:sp>
        <p:nvSpPr>
          <p:cNvPr id="1361" name="Google Shape;1361;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2" name="Google Shape;1362;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3" name="Google Shape;1363;p10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364" name="Google Shape;1364;p100"/>
          <p:cNvGraphicFramePr/>
          <p:nvPr/>
        </p:nvGraphicFramePr>
        <p:xfrm>
          <a:off x="533400" y="1371600"/>
          <a:ext cx="3000000" cy="3000000"/>
        </p:xfrm>
        <a:graphic>
          <a:graphicData uri="http://schemas.openxmlformats.org/drawingml/2006/table">
            <a:tbl>
              <a:tblPr>
                <a:noFill/>
                <a:tableStyleId>{4128A9BA-1566-4610-BFC4-80AE836C2761}</a:tableStyleId>
              </a:tblPr>
              <a:tblGrid>
                <a:gridCol w="8305800"/>
              </a:tblGrid>
              <a:tr h="4648200">
                <a:tc>
                  <a:txBody>
                    <a:bodyPr/>
                    <a:lstStyle/>
                    <a:p>
                      <a:pPr indent="-387350" lvl="0" marL="387350" marR="0" rtl="0" algn="just">
                        <a:lnSpc>
                          <a:spcPct val="11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 </a:t>
                      </a:r>
                      <a:r>
                        <a:rPr b="0" i="0" lang="en-US" sz="1800" u="none" cap="none" strike="noStrike">
                          <a:solidFill>
                            <a:schemeClr val="dk1"/>
                          </a:solidFill>
                          <a:latin typeface="Arial"/>
                          <a:ea typeface="Arial"/>
                          <a:cs typeface="Arial"/>
                          <a:sym typeface="Arial"/>
                        </a:rPr>
                        <a:t>	Khai báo mảng W kích thước m và mảng F kích thước n. (F[i] chứa tình trạng tiến trình thứ i đã kết thúc hay chưa, W chứa lượng tài nguyên còn lại)</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Khởi tạo W=A và F[i]=false (i=0,…,n-1)</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2.	Tìm i sao cho: </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F[i] = false và C[i][j] ≤ W[j] với mọi j=0,…,m-1</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Nếu không có i như vậy thì chuyển sang bước 4</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3.	a) W = W + D[i]</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b) F[i] = true</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c) Quay lại bước 2</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4. 	If F[i] = true với mọi i =0,…,n-1 thì trạng thái an toàn</a:t>
                      </a:r>
                      <a:endParaRPr/>
                    </a:p>
                    <a:p>
                      <a:pPr indent="-387350" lvl="0" marL="387350" marR="0" rtl="0" algn="just">
                        <a:lnSpc>
                          <a:spcPct val="115000"/>
                        </a:lnSpc>
                        <a:spcBef>
                          <a:spcPts val="30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Else trạng thái không an toàn</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365" name="Google Shape;1365;p10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336550" lvl="0" marL="51435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Hệ thống không thực hiện biện pháp ngăn ngừa/phòng tránh  =&gt; bế tắc có thể xảy ra</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Hệ thống định kỳ kiểm tra để phát hiện có tình trạng bế tắc hay không?</a:t>
            </a:r>
            <a:endParaRPr/>
          </a:p>
          <a:p>
            <a:pPr indent="-514350" lvl="0" marL="51435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có, hệ thống sẽ xử lý để khôi phục lại trạng thái không có bế tắc</a:t>
            </a:r>
            <a:endParaRPr b="0" i="0" sz="2100" u="non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72" name="Google Shape;1372;p10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a:t>
            </a:r>
            <a:br>
              <a:rPr b="1" i="0" lang="en-US" sz="2500" u="none">
                <a:solidFill>
                  <a:srgbClr val="000066"/>
                </a:solidFill>
                <a:latin typeface="Times New Roman"/>
                <a:ea typeface="Times New Roman"/>
                <a:cs typeface="Times New Roman"/>
                <a:sym typeface="Times New Roman"/>
              </a:rPr>
            </a:br>
            <a:endParaRPr/>
          </a:p>
        </p:txBody>
      </p:sp>
      <p:sp>
        <p:nvSpPr>
          <p:cNvPr id="1373" name="Google Shape;1373;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4" name="Google Shape;1374;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5" name="Google Shape;1375;p10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6" name="Google Shape;1376;p10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10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383" name="Google Shape;1383;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4" name="Google Shape;1384;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5" name="Google Shape;1385;p10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6" name="Google Shape;1386;p104"/>
          <p:cNvSpPr txBox="1"/>
          <p:nvPr/>
        </p:nvSpPr>
        <p:spPr>
          <a:xfrm>
            <a:off x="0" y="1311275"/>
            <a:ext cx="9144000" cy="18129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accent1"/>
              </a:buClr>
              <a:buSzPts val="1960"/>
              <a:buFont typeface="Noto Sans Symbols"/>
              <a:buChar char="▪"/>
            </a:pPr>
            <a:r>
              <a:rPr b="0" i="0" lang="en-US" sz="2800" u="none">
                <a:solidFill>
                  <a:schemeClr val="dk2"/>
                </a:solidFill>
                <a:latin typeface="Times New Roman"/>
                <a:ea typeface="Times New Roman"/>
                <a:cs typeface="Times New Roman"/>
                <a:sym typeface="Times New Roman"/>
              </a:rPr>
              <a:t>Phát hiện bế tắc:</a:t>
            </a:r>
            <a:endParaRPr/>
          </a:p>
          <a:p>
            <a:pPr indent="-514349" lvl="1" marL="788987"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Trường hợp mỗi dạng tài nguyên chỉ có một tài nguyên duy nhất =&gt; sử dụng đồ thị biểu diễn quan hệ chờ đợi lần nhau giữa tiến trình</a:t>
            </a:r>
            <a:endParaRPr/>
          </a:p>
          <a:p>
            <a:pPr indent="-416559" lvl="1" marL="788987" marR="0" rtl="0" algn="l">
              <a:lnSpc>
                <a:spcPct val="100000"/>
              </a:lnSpc>
              <a:spcBef>
                <a:spcPts val="440"/>
              </a:spcBef>
              <a:spcAft>
                <a:spcPts val="0"/>
              </a:spcAft>
              <a:buClr>
                <a:schemeClr val="accent1"/>
              </a:buClr>
              <a:buSzPts val="154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403224" lvl="1" marL="788987" marR="0" rtl="0" algn="l">
              <a:lnSpc>
                <a:spcPct val="100000"/>
              </a:lnSpc>
              <a:spcBef>
                <a:spcPts val="500"/>
              </a:spcBef>
              <a:spcAft>
                <a:spcPts val="0"/>
              </a:spcAft>
              <a:buClr>
                <a:schemeClr val="accent1"/>
              </a:buClr>
              <a:buSzPts val="175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25449" lvl="1" marL="788987"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425450" lvl="0" marL="514350" marR="0" rtl="0" algn="l">
              <a:lnSpc>
                <a:spcPct val="100000"/>
              </a:lnSpc>
              <a:spcBef>
                <a:spcPts val="400"/>
              </a:spcBef>
              <a:spcAft>
                <a:spcPts val="0"/>
              </a:spcAft>
              <a:buClr>
                <a:schemeClr val="accent1"/>
              </a:buClr>
              <a:buSzPts val="1400"/>
              <a:buFont typeface="Noto Sans Symbols"/>
              <a:buNone/>
            </a:pPr>
            <a:r>
              <a:t/>
            </a:r>
            <a:endParaRPr b="0" i="0" sz="20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00"/>
              </a:spcBef>
              <a:spcAft>
                <a:spcPts val="0"/>
              </a:spcAft>
              <a:buClr>
                <a:schemeClr val="dk1"/>
              </a:buClr>
              <a:buSzPts val="2500"/>
              <a:buFont typeface="Arial"/>
              <a:buNone/>
            </a:pPr>
            <a:r>
              <a:t/>
            </a:r>
            <a:endParaRPr b="0" i="0" sz="2500" u="none" cap="none" strike="noStrik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403225" lvl="0" marL="514350" marR="0" rtl="0" algn="l">
              <a:lnSpc>
                <a:spcPct val="100000"/>
              </a:lnSpc>
              <a:spcBef>
                <a:spcPts val="500"/>
              </a:spcBef>
              <a:spcAft>
                <a:spcPts val="0"/>
              </a:spcAft>
              <a:buClr>
                <a:schemeClr val="accent1"/>
              </a:buClr>
              <a:buSzPts val="1750"/>
              <a:buFont typeface="Noto Sans Symbols"/>
              <a:buNone/>
            </a:pPr>
            <a:r>
              <a:t/>
            </a:r>
            <a:endParaRPr b="0" i="0" sz="25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372110" lvl="0" marL="51435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407669" lvl="0" marL="51435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85444" lvl="1" marL="788987" marR="0" rtl="0" algn="l">
              <a:lnSpc>
                <a:spcPct val="100000"/>
              </a:lnSpc>
              <a:spcBef>
                <a:spcPts val="580"/>
              </a:spcBef>
              <a:spcAft>
                <a:spcPts val="0"/>
              </a:spcAft>
              <a:buClr>
                <a:schemeClr val="accent1"/>
              </a:buClr>
              <a:buSzPts val="2030"/>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21004" lvl="1" marL="788987" marR="0" rtl="0" algn="l">
              <a:lnSpc>
                <a:spcPct val="100000"/>
              </a:lnSpc>
              <a:spcBef>
                <a:spcPts val="420"/>
              </a:spcBef>
              <a:spcAft>
                <a:spcPts val="0"/>
              </a:spcAft>
              <a:buClr>
                <a:schemeClr val="accent1"/>
              </a:buClr>
              <a:buSzPts val="1470"/>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21005" lvl="0" marL="514350" marR="0" rtl="0" algn="l">
              <a:lnSpc>
                <a:spcPct val="100000"/>
              </a:lnSpc>
              <a:spcBef>
                <a:spcPts val="420"/>
              </a:spcBef>
              <a:spcAft>
                <a:spcPts val="0"/>
              </a:spcAft>
              <a:buClr>
                <a:schemeClr val="accent1"/>
              </a:buClr>
              <a:buSzPts val="1470"/>
              <a:buFont typeface="Noto Sans Symbols"/>
              <a:buNone/>
            </a:pPr>
            <a:r>
              <a:t/>
            </a:r>
            <a:endParaRPr b="0" i="1" sz="21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389890" lvl="0" marL="514350" marR="0" rtl="0" algn="l">
              <a:lnSpc>
                <a:spcPct val="100000"/>
              </a:lnSpc>
              <a:spcBef>
                <a:spcPts val="560"/>
              </a:spcBef>
              <a:spcAft>
                <a:spcPts val="0"/>
              </a:spcAft>
              <a:buClr>
                <a:schemeClr val="accent1"/>
              </a:buClr>
              <a:buSzPts val="1960"/>
              <a:buFont typeface="Noto Sans Symbols"/>
              <a:buNone/>
            </a:pPr>
            <a:r>
              <a:t/>
            </a:r>
            <a:endParaRPr b="0" i="1" sz="2800" u="none">
              <a:solidFill>
                <a:schemeClr val="dk2"/>
              </a:solidFill>
              <a:latin typeface="Times New Roman"/>
              <a:ea typeface="Times New Roman"/>
              <a:cs typeface="Times New Roman"/>
              <a:sym typeface="Times New Roman"/>
            </a:endParaRPr>
          </a:p>
          <a:p>
            <a:pPr indent="-514350" lvl="0" marL="514350" marR="0" rtl="0" algn="l">
              <a:lnSpc>
                <a:spcPct val="100000"/>
              </a:lnSpc>
              <a:spcBef>
                <a:spcPts val="560"/>
              </a:spcBef>
              <a:spcAft>
                <a:spcPts val="0"/>
              </a:spcAft>
              <a:buClr>
                <a:schemeClr val="dk1"/>
              </a:buClr>
              <a:buSzPts val="2800"/>
              <a:buFont typeface="Arial"/>
              <a:buNone/>
            </a:pPr>
            <a:r>
              <a:t/>
            </a:r>
            <a:endParaRPr b="0" i="0" sz="2800" u="none">
              <a:solidFill>
                <a:schemeClr val="dk2"/>
              </a:solidFill>
              <a:latin typeface="Times New Roman"/>
              <a:ea typeface="Times New Roman"/>
              <a:cs typeface="Times New Roman"/>
              <a:sym typeface="Times New Roman"/>
            </a:endParaRPr>
          </a:p>
          <a:p>
            <a:pPr indent="-407669" lvl="1" marL="788987"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89889" lvl="1" marL="788987" marR="0" rtl="0" algn="l">
              <a:lnSpc>
                <a:spcPct val="100000"/>
              </a:lnSpc>
              <a:spcBef>
                <a:spcPts val="560"/>
              </a:spcBef>
              <a:spcAft>
                <a:spcPts val="0"/>
              </a:spcAft>
              <a:buClr>
                <a:schemeClr val="accent1"/>
              </a:buClr>
              <a:buSzPts val="1960"/>
              <a:buFont typeface="Noto Sans Symbols"/>
              <a:buNone/>
            </a:pPr>
            <a: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2"/>
              </a:solidFill>
              <a:latin typeface="Arial"/>
              <a:ea typeface="Arial"/>
              <a:cs typeface="Arial"/>
              <a:sym typeface="Arial"/>
            </a:endParaRPr>
          </a:p>
        </p:txBody>
      </p:sp>
      <p:sp>
        <p:nvSpPr>
          <p:cNvPr id="1387" name="Google Shape;1387;p104"/>
          <p:cNvSpPr txBox="1"/>
          <p:nvPr/>
        </p:nvSpPr>
        <p:spPr>
          <a:xfrm>
            <a:off x="0" y="2971800"/>
            <a:ext cx="6248400" cy="3352800"/>
          </a:xfrm>
          <a:prstGeom prst="rect">
            <a:avLst/>
          </a:prstGeom>
          <a:noFill/>
          <a:ln>
            <a:noFill/>
          </a:ln>
        </p:spPr>
        <p:txBody>
          <a:bodyPr anchorCtr="0" anchor="t" bIns="45700" lIns="91425" spcFirstLastPara="1" rIns="91425" wrap="square" tIns="45700">
            <a:noAutofit/>
          </a:bodyPr>
          <a:lstStyle/>
          <a:p>
            <a:pPr indent="-514349" lvl="1" marL="788987" marR="0" rtl="0" algn="l">
              <a:lnSpc>
                <a:spcPct val="100000"/>
              </a:lnSpc>
              <a:spcBef>
                <a:spcPts val="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Xây dựng đồ thị cấp phát tài nguyên:</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Các nút là tiến trình và tài nguyên</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Tài nguyên được nối với tiến trình bằng cung có hướng nếu tài nguyên được cấp cho tiến `trình đó</a:t>
            </a:r>
            <a:endParaRPr/>
          </a:p>
          <a:p>
            <a:pPr indent="-514349" lvl="2" marL="1246187" marR="0" rtl="0" algn="l">
              <a:lnSpc>
                <a:spcPct val="100000"/>
              </a:lnSpc>
              <a:spcBef>
                <a:spcPts val="500"/>
              </a:spcBef>
              <a:spcAft>
                <a:spcPts val="0"/>
              </a:spcAft>
              <a:buClr>
                <a:schemeClr val="accent2"/>
              </a:buClr>
              <a:buSzPts val="1520"/>
              <a:buFont typeface="Noto Sans Symbols"/>
              <a:buChar char="▪"/>
            </a:pPr>
            <a:r>
              <a:rPr b="0" i="0" lang="en-US" sz="2000" u="none" cap="none" strike="noStrike">
                <a:solidFill>
                  <a:schemeClr val="dk1"/>
                </a:solidFill>
                <a:latin typeface="Times New Roman"/>
                <a:ea typeface="Times New Roman"/>
                <a:cs typeface="Times New Roman"/>
                <a:sym typeface="Times New Roman"/>
              </a:rPr>
              <a:t>Tiến trình được nối với tài nguyên bằng cung có hướng nếu tiến trình đang được cấp tài nguyên đó</a:t>
            </a:r>
            <a:endParaRPr/>
          </a:p>
          <a:p>
            <a:pPr indent="-398525" lvl="2" marL="12461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2" marL="1246187"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408177" lvl="1" marL="788987" marR="0" rtl="0" algn="l">
              <a:lnSpc>
                <a:spcPct val="100000"/>
              </a:lnSpc>
              <a:spcBef>
                <a:spcPts val="500"/>
              </a:spcBef>
              <a:spcAft>
                <a:spcPts val="0"/>
              </a:spcAft>
              <a:buClr>
                <a:schemeClr val="accent2"/>
              </a:buClr>
              <a:buSzPts val="1672"/>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93699" lvl="1" marL="788987" marR="0" rtl="0" algn="l">
              <a:lnSpc>
                <a:spcPct val="100000"/>
              </a:lnSpc>
              <a:spcBef>
                <a:spcPts val="500"/>
              </a:spcBef>
              <a:spcAft>
                <a:spcPts val="0"/>
              </a:spcAft>
              <a:buClr>
                <a:schemeClr val="accent2"/>
              </a:buClr>
              <a:buSzPts val="19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417829" lvl="1" marL="788987" marR="0" rtl="0" algn="l">
              <a:lnSpc>
                <a:spcPct val="100000"/>
              </a:lnSpc>
              <a:spcBef>
                <a:spcPts val="500"/>
              </a:spcBef>
              <a:spcAft>
                <a:spcPts val="0"/>
              </a:spcAft>
              <a:buClr>
                <a:schemeClr val="accent2"/>
              </a:buClr>
              <a:buSzPts val="152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417830" lvl="0" marL="514350" marR="0" rtl="0" algn="l">
              <a:lnSpc>
                <a:spcPct val="100000"/>
              </a:lnSpc>
              <a:spcBef>
                <a:spcPts val="600"/>
              </a:spcBef>
              <a:spcAft>
                <a:spcPts val="0"/>
              </a:spcAft>
              <a:buClr>
                <a:schemeClr val="accent1"/>
              </a:buClr>
              <a:buSzPts val="1520"/>
              <a:buFont typeface="Noto Sans Symbols"/>
              <a:buNone/>
            </a:pPr>
            <a:r>
              <a:t/>
            </a:r>
            <a:endParaRPr b="0" i="0" sz="20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500"/>
              </a:spcBef>
              <a:spcAft>
                <a:spcPts val="0"/>
              </a:spcAft>
              <a:buClr>
                <a:schemeClr val="dk1"/>
              </a:buClr>
              <a:buSzPts val="2500"/>
              <a:buFont typeface="Arial"/>
              <a:buNone/>
            </a:pPr>
            <a:r>
              <a:t/>
            </a:r>
            <a:endParaRPr b="0" i="0" sz="2500" u="none" cap="none" strike="noStrike">
              <a:solidFill>
                <a:schemeClr val="dk2"/>
              </a:solidFill>
              <a:latin typeface="Times New Roman"/>
              <a:ea typeface="Times New Roman"/>
              <a:cs typeface="Times New Roman"/>
              <a:sym typeface="Times New Roman"/>
            </a:endParaRPr>
          </a:p>
          <a:p>
            <a:pPr indent="-398526" lvl="0" marL="5143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393700" lvl="0" marL="514350" marR="0" rtl="0" algn="l">
              <a:lnSpc>
                <a:spcPct val="100000"/>
              </a:lnSpc>
              <a:spcBef>
                <a:spcPts val="600"/>
              </a:spcBef>
              <a:spcAft>
                <a:spcPts val="0"/>
              </a:spcAft>
              <a:buClr>
                <a:schemeClr val="accent1"/>
              </a:buClr>
              <a:buSzPts val="1900"/>
              <a:buFont typeface="Noto Sans Symbols"/>
              <a:buNone/>
            </a:pPr>
            <a:r>
              <a:t/>
            </a:r>
            <a:endParaRPr b="0" i="0" sz="25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88874" lvl="0" marL="5143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Times New Roman"/>
              <a:ea typeface="Times New Roman"/>
              <a:cs typeface="Times New Roman"/>
              <a:sym typeface="Times New Roman"/>
            </a:endParaRPr>
          </a:p>
          <a:p>
            <a:pPr indent="-398526" lvl="0" marL="514350" marR="0" rtl="0" algn="l">
              <a:lnSpc>
                <a:spcPct val="100000"/>
              </a:lnSpc>
              <a:spcBef>
                <a:spcPts val="600"/>
              </a:spcBef>
              <a:spcAft>
                <a:spcPts val="0"/>
              </a:spcAft>
              <a:buClr>
                <a:schemeClr val="accent1"/>
              </a:buClr>
              <a:buSzPts val="1824"/>
              <a:buFont typeface="Noto Sans Symbols"/>
              <a:buNone/>
            </a:pPr>
            <a:r>
              <a:t/>
            </a:r>
            <a:endParaRPr b="0" i="0" sz="2400" u="non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374394" lvl="1" marL="788987" marR="0" rtl="0" algn="l">
              <a:lnSpc>
                <a:spcPct val="100000"/>
              </a:lnSpc>
              <a:spcBef>
                <a:spcPts val="500"/>
              </a:spcBef>
              <a:spcAft>
                <a:spcPts val="0"/>
              </a:spcAft>
              <a:buClr>
                <a:schemeClr val="accent2"/>
              </a:buClr>
              <a:buSzPts val="2204"/>
              <a:buFont typeface="Noto Sans Symbols"/>
              <a:buNone/>
            </a:pPr>
            <a:r>
              <a:t/>
            </a:r>
            <a:endParaRPr b="0" i="0" sz="2900" u="none" cap="none" strike="noStrike">
              <a:solidFill>
                <a:schemeClr val="dk2"/>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79221" lvl="1" marL="788987" marR="0" rtl="0" algn="l">
              <a:lnSpc>
                <a:spcPct val="100000"/>
              </a:lnSpc>
              <a:spcBef>
                <a:spcPts val="500"/>
              </a:spcBef>
              <a:spcAft>
                <a:spcPts val="0"/>
              </a:spcAft>
              <a:buClr>
                <a:schemeClr val="accent2"/>
              </a:buClr>
              <a:buSzPts val="2128"/>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413003" lvl="1" marL="788987" marR="0" rtl="0" algn="l">
              <a:lnSpc>
                <a:spcPct val="100000"/>
              </a:lnSpc>
              <a:spcBef>
                <a:spcPts val="500"/>
              </a:spcBef>
              <a:spcAft>
                <a:spcPts val="0"/>
              </a:spcAft>
              <a:buClr>
                <a:schemeClr val="accent2"/>
              </a:buClr>
              <a:buSzPts val="1596"/>
              <a:buFont typeface="Noto Sans Symbols"/>
              <a:buNone/>
            </a:pPr>
            <a:r>
              <a:t/>
            </a:r>
            <a:endParaRPr b="0" i="0" sz="2100" u="none" cap="none" strike="noStrike">
              <a:solidFill>
                <a:schemeClr val="dk2"/>
              </a:solidFill>
              <a:latin typeface="Times New Roman"/>
              <a:ea typeface="Times New Roman"/>
              <a:cs typeface="Times New Roman"/>
              <a:sym typeface="Times New Roman"/>
            </a:endParaRPr>
          </a:p>
          <a:p>
            <a:pPr indent="-413004" lvl="0" marL="514350" marR="0" rtl="0" algn="l">
              <a:lnSpc>
                <a:spcPct val="100000"/>
              </a:lnSpc>
              <a:spcBef>
                <a:spcPts val="600"/>
              </a:spcBef>
              <a:spcAft>
                <a:spcPts val="0"/>
              </a:spcAft>
              <a:buClr>
                <a:schemeClr val="accent1"/>
              </a:buClr>
              <a:buSzPts val="1596"/>
              <a:buFont typeface="Noto Sans Symbols"/>
              <a:buNone/>
            </a:pPr>
            <a:r>
              <a:t/>
            </a:r>
            <a:endParaRPr b="0" i="1" sz="21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0" sz="2800" u="none">
              <a:solidFill>
                <a:schemeClr val="dk1"/>
              </a:solidFill>
              <a:latin typeface="Times New Roman"/>
              <a:ea typeface="Times New Roman"/>
              <a:cs typeface="Times New Roman"/>
              <a:sym typeface="Times New Roman"/>
            </a:endParaRPr>
          </a:p>
          <a:p>
            <a:pPr indent="-379222" lvl="0" marL="514350" marR="0" rtl="0" algn="l">
              <a:lnSpc>
                <a:spcPct val="100000"/>
              </a:lnSpc>
              <a:spcBef>
                <a:spcPts val="600"/>
              </a:spcBef>
              <a:spcAft>
                <a:spcPts val="0"/>
              </a:spcAft>
              <a:buClr>
                <a:schemeClr val="accent1"/>
              </a:buClr>
              <a:buSzPts val="2128"/>
              <a:buFont typeface="Noto Sans Symbols"/>
              <a:buNone/>
            </a:pPr>
            <a:r>
              <a:t/>
            </a:r>
            <a:endParaRPr b="0" i="1" sz="2800" u="none">
              <a:solidFill>
                <a:schemeClr val="dk1"/>
              </a:solidFill>
              <a:latin typeface="Times New Roman"/>
              <a:ea typeface="Times New Roman"/>
              <a:cs typeface="Times New Roman"/>
              <a:sym typeface="Times New Roman"/>
            </a:endParaRPr>
          </a:p>
          <a:p>
            <a:pPr indent="-514350" lvl="0" marL="514350" marR="0" rtl="0" algn="l">
              <a:lnSpc>
                <a:spcPct val="100000"/>
              </a:lnSpc>
              <a:spcBef>
                <a:spcPts val="6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398525" lvl="1" marL="788987" marR="0" rtl="0" algn="l">
              <a:lnSpc>
                <a:spcPct val="100000"/>
              </a:lnSpc>
              <a:spcBef>
                <a:spcPts val="500"/>
              </a:spcBef>
              <a:spcAft>
                <a:spcPts val="0"/>
              </a:spcAft>
              <a:buClr>
                <a:schemeClr val="accent2"/>
              </a:buClr>
              <a:buSzPts val="1824"/>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403351" lvl="1" marL="7889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300" u="none" cap="none" strike="noStrike">
              <a:solidFill>
                <a:schemeClr val="dk2"/>
              </a:solidFill>
              <a:latin typeface="Arial"/>
              <a:ea typeface="Arial"/>
              <a:cs typeface="Arial"/>
              <a:sym typeface="Arial"/>
            </a:endParaRPr>
          </a:p>
        </p:txBody>
      </p:sp>
      <p:pic>
        <p:nvPicPr>
          <p:cNvPr id="1388" name="Google Shape;1388;p104"/>
          <p:cNvPicPr preferRelativeResize="0"/>
          <p:nvPr/>
        </p:nvPicPr>
        <p:blipFill rotWithShape="1">
          <a:blip r:embed="rId3">
            <a:alphaModFix/>
          </a:blip>
          <a:srcRect b="0" l="0" r="0" t="0"/>
          <a:stretch/>
        </p:blipFill>
        <p:spPr>
          <a:xfrm>
            <a:off x="6477000" y="2590800"/>
            <a:ext cx="2438400" cy="3333750"/>
          </a:xfrm>
          <a:prstGeom prst="rect">
            <a:avLst/>
          </a:prstGeom>
          <a:noFill/>
          <a:ln>
            <a:noFill/>
          </a:ln>
        </p:spPr>
      </p:pic>
      <p:sp>
        <p:nvSpPr>
          <p:cNvPr id="1389" name="Google Shape;1389;p10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0" st="0"/>
                                            </p:txEl>
                                          </p:spTgt>
                                        </p:tgtEl>
                                        <p:attrNameLst>
                                          <p:attrName>style.visibility</p:attrName>
                                        </p:attrNameLst>
                                      </p:cBhvr>
                                      <p:to>
                                        <p:strVal val="visible"/>
                                      </p:to>
                                    </p:set>
                                    <p:animEffect filter="fade" transition="in">
                                      <p:cBhvr>
                                        <p:cTn dur="500"/>
                                        <p:tgtEl>
                                          <p:spTgt spid="13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 st="1"/>
                                            </p:txEl>
                                          </p:spTgt>
                                        </p:tgtEl>
                                        <p:attrNameLst>
                                          <p:attrName>style.visibility</p:attrName>
                                        </p:attrNameLst>
                                      </p:cBhvr>
                                      <p:to>
                                        <p:strVal val="visible"/>
                                      </p:to>
                                    </p:set>
                                    <p:animEffect filter="fade" transition="in">
                                      <p:cBhvr>
                                        <p:cTn dur="500"/>
                                        <p:tgtEl>
                                          <p:spTgt spid="13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 st="2"/>
                                            </p:txEl>
                                          </p:spTgt>
                                        </p:tgtEl>
                                        <p:attrNameLst>
                                          <p:attrName>style.visibility</p:attrName>
                                        </p:attrNameLst>
                                      </p:cBhvr>
                                      <p:to>
                                        <p:strVal val="visible"/>
                                      </p:to>
                                    </p:set>
                                    <p:animEffect filter="fade" transition="in">
                                      <p:cBhvr>
                                        <p:cTn dur="500"/>
                                        <p:tgtEl>
                                          <p:spTgt spid="13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 st="3"/>
                                            </p:txEl>
                                          </p:spTgt>
                                        </p:tgtEl>
                                        <p:attrNameLst>
                                          <p:attrName>style.visibility</p:attrName>
                                        </p:attrNameLst>
                                      </p:cBhvr>
                                      <p:to>
                                        <p:strVal val="visible"/>
                                      </p:to>
                                    </p:set>
                                    <p:animEffect filter="fade" transition="in">
                                      <p:cBhvr>
                                        <p:cTn dur="500"/>
                                        <p:tgtEl>
                                          <p:spTgt spid="13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4" st="4"/>
                                            </p:txEl>
                                          </p:spTgt>
                                        </p:tgtEl>
                                        <p:attrNameLst>
                                          <p:attrName>style.visibility</p:attrName>
                                        </p:attrNameLst>
                                      </p:cBhvr>
                                      <p:to>
                                        <p:strVal val="visible"/>
                                      </p:to>
                                    </p:set>
                                    <p:animEffect filter="fade" transition="in">
                                      <p:cBhvr>
                                        <p:cTn dur="500"/>
                                        <p:tgtEl>
                                          <p:spTgt spid="13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5" st="5"/>
                                            </p:txEl>
                                          </p:spTgt>
                                        </p:tgtEl>
                                        <p:attrNameLst>
                                          <p:attrName>style.visibility</p:attrName>
                                        </p:attrNameLst>
                                      </p:cBhvr>
                                      <p:to>
                                        <p:strVal val="visible"/>
                                      </p:to>
                                    </p:set>
                                    <p:animEffect filter="fade" transition="in">
                                      <p:cBhvr>
                                        <p:cTn dur="500"/>
                                        <p:tgtEl>
                                          <p:spTgt spid="13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6" st="6"/>
                                            </p:txEl>
                                          </p:spTgt>
                                        </p:tgtEl>
                                        <p:attrNameLst>
                                          <p:attrName>style.visibility</p:attrName>
                                        </p:attrNameLst>
                                      </p:cBhvr>
                                      <p:to>
                                        <p:strVal val="visible"/>
                                      </p:to>
                                    </p:set>
                                    <p:animEffect filter="fade" transition="in">
                                      <p:cBhvr>
                                        <p:cTn dur="500"/>
                                        <p:tgtEl>
                                          <p:spTgt spid="13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7" st="7"/>
                                            </p:txEl>
                                          </p:spTgt>
                                        </p:tgtEl>
                                        <p:attrNameLst>
                                          <p:attrName>style.visibility</p:attrName>
                                        </p:attrNameLst>
                                      </p:cBhvr>
                                      <p:to>
                                        <p:strVal val="visible"/>
                                      </p:to>
                                    </p:set>
                                    <p:animEffect filter="fade" transition="in">
                                      <p:cBhvr>
                                        <p:cTn dur="500"/>
                                        <p:tgtEl>
                                          <p:spTgt spid="13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8" st="8"/>
                                            </p:txEl>
                                          </p:spTgt>
                                        </p:tgtEl>
                                        <p:attrNameLst>
                                          <p:attrName>style.visibility</p:attrName>
                                        </p:attrNameLst>
                                      </p:cBhvr>
                                      <p:to>
                                        <p:strVal val="visible"/>
                                      </p:to>
                                    </p:set>
                                    <p:animEffect filter="fade" transition="in">
                                      <p:cBhvr>
                                        <p:cTn dur="500"/>
                                        <p:tgtEl>
                                          <p:spTgt spid="13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9" st="9"/>
                                            </p:txEl>
                                          </p:spTgt>
                                        </p:tgtEl>
                                        <p:attrNameLst>
                                          <p:attrName>style.visibility</p:attrName>
                                        </p:attrNameLst>
                                      </p:cBhvr>
                                      <p:to>
                                        <p:strVal val="visible"/>
                                      </p:to>
                                    </p:set>
                                    <p:animEffect filter="fade" transition="in">
                                      <p:cBhvr>
                                        <p:cTn dur="500"/>
                                        <p:tgtEl>
                                          <p:spTgt spid="138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0" st="10"/>
                                            </p:txEl>
                                          </p:spTgt>
                                        </p:tgtEl>
                                        <p:attrNameLst>
                                          <p:attrName>style.visibility</p:attrName>
                                        </p:attrNameLst>
                                      </p:cBhvr>
                                      <p:to>
                                        <p:strVal val="visible"/>
                                      </p:to>
                                    </p:set>
                                    <p:animEffect filter="fade" transition="in">
                                      <p:cBhvr>
                                        <p:cTn dur="500"/>
                                        <p:tgtEl>
                                          <p:spTgt spid="138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1" st="11"/>
                                            </p:txEl>
                                          </p:spTgt>
                                        </p:tgtEl>
                                        <p:attrNameLst>
                                          <p:attrName>style.visibility</p:attrName>
                                        </p:attrNameLst>
                                      </p:cBhvr>
                                      <p:to>
                                        <p:strVal val="visible"/>
                                      </p:to>
                                    </p:set>
                                    <p:animEffect filter="fade" transition="in">
                                      <p:cBhvr>
                                        <p:cTn dur="500"/>
                                        <p:tgtEl>
                                          <p:spTgt spid="138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2" st="12"/>
                                            </p:txEl>
                                          </p:spTgt>
                                        </p:tgtEl>
                                        <p:attrNameLst>
                                          <p:attrName>style.visibility</p:attrName>
                                        </p:attrNameLst>
                                      </p:cBhvr>
                                      <p:to>
                                        <p:strVal val="visible"/>
                                      </p:to>
                                    </p:set>
                                    <p:animEffect filter="fade" transition="in">
                                      <p:cBhvr>
                                        <p:cTn dur="500"/>
                                        <p:tgtEl>
                                          <p:spTgt spid="138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3" st="13"/>
                                            </p:txEl>
                                          </p:spTgt>
                                        </p:tgtEl>
                                        <p:attrNameLst>
                                          <p:attrName>style.visibility</p:attrName>
                                        </p:attrNameLst>
                                      </p:cBhvr>
                                      <p:to>
                                        <p:strVal val="visible"/>
                                      </p:to>
                                    </p:set>
                                    <p:animEffect filter="fade" transition="in">
                                      <p:cBhvr>
                                        <p:cTn dur="500"/>
                                        <p:tgtEl>
                                          <p:spTgt spid="138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4" st="14"/>
                                            </p:txEl>
                                          </p:spTgt>
                                        </p:tgtEl>
                                        <p:attrNameLst>
                                          <p:attrName>style.visibility</p:attrName>
                                        </p:attrNameLst>
                                      </p:cBhvr>
                                      <p:to>
                                        <p:strVal val="visible"/>
                                      </p:to>
                                    </p:set>
                                    <p:animEffect filter="fade" transition="in">
                                      <p:cBhvr>
                                        <p:cTn dur="500"/>
                                        <p:tgtEl>
                                          <p:spTgt spid="138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5" st="15"/>
                                            </p:txEl>
                                          </p:spTgt>
                                        </p:tgtEl>
                                        <p:attrNameLst>
                                          <p:attrName>style.visibility</p:attrName>
                                        </p:attrNameLst>
                                      </p:cBhvr>
                                      <p:to>
                                        <p:strVal val="visible"/>
                                      </p:to>
                                    </p:set>
                                    <p:animEffect filter="fade" transition="in">
                                      <p:cBhvr>
                                        <p:cTn dur="500"/>
                                        <p:tgtEl>
                                          <p:spTgt spid="138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6" st="16"/>
                                            </p:txEl>
                                          </p:spTgt>
                                        </p:tgtEl>
                                        <p:attrNameLst>
                                          <p:attrName>style.visibility</p:attrName>
                                        </p:attrNameLst>
                                      </p:cBhvr>
                                      <p:to>
                                        <p:strVal val="visible"/>
                                      </p:to>
                                    </p:set>
                                    <p:animEffect filter="fade" transition="in">
                                      <p:cBhvr>
                                        <p:cTn dur="500"/>
                                        <p:tgtEl>
                                          <p:spTgt spid="138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7" st="17"/>
                                            </p:txEl>
                                          </p:spTgt>
                                        </p:tgtEl>
                                        <p:attrNameLst>
                                          <p:attrName>style.visibility</p:attrName>
                                        </p:attrNameLst>
                                      </p:cBhvr>
                                      <p:to>
                                        <p:strVal val="visible"/>
                                      </p:to>
                                    </p:set>
                                    <p:animEffect filter="fade" transition="in">
                                      <p:cBhvr>
                                        <p:cTn dur="500"/>
                                        <p:tgtEl>
                                          <p:spTgt spid="138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8" st="18"/>
                                            </p:txEl>
                                          </p:spTgt>
                                        </p:tgtEl>
                                        <p:attrNameLst>
                                          <p:attrName>style.visibility</p:attrName>
                                        </p:attrNameLst>
                                      </p:cBhvr>
                                      <p:to>
                                        <p:strVal val="visible"/>
                                      </p:to>
                                    </p:set>
                                    <p:animEffect filter="fade" transition="in">
                                      <p:cBhvr>
                                        <p:cTn dur="500"/>
                                        <p:tgtEl>
                                          <p:spTgt spid="1386">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19" st="19"/>
                                            </p:txEl>
                                          </p:spTgt>
                                        </p:tgtEl>
                                        <p:attrNameLst>
                                          <p:attrName>style.visibility</p:attrName>
                                        </p:attrNameLst>
                                      </p:cBhvr>
                                      <p:to>
                                        <p:strVal val="visible"/>
                                      </p:to>
                                    </p:set>
                                    <p:animEffect filter="fade" transition="in">
                                      <p:cBhvr>
                                        <p:cTn dur="500"/>
                                        <p:tgtEl>
                                          <p:spTgt spid="1386">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0" st="20"/>
                                            </p:txEl>
                                          </p:spTgt>
                                        </p:tgtEl>
                                        <p:attrNameLst>
                                          <p:attrName>style.visibility</p:attrName>
                                        </p:attrNameLst>
                                      </p:cBhvr>
                                      <p:to>
                                        <p:strVal val="visible"/>
                                      </p:to>
                                    </p:set>
                                    <p:animEffect filter="fade" transition="in">
                                      <p:cBhvr>
                                        <p:cTn dur="500"/>
                                        <p:tgtEl>
                                          <p:spTgt spid="1386">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1" st="21"/>
                                            </p:txEl>
                                          </p:spTgt>
                                        </p:tgtEl>
                                        <p:attrNameLst>
                                          <p:attrName>style.visibility</p:attrName>
                                        </p:attrNameLst>
                                      </p:cBhvr>
                                      <p:to>
                                        <p:strVal val="visible"/>
                                      </p:to>
                                    </p:set>
                                    <p:animEffect filter="fade" transition="in">
                                      <p:cBhvr>
                                        <p:cTn dur="500"/>
                                        <p:tgtEl>
                                          <p:spTgt spid="1386">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2" st="22"/>
                                            </p:txEl>
                                          </p:spTgt>
                                        </p:tgtEl>
                                        <p:attrNameLst>
                                          <p:attrName>style.visibility</p:attrName>
                                        </p:attrNameLst>
                                      </p:cBhvr>
                                      <p:to>
                                        <p:strVal val="visible"/>
                                      </p:to>
                                    </p:set>
                                    <p:animEffect filter="fade" transition="in">
                                      <p:cBhvr>
                                        <p:cTn dur="500"/>
                                        <p:tgtEl>
                                          <p:spTgt spid="1386">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3" st="23"/>
                                            </p:txEl>
                                          </p:spTgt>
                                        </p:tgtEl>
                                        <p:attrNameLst>
                                          <p:attrName>style.visibility</p:attrName>
                                        </p:attrNameLst>
                                      </p:cBhvr>
                                      <p:to>
                                        <p:strVal val="visible"/>
                                      </p:to>
                                    </p:set>
                                    <p:animEffect filter="fade" transition="in">
                                      <p:cBhvr>
                                        <p:cTn dur="500"/>
                                        <p:tgtEl>
                                          <p:spTgt spid="1386">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4" st="24"/>
                                            </p:txEl>
                                          </p:spTgt>
                                        </p:tgtEl>
                                        <p:attrNameLst>
                                          <p:attrName>style.visibility</p:attrName>
                                        </p:attrNameLst>
                                      </p:cBhvr>
                                      <p:to>
                                        <p:strVal val="visible"/>
                                      </p:to>
                                    </p:set>
                                    <p:animEffect filter="fade" transition="in">
                                      <p:cBhvr>
                                        <p:cTn dur="500"/>
                                        <p:tgtEl>
                                          <p:spTgt spid="1386">
                                            <p:txEl>
                                              <p:pRg end="24" st="2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5" st="25"/>
                                            </p:txEl>
                                          </p:spTgt>
                                        </p:tgtEl>
                                        <p:attrNameLst>
                                          <p:attrName>style.visibility</p:attrName>
                                        </p:attrNameLst>
                                      </p:cBhvr>
                                      <p:to>
                                        <p:strVal val="visible"/>
                                      </p:to>
                                    </p:set>
                                    <p:animEffect filter="fade" transition="in">
                                      <p:cBhvr>
                                        <p:cTn dur="500"/>
                                        <p:tgtEl>
                                          <p:spTgt spid="1386">
                                            <p:txEl>
                                              <p:pRg end="25" st="2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6" st="26"/>
                                            </p:txEl>
                                          </p:spTgt>
                                        </p:tgtEl>
                                        <p:attrNameLst>
                                          <p:attrName>style.visibility</p:attrName>
                                        </p:attrNameLst>
                                      </p:cBhvr>
                                      <p:to>
                                        <p:strVal val="visible"/>
                                      </p:to>
                                    </p:set>
                                    <p:animEffect filter="fade" transition="in">
                                      <p:cBhvr>
                                        <p:cTn dur="500"/>
                                        <p:tgtEl>
                                          <p:spTgt spid="1386">
                                            <p:txEl>
                                              <p:pRg end="26" st="2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7" st="27"/>
                                            </p:txEl>
                                          </p:spTgt>
                                        </p:tgtEl>
                                        <p:attrNameLst>
                                          <p:attrName>style.visibility</p:attrName>
                                        </p:attrNameLst>
                                      </p:cBhvr>
                                      <p:to>
                                        <p:strVal val="visible"/>
                                      </p:to>
                                    </p:set>
                                    <p:animEffect filter="fade" transition="in">
                                      <p:cBhvr>
                                        <p:cTn dur="500"/>
                                        <p:tgtEl>
                                          <p:spTgt spid="1386">
                                            <p:txEl>
                                              <p:pRg end="27" st="2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8" st="28"/>
                                            </p:txEl>
                                          </p:spTgt>
                                        </p:tgtEl>
                                        <p:attrNameLst>
                                          <p:attrName>style.visibility</p:attrName>
                                        </p:attrNameLst>
                                      </p:cBhvr>
                                      <p:to>
                                        <p:strVal val="visible"/>
                                      </p:to>
                                    </p:set>
                                    <p:animEffect filter="fade" transition="in">
                                      <p:cBhvr>
                                        <p:cTn dur="500"/>
                                        <p:tgtEl>
                                          <p:spTgt spid="1386">
                                            <p:txEl>
                                              <p:pRg end="28" st="2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29" st="29"/>
                                            </p:txEl>
                                          </p:spTgt>
                                        </p:tgtEl>
                                        <p:attrNameLst>
                                          <p:attrName>style.visibility</p:attrName>
                                        </p:attrNameLst>
                                      </p:cBhvr>
                                      <p:to>
                                        <p:strVal val="visible"/>
                                      </p:to>
                                    </p:set>
                                    <p:animEffect filter="fade" transition="in">
                                      <p:cBhvr>
                                        <p:cTn dur="500"/>
                                        <p:tgtEl>
                                          <p:spTgt spid="1386">
                                            <p:txEl>
                                              <p:pRg end="29" st="2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0" st="30"/>
                                            </p:txEl>
                                          </p:spTgt>
                                        </p:tgtEl>
                                        <p:attrNameLst>
                                          <p:attrName>style.visibility</p:attrName>
                                        </p:attrNameLst>
                                      </p:cBhvr>
                                      <p:to>
                                        <p:strVal val="visible"/>
                                      </p:to>
                                    </p:set>
                                    <p:animEffect filter="fade" transition="in">
                                      <p:cBhvr>
                                        <p:cTn dur="500"/>
                                        <p:tgtEl>
                                          <p:spTgt spid="1386">
                                            <p:txEl>
                                              <p:pRg end="30" st="3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1" st="31"/>
                                            </p:txEl>
                                          </p:spTgt>
                                        </p:tgtEl>
                                        <p:attrNameLst>
                                          <p:attrName>style.visibility</p:attrName>
                                        </p:attrNameLst>
                                      </p:cBhvr>
                                      <p:to>
                                        <p:strVal val="visible"/>
                                      </p:to>
                                    </p:set>
                                    <p:animEffect filter="fade" transition="in">
                                      <p:cBhvr>
                                        <p:cTn dur="500"/>
                                        <p:tgtEl>
                                          <p:spTgt spid="1386">
                                            <p:txEl>
                                              <p:pRg end="31" st="3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2" st="32"/>
                                            </p:txEl>
                                          </p:spTgt>
                                        </p:tgtEl>
                                        <p:attrNameLst>
                                          <p:attrName>style.visibility</p:attrName>
                                        </p:attrNameLst>
                                      </p:cBhvr>
                                      <p:to>
                                        <p:strVal val="visible"/>
                                      </p:to>
                                    </p:set>
                                    <p:animEffect filter="fade" transition="in">
                                      <p:cBhvr>
                                        <p:cTn dur="500"/>
                                        <p:tgtEl>
                                          <p:spTgt spid="1386">
                                            <p:txEl>
                                              <p:pRg end="32" st="3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3" st="33"/>
                                            </p:txEl>
                                          </p:spTgt>
                                        </p:tgtEl>
                                        <p:attrNameLst>
                                          <p:attrName>style.visibility</p:attrName>
                                        </p:attrNameLst>
                                      </p:cBhvr>
                                      <p:to>
                                        <p:strVal val="visible"/>
                                      </p:to>
                                    </p:set>
                                    <p:animEffect filter="fade" transition="in">
                                      <p:cBhvr>
                                        <p:cTn dur="500"/>
                                        <p:tgtEl>
                                          <p:spTgt spid="1386">
                                            <p:txEl>
                                              <p:pRg end="33" st="3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xEl>
                                              <p:pRg end="34" st="34"/>
                                            </p:txEl>
                                          </p:spTgt>
                                        </p:tgtEl>
                                        <p:attrNameLst>
                                          <p:attrName>style.visibility</p:attrName>
                                        </p:attrNameLst>
                                      </p:cBhvr>
                                      <p:to>
                                        <p:strVal val="visible"/>
                                      </p:to>
                                    </p:set>
                                    <p:animEffect filter="fade" transition="in">
                                      <p:cBhvr>
                                        <p:cTn dur="500"/>
                                        <p:tgtEl>
                                          <p:spTgt spid="1386">
                                            <p:txEl>
                                              <p:pRg end="34" st="3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0" st="0"/>
                                            </p:txEl>
                                          </p:spTgt>
                                        </p:tgtEl>
                                        <p:attrNameLst>
                                          <p:attrName>style.visibility</p:attrName>
                                        </p:attrNameLst>
                                      </p:cBhvr>
                                      <p:to>
                                        <p:strVal val="visible"/>
                                      </p:to>
                                    </p:set>
                                    <p:animEffect filter="fade" transition="in">
                                      <p:cBhvr>
                                        <p:cTn dur="500"/>
                                        <p:tgtEl>
                                          <p:spTgt spid="13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 st="1"/>
                                            </p:txEl>
                                          </p:spTgt>
                                        </p:tgtEl>
                                        <p:attrNameLst>
                                          <p:attrName>style.visibility</p:attrName>
                                        </p:attrNameLst>
                                      </p:cBhvr>
                                      <p:to>
                                        <p:strVal val="visible"/>
                                      </p:to>
                                    </p:set>
                                    <p:animEffect filter="fade" transition="in">
                                      <p:cBhvr>
                                        <p:cTn dur="500"/>
                                        <p:tgtEl>
                                          <p:spTgt spid="13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 st="2"/>
                                            </p:txEl>
                                          </p:spTgt>
                                        </p:tgtEl>
                                        <p:attrNameLst>
                                          <p:attrName>style.visibility</p:attrName>
                                        </p:attrNameLst>
                                      </p:cBhvr>
                                      <p:to>
                                        <p:strVal val="visible"/>
                                      </p:to>
                                    </p:set>
                                    <p:animEffect filter="fade" transition="in">
                                      <p:cBhvr>
                                        <p:cTn dur="500"/>
                                        <p:tgtEl>
                                          <p:spTgt spid="13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 st="3"/>
                                            </p:txEl>
                                          </p:spTgt>
                                        </p:tgtEl>
                                        <p:attrNameLst>
                                          <p:attrName>style.visibility</p:attrName>
                                        </p:attrNameLst>
                                      </p:cBhvr>
                                      <p:to>
                                        <p:strVal val="visible"/>
                                      </p:to>
                                    </p:set>
                                    <p:animEffect filter="fade" transition="in">
                                      <p:cBhvr>
                                        <p:cTn dur="500"/>
                                        <p:tgtEl>
                                          <p:spTgt spid="13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4" st="4"/>
                                            </p:txEl>
                                          </p:spTgt>
                                        </p:tgtEl>
                                        <p:attrNameLst>
                                          <p:attrName>style.visibility</p:attrName>
                                        </p:attrNameLst>
                                      </p:cBhvr>
                                      <p:to>
                                        <p:strVal val="visible"/>
                                      </p:to>
                                    </p:set>
                                    <p:animEffect filter="fade" transition="in">
                                      <p:cBhvr>
                                        <p:cTn dur="500"/>
                                        <p:tgtEl>
                                          <p:spTgt spid="13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5" st="5"/>
                                            </p:txEl>
                                          </p:spTgt>
                                        </p:tgtEl>
                                        <p:attrNameLst>
                                          <p:attrName>style.visibility</p:attrName>
                                        </p:attrNameLst>
                                      </p:cBhvr>
                                      <p:to>
                                        <p:strVal val="visible"/>
                                      </p:to>
                                    </p:set>
                                    <p:animEffect filter="fade" transition="in">
                                      <p:cBhvr>
                                        <p:cTn dur="500"/>
                                        <p:tgtEl>
                                          <p:spTgt spid="13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6" st="6"/>
                                            </p:txEl>
                                          </p:spTgt>
                                        </p:tgtEl>
                                        <p:attrNameLst>
                                          <p:attrName>style.visibility</p:attrName>
                                        </p:attrNameLst>
                                      </p:cBhvr>
                                      <p:to>
                                        <p:strVal val="visible"/>
                                      </p:to>
                                    </p:set>
                                    <p:animEffect filter="fade" transition="in">
                                      <p:cBhvr>
                                        <p:cTn dur="500"/>
                                        <p:tgtEl>
                                          <p:spTgt spid="13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7" st="7"/>
                                            </p:txEl>
                                          </p:spTgt>
                                        </p:tgtEl>
                                        <p:attrNameLst>
                                          <p:attrName>style.visibility</p:attrName>
                                        </p:attrNameLst>
                                      </p:cBhvr>
                                      <p:to>
                                        <p:strVal val="visible"/>
                                      </p:to>
                                    </p:set>
                                    <p:animEffect filter="fade" transition="in">
                                      <p:cBhvr>
                                        <p:cTn dur="500"/>
                                        <p:tgtEl>
                                          <p:spTgt spid="13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8" st="8"/>
                                            </p:txEl>
                                          </p:spTgt>
                                        </p:tgtEl>
                                        <p:attrNameLst>
                                          <p:attrName>style.visibility</p:attrName>
                                        </p:attrNameLst>
                                      </p:cBhvr>
                                      <p:to>
                                        <p:strVal val="visible"/>
                                      </p:to>
                                    </p:set>
                                    <p:animEffect filter="fade" transition="in">
                                      <p:cBhvr>
                                        <p:cTn dur="500"/>
                                        <p:tgtEl>
                                          <p:spTgt spid="13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9" st="9"/>
                                            </p:txEl>
                                          </p:spTgt>
                                        </p:tgtEl>
                                        <p:attrNameLst>
                                          <p:attrName>style.visibility</p:attrName>
                                        </p:attrNameLst>
                                      </p:cBhvr>
                                      <p:to>
                                        <p:strVal val="visible"/>
                                      </p:to>
                                    </p:set>
                                    <p:animEffect filter="fade" transition="in">
                                      <p:cBhvr>
                                        <p:cTn dur="500"/>
                                        <p:tgtEl>
                                          <p:spTgt spid="13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0" st="10"/>
                                            </p:txEl>
                                          </p:spTgt>
                                        </p:tgtEl>
                                        <p:attrNameLst>
                                          <p:attrName>style.visibility</p:attrName>
                                        </p:attrNameLst>
                                      </p:cBhvr>
                                      <p:to>
                                        <p:strVal val="visible"/>
                                      </p:to>
                                    </p:set>
                                    <p:animEffect filter="fade" transition="in">
                                      <p:cBhvr>
                                        <p:cTn dur="500"/>
                                        <p:tgtEl>
                                          <p:spTgt spid="13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1" st="11"/>
                                            </p:txEl>
                                          </p:spTgt>
                                        </p:tgtEl>
                                        <p:attrNameLst>
                                          <p:attrName>style.visibility</p:attrName>
                                        </p:attrNameLst>
                                      </p:cBhvr>
                                      <p:to>
                                        <p:strVal val="visible"/>
                                      </p:to>
                                    </p:set>
                                    <p:animEffect filter="fade" transition="in">
                                      <p:cBhvr>
                                        <p:cTn dur="500"/>
                                        <p:tgtEl>
                                          <p:spTgt spid="138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2" st="12"/>
                                            </p:txEl>
                                          </p:spTgt>
                                        </p:tgtEl>
                                        <p:attrNameLst>
                                          <p:attrName>style.visibility</p:attrName>
                                        </p:attrNameLst>
                                      </p:cBhvr>
                                      <p:to>
                                        <p:strVal val="visible"/>
                                      </p:to>
                                    </p:set>
                                    <p:animEffect filter="fade" transition="in">
                                      <p:cBhvr>
                                        <p:cTn dur="500"/>
                                        <p:tgtEl>
                                          <p:spTgt spid="138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3" st="13"/>
                                            </p:txEl>
                                          </p:spTgt>
                                        </p:tgtEl>
                                        <p:attrNameLst>
                                          <p:attrName>style.visibility</p:attrName>
                                        </p:attrNameLst>
                                      </p:cBhvr>
                                      <p:to>
                                        <p:strVal val="visible"/>
                                      </p:to>
                                    </p:set>
                                    <p:animEffect filter="fade" transition="in">
                                      <p:cBhvr>
                                        <p:cTn dur="500"/>
                                        <p:tgtEl>
                                          <p:spTgt spid="138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4" st="14"/>
                                            </p:txEl>
                                          </p:spTgt>
                                        </p:tgtEl>
                                        <p:attrNameLst>
                                          <p:attrName>style.visibility</p:attrName>
                                        </p:attrNameLst>
                                      </p:cBhvr>
                                      <p:to>
                                        <p:strVal val="visible"/>
                                      </p:to>
                                    </p:set>
                                    <p:animEffect filter="fade" transition="in">
                                      <p:cBhvr>
                                        <p:cTn dur="500"/>
                                        <p:tgtEl>
                                          <p:spTgt spid="1387">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5" st="15"/>
                                            </p:txEl>
                                          </p:spTgt>
                                        </p:tgtEl>
                                        <p:attrNameLst>
                                          <p:attrName>style.visibility</p:attrName>
                                        </p:attrNameLst>
                                      </p:cBhvr>
                                      <p:to>
                                        <p:strVal val="visible"/>
                                      </p:to>
                                    </p:set>
                                    <p:animEffect filter="fade" transition="in">
                                      <p:cBhvr>
                                        <p:cTn dur="500"/>
                                        <p:tgtEl>
                                          <p:spTgt spid="1387">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6" st="16"/>
                                            </p:txEl>
                                          </p:spTgt>
                                        </p:tgtEl>
                                        <p:attrNameLst>
                                          <p:attrName>style.visibility</p:attrName>
                                        </p:attrNameLst>
                                      </p:cBhvr>
                                      <p:to>
                                        <p:strVal val="visible"/>
                                      </p:to>
                                    </p:set>
                                    <p:animEffect filter="fade" transition="in">
                                      <p:cBhvr>
                                        <p:cTn dur="500"/>
                                        <p:tgtEl>
                                          <p:spTgt spid="1387">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7" st="17"/>
                                            </p:txEl>
                                          </p:spTgt>
                                        </p:tgtEl>
                                        <p:attrNameLst>
                                          <p:attrName>style.visibility</p:attrName>
                                        </p:attrNameLst>
                                      </p:cBhvr>
                                      <p:to>
                                        <p:strVal val="visible"/>
                                      </p:to>
                                    </p:set>
                                    <p:animEffect filter="fade" transition="in">
                                      <p:cBhvr>
                                        <p:cTn dur="500"/>
                                        <p:tgtEl>
                                          <p:spTgt spid="1387">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8" st="18"/>
                                            </p:txEl>
                                          </p:spTgt>
                                        </p:tgtEl>
                                        <p:attrNameLst>
                                          <p:attrName>style.visibility</p:attrName>
                                        </p:attrNameLst>
                                      </p:cBhvr>
                                      <p:to>
                                        <p:strVal val="visible"/>
                                      </p:to>
                                    </p:set>
                                    <p:animEffect filter="fade" transition="in">
                                      <p:cBhvr>
                                        <p:cTn dur="500"/>
                                        <p:tgtEl>
                                          <p:spTgt spid="1387">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19" st="19"/>
                                            </p:txEl>
                                          </p:spTgt>
                                        </p:tgtEl>
                                        <p:attrNameLst>
                                          <p:attrName>style.visibility</p:attrName>
                                        </p:attrNameLst>
                                      </p:cBhvr>
                                      <p:to>
                                        <p:strVal val="visible"/>
                                      </p:to>
                                    </p:set>
                                    <p:animEffect filter="fade" transition="in">
                                      <p:cBhvr>
                                        <p:cTn dur="500"/>
                                        <p:tgtEl>
                                          <p:spTgt spid="1387">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0" st="20"/>
                                            </p:txEl>
                                          </p:spTgt>
                                        </p:tgtEl>
                                        <p:attrNameLst>
                                          <p:attrName>style.visibility</p:attrName>
                                        </p:attrNameLst>
                                      </p:cBhvr>
                                      <p:to>
                                        <p:strVal val="visible"/>
                                      </p:to>
                                    </p:set>
                                    <p:animEffect filter="fade" transition="in">
                                      <p:cBhvr>
                                        <p:cTn dur="500"/>
                                        <p:tgtEl>
                                          <p:spTgt spid="1387">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1" st="21"/>
                                            </p:txEl>
                                          </p:spTgt>
                                        </p:tgtEl>
                                        <p:attrNameLst>
                                          <p:attrName>style.visibility</p:attrName>
                                        </p:attrNameLst>
                                      </p:cBhvr>
                                      <p:to>
                                        <p:strVal val="visible"/>
                                      </p:to>
                                    </p:set>
                                    <p:animEffect filter="fade" transition="in">
                                      <p:cBhvr>
                                        <p:cTn dur="500"/>
                                        <p:tgtEl>
                                          <p:spTgt spid="1387">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2" st="22"/>
                                            </p:txEl>
                                          </p:spTgt>
                                        </p:tgtEl>
                                        <p:attrNameLst>
                                          <p:attrName>style.visibility</p:attrName>
                                        </p:attrNameLst>
                                      </p:cBhvr>
                                      <p:to>
                                        <p:strVal val="visible"/>
                                      </p:to>
                                    </p:set>
                                    <p:animEffect filter="fade" transition="in">
                                      <p:cBhvr>
                                        <p:cTn dur="500"/>
                                        <p:tgtEl>
                                          <p:spTgt spid="1387">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3" st="23"/>
                                            </p:txEl>
                                          </p:spTgt>
                                        </p:tgtEl>
                                        <p:attrNameLst>
                                          <p:attrName>style.visibility</p:attrName>
                                        </p:attrNameLst>
                                      </p:cBhvr>
                                      <p:to>
                                        <p:strVal val="visible"/>
                                      </p:to>
                                    </p:set>
                                    <p:animEffect filter="fade" transition="in">
                                      <p:cBhvr>
                                        <p:cTn dur="500"/>
                                        <p:tgtEl>
                                          <p:spTgt spid="1387">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4" st="24"/>
                                            </p:txEl>
                                          </p:spTgt>
                                        </p:tgtEl>
                                        <p:attrNameLst>
                                          <p:attrName>style.visibility</p:attrName>
                                        </p:attrNameLst>
                                      </p:cBhvr>
                                      <p:to>
                                        <p:strVal val="visible"/>
                                      </p:to>
                                    </p:set>
                                    <p:animEffect filter="fade" transition="in">
                                      <p:cBhvr>
                                        <p:cTn dur="500"/>
                                        <p:tgtEl>
                                          <p:spTgt spid="1387">
                                            <p:txEl>
                                              <p:pRg end="24" st="2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5" st="25"/>
                                            </p:txEl>
                                          </p:spTgt>
                                        </p:tgtEl>
                                        <p:attrNameLst>
                                          <p:attrName>style.visibility</p:attrName>
                                        </p:attrNameLst>
                                      </p:cBhvr>
                                      <p:to>
                                        <p:strVal val="visible"/>
                                      </p:to>
                                    </p:set>
                                    <p:animEffect filter="fade" transition="in">
                                      <p:cBhvr>
                                        <p:cTn dur="500"/>
                                        <p:tgtEl>
                                          <p:spTgt spid="1387">
                                            <p:txEl>
                                              <p:pRg end="25" st="2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6" st="26"/>
                                            </p:txEl>
                                          </p:spTgt>
                                        </p:tgtEl>
                                        <p:attrNameLst>
                                          <p:attrName>style.visibility</p:attrName>
                                        </p:attrNameLst>
                                      </p:cBhvr>
                                      <p:to>
                                        <p:strVal val="visible"/>
                                      </p:to>
                                    </p:set>
                                    <p:animEffect filter="fade" transition="in">
                                      <p:cBhvr>
                                        <p:cTn dur="500"/>
                                        <p:tgtEl>
                                          <p:spTgt spid="1387">
                                            <p:txEl>
                                              <p:pRg end="26" st="2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7" st="27"/>
                                            </p:txEl>
                                          </p:spTgt>
                                        </p:tgtEl>
                                        <p:attrNameLst>
                                          <p:attrName>style.visibility</p:attrName>
                                        </p:attrNameLst>
                                      </p:cBhvr>
                                      <p:to>
                                        <p:strVal val="visible"/>
                                      </p:to>
                                    </p:set>
                                    <p:animEffect filter="fade" transition="in">
                                      <p:cBhvr>
                                        <p:cTn dur="500"/>
                                        <p:tgtEl>
                                          <p:spTgt spid="1387">
                                            <p:txEl>
                                              <p:pRg end="27" st="2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8" st="28"/>
                                            </p:txEl>
                                          </p:spTgt>
                                        </p:tgtEl>
                                        <p:attrNameLst>
                                          <p:attrName>style.visibility</p:attrName>
                                        </p:attrNameLst>
                                      </p:cBhvr>
                                      <p:to>
                                        <p:strVal val="visible"/>
                                      </p:to>
                                    </p:set>
                                    <p:animEffect filter="fade" transition="in">
                                      <p:cBhvr>
                                        <p:cTn dur="500"/>
                                        <p:tgtEl>
                                          <p:spTgt spid="1387">
                                            <p:txEl>
                                              <p:pRg end="28" st="2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29" st="29"/>
                                            </p:txEl>
                                          </p:spTgt>
                                        </p:tgtEl>
                                        <p:attrNameLst>
                                          <p:attrName>style.visibility</p:attrName>
                                        </p:attrNameLst>
                                      </p:cBhvr>
                                      <p:to>
                                        <p:strVal val="visible"/>
                                      </p:to>
                                    </p:set>
                                    <p:animEffect filter="fade" transition="in">
                                      <p:cBhvr>
                                        <p:cTn dur="500"/>
                                        <p:tgtEl>
                                          <p:spTgt spid="1387">
                                            <p:txEl>
                                              <p:pRg end="29" st="2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0" st="30"/>
                                            </p:txEl>
                                          </p:spTgt>
                                        </p:tgtEl>
                                        <p:attrNameLst>
                                          <p:attrName>style.visibility</p:attrName>
                                        </p:attrNameLst>
                                      </p:cBhvr>
                                      <p:to>
                                        <p:strVal val="visible"/>
                                      </p:to>
                                    </p:set>
                                    <p:animEffect filter="fade" transition="in">
                                      <p:cBhvr>
                                        <p:cTn dur="500"/>
                                        <p:tgtEl>
                                          <p:spTgt spid="1387">
                                            <p:txEl>
                                              <p:pRg end="30" st="3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1" st="31"/>
                                            </p:txEl>
                                          </p:spTgt>
                                        </p:tgtEl>
                                        <p:attrNameLst>
                                          <p:attrName>style.visibility</p:attrName>
                                        </p:attrNameLst>
                                      </p:cBhvr>
                                      <p:to>
                                        <p:strVal val="visible"/>
                                      </p:to>
                                    </p:set>
                                    <p:animEffect filter="fade" transition="in">
                                      <p:cBhvr>
                                        <p:cTn dur="500"/>
                                        <p:tgtEl>
                                          <p:spTgt spid="1387">
                                            <p:txEl>
                                              <p:pRg end="31" st="3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2" st="32"/>
                                            </p:txEl>
                                          </p:spTgt>
                                        </p:tgtEl>
                                        <p:attrNameLst>
                                          <p:attrName>style.visibility</p:attrName>
                                        </p:attrNameLst>
                                      </p:cBhvr>
                                      <p:to>
                                        <p:strVal val="visible"/>
                                      </p:to>
                                    </p:set>
                                    <p:animEffect filter="fade" transition="in">
                                      <p:cBhvr>
                                        <p:cTn dur="500"/>
                                        <p:tgtEl>
                                          <p:spTgt spid="1387">
                                            <p:txEl>
                                              <p:pRg end="32" st="3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3" st="33"/>
                                            </p:txEl>
                                          </p:spTgt>
                                        </p:tgtEl>
                                        <p:attrNameLst>
                                          <p:attrName>style.visibility</p:attrName>
                                        </p:attrNameLst>
                                      </p:cBhvr>
                                      <p:to>
                                        <p:strVal val="visible"/>
                                      </p:to>
                                    </p:set>
                                    <p:animEffect filter="fade" transition="in">
                                      <p:cBhvr>
                                        <p:cTn dur="500"/>
                                        <p:tgtEl>
                                          <p:spTgt spid="1387">
                                            <p:txEl>
                                              <p:pRg end="33" st="3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4" st="34"/>
                                            </p:txEl>
                                          </p:spTgt>
                                        </p:tgtEl>
                                        <p:attrNameLst>
                                          <p:attrName>style.visibility</p:attrName>
                                        </p:attrNameLst>
                                      </p:cBhvr>
                                      <p:to>
                                        <p:strVal val="visible"/>
                                      </p:to>
                                    </p:set>
                                    <p:animEffect filter="fade" transition="in">
                                      <p:cBhvr>
                                        <p:cTn dur="500"/>
                                        <p:tgtEl>
                                          <p:spTgt spid="1387">
                                            <p:txEl>
                                              <p:pRg end="34" st="3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5" st="35"/>
                                            </p:txEl>
                                          </p:spTgt>
                                        </p:tgtEl>
                                        <p:attrNameLst>
                                          <p:attrName>style.visibility</p:attrName>
                                        </p:attrNameLst>
                                      </p:cBhvr>
                                      <p:to>
                                        <p:strVal val="visible"/>
                                      </p:to>
                                    </p:set>
                                    <p:animEffect filter="fade" transition="in">
                                      <p:cBhvr>
                                        <p:cTn dur="500"/>
                                        <p:tgtEl>
                                          <p:spTgt spid="1387">
                                            <p:txEl>
                                              <p:pRg end="35" st="3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6" st="36"/>
                                            </p:txEl>
                                          </p:spTgt>
                                        </p:tgtEl>
                                        <p:attrNameLst>
                                          <p:attrName>style.visibility</p:attrName>
                                        </p:attrNameLst>
                                      </p:cBhvr>
                                      <p:to>
                                        <p:strVal val="visible"/>
                                      </p:to>
                                    </p:set>
                                    <p:animEffect filter="fade" transition="in">
                                      <p:cBhvr>
                                        <p:cTn dur="500"/>
                                        <p:tgtEl>
                                          <p:spTgt spid="1387">
                                            <p:txEl>
                                              <p:pRg end="36" st="3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7" st="37"/>
                                            </p:txEl>
                                          </p:spTgt>
                                        </p:tgtEl>
                                        <p:attrNameLst>
                                          <p:attrName>style.visibility</p:attrName>
                                        </p:attrNameLst>
                                      </p:cBhvr>
                                      <p:to>
                                        <p:strVal val="visible"/>
                                      </p:to>
                                    </p:set>
                                    <p:animEffect filter="fade" transition="in">
                                      <p:cBhvr>
                                        <p:cTn dur="500"/>
                                        <p:tgtEl>
                                          <p:spTgt spid="1387">
                                            <p:txEl>
                                              <p:pRg end="37" st="3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xEl>
                                              <p:pRg end="38" st="38"/>
                                            </p:txEl>
                                          </p:spTgt>
                                        </p:tgtEl>
                                        <p:attrNameLst>
                                          <p:attrName>style.visibility</p:attrName>
                                        </p:attrNameLst>
                                      </p:cBhvr>
                                      <p:to>
                                        <p:strVal val="visible"/>
                                      </p:to>
                                    </p:set>
                                    <p:animEffect filter="fade" transition="in">
                                      <p:cBhvr>
                                        <p:cTn dur="500"/>
                                        <p:tgtEl>
                                          <p:spTgt spid="1387">
                                            <p:txEl>
                                              <p:pRg end="38" st="3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500"/>
                                        <p:tgtEl>
                                          <p:spTgt spid="1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05"/>
          <p:cNvSpPr txBox="1"/>
          <p:nvPr>
            <p:ph idx="1" type="body"/>
          </p:nvPr>
        </p:nvSpPr>
        <p:spPr>
          <a:xfrm>
            <a:off x="0" y="609600"/>
            <a:ext cx="9144000" cy="5715000"/>
          </a:xfrm>
          <a:prstGeom prst="rect">
            <a:avLst/>
          </a:prstGeom>
          <a:noFill/>
          <a:ln>
            <a:noFill/>
          </a:ln>
        </p:spPr>
        <p:txBody>
          <a:bodyPr anchorCtr="0" anchor="t" bIns="45700" lIns="91425" spcFirstLastPara="1" rIns="91425" wrap="square" tIns="45700">
            <a:normAutofit/>
          </a:bodyPr>
          <a:lstStyle/>
          <a:p>
            <a:pPr indent="-514349" lvl="1" marL="788987" marR="0" rtl="0" algn="l">
              <a:lnSpc>
                <a:spcPct val="10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Đồ thị chờ đợi:</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Được xây dựng từ đồ thị cấp phát tài nguyên bằng cách bỏ đi các nút tương ứng với tài nguyên và nhập các cung đi qua nút bị bỏ</a:t>
            </a:r>
            <a:endParaRPr/>
          </a:p>
          <a:p>
            <a:pPr indent="-514350" lvl="2" marL="106362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Cho phép phát hiện tình trạng tiến trình chờ đợi vòng tròn là điều kiện đủ để sinh ra bế </a:t>
            </a:r>
            <a:r>
              <a:rPr lang="en-US" sz="2000">
                <a:latin typeface="Times New Roman"/>
                <a:ea typeface="Times New Roman"/>
                <a:cs typeface="Times New Roman"/>
                <a:sym typeface="Times New Roman"/>
              </a:rPr>
              <a:t>tắc. Sử</a:t>
            </a:r>
            <a:r>
              <a:rPr b="0" i="0" lang="en-US" sz="2000" u="none" cap="none" strike="noStrike">
                <a:solidFill>
                  <a:schemeClr val="dk2"/>
                </a:solidFill>
                <a:latin typeface="Times New Roman"/>
                <a:ea typeface="Times New Roman"/>
                <a:cs typeface="Times New Roman"/>
                <a:sym typeface="Times New Roman"/>
              </a:rPr>
              <a:t> dụng thuật toán phát hiện chu trình trên đồ thị có hướng để phát hiện bế tắc trên đồ thị chờ đợi</a:t>
            </a:r>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396" name="Google Shape;1396;p10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397" name="Google Shape;1397;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8" name="Google Shape;1398;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9" name="Google Shape;1399;p10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00" name="Google Shape;1400;p105"/>
          <p:cNvPicPr preferRelativeResize="0"/>
          <p:nvPr/>
        </p:nvPicPr>
        <p:blipFill rotWithShape="1">
          <a:blip r:embed="rId3">
            <a:alphaModFix/>
          </a:blip>
          <a:srcRect b="0" l="0" r="0" t="0"/>
          <a:stretch/>
        </p:blipFill>
        <p:spPr>
          <a:xfrm>
            <a:off x="5057775" y="3838575"/>
            <a:ext cx="2181225" cy="2181225"/>
          </a:xfrm>
          <a:prstGeom prst="rect">
            <a:avLst/>
          </a:prstGeom>
          <a:noFill/>
          <a:ln>
            <a:noFill/>
          </a:ln>
        </p:spPr>
      </p:pic>
      <p:sp>
        <p:nvSpPr>
          <p:cNvPr id="1401" name="Google Shape;1401;p10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02" name="Google Shape;1402;p105"/>
          <p:cNvPicPr preferRelativeResize="0"/>
          <p:nvPr/>
        </p:nvPicPr>
        <p:blipFill rotWithShape="1">
          <a:blip r:embed="rId4">
            <a:alphaModFix/>
          </a:blip>
          <a:srcRect b="0" l="0" r="0" t="0"/>
          <a:stretch/>
        </p:blipFill>
        <p:spPr>
          <a:xfrm>
            <a:off x="1752600" y="2800350"/>
            <a:ext cx="2438400" cy="3333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0" st="0"/>
                                            </p:txEl>
                                          </p:spTgt>
                                        </p:tgtEl>
                                        <p:attrNameLst>
                                          <p:attrName>style.visibility</p:attrName>
                                        </p:attrNameLst>
                                      </p:cBhvr>
                                      <p:to>
                                        <p:strVal val="visible"/>
                                      </p:to>
                                    </p:set>
                                    <p:animEffect filter="fade" transition="in">
                                      <p:cBhvr>
                                        <p:cTn dur="500"/>
                                        <p:tgtEl>
                                          <p:spTgt spid="13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1" st="1"/>
                                            </p:txEl>
                                          </p:spTgt>
                                        </p:tgtEl>
                                        <p:attrNameLst>
                                          <p:attrName>style.visibility</p:attrName>
                                        </p:attrNameLst>
                                      </p:cBhvr>
                                      <p:to>
                                        <p:strVal val="visible"/>
                                      </p:to>
                                    </p:set>
                                    <p:animEffect filter="fade" transition="in">
                                      <p:cBhvr>
                                        <p:cTn dur="500"/>
                                        <p:tgtEl>
                                          <p:spTgt spid="13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2" st="2"/>
                                            </p:txEl>
                                          </p:spTgt>
                                        </p:tgtEl>
                                        <p:attrNameLst>
                                          <p:attrName>style.visibility</p:attrName>
                                        </p:attrNameLst>
                                      </p:cBhvr>
                                      <p:to>
                                        <p:strVal val="visible"/>
                                      </p:to>
                                    </p:set>
                                    <p:animEffect filter="fade" transition="in">
                                      <p:cBhvr>
                                        <p:cTn dur="500"/>
                                        <p:tgtEl>
                                          <p:spTgt spid="13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3" st="3"/>
                                            </p:txEl>
                                          </p:spTgt>
                                        </p:tgtEl>
                                        <p:attrNameLst>
                                          <p:attrName>style.visibility</p:attrName>
                                        </p:attrNameLst>
                                      </p:cBhvr>
                                      <p:to>
                                        <p:strVal val="visible"/>
                                      </p:to>
                                    </p:set>
                                    <p:animEffect filter="fade" transition="in">
                                      <p:cBhvr>
                                        <p:cTn dur="500"/>
                                        <p:tgtEl>
                                          <p:spTgt spid="13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4" st="4"/>
                                            </p:txEl>
                                          </p:spTgt>
                                        </p:tgtEl>
                                        <p:attrNameLst>
                                          <p:attrName>style.visibility</p:attrName>
                                        </p:attrNameLst>
                                      </p:cBhvr>
                                      <p:to>
                                        <p:strVal val="visible"/>
                                      </p:to>
                                    </p:set>
                                    <p:animEffect filter="fade" transition="in">
                                      <p:cBhvr>
                                        <p:cTn dur="500"/>
                                        <p:tgtEl>
                                          <p:spTgt spid="13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5" st="5"/>
                                            </p:txEl>
                                          </p:spTgt>
                                        </p:tgtEl>
                                        <p:attrNameLst>
                                          <p:attrName>style.visibility</p:attrName>
                                        </p:attrNameLst>
                                      </p:cBhvr>
                                      <p:to>
                                        <p:strVal val="visible"/>
                                      </p:to>
                                    </p:set>
                                    <p:animEffect filter="fade" transition="in">
                                      <p:cBhvr>
                                        <p:cTn dur="500"/>
                                        <p:tgtEl>
                                          <p:spTgt spid="13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6" st="6"/>
                                            </p:txEl>
                                          </p:spTgt>
                                        </p:tgtEl>
                                        <p:attrNameLst>
                                          <p:attrName>style.visibility</p:attrName>
                                        </p:attrNameLst>
                                      </p:cBhvr>
                                      <p:to>
                                        <p:strVal val="visible"/>
                                      </p:to>
                                    </p:set>
                                    <p:animEffect filter="fade" transition="in">
                                      <p:cBhvr>
                                        <p:cTn dur="500"/>
                                        <p:tgtEl>
                                          <p:spTgt spid="13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7" st="7"/>
                                            </p:txEl>
                                          </p:spTgt>
                                        </p:tgtEl>
                                        <p:attrNameLst>
                                          <p:attrName>style.visibility</p:attrName>
                                        </p:attrNameLst>
                                      </p:cBhvr>
                                      <p:to>
                                        <p:strVal val="visible"/>
                                      </p:to>
                                    </p:set>
                                    <p:animEffect filter="fade" transition="in">
                                      <p:cBhvr>
                                        <p:cTn dur="500"/>
                                        <p:tgtEl>
                                          <p:spTgt spid="13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8" st="8"/>
                                            </p:txEl>
                                          </p:spTgt>
                                        </p:tgtEl>
                                        <p:attrNameLst>
                                          <p:attrName>style.visibility</p:attrName>
                                        </p:attrNameLst>
                                      </p:cBhvr>
                                      <p:to>
                                        <p:strVal val="visible"/>
                                      </p:to>
                                    </p:set>
                                    <p:animEffect filter="fade" transition="in">
                                      <p:cBhvr>
                                        <p:cTn dur="500"/>
                                        <p:tgtEl>
                                          <p:spTgt spid="13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xEl>
                                              <p:pRg end="9" st="9"/>
                                            </p:txEl>
                                          </p:spTgt>
                                        </p:tgtEl>
                                        <p:attrNameLst>
                                          <p:attrName>style.visibility</p:attrName>
                                        </p:attrNameLst>
                                      </p:cBhvr>
                                      <p:to>
                                        <p:strVal val="visible"/>
                                      </p:to>
                                    </p:set>
                                    <p:animEffect filter="fade" transition="in">
                                      <p:cBhvr>
                                        <p:cTn dur="500"/>
                                        <p:tgtEl>
                                          <p:spTgt spid="13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0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507365" lvl="0" marL="514350" marR="0" rtl="0" algn="l">
              <a:lnSpc>
                <a:spcPct val="115000"/>
              </a:lnSpc>
              <a:spcBef>
                <a:spcPts val="0"/>
              </a:spcBef>
              <a:spcAft>
                <a:spcPts val="0"/>
              </a:spcAft>
              <a:buClr>
                <a:schemeClr val="dk2"/>
              </a:buClr>
              <a:buSzPts val="2690"/>
              <a:buFont typeface="Noto Sans Symbols"/>
              <a:buChar char="▪"/>
            </a:pPr>
            <a:r>
              <a:rPr b="0" i="0" lang="en-US" sz="2690" u="none">
                <a:solidFill>
                  <a:schemeClr val="dk2"/>
                </a:solidFill>
                <a:latin typeface="Times New Roman"/>
                <a:ea typeface="Times New Roman"/>
                <a:cs typeface="Times New Roman"/>
                <a:sym typeface="Times New Roman"/>
              </a:rPr>
              <a:t>Thời điểm phát hiện bế tắc:</a:t>
            </a:r>
            <a:endParaRPr b="0" i="0" sz="2135" u="none">
              <a:solidFill>
                <a:schemeClr val="dk2"/>
              </a:solidFill>
              <a:latin typeface="Times New Roman"/>
              <a:ea typeface="Times New Roman"/>
              <a:cs typeface="Times New Roman"/>
              <a:sym typeface="Times New Roman"/>
            </a:endParaRPr>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Bế tắc chỉ có thể xuất hiện sau khi một tiến trình nào đó yêu cầu tài nguyên và không được thỏa mãn</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Chạy thuật toán phát hiện bế tắc mỗi khi có yêu cầu cấp phát tài nguyên không được thỏa mãn</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Cho phép phát hiện bế tắc ngay khi vừa </a:t>
            </a:r>
            <a:r>
              <a:rPr lang="en-US" sz="2320">
                <a:latin typeface="Times New Roman"/>
                <a:ea typeface="Times New Roman"/>
                <a:cs typeface="Times New Roman"/>
                <a:sym typeface="Times New Roman"/>
              </a:rPr>
              <a:t>xảy</a:t>
            </a:r>
            <a:r>
              <a:rPr b="0" i="0" lang="en-US" sz="2320" u="none" cap="none" strike="noStrike">
                <a:solidFill>
                  <a:schemeClr val="dk2"/>
                </a:solidFill>
                <a:latin typeface="Times New Roman"/>
                <a:ea typeface="Times New Roman"/>
                <a:cs typeface="Times New Roman"/>
                <a:sym typeface="Times New Roman"/>
              </a:rPr>
              <a:t> ra</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Chạy thường xuyên làm giảm hiệu năng hệ thống</a:t>
            </a:r>
            <a:endParaRPr sz="2135"/>
          </a:p>
          <a:p>
            <a:pPr indent="-509269" lvl="1" marL="788987" marR="0" rtl="0" algn="l">
              <a:lnSpc>
                <a:spcPct val="115000"/>
              </a:lnSpc>
              <a:spcBef>
                <a:spcPts val="480"/>
              </a:spcBef>
              <a:spcAft>
                <a:spcPts val="0"/>
              </a:spcAft>
              <a:buClr>
                <a:schemeClr val="accent1"/>
              </a:buClr>
              <a:buSzPts val="2320"/>
              <a:buFont typeface="Noto Sans Symbols"/>
              <a:buChar char="▪"/>
            </a:pPr>
            <a:r>
              <a:rPr b="0" i="0" lang="en-US" sz="2320" u="none" cap="none" strike="noStrike">
                <a:solidFill>
                  <a:schemeClr val="dk2"/>
                </a:solidFill>
                <a:latin typeface="Times New Roman"/>
                <a:ea typeface="Times New Roman"/>
                <a:cs typeface="Times New Roman"/>
                <a:sym typeface="Times New Roman"/>
              </a:rPr>
              <a:t>=&gt; Giảm tần suất chạy thuật toán phát hiện bế tắc: </a:t>
            </a:r>
            <a:endParaRPr sz="2135"/>
          </a:p>
          <a:p>
            <a:pPr indent="-511175" lvl="2" marL="1063625" marR="0" rtl="0" algn="l">
              <a:lnSpc>
                <a:spcPct val="115000"/>
              </a:lnSpc>
              <a:spcBef>
                <a:spcPts val="400"/>
              </a:spcBef>
              <a:spcAft>
                <a:spcPts val="0"/>
              </a:spcAft>
              <a:buClr>
                <a:schemeClr val="accent2"/>
              </a:buClr>
              <a:buSzPts val="1950"/>
              <a:buFont typeface="Noto Sans Symbols"/>
              <a:buChar char="▪"/>
            </a:pPr>
            <a:r>
              <a:rPr b="0" i="0" lang="en-US" sz="1950" u="none" cap="none" strike="noStrike">
                <a:solidFill>
                  <a:schemeClr val="dk2"/>
                </a:solidFill>
                <a:latin typeface="Times New Roman"/>
                <a:ea typeface="Times New Roman"/>
                <a:cs typeface="Times New Roman"/>
                <a:sym typeface="Times New Roman"/>
              </a:rPr>
              <a:t>Sau từng chu kỳ từ vài chục phút tới vài giờ</a:t>
            </a:r>
            <a:endParaRPr sz="1765"/>
          </a:p>
          <a:p>
            <a:pPr indent="-511175" lvl="2" marL="1063625" marR="0" rtl="0" algn="l">
              <a:lnSpc>
                <a:spcPct val="115000"/>
              </a:lnSpc>
              <a:spcBef>
                <a:spcPts val="400"/>
              </a:spcBef>
              <a:spcAft>
                <a:spcPts val="0"/>
              </a:spcAft>
              <a:buClr>
                <a:schemeClr val="accent2"/>
              </a:buClr>
              <a:buSzPts val="1950"/>
              <a:buFont typeface="Noto Sans Symbols"/>
              <a:buChar char="▪"/>
            </a:pPr>
            <a:r>
              <a:rPr b="0" i="0" lang="en-US" sz="1950" u="none" cap="none" strike="noStrike">
                <a:solidFill>
                  <a:schemeClr val="dk2"/>
                </a:solidFill>
                <a:latin typeface="Times New Roman"/>
                <a:ea typeface="Times New Roman"/>
                <a:cs typeface="Times New Roman"/>
                <a:sym typeface="Times New Roman"/>
              </a:rPr>
              <a:t>Khi có một số dấu hiệu như hiệu suất sử dụng CPU giảm xuống dưới một ngưỡng nào đó</a:t>
            </a:r>
            <a:endParaRPr sz="1765"/>
          </a:p>
          <a:p>
            <a:pPr indent="-355600" lvl="2" marL="1063625" marR="0" rtl="0" algn="l">
              <a:lnSpc>
                <a:spcPct val="115000"/>
              </a:lnSpc>
              <a:spcBef>
                <a:spcPts val="500"/>
              </a:spcBef>
              <a:spcAft>
                <a:spcPts val="0"/>
              </a:spcAft>
              <a:buClr>
                <a:schemeClr val="accent2"/>
              </a:buClr>
              <a:buSzPts val="2313"/>
              <a:buFont typeface="Noto Sans Symbols"/>
              <a:buNone/>
            </a:pPr>
            <a:r>
              <a:t/>
            </a:r>
            <a:endParaRPr b="0" i="0" sz="2412" u="none" cap="none" strike="noStrike">
              <a:solidFill>
                <a:schemeClr val="dk1"/>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61950" lvl="0" marL="514350" marR="0" rtl="0" algn="l">
              <a:lnSpc>
                <a:spcPct val="115000"/>
              </a:lnSpc>
              <a:spcBef>
                <a:spcPts val="480"/>
              </a:spcBef>
              <a:spcAft>
                <a:spcPts val="0"/>
              </a:spcAft>
              <a:buClr>
                <a:schemeClr val="dk2"/>
              </a:buClr>
              <a:buSzPts val="2220"/>
              <a:buFont typeface="Noto Sans Symbols"/>
              <a:buNone/>
            </a:pPr>
            <a:r>
              <a:t/>
            </a:r>
            <a:endParaRPr b="0" i="0" sz="2320" u="none">
              <a:solidFill>
                <a:schemeClr val="dk2"/>
              </a:solidFill>
              <a:latin typeface="Times New Roman"/>
              <a:ea typeface="Times New Roman"/>
              <a:cs typeface="Times New Roman"/>
              <a:sym typeface="Times New Roman"/>
            </a:endParaRPr>
          </a:p>
          <a:p>
            <a:pPr indent="-387349" lvl="1" marL="788987" marR="0" rtl="0" algn="l">
              <a:lnSpc>
                <a:spcPct val="115000"/>
              </a:lnSpc>
              <a:spcBef>
                <a:spcPts val="400"/>
              </a:spcBef>
              <a:spcAft>
                <a:spcPts val="0"/>
              </a:spcAft>
              <a:buClr>
                <a:schemeClr val="accent1"/>
              </a:buClr>
              <a:buSzPts val="1850"/>
              <a:buFont typeface="Noto Sans Symbols"/>
              <a:buNone/>
            </a:pPr>
            <a:r>
              <a:t/>
            </a:r>
            <a:endParaRPr b="0" i="0" sz="1950" u="none" cap="none" strike="noStrike">
              <a:solidFill>
                <a:schemeClr val="dk2"/>
              </a:solidFill>
              <a:latin typeface="Times New Roman"/>
              <a:ea typeface="Times New Roman"/>
              <a:cs typeface="Times New Roman"/>
              <a:sym typeface="Times New Roman"/>
            </a:endParaRPr>
          </a:p>
          <a:p>
            <a:pPr indent="-361949" lvl="1" marL="788987" marR="0" rtl="0" algn="l">
              <a:lnSpc>
                <a:spcPct val="115000"/>
              </a:lnSpc>
              <a:spcBef>
                <a:spcPts val="480"/>
              </a:spcBef>
              <a:spcAft>
                <a:spcPts val="0"/>
              </a:spcAft>
              <a:buClr>
                <a:schemeClr val="accent1"/>
              </a:buClr>
              <a:buSzPts val="2220"/>
              <a:buFont typeface="Noto Sans Symbols"/>
              <a:buNone/>
            </a:pPr>
            <a:r>
              <a:t/>
            </a:r>
            <a:endParaRPr b="0" i="0" sz="2320" u="none" cap="none" strike="noStrike">
              <a:solidFill>
                <a:schemeClr val="dk2"/>
              </a:solidFill>
              <a:latin typeface="Times New Roman"/>
              <a:ea typeface="Times New Roman"/>
              <a:cs typeface="Times New Roman"/>
              <a:sym typeface="Times New Roman"/>
            </a:endParaRPr>
          </a:p>
          <a:p>
            <a:pPr indent="-190500" lvl="0" marL="342900" marR="0" rtl="0" algn="l">
              <a:lnSpc>
                <a:spcPct val="115000"/>
              </a:lnSpc>
              <a:spcBef>
                <a:spcPts val="480"/>
              </a:spcBef>
              <a:spcAft>
                <a:spcPts val="0"/>
              </a:spcAft>
              <a:buClr>
                <a:schemeClr val="dk2"/>
              </a:buClr>
              <a:buSzPts val="2220"/>
              <a:buFont typeface="Noto Sans Symbols"/>
              <a:buNone/>
            </a:pPr>
            <a:r>
              <a:t/>
            </a:r>
            <a:endParaRPr b="0" i="0" sz="2320" u="none" cap="none" strike="noStrike">
              <a:solidFill>
                <a:schemeClr val="dk2"/>
              </a:solidFill>
              <a:latin typeface="Times New Roman"/>
              <a:ea typeface="Times New Roman"/>
              <a:cs typeface="Times New Roman"/>
              <a:sym typeface="Times New Roman"/>
            </a:endParaRPr>
          </a:p>
        </p:txBody>
      </p:sp>
      <p:sp>
        <p:nvSpPr>
          <p:cNvPr id="1409" name="Google Shape;1409;p10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410" name="Google Shape;1410;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1" name="Google Shape;1411;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2" name="Google Shape;1412;p10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3" name="Google Shape;1413;p10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0" st="0"/>
                                            </p:txEl>
                                          </p:spTgt>
                                        </p:tgtEl>
                                        <p:attrNameLst>
                                          <p:attrName>style.visibility</p:attrName>
                                        </p:attrNameLst>
                                      </p:cBhvr>
                                      <p:to>
                                        <p:strVal val="visible"/>
                                      </p:to>
                                    </p:set>
                                    <p:animEffect filter="fade" transition="in">
                                      <p:cBhvr>
                                        <p:cTn dur="500"/>
                                        <p:tgtEl>
                                          <p:spTgt spid="14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 st="1"/>
                                            </p:txEl>
                                          </p:spTgt>
                                        </p:tgtEl>
                                        <p:attrNameLst>
                                          <p:attrName>style.visibility</p:attrName>
                                        </p:attrNameLst>
                                      </p:cBhvr>
                                      <p:to>
                                        <p:strVal val="visible"/>
                                      </p:to>
                                    </p:set>
                                    <p:animEffect filter="fade" transition="in">
                                      <p:cBhvr>
                                        <p:cTn dur="500"/>
                                        <p:tgtEl>
                                          <p:spTgt spid="14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2" st="2"/>
                                            </p:txEl>
                                          </p:spTgt>
                                        </p:tgtEl>
                                        <p:attrNameLst>
                                          <p:attrName>style.visibility</p:attrName>
                                        </p:attrNameLst>
                                      </p:cBhvr>
                                      <p:to>
                                        <p:strVal val="visible"/>
                                      </p:to>
                                    </p:set>
                                    <p:animEffect filter="fade" transition="in">
                                      <p:cBhvr>
                                        <p:cTn dur="500"/>
                                        <p:tgtEl>
                                          <p:spTgt spid="14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3" st="3"/>
                                            </p:txEl>
                                          </p:spTgt>
                                        </p:tgtEl>
                                        <p:attrNameLst>
                                          <p:attrName>style.visibility</p:attrName>
                                        </p:attrNameLst>
                                      </p:cBhvr>
                                      <p:to>
                                        <p:strVal val="visible"/>
                                      </p:to>
                                    </p:set>
                                    <p:animEffect filter="fade" transition="in">
                                      <p:cBhvr>
                                        <p:cTn dur="500"/>
                                        <p:tgtEl>
                                          <p:spTgt spid="14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4" st="4"/>
                                            </p:txEl>
                                          </p:spTgt>
                                        </p:tgtEl>
                                        <p:attrNameLst>
                                          <p:attrName>style.visibility</p:attrName>
                                        </p:attrNameLst>
                                      </p:cBhvr>
                                      <p:to>
                                        <p:strVal val="visible"/>
                                      </p:to>
                                    </p:set>
                                    <p:animEffect filter="fade" transition="in">
                                      <p:cBhvr>
                                        <p:cTn dur="500"/>
                                        <p:tgtEl>
                                          <p:spTgt spid="14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5" st="5"/>
                                            </p:txEl>
                                          </p:spTgt>
                                        </p:tgtEl>
                                        <p:attrNameLst>
                                          <p:attrName>style.visibility</p:attrName>
                                        </p:attrNameLst>
                                      </p:cBhvr>
                                      <p:to>
                                        <p:strVal val="visible"/>
                                      </p:to>
                                    </p:set>
                                    <p:animEffect filter="fade" transition="in">
                                      <p:cBhvr>
                                        <p:cTn dur="500"/>
                                        <p:tgtEl>
                                          <p:spTgt spid="14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6" st="6"/>
                                            </p:txEl>
                                          </p:spTgt>
                                        </p:tgtEl>
                                        <p:attrNameLst>
                                          <p:attrName>style.visibility</p:attrName>
                                        </p:attrNameLst>
                                      </p:cBhvr>
                                      <p:to>
                                        <p:strVal val="visible"/>
                                      </p:to>
                                    </p:set>
                                    <p:animEffect filter="fade" transition="in">
                                      <p:cBhvr>
                                        <p:cTn dur="500"/>
                                        <p:tgtEl>
                                          <p:spTgt spid="14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7" st="7"/>
                                            </p:txEl>
                                          </p:spTgt>
                                        </p:tgtEl>
                                        <p:attrNameLst>
                                          <p:attrName>style.visibility</p:attrName>
                                        </p:attrNameLst>
                                      </p:cBhvr>
                                      <p:to>
                                        <p:strVal val="visible"/>
                                      </p:to>
                                    </p:set>
                                    <p:animEffect filter="fade" transition="in">
                                      <p:cBhvr>
                                        <p:cTn dur="500"/>
                                        <p:tgtEl>
                                          <p:spTgt spid="14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8" st="8"/>
                                            </p:txEl>
                                          </p:spTgt>
                                        </p:tgtEl>
                                        <p:attrNameLst>
                                          <p:attrName>style.visibility</p:attrName>
                                        </p:attrNameLst>
                                      </p:cBhvr>
                                      <p:to>
                                        <p:strVal val="visible"/>
                                      </p:to>
                                    </p:set>
                                    <p:animEffect filter="fade" transition="in">
                                      <p:cBhvr>
                                        <p:cTn dur="500"/>
                                        <p:tgtEl>
                                          <p:spTgt spid="14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9" st="9"/>
                                            </p:txEl>
                                          </p:spTgt>
                                        </p:tgtEl>
                                        <p:attrNameLst>
                                          <p:attrName>style.visibility</p:attrName>
                                        </p:attrNameLst>
                                      </p:cBhvr>
                                      <p:to>
                                        <p:strVal val="visible"/>
                                      </p:to>
                                    </p:set>
                                    <p:animEffect filter="fade" transition="in">
                                      <p:cBhvr>
                                        <p:cTn dur="500"/>
                                        <p:tgtEl>
                                          <p:spTgt spid="140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0" st="10"/>
                                            </p:txEl>
                                          </p:spTgt>
                                        </p:tgtEl>
                                        <p:attrNameLst>
                                          <p:attrName>style.visibility</p:attrName>
                                        </p:attrNameLst>
                                      </p:cBhvr>
                                      <p:to>
                                        <p:strVal val="visible"/>
                                      </p:to>
                                    </p:set>
                                    <p:animEffect filter="fade" transition="in">
                                      <p:cBhvr>
                                        <p:cTn dur="500"/>
                                        <p:tgtEl>
                                          <p:spTgt spid="140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1" st="11"/>
                                            </p:txEl>
                                          </p:spTgt>
                                        </p:tgtEl>
                                        <p:attrNameLst>
                                          <p:attrName>style.visibility</p:attrName>
                                        </p:attrNameLst>
                                      </p:cBhvr>
                                      <p:to>
                                        <p:strVal val="visible"/>
                                      </p:to>
                                    </p:set>
                                    <p:animEffect filter="fade" transition="in">
                                      <p:cBhvr>
                                        <p:cTn dur="500"/>
                                        <p:tgtEl>
                                          <p:spTgt spid="140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2" st="12"/>
                                            </p:txEl>
                                          </p:spTgt>
                                        </p:tgtEl>
                                        <p:attrNameLst>
                                          <p:attrName>style.visibility</p:attrName>
                                        </p:attrNameLst>
                                      </p:cBhvr>
                                      <p:to>
                                        <p:strVal val="visible"/>
                                      </p:to>
                                    </p:set>
                                    <p:animEffect filter="fade" transition="in">
                                      <p:cBhvr>
                                        <p:cTn dur="500"/>
                                        <p:tgtEl>
                                          <p:spTgt spid="140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3" st="13"/>
                                            </p:txEl>
                                          </p:spTgt>
                                        </p:tgtEl>
                                        <p:attrNameLst>
                                          <p:attrName>style.visibility</p:attrName>
                                        </p:attrNameLst>
                                      </p:cBhvr>
                                      <p:to>
                                        <p:strVal val="visible"/>
                                      </p:to>
                                    </p:set>
                                    <p:animEffect filter="fade" transition="in">
                                      <p:cBhvr>
                                        <p:cTn dur="500"/>
                                        <p:tgtEl>
                                          <p:spTgt spid="140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xEl>
                                              <p:pRg end="14" st="14"/>
                                            </p:txEl>
                                          </p:spTgt>
                                        </p:tgtEl>
                                        <p:attrNameLst>
                                          <p:attrName>style.visibility</p:attrName>
                                        </p:attrNameLst>
                                      </p:cBhvr>
                                      <p:to>
                                        <p:strVal val="visible"/>
                                      </p:to>
                                    </p:set>
                                    <p:animEffect filter="fade" transition="in">
                                      <p:cBhvr>
                                        <p:cTn dur="500"/>
                                        <p:tgtEl>
                                          <p:spTgt spid="1408">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0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Xử lý khi bị bế tắc:</a:t>
            </a:r>
            <a:endParaRPr b="0" i="0" sz="2200" u="none">
              <a:solidFill>
                <a:schemeClr val="dk2"/>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Kết thúc tất cả tiến trình đang bị bế tắc</a:t>
            </a:r>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Kết thúc lần lượt từng tiến trình đang bị bế tắc đến khi hết bế tắc:</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phải chạy lại thuật toán phát hiện bế tắc sau khi kết thúc 1 tiến trình</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HDH có thể chọn thứ tự kết thúc tiến trình dựa trên tiêu chí nào đó</a:t>
            </a:r>
            <a:endParaRPr b="0" i="0" sz="21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Khôi phục tiến trình về thời điểm trước khi bị bế tắc sau đó cho các tiến trình thực hiện lại từ điểm này:</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Đòi hỏi HDH lưu trữ trạng thái để có thể thực hiện quay lui và khôi phục về các điểm kiểm tra trước đó</a:t>
            </a:r>
            <a:endParaRPr/>
          </a:p>
          <a:p>
            <a:pPr indent="-514350" lvl="2" marL="1063625" marR="0" rtl="0" algn="l">
              <a:lnSpc>
                <a:spcPct val="100000"/>
              </a:lnSpc>
              <a:spcBef>
                <a:spcPts val="420"/>
              </a:spcBef>
              <a:spcAft>
                <a:spcPts val="0"/>
              </a:spcAft>
              <a:buClr>
                <a:schemeClr val="accent2"/>
              </a:buClr>
              <a:buSzPts val="2100"/>
              <a:buFont typeface="Noto Sans Symbols"/>
              <a:buChar char="▪"/>
            </a:pPr>
            <a:r>
              <a:rPr b="0" i="0" lang="en-US" sz="2100" u="none" cap="none" strike="noStrike">
                <a:solidFill>
                  <a:schemeClr val="dk2"/>
                </a:solidFill>
                <a:latin typeface="Times New Roman"/>
                <a:ea typeface="Times New Roman"/>
                <a:cs typeface="Times New Roman"/>
                <a:sym typeface="Times New Roman"/>
              </a:rPr>
              <a:t>Khi chạy lại, các tiến trình có thể lại rơi vào bế tắc tiếp</a:t>
            </a:r>
            <a:endParaRPr b="0" i="0" sz="2100" u="none" cap="none" strike="noStrike">
              <a:solidFill>
                <a:schemeClr val="dk1"/>
              </a:solidFill>
              <a:latin typeface="Times New Roman"/>
              <a:ea typeface="Times New Roman"/>
              <a:cs typeface="Times New Roman"/>
              <a:sym typeface="Times New Roman"/>
            </a:endParaRPr>
          </a:p>
          <a:p>
            <a:pPr indent="-514349" lvl="1" marL="788987"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Lần lượt thu hồi lại tài nguyên từ các tiến trình bế tắc cho tới khi hết bế tắc</a:t>
            </a:r>
            <a:endParaRPr b="0" i="0" sz="2100" u="none" cap="none" strike="noStrike">
              <a:solidFill>
                <a:schemeClr val="dk2"/>
              </a:solidFill>
              <a:latin typeface="Times New Roman"/>
              <a:ea typeface="Times New Roman"/>
              <a:cs typeface="Times New Roman"/>
              <a:sym typeface="Times New Roman"/>
            </a:endParaRPr>
          </a:p>
          <a:p>
            <a:pPr indent="-355600" lvl="2" marL="1063625" marR="0" rtl="0" algn="l">
              <a:lnSpc>
                <a:spcPct val="100000"/>
              </a:lnSpc>
              <a:spcBef>
                <a:spcPts val="500"/>
              </a:spcBef>
              <a:spcAft>
                <a:spcPts val="0"/>
              </a:spcAft>
              <a:buClr>
                <a:schemeClr val="accent2"/>
              </a:buClr>
              <a:buSzPts val="2500"/>
              <a:buFont typeface="Noto Sans Symbols"/>
              <a:buNone/>
            </a:pPr>
            <a:r>
              <a:t/>
            </a:r>
            <a:endParaRPr b="0" i="0" sz="2500" u="none" cap="none" strike="noStrike">
              <a:solidFill>
                <a:schemeClr val="dk1"/>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61950" lvl="0" marL="51435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87349" lvl="1" marL="788987"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361949" lvl="1" marL="788987"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420" name="Google Shape;1420;p10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BẾ TẮC </a:t>
            </a:r>
            <a:br>
              <a:rPr b="1" i="0" lang="en-US" sz="25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Phát hiện bế tắc và xử lý (tt)</a:t>
            </a:r>
            <a:br>
              <a:rPr b="1" i="0" lang="en-US" sz="2500" u="none">
                <a:solidFill>
                  <a:srgbClr val="000066"/>
                </a:solidFill>
                <a:latin typeface="Times New Roman"/>
                <a:ea typeface="Times New Roman"/>
                <a:cs typeface="Times New Roman"/>
                <a:sym typeface="Times New Roman"/>
              </a:rPr>
            </a:br>
            <a:endParaRPr/>
          </a:p>
        </p:txBody>
      </p:sp>
      <p:sp>
        <p:nvSpPr>
          <p:cNvPr id="1421" name="Google Shape;1421;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2" name="Google Shape;1422;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3" name="Google Shape;1423;p10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4" name="Google Shape;1424;p10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0" st="0"/>
                                            </p:txEl>
                                          </p:spTgt>
                                        </p:tgtEl>
                                        <p:attrNameLst>
                                          <p:attrName>style.visibility</p:attrName>
                                        </p:attrNameLst>
                                      </p:cBhvr>
                                      <p:to>
                                        <p:strVal val="visible"/>
                                      </p:to>
                                    </p:set>
                                    <p:animEffect filter="fade" transition="in">
                                      <p:cBhvr>
                                        <p:cTn dur="500"/>
                                        <p:tgtEl>
                                          <p:spTgt spid="14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 st="1"/>
                                            </p:txEl>
                                          </p:spTgt>
                                        </p:tgtEl>
                                        <p:attrNameLst>
                                          <p:attrName>style.visibility</p:attrName>
                                        </p:attrNameLst>
                                      </p:cBhvr>
                                      <p:to>
                                        <p:strVal val="visible"/>
                                      </p:to>
                                    </p:set>
                                    <p:animEffect filter="fade" transition="in">
                                      <p:cBhvr>
                                        <p:cTn dur="500"/>
                                        <p:tgtEl>
                                          <p:spTgt spid="14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2" st="2"/>
                                            </p:txEl>
                                          </p:spTgt>
                                        </p:tgtEl>
                                        <p:attrNameLst>
                                          <p:attrName>style.visibility</p:attrName>
                                        </p:attrNameLst>
                                      </p:cBhvr>
                                      <p:to>
                                        <p:strVal val="visible"/>
                                      </p:to>
                                    </p:set>
                                    <p:animEffect filter="fade" transition="in">
                                      <p:cBhvr>
                                        <p:cTn dur="500"/>
                                        <p:tgtEl>
                                          <p:spTgt spid="14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3" st="3"/>
                                            </p:txEl>
                                          </p:spTgt>
                                        </p:tgtEl>
                                        <p:attrNameLst>
                                          <p:attrName>style.visibility</p:attrName>
                                        </p:attrNameLst>
                                      </p:cBhvr>
                                      <p:to>
                                        <p:strVal val="visible"/>
                                      </p:to>
                                    </p:set>
                                    <p:animEffect filter="fade" transition="in">
                                      <p:cBhvr>
                                        <p:cTn dur="500"/>
                                        <p:tgtEl>
                                          <p:spTgt spid="14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4" st="4"/>
                                            </p:txEl>
                                          </p:spTgt>
                                        </p:tgtEl>
                                        <p:attrNameLst>
                                          <p:attrName>style.visibility</p:attrName>
                                        </p:attrNameLst>
                                      </p:cBhvr>
                                      <p:to>
                                        <p:strVal val="visible"/>
                                      </p:to>
                                    </p:set>
                                    <p:animEffect filter="fade" transition="in">
                                      <p:cBhvr>
                                        <p:cTn dur="500"/>
                                        <p:tgtEl>
                                          <p:spTgt spid="14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5" st="5"/>
                                            </p:txEl>
                                          </p:spTgt>
                                        </p:tgtEl>
                                        <p:attrNameLst>
                                          <p:attrName>style.visibility</p:attrName>
                                        </p:attrNameLst>
                                      </p:cBhvr>
                                      <p:to>
                                        <p:strVal val="visible"/>
                                      </p:to>
                                    </p:set>
                                    <p:animEffect filter="fade" transition="in">
                                      <p:cBhvr>
                                        <p:cTn dur="500"/>
                                        <p:tgtEl>
                                          <p:spTgt spid="14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6" st="6"/>
                                            </p:txEl>
                                          </p:spTgt>
                                        </p:tgtEl>
                                        <p:attrNameLst>
                                          <p:attrName>style.visibility</p:attrName>
                                        </p:attrNameLst>
                                      </p:cBhvr>
                                      <p:to>
                                        <p:strVal val="visible"/>
                                      </p:to>
                                    </p:set>
                                    <p:animEffect filter="fade" transition="in">
                                      <p:cBhvr>
                                        <p:cTn dur="500"/>
                                        <p:tgtEl>
                                          <p:spTgt spid="14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7" st="7"/>
                                            </p:txEl>
                                          </p:spTgt>
                                        </p:tgtEl>
                                        <p:attrNameLst>
                                          <p:attrName>style.visibility</p:attrName>
                                        </p:attrNameLst>
                                      </p:cBhvr>
                                      <p:to>
                                        <p:strVal val="visible"/>
                                      </p:to>
                                    </p:set>
                                    <p:animEffect filter="fade" transition="in">
                                      <p:cBhvr>
                                        <p:cTn dur="500"/>
                                        <p:tgtEl>
                                          <p:spTgt spid="14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8" st="8"/>
                                            </p:txEl>
                                          </p:spTgt>
                                        </p:tgtEl>
                                        <p:attrNameLst>
                                          <p:attrName>style.visibility</p:attrName>
                                        </p:attrNameLst>
                                      </p:cBhvr>
                                      <p:to>
                                        <p:strVal val="visible"/>
                                      </p:to>
                                    </p:set>
                                    <p:animEffect filter="fade" transition="in">
                                      <p:cBhvr>
                                        <p:cTn dur="500"/>
                                        <p:tgtEl>
                                          <p:spTgt spid="14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9" st="9"/>
                                            </p:txEl>
                                          </p:spTgt>
                                        </p:tgtEl>
                                        <p:attrNameLst>
                                          <p:attrName>style.visibility</p:attrName>
                                        </p:attrNameLst>
                                      </p:cBhvr>
                                      <p:to>
                                        <p:strVal val="visible"/>
                                      </p:to>
                                    </p:set>
                                    <p:animEffect filter="fade" transition="in">
                                      <p:cBhvr>
                                        <p:cTn dur="500"/>
                                        <p:tgtEl>
                                          <p:spTgt spid="14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0" st="10"/>
                                            </p:txEl>
                                          </p:spTgt>
                                        </p:tgtEl>
                                        <p:attrNameLst>
                                          <p:attrName>style.visibility</p:attrName>
                                        </p:attrNameLst>
                                      </p:cBhvr>
                                      <p:to>
                                        <p:strVal val="visible"/>
                                      </p:to>
                                    </p:set>
                                    <p:animEffect filter="fade" transition="in">
                                      <p:cBhvr>
                                        <p:cTn dur="500"/>
                                        <p:tgtEl>
                                          <p:spTgt spid="141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1" st="11"/>
                                            </p:txEl>
                                          </p:spTgt>
                                        </p:tgtEl>
                                        <p:attrNameLst>
                                          <p:attrName>style.visibility</p:attrName>
                                        </p:attrNameLst>
                                      </p:cBhvr>
                                      <p:to>
                                        <p:strVal val="visible"/>
                                      </p:to>
                                    </p:set>
                                    <p:animEffect filter="fade" transition="in">
                                      <p:cBhvr>
                                        <p:cTn dur="500"/>
                                        <p:tgtEl>
                                          <p:spTgt spid="141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2" st="12"/>
                                            </p:txEl>
                                          </p:spTgt>
                                        </p:tgtEl>
                                        <p:attrNameLst>
                                          <p:attrName>style.visibility</p:attrName>
                                        </p:attrNameLst>
                                      </p:cBhvr>
                                      <p:to>
                                        <p:strVal val="visible"/>
                                      </p:to>
                                    </p:set>
                                    <p:animEffect filter="fade" transition="in">
                                      <p:cBhvr>
                                        <p:cTn dur="500"/>
                                        <p:tgtEl>
                                          <p:spTgt spid="141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3" st="13"/>
                                            </p:txEl>
                                          </p:spTgt>
                                        </p:tgtEl>
                                        <p:attrNameLst>
                                          <p:attrName>style.visibility</p:attrName>
                                        </p:attrNameLst>
                                      </p:cBhvr>
                                      <p:to>
                                        <p:strVal val="visible"/>
                                      </p:to>
                                    </p:set>
                                    <p:animEffect filter="fade" transition="in">
                                      <p:cBhvr>
                                        <p:cTn dur="500"/>
                                        <p:tgtEl>
                                          <p:spTgt spid="141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4" st="14"/>
                                            </p:txEl>
                                          </p:spTgt>
                                        </p:tgtEl>
                                        <p:attrNameLst>
                                          <p:attrName>style.visibility</p:attrName>
                                        </p:attrNameLst>
                                      </p:cBhvr>
                                      <p:to>
                                        <p:strVal val="visible"/>
                                      </p:to>
                                    </p:set>
                                    <p:animEffect filter="fade" transition="in">
                                      <p:cBhvr>
                                        <p:cTn dur="500"/>
                                        <p:tgtEl>
                                          <p:spTgt spid="141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xEl>
                                              <p:pRg end="15" st="15"/>
                                            </p:txEl>
                                          </p:spTgt>
                                        </p:tgtEl>
                                        <p:attrNameLst>
                                          <p:attrName>style.visibility</p:attrName>
                                        </p:attrNameLst>
                                      </p:cBhvr>
                                      <p:to>
                                        <p:strVal val="visible"/>
                                      </p:to>
                                    </p:set>
                                    <p:animEffect filter="fade" transition="in">
                                      <p:cBhvr>
                                        <p:cTn dur="500"/>
                                        <p:tgtEl>
                                          <p:spTgt spid="1419">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Nguyen Thi Ngoc Vinh</dc:creator>
</cp:coreProperties>
</file>